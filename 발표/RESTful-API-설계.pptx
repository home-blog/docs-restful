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시작" id="{9cf6d2b4-02a1-7aa9-497b-916c4bafee57}">
          <p14:sldIdLst>
            <p14:sldId id="256"/>
            <p14:sldId id="257"/>
          </p14:sldIdLst>
        </p14:section>
        <p14:section name="01 자원 중심 URL" id="{c83d7094-c512-b2ae-76b9-f9365fe8d2ee}">
          <p14:sldIdLst>
            <p14:sldId id="258"/>
            <p14:sldId id="259"/>
            <p14:sldId id="260"/>
            <p14:sldId id="261"/>
          </p14:sldIdLst>
        </p14:section>
        <p14:section name="02 HTTP 메서드와 상태 코드" id="{1af30a5f-4703-f39a-4cb9-b8559c13fbb9}">
          <p14:sldIdLst>
            <p14:sldId id="262"/>
            <p14:sldId id="263"/>
            <p14:sldId id="264"/>
            <p14:sldId id="265"/>
            <p14:sldId id="266"/>
          </p14:sldIdLst>
        </p14:section>
        <p14:section name="03 공통 응답과 에러 형식" id="{b4f6e7bc-3c8a-6296-f532-a0e72ffdd1ed}">
          <p14:sldIdLst>
            <p14:sldId id="267"/>
            <p14:sldId id="268"/>
            <p14:sldId id="269"/>
          </p14:sldIdLst>
        </p14:section>
        <p14:section name="04 전역 예외 처리와 입력 검증" id="{b38902c5-d210-0c5a-239c-af806284a241}">
          <p14:sldIdLst>
            <p14:sldId id="270"/>
            <p14:sldId id="271"/>
            <p14:sldId id="272"/>
          </p14:sldIdLst>
        </p14:section>
        <p14:section name="05 페이징 · 검색 · 정렬" id="{0b8b4337-600d-4ff3-b97b-0e592a1953b1}">
          <p14:sldIdLst>
            <p14:sldId id="273"/>
            <p14:sldId id="274"/>
            <p14:sldId id="275"/>
            <p14:sldId id="276"/>
            <p14:sldId id="277"/>
          </p14:sldIdLst>
        </p14:section>
        <p14:section name="06 API 문서 작성" id="{0532d59b-feed-fb00-f953-bad5a3732a45}">
          <p14:sldIdLst>
            <p14:sldId id="278"/>
            <p14:sldId id="279"/>
            <p14:sldId id="280"/>
            <p14:sldId id="281"/>
            <p14:sldId id="282"/>
            <p14:sldId id="283"/>
          </p14:sldIdLst>
        </p14:section>
        <p14:section name="정리" id="{03b99600-0936-313a-293f-a8fb32adf846}">
          <p14:sldIdLst>
            <p14:sldId id="284"/>
          </p14:sldIdLst>
        </p14:section>
        <p14:section name="예비 (질문이 나오면)" id="{ed490d6f-6ae3-e70d-8d1b-97689f91c809}">
          <p14:sldIdLst>
            <p14:sldId id="285"/>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D3D3A"/>
                </a:solidFill>
                <a:latin typeface="+mn-lt"/>
              </a:defRPr>
            </a:pPr>
            <a:r>
              <a:rPr sz="1400" b="0" i="0" u="none" strike="noStrike">
                <a:solidFill>
                  <a:srgbClr val="3D3D3A"/>
                </a:solidFill>
                <a:latin typeface="+mn-lt"/>
              </a:rPr>
              <a:t>같은 100만 행에서 걸린 시간 (ms)</a:t>
            </a:r>
          </a:p>
        </c:rich>
      </c:tx>
      <c:layout/>
      <c:overlay val="0"/>
    </c:title>
    <c:autoTitleDeleted val="0"/>
    <c:plotArea>
      <c:layout/>
      <c:barChart>
        <c:barDir val="bar"/>
        <c:grouping val="clustered"/>
        <c:varyColors val="0"/>
        <c:ser>
          <c:idx val="0"/>
          <c:order val="0"/>
          <c:tx>
            <c:strRef>
              <c:f>Sheet1!$B$1</c:f>
              <c:strCache>
                <c:ptCount val="1"/>
                <c:pt idx="0">
                  <c:v>걸린 시간 (ms)</c:v>
                </c:pt>
              </c:strCache>
            </c:strRef>
          </c:tx>
          <c:spPr>
            <a:solidFill>
              <a:srgbClr val="141413"/>
            </a:solidFill>
            <a:effectLst/>
          </c:spPr>
          <c:invertIfNegative val="0"/>
          <c:dLbls>
            <c:numFmt formatCode="#,##0.0#" sourceLinked="0"/>
            <c:txPr>
              <a:bodyPr/>
              <a:lstStyle/>
              <a:p>
                <a:pPr>
                  <a:defRPr b="0" i="0" strike="noStrike" sz="1300" u="none">
                    <a:solidFill>
                      <a:srgbClr val="141413"/>
                    </a:solidFill>
                    <a:latin typeface="+mn-lt"/>
                  </a:defRPr>
                </a:pPr>
              </a:p>
            </c:txPr>
            <c:showLegendKey val="0"/>
            <c:showVal val="1"/>
            <c:showCatName val="0"/>
            <c:showSerName val="0"/>
            <c:showPercent val="0"/>
            <c:showBubbleSize val="0"/>
            <c:showLeaderLines val="0"/>
          </c:dLbls>
          <c:dPt>
            <c:idx val="0"/>
            <c:invertIfNegative val="0"/>
            <c:bubble3D val="0"/>
            <c:spPr>
              <a:solidFill>
                <a:srgbClr val="141413"/>
              </a:solidFill>
              <a:effectLst/>
            </c:spPr>
          </c:dPt>
          <c:dPt>
            <c:idx val="1"/>
            <c:invertIfNegative val="0"/>
            <c:bubble3D val="0"/>
            <c:spPr>
              <a:solidFill>
                <a:srgbClr val="CC785C"/>
              </a:solidFill>
              <a:effectLst/>
            </c:spPr>
          </c:dPt>
          <c:cat>
            <c:multiLvlStrRef>
              <c:f>Sheet1!$A$2:$A$3</c:f>
              <c:multiLvlStrCache>
                <c:ptCount val="2"/>
                <c:lvl>
                  <c:pt idx="0">
                    <c:v>목록 20개 (LIMIT 20)</c:v>
                  </c:pt>
                  <c:pt idx="1">
                    <c:v>전체 개수 (COUNT(*))</c:v>
                  </c:pt>
                </c:lvl>
              </c:multiLvlStrCache>
            </c:multiLvlStrRef>
          </c:cat>
          <c:val>
            <c:numRef>
              <c:f>Sheet1!$B$2:$B$3</c:f>
              <c:numCache>
                <c:formatCode>General</c:formatCode>
                <c:ptCount val="2"/>
                <c:pt idx="0">
                  <c:v>0.01</c:v>
                </c:pt>
                <c:pt idx="1">
                  <c:v>47.55</c:v>
                </c:pt>
              </c:numCache>
            </c:numRef>
          </c:val>
        </c:ser>
        <c:dLbls>
          <c:numFmt formatCode="#,##0.0#" sourceLinked="0"/>
          <c:txPr>
            <a:bodyPr/>
            <a:lstStyle/>
            <a:p>
              <a:pPr>
                <a:defRPr b="0" i="0" strike="noStrike" sz="1300" u="none">
                  <a:solidFill>
                    <a:srgbClr val="14141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3D3D3A"/>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6DFD8"/>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100" b="0" i="0" u="none" strike="noStrike">
                <a:solidFill>
                  <a:srgbClr val="6C6A64"/>
                </a:solidFill>
                <a:latin typeface="+mn-lt"/>
              </a:defRPr>
            </a:pPr>
            <a:endParaRPr lang="en-US"/>
          </a:p>
        </c:txPr>
        <c:crossAx val="2094734554"/>
        <c:crosses val="autoZero"/>
        <c:crossBetween val="between"/>
      </c:valAx>
      <c:spPr>
        <a:solidFill>
          <a:srgbClr val="FAF9F5"/>
        </a:solidFill>
        <a:ln>
          <a:noFill/>
        </a:ln>
        <a:effectLst/>
      </c:spPr>
    </c:plotArea>
    <c:plotVisOnly val="1"/>
    <c:dispBlanksAs val="span"/>
  </c:chart>
  <c:spPr>
    <a:solidFill>
      <a:srgbClr val="FAF9F5"/>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D3D3A"/>
                </a:solidFill>
                <a:latin typeface="+mn-lt"/>
              </a:defRPr>
            </a:pPr>
            <a:r>
              <a:rPr sz="1400" b="0" i="0" u="none" strike="noStrike">
                <a:solidFill>
                  <a:srgbClr val="3D3D3A"/>
                </a:solidFill>
                <a:latin typeface="+mn-lt"/>
              </a:rPr>
              <a:t>20개를 가져오는 시간 (ms, 15회 중앙값)</a:t>
            </a:r>
          </a:p>
        </c:rich>
      </c:tx>
      <c:layout/>
      <c:overlay val="0"/>
    </c:title>
    <c:autoTitleDeleted val="0"/>
    <c:plotArea>
      <c:layout/>
      <c:barChart>
        <c:barDir val="col"/>
        <c:grouping val="clustered"/>
        <c:varyColors val="0"/>
        <c:ser>
          <c:idx val="0"/>
          <c:order val="0"/>
          <c:tx>
            <c:strRef>
              <c:f>Sheet1!$B$1</c:f>
              <c:strCache>
                <c:ptCount val="1"/>
                <c:pt idx="0">
                  <c:v>오프셋 (LIMIT … OFFSET)</c:v>
                </c:pt>
              </c:strCache>
            </c:strRef>
          </c:tx>
          <c:spPr>
            <a:solidFill>
              <a:srgbClr val="CC785C"/>
            </a:solidFill>
            <a:effectLst/>
          </c:spPr>
          <c:invertIfNegative val="0"/>
          <c:dLbls>
            <c:numFmt formatCode="#,##0.0#" sourceLinked="0"/>
            <c:txPr>
              <a:bodyPr/>
              <a:lstStyle/>
              <a:p>
                <a:pPr>
                  <a:defRPr b="0" i="0" strike="noStrike" sz="1100" u="none">
                    <a:solidFill>
                      <a:srgbClr val="3D3D3A"/>
                    </a:solidFill>
                    <a:latin typeface="+mn-lt"/>
                  </a:defRPr>
                </a:pPr>
              </a:p>
            </c:txPr>
            <c:showLegendKey val="0"/>
            <c:showVal val="1"/>
            <c:showCatName val="0"/>
            <c:showSerName val="0"/>
            <c:showPercent val="0"/>
            <c:showBubbleSize val="0"/>
            <c:showLeaderLines val="0"/>
          </c:dLbls>
          <c:cat>
            <c:multiLvlStrRef>
              <c:f>Sheet1!$A$2:$A$8</c:f>
              <c:multiLvlStrCache>
                <c:ptCount val="7"/>
                <c:lvl>
                  <c:pt idx="0">
                    <c:v>1쪽</c:v>
                  </c:pt>
                  <c:pt idx="1">
                    <c:v>10쪽</c:v>
                  </c:pt>
                  <c:pt idx="2">
                    <c:v>100쪽</c:v>
                  </c:pt>
                  <c:pt idx="3">
                    <c:v>1,000쪽</c:v>
                  </c:pt>
                  <c:pt idx="4">
                    <c:v>10,000쪽</c:v>
                  </c:pt>
                  <c:pt idx="5">
                    <c:v>25,000쪽</c:v>
                  </c:pt>
                  <c:pt idx="6">
                    <c:v>50,000쪽</c:v>
                  </c:pt>
                </c:lvl>
              </c:multiLvlStrCache>
            </c:multiLvlStrRef>
          </c:cat>
          <c:val>
            <c:numRef>
              <c:f>Sheet1!$B$2:$B$8</c:f>
              <c:numCache>
                <c:formatCode>General</c:formatCode>
                <c:ptCount val="7"/>
                <c:pt idx="0">
                  <c:v>0.02</c:v>
                </c:pt>
                <c:pt idx="1">
                  <c:v>0.02</c:v>
                </c:pt>
                <c:pt idx="2">
                  <c:v>0.03</c:v>
                </c:pt>
                <c:pt idx="3">
                  <c:v>0.76</c:v>
                </c:pt>
                <c:pt idx="4">
                  <c:v>10.94</c:v>
                </c:pt>
                <c:pt idx="5">
                  <c:v>33.55</c:v>
                </c:pt>
                <c:pt idx="6">
                  <c:v>54.89</c:v>
                </c:pt>
              </c:numCache>
            </c:numRef>
          </c:val>
        </c:ser>
        <c:ser>
          <c:idx val="1"/>
          <c:order val="1"/>
          <c:tx>
            <c:strRef>
              <c:f>Sheet1!$C$1</c:f>
              <c:strCache>
                <c:ptCount val="1"/>
                <c:pt idx="0">
                  <c:v>커서 (WHERE id &lt; …)</c:v>
                </c:pt>
              </c:strCache>
            </c:strRef>
          </c:tx>
          <c:spPr>
            <a:solidFill>
              <a:srgbClr val="141413"/>
            </a:solidFill>
            <a:effectLst/>
          </c:spPr>
          <c:invertIfNegative val="0"/>
          <c:dLbls>
            <c:numFmt formatCode="#,##0.0#" sourceLinked="0"/>
            <c:txPr>
              <a:bodyPr/>
              <a:lstStyle/>
              <a:p>
                <a:pPr>
                  <a:defRPr b="0" i="0" strike="noStrike" sz="1100" u="none">
                    <a:solidFill>
                      <a:srgbClr val="3D3D3A"/>
                    </a:solidFill>
                    <a:latin typeface="+mn-lt"/>
                  </a:defRPr>
                </a:pPr>
              </a:p>
            </c:txPr>
            <c:showLegendKey val="0"/>
            <c:showVal val="1"/>
            <c:showCatName val="0"/>
            <c:showSerName val="0"/>
            <c:showPercent val="0"/>
            <c:showBubbleSize val="0"/>
            <c:showLeaderLines val="0"/>
          </c:dLbls>
          <c:cat>
            <c:multiLvlStrRef>
              <c:f>Sheet1!$A$2:$A$8</c:f>
              <c:multiLvlStrCache>
                <c:ptCount val="7"/>
                <c:lvl>
                  <c:pt idx="0">
                    <c:v>1쪽</c:v>
                  </c:pt>
                  <c:pt idx="1">
                    <c:v>10쪽</c:v>
                  </c:pt>
                  <c:pt idx="2">
                    <c:v>100쪽</c:v>
                  </c:pt>
                  <c:pt idx="3">
                    <c:v>1,000쪽</c:v>
                  </c:pt>
                  <c:pt idx="4">
                    <c:v>10,000쪽</c:v>
                  </c:pt>
                  <c:pt idx="5">
                    <c:v>25,000쪽</c:v>
                  </c:pt>
                  <c:pt idx="6">
                    <c:v>50,000쪽</c:v>
                  </c:pt>
                </c:lvl>
              </c:multiLvlStrCache>
            </c:multiLvlStrRef>
          </c:cat>
          <c:val>
            <c:numRef>
              <c:f>Sheet1!$C$2:$C$8</c:f>
              <c:numCache>
                <c:formatCode>General</c:formatCode>
                <c:ptCount val="7"/>
                <c:pt idx="0">
                  <c:v>0.02</c:v>
                </c:pt>
                <c:pt idx="1">
                  <c:v>0.02</c:v>
                </c:pt>
                <c:pt idx="2">
                  <c:v>0.02</c:v>
                </c:pt>
                <c:pt idx="3">
                  <c:v>0.02</c:v>
                </c:pt>
                <c:pt idx="4">
                  <c:v>0.03</c:v>
                </c:pt>
                <c:pt idx="5">
                  <c:v>0.02</c:v>
                </c:pt>
                <c:pt idx="6">
                  <c:v>0.01</c:v>
                </c:pt>
              </c:numCache>
            </c:numRef>
          </c:val>
        </c:ser>
        <c:dLbls>
          <c:numFmt formatCode="#,##0.0#" sourceLinked="0"/>
          <c:txPr>
            <a:bodyPr/>
            <a:lstStyle/>
            <a:p>
              <a:pPr>
                <a:defRPr b="0" i="0" strike="noStrike" sz="1100" u="none">
                  <a:solidFill>
                    <a:srgbClr val="3D3D3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D3D3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6DFD8"/>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6C6A64"/>
                </a:solidFill>
                <a:latin typeface="+mn-lt"/>
              </a:defRPr>
            </a:pPr>
            <a:endParaRPr lang="en-US"/>
          </a:p>
        </c:txPr>
        <c:crossAx val="2094734554"/>
        <c:crosses val="autoZero"/>
        <c:crossBetween val="between"/>
      </c:valAx>
      <c:spPr>
        <a:solidFill>
          <a:srgbClr val="FAF9F5"/>
        </a:solidFill>
        <a:ln>
          <a:noFill/>
        </a:ln>
        <a:effectLst/>
      </c:spPr>
    </c:plotArea>
    <c:legend>
      <c:legendPos val="t"/>
      <c:overlay val="0"/>
      <c:txPr>
        <a:bodyPr/>
        <a:lstStyle/>
        <a:p>
          <a:pPr>
            <a:defRPr sz="1300">
              <a:solidFill>
                <a:srgbClr val="3D3D3A"/>
              </a:solidFill>
              <a:latin typeface="+mn-lt"/>
              <a:cs typeface="+mn-lt"/>
            </a:defRPr>
          </a:pPr>
          <a:endParaRPr lang="en-US"/>
        </a:p>
      </c:txPr>
    </c:legend>
    <c:plotVisOnly val="1"/>
    <c:dispBlanksAs val="span"/>
  </c:chart>
  <c:spPr>
    <a:solidFill>
      <a:srgbClr val="FAF9F5"/>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이재웅입니다. 오늘은 REST API를 설계할 때 팀이 정해야 하는 규칙들을 이야기하겠습니다. 규칙만 외우기보다, 왜 그렇게 정하는지를 같이 보겠습니다. 마지막에는 제 프로젝트 글결의 실제 API 문서와 에러 응답을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REST는 HTTP를 이렇게 쓰자는 설계 방식입니다. 무엇을 다루는지는 URL로, 무엇을 하는지는 메서드로, 결과는 상태 코드로 말합니다. 위의 한 줄만 읽어도 42번 글을 지웠고 성공했다는 걸 알 수 있습니다. 다만 REST는 정해진 표준이 아니라서, 자세한 규칙은 팀이 정해야 합니다. 오늘은 그 규칙들을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URL부터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왼쪽처럼 URL에 동사를 넣으면 기능마다 주소가 늘어납니다. 그러면 권한 검사도 주소마다 걸어야 하고, 하나만 빠져도 보안 구멍이 됩니다. 그래서 주소에는 명사만 쓰고, 할 일은 메서드로 정합니다. 특히 GET으로 삭제하면 안 됩니다. 메신저의 링크 미리보기 같은 기능이 GET을 알아서 보내서, 링크를 공유만 해도 글이 지워질 수 있습니다. 그리고 주소는 대소문자를 구분해서 한 글자만 틀려도 404가 나니, 전부 소문자로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글과 댓글처럼 관계가 있으면 경로로 표현합니다. 42번 글의 댓글은 /posts/42/comments입니다. 다만 자원 두 개까지만 잇는 게 좋습니다. 아래처럼 길어지면 댓글 하나를 부르려고 회원 번호와 글 번호까지 다 알아야 합니다. 댓글 번호만으로 찾을 수 있다면 /comments/7처럼 짧게 끊으면 됩니다. 그리고 검색어, 정렬, 쪽 번호처럼 어떻게 보여 줄지는 물음표 뒤 쿼리에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실무에서는 조회, 생성, 수정, 삭제로 딱 나뉘지 않는 기능이 꼭 나옵니다. 주문 취소를 예로 들면 방법이 세 가지입니다. 첫 번째처럼 PATCH로 상태만 바꾸면 간단합니다. 하지만 취소하면 환불과 재고 복구도 같이 일어나는데, 요청만 봐서는 그게 보이지 않습니다. 그래서 이렇게 따라오는 작업이 있으면, 두 번째처럼 cancel을 붙이거나 세 번째처럼 취소를 자원으로 만듭니다. 동사를 무조건 막자는 게 아니라, 무슨 일이 일어나는지 보이게 하자는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메서드와 상태 코드입니다.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메서드를 고를 때는 두 가지를 봅니다. 첫째는 안전입니다. 서버의 데이터를 바꾸지 않는다는 뜻이고, 그래서 GET은 캐시가 저장하거나 미리 불러와도 괜찮습니다. 둘째는 멱등입니다. 같은 요청을 여러 번 보내도 결과가 같다는 뜻이고, 그래서 응답이 안 오면 그냥 다시 보내도 됩니다. PATCH가 세모인 이유는, 제목을 바꾸는 요청은 몇 번 보내도 같지만 조회수를 1 올리는 요청은 보낼 때마다 결과가 달라지기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POST는 멱등이 아닙니다. 그래서 버튼을 두 번 누르거나 네트워크가 다시 보내면 결제가 두 번 될 수 있습니다. 버튼 비활성화로는 새로고침이나 다른 탭까지 막지 못해서, 중요한 요청은 서버에서 막습니다. 클라이언트가 요청마다 고유한 키를 보내고, 서버는 같은 키가 또 오면 다시 처리하지 않고 저장해 둔 결과를 돌려줍니다. 제 프로젝트에서도 이 방법으로 같은 글이 두 번 올라가지 않게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자주 쓰는 상태 코드는 이 정도입니다. 몇 개만 짚겠습니다. 만들었으면 201과 함께 새 글의 주소를 주고, 지웠으면 바디 없이 204입니다. 가장 헷갈리는 건 401과 403입니다. 401은 누구인지 모를 때, 그러니까 로그인을 안 했거나 만료됐을 때입니다. 403은 누구인지는 알지만 권한이 없을 때입니다. 그리고 남의 비공개 글은 일부러 404를 주기도 합니다. 403을 주면 그 글이 있다는 게 드러나기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자주 보는 실수가 있습니다. 실패했는데 200을 주고, 바디에 success false를 담는 방식입니다. 문제는 모니터링, 캐시, 자동 재시도 같은 도구들이 바디는 안 보고 상태 코드만 본다는 겁니다. 그래서 장애가 나도 모니터링에는 전부 성공으로 찍힙니다. 실패는 4xx, 5xx로 보내고, 자세한 이유는 바디에 담습니다. 오른쪽은 예제 서버에 없는 글을 요청한 실제 응답입니다.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이번에는 응답과 에러의 모양입니다.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에러는 모든 API가 같은 모양으로 보냅니다. 모양이 제각각이면 프론트엔드가 API마다 에러 처리를 따로 짜야 하기 때문입니다. 예제 서버는 ProblemDetail이라는 표준 형식에, 팀 에러 코드인 code와 틀린 입력 칸을 알려 주는 errors를 더했습니다. 프론트엔드는 code를 보고 분기하고, detail 문장은 화면에 보여 주기만 합니다. 문장으로 분기하면 문구 하나만 고쳐도 화면이 깨지기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못 한 에러가 나도 에러 내용을 그대로 응답에 넣으면 안 됩니다. SQL이나 테이블 이름이 보이면 공격자에게 내부를 알려 주는 셈이니까요. 대신 요청마다 traceId라는 번호를 붙여서, 응답에는 이 번호만 담고 로그에는 같은 번호로 전체 내용을 남깁니다. 사용자가 이 번호로 문의하면 로그에서 바로 찾을 수 있습니다. 이 화면은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전역 예외 처리와 입력 검증입니다.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API가 같은 에러 모양을 지키게 하려면, 에러 처리를 한 곳에 모으면 됩니다. 먼저 검증을 둘로 나눕니다. 제목이 비었는지처럼 값만 보면 아는 건 DTO에 규칙을 적어 두면 미리 걸러집니다. 없는 글처럼 DB를 봐야 아는 건 서비스에서 예외를 던집니다. 컨트롤러에는 try-catch가 없고, 예외는 @RestControllerAdvice 한 곳에서 에러 응답으로 바뀝니다. 다만 Spring Security 필터에서 난 에러는 여기서 안 잡혀서 따로 처리합니다.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예제 프로젝트의 실제 코드입니다. 왼쪽 위는 DTO의 검증 규칙이고, 그 아래는 에러 코드 목록입니다. enum 하나에 에러 이름, 상태 코드, 메시지를 같이 적어 두고, 서비스에서는 throw 한 줄이면 됩니다. 오른쪽은 예외를 응답으로 바꾸는 처리기입니다. 에러 응답을 만드는 곳이 여기 하나뿐이라서, 모든 API의 에러 모양이 같아집니다.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목록 API입니다.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목록 조건은 전부 쿼리로 받습니다. 위의 주소는 여행 주제에서 제주가 들어간 글을 최신순으로 20개 달라는 요청입니다. 정렬 마지막에는 id를 붙입니다. 같은 시각에 쓴 글이 있으면 순서가 바뀔 수 있어서, id로 고정하는 겁니다. 그리고 서버가 한도를 정해 둡니다. 가져올 개수와 정렬할 필드를 제한하지 않으면, size를 백만으로 보내는 요청 하나에 DB가 멈출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응답에는 목록과 함께 페이지 정보를 줍니다. 전체 개수를 알아야 쪽 번호를 그릴 수 있으니까요. 결과가 없으면 404가 아니라 200과 빈 배열입니다. 그런데 전체 개수를 세려면 쿼리가 한 번 더 나갑니다. 그래서 무한 스크롤처럼 쪽 번호가 필요 없으면, 다음 페이지가 있는지만 알려 주는 게 가볍습니다. 직접 재 보니, 글 20개를 가져오는 데는 0.01ms였는데 전체 개수를 세는 데는 48ms가 걸렸습니다.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페이징 방법은 두 가지입니다. 오프셋은 앞에서 몇 개를 건너뛰고 가져옵니다. 원하는 쪽으로 바로 갈 수 있어서 게시판에 맞지만, 뒤쪽일수록 앞의 데이터를 읽고 버려야 해서 느려집니다. 커서는 마지막으로 본 글 번호 다음부터 가져옵니다. 어느 위치든 빠르지만, 42쪽으로 바로 가는 건 못 합니다. 그래서 게시판은 오프셋, 피드나 무한 스크롤은 커서를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실제로 재 봤습니다. SQLite에 글 100만 개를 넣고 20개씩 가져왔습니다. 오프셋은 1쪽에서 0.02ms였는데, 5만 쪽에서는 55ms로 늘었습니다. 앞의 데이터를 전부 읽고 버리기 때문입니다. 커서는 어느 위치에서나 거의 0에 가깝게 일정했습니다. 숫자는 환경마다 다르지만, 뒤로 갈수록 오프셋만 느려진다는 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마지막은 API 문서입니다.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문서를 손으로 쓰면 코드가 바뀔 때 금방 안 맞게 됩니다. 그래서 코드에서 만듭니다. Swagger는 라이브러리만 추가하면 문서를 자동으로 만들고, 화면에서 API를 바로 호출해 볼 수 있습니다. 대신 설명을 붙이려면 컨트롤러에 어노테이션이 늘어납니다. REST Docs는 테스트가 통과해야 문서가 만들어져서 실제 동작과 어긋나지 않지만, API마다 테스트를 써야 합니다. 그래서 둘을 섞어 쓰기도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 프로젝트 글결의 Swagger 화면입니다. API가 로그인, 블로그, 글처럼 기능별로 묶여 있고, 메서드마다 색이 달라서 한눈에 구분됩니다.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 하나를 펼친 모습입니다. 보내야 하는 CSRF 헤더, 요청 바디 예시, 응답 코드별 예시가 나옵니다. 성공하면 201, 제목을 비우면 400입니다. Try it out 버튼을 누르면 여기서 바로 호출해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REST Docs입니다. 테스트가 실제로 주고받은 요청과 응답으로 만든 문서입니다. 응답 칸이 문서와 다르면 테스트가 실패해서, 문서가 코드와 어긋날 수 없습니다. 글결은 전체 목록은 Swagger로, 중요한 흐름은 REST Docs로 나눠서 정리했습니다.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글결의 에러 응답입니다. 글결은 code, message, fieldErrors 세 칸으로 팀 형식을 정했습니다. 앞의 예제와 모양은 다르지만, 모든 API가 같은 모양이라는 원칙은 같습니다. 입력값이 틀리면 fieldErrors에 칸마다 이유가 와서, 제목 칸 옆에 바로 안내 문구를 띄울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URL은 자원, 메서드는 행동이고, 메서드는 안전과 멱등을 보고 고릅니다. 실패는 상태 코드로 알리고, 에러는 한 모양으로 보내되 내부 정보는 로그에만 남깁니다. 검증과 예외 처리는 한 곳에 모으고, 목록 조건은 쿼리로 받되 한도는 서버가 정합니다. 그리고 이 규칙들은 코드에서 만든 문서로 공유합니다.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성공 응답을 success와 data로 감쌀지는 팀마다 다릅니다. 감싸면 프론트엔드에서 응답을 꺼내는 코드를 하나로 맞출 수 있고, 부가 정보를 넣기도 쉽습니다. 대신 success 필드는 상태 코드와 같은 정보를 한 번 더 보내는 셈입니다. 이걸로 분기하기 시작하면 앞에서 본 실패도 200으로 보내는 실수로 가기 쉽습니다. 어느 쪽이든 목록은 페이지 정보와 함께 감싸고, 필드 이름은 camelCase, 시각은 ISO 8601 형식으로 맞춥니다.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버전은 응답 모양을 크게 바꿔야 할 때, 예전 클라이언트가 깨지지 않게 하려고 붙입니다. 칸을 새로 추가하는 건 괜찮습니다. 예전 클라이언트는 모르는 칸을 그냥 무시하니까요. 그래서 v1 그대로 둡니다. 칸을 빼거나 이름이나 타입을 바꿀 때만 v2를 만듭니다. 한동안 v1과 v2를 같이 운영하다가, v1 요청이 거의 없어지면 닫습니다. 웹만 있다면 서버와 화면을 같이 배포하면 되지만, 앱이나 외부 서비스가 쓰면 꼭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글결은 400, 401, 403, 404, 409, 429를 씁니다. 남의 비공개 글은 403이 아니라 404로 답합니다. 그래야 그 글이 있다는 사실조차 드러나지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댓글 쓰기 API 하나가 적힌 모습입니다. 요청 헤더, 주소 안의 값, 요청 바디, 실제 요청, 실제 응답, 응답 칸 설명이 차례로 나옵니다. 모두 테스트가 실제로 주고받은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MSA에서는 게이트웨이 뒤에 여러 서비스가 있습니다. 뒤쪽 서비스가 이상한 응답을 주면 502, 서비스가 과부하이거나 배포 중이면 503, 정해진 시간 안에 응답이 없으면 504입니다. 그리고 다른 서비스의 에러를 그대로 넘기지 않고, 우리 API의 에러 형식으로 바꿔서 돌려줍니다.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표지">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9224" y="2148840"/>
            <a:ext cx="5760720" cy="1737360"/>
          </a:xfrm>
          <a:prstGeom prst="rect">
            <a:avLst/>
          </a:prstGeom>
          <a:noFill/>
          <a:ln/>
        </p:spPr>
        <p:txBody>
          <a:bodyPr wrap="square" rtlCol="0"/>
          <a:lstStyle>
            <a:lvl1pPr algn="l" indent="0" marL="0">
              <a:buNone/>
              <a:defRPr lang="en-US" sz="5400"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649224" y="4069080"/>
            <a:ext cx="5760720" cy="822960"/>
          </a:xfrm>
          <a:prstGeom prst="rect">
            <a:avLst/>
          </a:prstGeom>
          <a:noFill/>
          <a:ln/>
        </p:spPr>
        <p:txBody>
          <a:bodyPr wrap="square" rtlCol="0"/>
          <a:lstStyle>
            <a:lvl1pPr algn="l" indent="0" marL="0">
              <a:buNone/>
              <a:defRPr lang="en-US" sz="2000" dirty="0">
                <a:solidFill>
                  <a:schemeClr val="accent3"/>
                </a:solidFill>
              </a:defRPr>
            </a:lvl1pPr>
          </a:lstStyle>
          <a:p>
            <a:pPr algn="l" indent="0" marL="0">
              <a:buNone/>
            </a:pPr>
            <a:endParaRPr lang="en-US" sz="2000" dirty="0"/>
          </a:p>
        </p:txBody>
      </p:sp>
      <p:sp>
        <p:nvSpPr>
          <p:cNvPr id="4" name="Text 0"/>
          <p:cNvSpPr/>
          <p:nvPr>
            <p:ph idx="102" type="body" hasCustomPrompt="1"/>
          </p:nvPr>
        </p:nvSpPr>
        <p:spPr>
          <a:xfrm>
            <a:off x="649224" y="5806440"/>
            <a:ext cx="5760720" cy="365760"/>
          </a:xfrm>
          <a:prstGeom prst="rect">
            <a:avLst/>
          </a:prstGeom>
          <a:noFill/>
          <a:ln/>
        </p:spPr>
        <p:txBody>
          <a:bodyPr wrap="square" rtlCol="0"/>
          <a:lstStyle>
            <a:lvl1pPr algn="l" indent="0" marL="0">
              <a:buNone/>
              <a:defRPr lang="en-US" sz="1400" dirty="0">
                <a:solidFill>
                  <a:schemeClr val="accent3"/>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섹션">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rtlCol="0"/>
          <a:lstStyle>
            <a:lvl1pPr algn="l" indent="0" marL="0">
              <a:buNone/>
              <a:defRPr lang="en-US" sz="6000" dirty="0">
                <a:solidFill>
                  <a:schemeClr val="accent1"/>
                </a:solidFill>
                <a:latin typeface="+mj-lt" pitchFamily="34" charset="0"/>
                <a:ea typeface="+mj-lt" pitchFamily="34" charset="-122"/>
                <a:cs typeface="+mj-lt" pitchFamily="34" charset="-120"/>
              </a:defRPr>
            </a:lvl1pPr>
          </a:lstStyle>
          <a:p>
            <a:pPr algn="l" indent="0" marL="0">
              <a:buNone/>
            </a:pP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rtlCol="0"/>
          <a:lstStyle>
            <a:lvl1pPr algn="l" indent="0" marL="0">
              <a:buNone/>
              <a:defRPr lang="en-US" sz="4000"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rtlCol="0"/>
          <a:lstStyle>
            <a:lvl1pPr algn="l" indent="0" marL="0">
              <a:buNone/>
              <a:defRPr lang="en-US" sz="2000" dirty="0">
                <a:solidFill>
                  <a:srgbClr val="A09D96"/>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본문">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rtlCol="0"/>
          <a:lstStyle>
            <a:lvl1pPr algn="l" indent="0" marL="0">
              <a:buNone/>
              <a:defRPr lang="en-US" sz="1200" spc="150" kern="0" dirty="0">
                <a:solidFill>
                  <a:schemeClr val="accent3"/>
                </a:solidFill>
              </a:defRPr>
            </a:lvl1pPr>
          </a:lstStyle>
          <a:p>
            <a:pPr algn="l" indent="0" marL="0">
              <a:buNone/>
            </a:pP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마무리">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9224" y="676656"/>
            <a:ext cx="10890504" cy="731520"/>
          </a:xfrm>
          <a:prstGeom prst="rect">
            <a:avLst/>
          </a:prstGeom>
          <a:noFill/>
          <a:ln/>
        </p:spPr>
        <p:txBody>
          <a:bodyPr wrap="square" rtlCol="0"/>
          <a:lstStyle>
            <a:lvl1pPr algn="l" indent="0" marL="0">
              <a:buNone/>
              <a:defRPr lang="en-US" sz="3200" dirty="0">
                <a:solidFill>
                  <a:schemeClr val="bg1"/>
                </a:solidFill>
              </a:defRPr>
            </a:lvl1pPr>
          </a:lstStyle>
          <a:p>
            <a:pPr algn="l"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4.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4.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9224" y="2148840"/>
            <a:ext cx="5760720" cy="1737360"/>
          </a:xfrm>
          <a:prstGeom prst="rect">
            <a:avLst/>
          </a:prstGeom>
          <a:noFill/>
          <a:ln/>
        </p:spPr>
        <p:txBody>
          <a:bodyPr wrap="square" lIns="0" tIns="0" rIns="0" bIns="0" rtlCol="0" anchor="b"/>
          <a:lstStyle/>
          <a:p>
            <a:pPr algn="l" indent="0" marL="0">
              <a:buNone/>
            </a:pPr>
            <a:r>
              <a:rPr lang="en-US" sz="5400" dirty="0">
                <a:solidFill>
                  <a:schemeClr val="tx1"/>
                </a:solidFill>
              </a:rPr>
              <a:t>RESTful API 설계</a:t>
            </a:r>
            <a:endParaRPr lang="en-US" sz="5400" dirty="0"/>
          </a:p>
        </p:txBody>
      </p:sp>
      <p:sp>
        <p:nvSpPr>
          <p:cNvPr id="3" name="Text 0"/>
          <p:cNvSpPr/>
          <p:nvPr>
            <p:ph idx="101" type="body" hasCustomPrompt="1"/>
          </p:nvPr>
        </p:nvSpPr>
        <p:spPr>
          <a:xfrm>
            <a:off x="649224" y="4069080"/>
            <a:ext cx="5760720" cy="822960"/>
          </a:xfrm>
          <a:prstGeom prst="rect">
            <a:avLst/>
          </a:prstGeom>
          <a:noFill/>
          <a:ln/>
        </p:spPr>
        <p:txBody>
          <a:bodyPr wrap="square" lIns="0" tIns="0" rIns="0" bIns="0" rtlCol="0" anchor="t"/>
          <a:lstStyle/>
          <a:p>
            <a:pPr algn="l" indent="0" marL="0">
              <a:buNone/>
            </a:pPr>
            <a:r>
              <a:rPr lang="en-US" sz="2000" dirty="0">
                <a:solidFill>
                  <a:schemeClr val="accent3"/>
                </a:solidFill>
              </a:rPr>
              <a:t>URL · 메서드 · 상태 코드 · 에러 · 목록 · 문서</a:t>
            </a:r>
            <a:endParaRPr lang="en-US" sz="2000" dirty="0"/>
          </a:p>
        </p:txBody>
      </p:sp>
      <p:sp>
        <p:nvSpPr>
          <p:cNvPr id="4" name="Text 0"/>
          <p:cNvSpPr/>
          <p:nvPr>
            <p:ph idx="102" type="body" hasCustomPrompt="1"/>
          </p:nvPr>
        </p:nvSpPr>
        <p:spPr>
          <a:xfrm>
            <a:off x="649224" y="5806440"/>
            <a:ext cx="5760720" cy="365760"/>
          </a:xfrm>
          <a:prstGeom prst="rect">
            <a:avLst/>
          </a:prstGeom>
          <a:noFill/>
          <a:ln/>
        </p:spPr>
        <p:txBody>
          <a:bodyPr wrap="square" lIns="0" tIns="0" rIns="0" bIns="0" rtlCol="0" anchor="t"/>
          <a:lstStyle/>
          <a:p>
            <a:pPr algn="l" indent="0" marL="0">
              <a:buNone/>
            </a:pPr>
            <a:r>
              <a:rPr lang="en-US" sz="1400" dirty="0">
                <a:solidFill>
                  <a:schemeClr val="accent3"/>
                </a:solidFill>
              </a:rPr>
              <a:t>이재웅 · 2026.10.16</a:t>
            </a:r>
            <a:endParaRPr lang="en-US" sz="1400" dirty="0"/>
          </a:p>
        </p:txBody>
      </p:sp>
      <p:sp>
        <p:nvSpPr>
          <p:cNvPr id="5" name="code-window"/>
          <p:cNvSpPr/>
          <p:nvPr/>
        </p:nvSpPr>
        <p:spPr>
          <a:xfrm>
            <a:off x="6903720" y="2240280"/>
            <a:ext cx="4636008" cy="2377440"/>
          </a:xfrm>
          <a:prstGeom prst="roundRect">
            <a:avLst>
              <a:gd name="adj" fmla="val 4615"/>
            </a:avLst>
          </a:prstGeom>
          <a:solidFill>
            <a:schemeClr val="tx2"/>
          </a:solidFill>
          <a:ln/>
        </p:spPr>
      </p:sp>
      <p:sp>
        <p:nvSpPr>
          <p:cNvPr id="6" name="code-window-dot"/>
          <p:cNvSpPr/>
          <p:nvPr/>
        </p:nvSpPr>
        <p:spPr>
          <a:xfrm>
            <a:off x="7104888" y="2386584"/>
            <a:ext cx="100584" cy="100584"/>
          </a:xfrm>
          <a:prstGeom prst="ellipse">
            <a:avLst/>
          </a:prstGeom>
          <a:solidFill>
            <a:srgbClr val="4A4844"/>
          </a:solidFill>
          <a:ln/>
        </p:spPr>
      </p:sp>
      <p:sp>
        <p:nvSpPr>
          <p:cNvPr id="7" name="code-window-dot"/>
          <p:cNvSpPr/>
          <p:nvPr/>
        </p:nvSpPr>
        <p:spPr>
          <a:xfrm>
            <a:off x="7278624" y="2386584"/>
            <a:ext cx="100584" cy="100584"/>
          </a:xfrm>
          <a:prstGeom prst="ellipse">
            <a:avLst/>
          </a:prstGeom>
          <a:solidFill>
            <a:srgbClr val="4A4844"/>
          </a:solidFill>
          <a:ln/>
        </p:spPr>
      </p:sp>
      <p:sp>
        <p:nvSpPr>
          <p:cNvPr id="8" name="code-window-dot"/>
          <p:cNvSpPr/>
          <p:nvPr/>
        </p:nvSpPr>
        <p:spPr>
          <a:xfrm>
            <a:off x="7452360" y="2386584"/>
            <a:ext cx="100584" cy="100584"/>
          </a:xfrm>
          <a:prstGeom prst="ellipse">
            <a:avLst/>
          </a:prstGeom>
          <a:solidFill>
            <a:srgbClr val="4A4844"/>
          </a:solidFill>
          <a:ln/>
        </p:spPr>
      </p:sp>
      <p:sp>
        <p:nvSpPr>
          <p:cNvPr id="9" name="code-window-label"/>
          <p:cNvSpPr txBox="1"/>
          <p:nvPr/>
        </p:nvSpPr>
        <p:spPr>
          <a:xfrm>
            <a:off x="7726680" y="2331720"/>
            <a:ext cx="3630168"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터미널</a:t>
            </a:r>
            <a:endParaRPr lang="en-US" sz="1100" dirty="0"/>
          </a:p>
        </p:txBody>
      </p:sp>
      <p:sp>
        <p:nvSpPr>
          <p:cNvPr id="10" name="code-window-text"/>
          <p:cNvSpPr txBox="1"/>
          <p:nvPr/>
        </p:nvSpPr>
        <p:spPr>
          <a:xfrm>
            <a:off x="7159752" y="2679192"/>
            <a:ext cx="4178808" cy="1828800"/>
          </a:xfrm>
          <a:prstGeom prst="rect">
            <a:avLst/>
          </a:prstGeom>
          <a:noFill/>
          <a:ln/>
        </p:spPr>
        <p:txBody>
          <a:bodyPr wrap="square" lIns="0" tIns="0" rIns="0" bIns="0" rtlCol="0" anchor="t"/>
          <a:lstStyle/>
          <a:p>
            <a:pPr algn="l" indent="0" marL="0">
              <a:lnSpc>
                <a:spcPct val="105000"/>
              </a:lnSpc>
              <a:buNone/>
            </a:pPr>
            <a:r>
              <a:rPr lang="en-US" sz="1500" dirty="0">
                <a:solidFill>
                  <a:schemeClr val="accent5"/>
                </a:solidFill>
                <a:latin typeface="JetBrains Mono" pitchFamily="34" charset="0"/>
                <a:ea typeface="JetBrains Mono" pitchFamily="34" charset="-122"/>
                <a:cs typeface="JetBrains Mono" pitchFamily="34" charset="-120"/>
              </a:rPr>
              <a:t>$ curl -i -X DELETE \</a:t>
            </a:r>
            <a:endParaRPr lang="en-US" sz="1500" dirty="0"/>
          </a:p>
          <a:p>
            <a:pPr algn="l" indent="0" marL="0">
              <a:lnSpc>
                <a:spcPct val="105000"/>
              </a:lnSpc>
              <a:buNone/>
            </a:pPr>
            <a:r>
              <a:rPr lang="en-US" sz="1500" dirty="0">
                <a:solidFill>
                  <a:schemeClr val="accent5"/>
                </a:solidFill>
                <a:latin typeface="JetBrains Mono" pitchFamily="34" charset="0"/>
                <a:ea typeface="JetBrains Mono" pitchFamily="34" charset="-122"/>
                <a:cs typeface="JetBrains Mono" pitchFamily="34" charset="-120"/>
              </a:rPr>
              <a:t>    localhost:8080/api/v1/posts/42</a:t>
            </a:r>
            <a:endParaRPr lang="en-US" sz="1500" dirty="0"/>
          </a:p>
          <a:p>
            <a:pPr algn="l" indent="0" marL="0">
              <a:lnSpc>
                <a:spcPct val="105000"/>
              </a:lnSpc>
              <a:buNone/>
            </a:pPr>
            <a:r>
              <a:rPr lang="en-US" sz="1500" dirty="0">
                <a:solidFill>
                  <a:schemeClr val="bg1"/>
                </a:solidFill>
                <a:latin typeface="JetBrains Mono" pitchFamily="34" charset="0"/>
                <a:ea typeface="JetBrains Mono" pitchFamily="34" charset="-122"/>
                <a:cs typeface="JetBrains Mono" pitchFamily="34" charset="-120"/>
              </a:rPr>
              <a:t> </a:t>
            </a:r>
            <a:endParaRPr lang="en-US" sz="1500" dirty="0"/>
          </a:p>
          <a:p>
            <a:pPr algn="l" indent="0" marL="0">
              <a:lnSpc>
                <a:spcPct val="105000"/>
              </a:lnSpc>
              <a:buNone/>
            </a:pPr>
            <a:r>
              <a:rPr lang="en-US" sz="1500" dirty="0">
                <a:solidFill>
                  <a:srgbClr val="5DB872"/>
                </a:solidFill>
                <a:latin typeface="JetBrains Mono" pitchFamily="34" charset="0"/>
                <a:ea typeface="JetBrains Mono" pitchFamily="34" charset="-122"/>
                <a:cs typeface="JetBrains Mono" pitchFamily="34" charset="-120"/>
              </a:rPr>
              <a:t>HTTP/1.1 204 No Content</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INTRO</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REST로 설계한다는 것</a:t>
            </a:r>
            <a:endParaRPr lang="en-US" sz="3200" dirty="0"/>
          </a:p>
        </p:txBody>
      </p:sp>
      <p:sp>
        <p:nvSpPr>
          <p:cNvPr id="5" name="code-inline"/>
          <p:cNvSpPr/>
          <p:nvPr/>
        </p:nvSpPr>
        <p:spPr>
          <a:xfrm>
            <a:off x="649224" y="1581912"/>
            <a:ext cx="10890504" cy="683768"/>
          </a:xfrm>
          <a:prstGeom prst="roundRect">
            <a:avLst>
              <a:gd name="adj" fmla="val 16048"/>
            </a:avLst>
          </a:prstGeom>
          <a:solidFill>
            <a:schemeClr val="bg2"/>
          </a:solidFill>
          <a:ln/>
        </p:spPr>
      </p:sp>
      <p:sp>
        <p:nvSpPr>
          <p:cNvPr id="6" name="code-inline-text"/>
          <p:cNvSpPr txBox="1"/>
          <p:nvPr/>
        </p:nvSpPr>
        <p:spPr>
          <a:xfrm>
            <a:off x="877824" y="1581912"/>
            <a:ext cx="10433304" cy="683768"/>
          </a:xfrm>
          <a:prstGeom prst="rect">
            <a:avLst/>
          </a:prstGeom>
          <a:noFill/>
          <a:ln/>
        </p:spPr>
        <p:txBody>
          <a:bodyPr wrap="square" lIns="0" tIns="0" rIns="0" bIns="0" rtlCol="0" anchor="ctr"/>
          <a:lstStyle/>
          <a:p>
            <a:pPr algn="l" indent="0" marL="0">
              <a:lnSpc>
                <a:spcPct val="100000"/>
              </a:lnSpc>
              <a:buNone/>
            </a:pPr>
            <a:r>
              <a:rPr lang="en-US" sz="2200" dirty="0">
                <a:solidFill>
                  <a:schemeClr val="tx1"/>
                </a:solidFill>
                <a:latin typeface="JetBrains Mono" pitchFamily="34" charset="0"/>
                <a:ea typeface="JetBrains Mono" pitchFamily="34" charset="-122"/>
                <a:cs typeface="JetBrains Mono" pitchFamily="34" charset="-120"/>
              </a:rPr>
              <a:t>DELETE /api/v1/posts/42   →   204 No Content</a:t>
            </a:r>
            <a:endParaRPr lang="en-US" sz="2200" dirty="0"/>
          </a:p>
        </p:txBody>
      </p:sp>
      <p:sp>
        <p:nvSpPr>
          <p:cNvPr id="7" name="card"/>
          <p:cNvSpPr/>
          <p:nvPr/>
        </p:nvSpPr>
        <p:spPr>
          <a:xfrm>
            <a:off x="649224" y="2514600"/>
            <a:ext cx="3493008" cy="2148840"/>
          </a:xfrm>
          <a:prstGeom prst="roundRect">
            <a:avLst>
              <a:gd name="adj" fmla="val 5106"/>
            </a:avLst>
          </a:prstGeom>
          <a:solidFill>
            <a:schemeClr val="bg2"/>
          </a:solidFill>
          <a:ln/>
        </p:spPr>
      </p:sp>
      <p:sp>
        <p:nvSpPr>
          <p:cNvPr id="8" name="text"/>
          <p:cNvSpPr txBox="1"/>
          <p:nvPr/>
        </p:nvSpPr>
        <p:spPr>
          <a:xfrm>
            <a:off x="969264" y="2743200"/>
            <a:ext cx="2834640" cy="320040"/>
          </a:xfrm>
          <a:prstGeom prst="rect">
            <a:avLst/>
          </a:prstGeom>
          <a:noFill/>
          <a:ln/>
        </p:spPr>
        <p:txBody>
          <a:bodyPr wrap="square" lIns="0" tIns="0" rIns="0" bIns="0" rtlCol="0" anchor="t"/>
          <a:lstStyle/>
          <a:p>
            <a:pPr algn="l" indent="0" marL="0">
              <a:lnSpc>
                <a:spcPct val="115000"/>
              </a:lnSpc>
              <a:spcAft>
                <a:spcPts val="600"/>
              </a:spcAft>
              <a:buNone/>
            </a:pPr>
            <a:r>
              <a:rPr lang="en-US" sz="1600" dirty="0">
                <a:solidFill>
                  <a:schemeClr val="accent3"/>
                </a:solidFill>
              </a:rPr>
              <a:t>자원</a:t>
            </a:r>
            <a:endParaRPr lang="en-US" sz="1600" dirty="0"/>
          </a:p>
        </p:txBody>
      </p:sp>
      <p:sp>
        <p:nvSpPr>
          <p:cNvPr id="9" name="card-title"/>
          <p:cNvSpPr txBox="1"/>
          <p:nvPr/>
        </p:nvSpPr>
        <p:spPr>
          <a:xfrm>
            <a:off x="969264" y="3108960"/>
            <a:ext cx="2834640" cy="640080"/>
          </a:xfrm>
          <a:prstGeom prst="rect">
            <a:avLst/>
          </a:prstGeom>
          <a:noFill/>
          <a:ln/>
        </p:spPr>
        <p:txBody>
          <a:bodyPr wrap="square" lIns="0" tIns="0" rIns="0" bIns="0" rtlCol="0" anchor="t"/>
          <a:lstStyle/>
          <a:p>
            <a:pPr algn="l" indent="0" marL="0">
              <a:lnSpc>
                <a:spcPct val="115000"/>
              </a:lnSpc>
              <a:spcAft>
                <a:spcPts val="600"/>
              </a:spcAft>
              <a:buNone/>
            </a:pPr>
            <a:r>
              <a:rPr lang="en-US" sz="3000" dirty="0">
                <a:solidFill>
                  <a:schemeClr val="tx1"/>
                </a:solidFill>
              </a:rPr>
              <a:t>URL</a:t>
            </a:r>
            <a:endParaRPr lang="en-US" sz="3000" dirty="0"/>
          </a:p>
        </p:txBody>
      </p:sp>
      <p:sp>
        <p:nvSpPr>
          <p:cNvPr id="10" name="text"/>
          <p:cNvSpPr txBox="1"/>
          <p:nvPr/>
        </p:nvSpPr>
        <p:spPr>
          <a:xfrm>
            <a:off x="969264" y="3977640"/>
            <a:ext cx="2834640" cy="365760"/>
          </a:xfrm>
          <a:prstGeom prst="rect">
            <a:avLst/>
          </a:prstGeom>
          <a:noFill/>
          <a:ln/>
        </p:spPr>
        <p:txBody>
          <a:bodyPr wrap="square" lIns="0" tIns="0" rIns="0" bIns="0" rtlCol="0" anchor="t"/>
          <a:lstStyle/>
          <a:p>
            <a:pPr algn="l" indent="0" marL="0">
              <a:lnSpc>
                <a:spcPct val="115000"/>
              </a:lnSpc>
              <a:spcAft>
                <a:spcPts val="600"/>
              </a:spcAft>
              <a:buNone/>
            </a:pPr>
            <a:r>
              <a:rPr lang="en-US" sz="1500" dirty="0">
                <a:solidFill>
                  <a:schemeClr val="accent2"/>
                </a:solidFill>
                <a:latin typeface="JetBrains Mono" pitchFamily="34" charset="0"/>
                <a:ea typeface="JetBrains Mono" pitchFamily="34" charset="-122"/>
                <a:cs typeface="JetBrains Mono" pitchFamily="34" charset="-120"/>
              </a:rPr>
              <a:t>/api/v1/posts/42</a:t>
            </a:r>
            <a:endParaRPr lang="en-US" sz="1500" dirty="0"/>
          </a:p>
        </p:txBody>
      </p:sp>
      <p:sp>
        <p:nvSpPr>
          <p:cNvPr id="11" name="card"/>
          <p:cNvSpPr/>
          <p:nvPr/>
        </p:nvSpPr>
        <p:spPr>
          <a:xfrm>
            <a:off x="4347972" y="2514600"/>
            <a:ext cx="3493008" cy="2148840"/>
          </a:xfrm>
          <a:prstGeom prst="roundRect">
            <a:avLst>
              <a:gd name="adj" fmla="val 5106"/>
            </a:avLst>
          </a:prstGeom>
          <a:solidFill>
            <a:schemeClr val="bg2"/>
          </a:solidFill>
          <a:ln/>
        </p:spPr>
      </p:sp>
      <p:sp>
        <p:nvSpPr>
          <p:cNvPr id="12" name="text"/>
          <p:cNvSpPr txBox="1"/>
          <p:nvPr/>
        </p:nvSpPr>
        <p:spPr>
          <a:xfrm>
            <a:off x="4668012" y="2743200"/>
            <a:ext cx="2834640" cy="320040"/>
          </a:xfrm>
          <a:prstGeom prst="rect">
            <a:avLst/>
          </a:prstGeom>
          <a:noFill/>
          <a:ln/>
        </p:spPr>
        <p:txBody>
          <a:bodyPr wrap="square" lIns="0" tIns="0" rIns="0" bIns="0" rtlCol="0" anchor="t"/>
          <a:lstStyle/>
          <a:p>
            <a:pPr algn="l" indent="0" marL="0">
              <a:lnSpc>
                <a:spcPct val="115000"/>
              </a:lnSpc>
              <a:spcAft>
                <a:spcPts val="600"/>
              </a:spcAft>
              <a:buNone/>
            </a:pPr>
            <a:r>
              <a:rPr lang="en-US" sz="1600" dirty="0">
                <a:solidFill>
                  <a:schemeClr val="accent3"/>
                </a:solidFill>
              </a:rPr>
              <a:t>행동</a:t>
            </a:r>
            <a:endParaRPr lang="en-US" sz="1600" dirty="0"/>
          </a:p>
        </p:txBody>
      </p:sp>
      <p:sp>
        <p:nvSpPr>
          <p:cNvPr id="13" name="card-title"/>
          <p:cNvSpPr txBox="1"/>
          <p:nvPr/>
        </p:nvSpPr>
        <p:spPr>
          <a:xfrm>
            <a:off x="4668012" y="3108960"/>
            <a:ext cx="2834640" cy="640080"/>
          </a:xfrm>
          <a:prstGeom prst="rect">
            <a:avLst/>
          </a:prstGeom>
          <a:noFill/>
          <a:ln/>
        </p:spPr>
        <p:txBody>
          <a:bodyPr wrap="square" lIns="0" tIns="0" rIns="0" bIns="0" rtlCol="0" anchor="t"/>
          <a:lstStyle/>
          <a:p>
            <a:pPr algn="l" indent="0" marL="0">
              <a:lnSpc>
                <a:spcPct val="115000"/>
              </a:lnSpc>
              <a:spcAft>
                <a:spcPts val="600"/>
              </a:spcAft>
              <a:buNone/>
            </a:pPr>
            <a:r>
              <a:rPr lang="en-US" sz="3000" dirty="0">
                <a:solidFill>
                  <a:schemeClr val="tx1"/>
                </a:solidFill>
              </a:rPr>
              <a:t>메서드</a:t>
            </a:r>
            <a:endParaRPr lang="en-US" sz="3000" dirty="0"/>
          </a:p>
        </p:txBody>
      </p:sp>
      <p:sp>
        <p:nvSpPr>
          <p:cNvPr id="14" name="text"/>
          <p:cNvSpPr txBox="1"/>
          <p:nvPr/>
        </p:nvSpPr>
        <p:spPr>
          <a:xfrm>
            <a:off x="4668012" y="3977640"/>
            <a:ext cx="2834640" cy="365760"/>
          </a:xfrm>
          <a:prstGeom prst="rect">
            <a:avLst/>
          </a:prstGeom>
          <a:noFill/>
          <a:ln/>
        </p:spPr>
        <p:txBody>
          <a:bodyPr wrap="square" lIns="0" tIns="0" rIns="0" bIns="0" rtlCol="0" anchor="t"/>
          <a:lstStyle/>
          <a:p>
            <a:pPr algn="l" indent="0" marL="0">
              <a:lnSpc>
                <a:spcPct val="115000"/>
              </a:lnSpc>
              <a:spcAft>
                <a:spcPts val="600"/>
              </a:spcAft>
              <a:buNone/>
            </a:pPr>
            <a:r>
              <a:rPr lang="en-US" sz="1500" dirty="0">
                <a:solidFill>
                  <a:schemeClr val="accent2"/>
                </a:solidFill>
                <a:latin typeface="JetBrains Mono" pitchFamily="34" charset="0"/>
                <a:ea typeface="JetBrains Mono" pitchFamily="34" charset="-122"/>
                <a:cs typeface="JetBrains Mono" pitchFamily="34" charset="-120"/>
              </a:rPr>
              <a:t>DELETE</a:t>
            </a:r>
            <a:endParaRPr lang="en-US" sz="1500" dirty="0"/>
          </a:p>
        </p:txBody>
      </p:sp>
      <p:sp>
        <p:nvSpPr>
          <p:cNvPr id="15" name="card"/>
          <p:cNvSpPr/>
          <p:nvPr/>
        </p:nvSpPr>
        <p:spPr>
          <a:xfrm>
            <a:off x="8046720" y="2514600"/>
            <a:ext cx="3493008" cy="2148840"/>
          </a:xfrm>
          <a:prstGeom prst="roundRect">
            <a:avLst>
              <a:gd name="adj" fmla="val 5106"/>
            </a:avLst>
          </a:prstGeom>
          <a:solidFill>
            <a:schemeClr val="bg2"/>
          </a:solidFill>
          <a:ln/>
        </p:spPr>
      </p:sp>
      <p:sp>
        <p:nvSpPr>
          <p:cNvPr id="16" name="text"/>
          <p:cNvSpPr txBox="1"/>
          <p:nvPr/>
        </p:nvSpPr>
        <p:spPr>
          <a:xfrm>
            <a:off x="8366760" y="2743200"/>
            <a:ext cx="2834640" cy="320040"/>
          </a:xfrm>
          <a:prstGeom prst="rect">
            <a:avLst/>
          </a:prstGeom>
          <a:noFill/>
          <a:ln/>
        </p:spPr>
        <p:txBody>
          <a:bodyPr wrap="square" lIns="0" tIns="0" rIns="0" bIns="0" rtlCol="0" anchor="t"/>
          <a:lstStyle/>
          <a:p>
            <a:pPr algn="l" indent="0" marL="0">
              <a:lnSpc>
                <a:spcPct val="115000"/>
              </a:lnSpc>
              <a:spcAft>
                <a:spcPts val="600"/>
              </a:spcAft>
              <a:buNone/>
            </a:pPr>
            <a:r>
              <a:rPr lang="en-US" sz="1600" dirty="0">
                <a:solidFill>
                  <a:schemeClr val="accent3"/>
                </a:solidFill>
              </a:rPr>
              <a:t>결과</a:t>
            </a:r>
            <a:endParaRPr lang="en-US" sz="1600" dirty="0"/>
          </a:p>
        </p:txBody>
      </p:sp>
      <p:sp>
        <p:nvSpPr>
          <p:cNvPr id="17" name="card-title"/>
          <p:cNvSpPr txBox="1"/>
          <p:nvPr/>
        </p:nvSpPr>
        <p:spPr>
          <a:xfrm>
            <a:off x="8366760" y="3108960"/>
            <a:ext cx="2834640" cy="640080"/>
          </a:xfrm>
          <a:prstGeom prst="rect">
            <a:avLst/>
          </a:prstGeom>
          <a:noFill/>
          <a:ln/>
        </p:spPr>
        <p:txBody>
          <a:bodyPr wrap="square" lIns="0" tIns="0" rIns="0" bIns="0" rtlCol="0" anchor="t"/>
          <a:lstStyle/>
          <a:p>
            <a:pPr algn="l" indent="0" marL="0">
              <a:lnSpc>
                <a:spcPct val="115000"/>
              </a:lnSpc>
              <a:spcAft>
                <a:spcPts val="600"/>
              </a:spcAft>
              <a:buNone/>
            </a:pPr>
            <a:r>
              <a:rPr lang="en-US" sz="3000" dirty="0">
                <a:solidFill>
                  <a:schemeClr val="tx1"/>
                </a:solidFill>
              </a:rPr>
              <a:t>상태 코드</a:t>
            </a:r>
            <a:endParaRPr lang="en-US" sz="3000" dirty="0"/>
          </a:p>
        </p:txBody>
      </p:sp>
      <p:sp>
        <p:nvSpPr>
          <p:cNvPr id="18" name="text"/>
          <p:cNvSpPr txBox="1"/>
          <p:nvPr/>
        </p:nvSpPr>
        <p:spPr>
          <a:xfrm>
            <a:off x="8366760" y="3977640"/>
            <a:ext cx="2834640" cy="365760"/>
          </a:xfrm>
          <a:prstGeom prst="rect">
            <a:avLst/>
          </a:prstGeom>
          <a:noFill/>
          <a:ln/>
        </p:spPr>
        <p:txBody>
          <a:bodyPr wrap="square" lIns="0" tIns="0" rIns="0" bIns="0" rtlCol="0" anchor="t"/>
          <a:lstStyle/>
          <a:p>
            <a:pPr algn="l" indent="0" marL="0">
              <a:lnSpc>
                <a:spcPct val="115000"/>
              </a:lnSpc>
              <a:spcAft>
                <a:spcPts val="600"/>
              </a:spcAft>
              <a:buNone/>
            </a:pPr>
            <a:r>
              <a:rPr lang="en-US" sz="1500" dirty="0">
                <a:solidFill>
                  <a:schemeClr val="accent2"/>
                </a:solidFill>
                <a:latin typeface="JetBrains Mono" pitchFamily="34" charset="0"/>
                <a:ea typeface="JetBrains Mono" pitchFamily="34" charset="-122"/>
                <a:cs typeface="JetBrains Mono" pitchFamily="34" charset="-120"/>
              </a:rPr>
              <a:t>204 No Content</a:t>
            </a:r>
            <a:endParaRPr lang="en-US" sz="1500" dirty="0"/>
          </a:p>
        </p:txBody>
      </p:sp>
      <p:sp>
        <p:nvSpPr>
          <p:cNvPr id="19" name="text"/>
          <p:cNvSpPr txBox="1"/>
          <p:nvPr/>
        </p:nvSpPr>
        <p:spPr>
          <a:xfrm>
            <a:off x="649224" y="5120640"/>
            <a:ext cx="10890504" cy="73152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3D3D3A"/>
                </a:solidFill>
              </a:rPr>
              <a:t>REST는 표준 규격이 아니라 설계 스타일이다. 그래서 세부 규칙은 팀이 정한다.</a:t>
            </a:r>
            <a:endParaRPr lang="en-US" sz="20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lIns="0" tIns="0" rIns="0" bIns="0" rtlCol="0" anchor="b"/>
          <a:lstStyle/>
          <a:p>
            <a:pPr algn="l" indent="0" marL="0">
              <a:buNone/>
            </a:pPr>
            <a:r>
              <a:rPr lang="en-US" sz="6000" dirty="0">
                <a:solidFill>
                  <a:schemeClr val="accent1"/>
                </a:solidFill>
                <a:latin typeface="+mj-lt" pitchFamily="34" charset="0"/>
                <a:ea typeface="+mj-lt" pitchFamily="34" charset="-122"/>
                <a:cs typeface="+mj-lt" pitchFamily="34" charset="-120"/>
              </a:rPr>
              <a:t>01</a:t>
            </a: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lIns="0" tIns="0" rIns="0" bIns="0" rtlCol="0" anchor="t"/>
          <a:lstStyle/>
          <a:p>
            <a:pPr algn="l" indent="0" marL="0">
              <a:buNone/>
            </a:pPr>
            <a:r>
              <a:rPr lang="en-US" sz="4000" dirty="0">
                <a:solidFill>
                  <a:schemeClr val="bg1"/>
                </a:solidFill>
              </a:rPr>
              <a:t>자원 중심 URL</a:t>
            </a: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lIns="0" tIns="0" rIns="0" bIns="0" rtlCol="0" anchor="t"/>
          <a:lstStyle/>
          <a:p>
            <a:pPr algn="l" indent="0" marL="0">
              <a:buNone/>
            </a:pPr>
            <a:r>
              <a:rPr lang="en-US" sz="2000" dirty="0">
                <a:solidFill>
                  <a:srgbClr val="A09D96"/>
                </a:solidFill>
              </a:rPr>
              <a:t>주소는 자원만 가리키고, 행동은 메서드에 맡긴다</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01 · URL</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URL에는 자원만 쓴다</a:t>
            </a:r>
            <a:endParaRPr lang="en-US" sz="3200" dirty="0"/>
          </a:p>
        </p:txBody>
      </p:sp>
      <p:graphicFrame>
        <p:nvGraphicFramePr>
          <p:cNvPr id="5" name="table"/>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5440680"/>
                <a:gridCol w="5449824"/>
              </a:tblGrid>
              <a:tr h="457200">
                <a:tc>
                  <a:txBody>
                    <a:bodyPr/>
                    <a:lstStyle/>
                    <a:p>
                      <a:pPr indent="0" marL="0">
                        <a:buNone/>
                      </a:pPr>
                      <a:r>
                        <a:rPr lang="en-US" sz="1500" dirty="0">
                          <a:solidFill>
                            <a:schemeClr val="accent3"/>
                          </a:solidFill>
                        </a:rPr>
                        <a:t>흔히 보는 URL</a:t>
                      </a:r>
                      <a:endParaRPr lang="en-US" sz="15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500" dirty="0">
                          <a:solidFill>
                            <a:schemeClr val="accent3"/>
                          </a:solidFill>
                        </a:rPr>
                        <a:t>바꾼 URL</a:t>
                      </a:r>
                      <a:endParaRPr lang="en-US" sz="15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57200">
                <a:tc>
                  <a:txBody>
                    <a:bodyPr/>
                    <a:lstStyle/>
                    <a:p>
                      <a:pPr indent="0" marL="0">
                        <a:buNone/>
                      </a:pPr>
                      <a:r>
                        <a:rPr lang="en-US" sz="1800" dirty="0">
                          <a:solidFill>
                            <a:schemeClr val="accent6"/>
                          </a:solidFill>
                          <a:latin typeface="JetBrains Mono" pitchFamily="34" charset="0"/>
                          <a:ea typeface="JetBrains Mono" pitchFamily="34" charset="-122"/>
                          <a:cs typeface="JetBrains Mono" pitchFamily="34" charset="-120"/>
                        </a:rPr>
                        <a:t>GET  /getPosts</a:t>
                      </a:r>
                      <a:endParaRPr lang="en-US" sz="18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tx1"/>
                          </a:solidFill>
                          <a:latin typeface="JetBrains Mono" pitchFamily="34" charset="0"/>
                          <a:ea typeface="JetBrains Mono" pitchFamily="34" charset="-122"/>
                          <a:cs typeface="JetBrains Mono" pitchFamily="34" charset="-120"/>
                        </a:rPr>
                        <a:t>GET    /posts</a:t>
                      </a:r>
                      <a:endParaRPr lang="en-US" sz="18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57200">
                <a:tc>
                  <a:txBody>
                    <a:bodyPr/>
                    <a:lstStyle/>
                    <a:p>
                      <a:pPr indent="0" marL="0">
                        <a:buNone/>
                      </a:pPr>
                      <a:r>
                        <a:rPr lang="en-US" sz="1800" dirty="0">
                          <a:solidFill>
                            <a:schemeClr val="accent6"/>
                          </a:solidFill>
                          <a:latin typeface="JetBrains Mono" pitchFamily="34" charset="0"/>
                          <a:ea typeface="JetBrains Mono" pitchFamily="34" charset="-122"/>
                          <a:cs typeface="JetBrains Mono" pitchFamily="34" charset="-120"/>
                        </a:rPr>
                        <a:t>POST /posts/create</a:t>
                      </a:r>
                      <a:endParaRPr lang="en-US" sz="18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tx1"/>
                          </a:solidFill>
                          <a:latin typeface="JetBrains Mono" pitchFamily="34" charset="0"/>
                          <a:ea typeface="JetBrains Mono" pitchFamily="34" charset="-122"/>
                          <a:cs typeface="JetBrains Mono" pitchFamily="34" charset="-120"/>
                        </a:rPr>
                        <a:t>POST   /posts</a:t>
                      </a:r>
                      <a:endParaRPr lang="en-US" sz="18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57200">
                <a:tc>
                  <a:txBody>
                    <a:bodyPr/>
                    <a:lstStyle/>
                    <a:p>
                      <a:pPr indent="0" marL="0">
                        <a:buNone/>
                      </a:pPr>
                      <a:r>
                        <a:rPr lang="en-US" sz="1800" dirty="0">
                          <a:solidFill>
                            <a:schemeClr val="accent6"/>
                          </a:solidFill>
                          <a:latin typeface="JetBrains Mono" pitchFamily="34" charset="0"/>
                          <a:ea typeface="JetBrains Mono" pitchFamily="34" charset="-122"/>
                          <a:cs typeface="JetBrains Mono" pitchFamily="34" charset="-120"/>
                        </a:rPr>
                        <a:t>GET  /deletePost?id=42</a:t>
                      </a:r>
                      <a:endParaRPr lang="en-US" sz="18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tx1"/>
                          </a:solidFill>
                          <a:latin typeface="JetBrains Mono" pitchFamily="34" charset="0"/>
                          <a:ea typeface="JetBrains Mono" pitchFamily="34" charset="-122"/>
                          <a:cs typeface="JetBrains Mono" pitchFamily="34" charset="-120"/>
                        </a:rPr>
                        <a:t>DELETE /posts/42</a:t>
                      </a:r>
                      <a:endParaRPr lang="en-US" sz="18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57200">
                <a:tc>
                  <a:txBody>
                    <a:bodyPr/>
                    <a:lstStyle/>
                    <a:p>
                      <a:pPr indent="0" marL="0">
                        <a:buNone/>
                      </a:pPr>
                      <a:r>
                        <a:rPr lang="en-US" sz="1800" dirty="0">
                          <a:solidFill>
                            <a:schemeClr val="accent6"/>
                          </a:solidFill>
                          <a:latin typeface="JetBrains Mono" pitchFamily="34" charset="0"/>
                          <a:ea typeface="JetBrains Mono" pitchFamily="34" charset="-122"/>
                          <a:cs typeface="JetBrains Mono" pitchFamily="34" charset="-120"/>
                        </a:rPr>
                        <a:t>GET  /post_list,  /Posts</a:t>
                      </a:r>
                      <a:endParaRPr lang="en-US" sz="18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tx1"/>
                          </a:solidFill>
                          <a:latin typeface="JetBrains Mono" pitchFamily="34" charset="0"/>
                          <a:ea typeface="JetBrains Mono" pitchFamily="34" charset="-122"/>
                          <a:cs typeface="JetBrains Mono" pitchFamily="34" charset="-120"/>
                        </a:rPr>
                        <a:t>GET    /posts</a:t>
                      </a:r>
                      <a:endParaRPr lang="en-US" sz="18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6" name="card"/>
          <p:cNvSpPr/>
          <p:nvPr/>
        </p:nvSpPr>
        <p:spPr>
          <a:xfrm>
            <a:off x="649224" y="4206240"/>
            <a:ext cx="5330952" cy="1600200"/>
          </a:xfrm>
          <a:prstGeom prst="roundRect">
            <a:avLst>
              <a:gd name="adj" fmla="val 6857"/>
            </a:avLst>
          </a:prstGeom>
          <a:solidFill>
            <a:schemeClr val="bg2"/>
          </a:solidFill>
          <a:ln/>
        </p:spPr>
      </p:sp>
      <p:sp>
        <p:nvSpPr>
          <p:cNvPr id="7" name="text"/>
          <p:cNvSpPr txBox="1"/>
          <p:nvPr/>
        </p:nvSpPr>
        <p:spPr>
          <a:xfrm>
            <a:off x="969264" y="4434840"/>
            <a:ext cx="4754880" cy="1280160"/>
          </a:xfrm>
          <a:prstGeom prst="rect">
            <a:avLst/>
          </a:prstGeom>
          <a:noFill/>
          <a:ln/>
        </p:spPr>
        <p:txBody>
          <a:bodyPr wrap="square" lIns="0" tIns="0" rIns="0" bIns="0" rtlCol="0" anchor="t"/>
          <a:lstStyle/>
          <a:p>
            <a:pPr algn="l" indent="0" marL="0">
              <a:lnSpc>
                <a:spcPct val="115000"/>
              </a:lnSpc>
              <a:spcAft>
                <a:spcPts val="400"/>
              </a:spcAft>
              <a:buNone/>
            </a:pPr>
            <a:r>
              <a:rPr lang="en-US" sz="2000" b="1" dirty="0">
                <a:solidFill>
                  <a:schemeClr val="tx1"/>
                </a:solidFill>
              </a:rPr>
              <a:t>복수 명사 · 소문자 · 하이픈</a:t>
            </a:r>
            <a:endParaRPr lang="en-US" sz="2000" dirty="0"/>
          </a:p>
          <a:p>
            <a:pPr algn="l" indent="0" marL="0">
              <a:lnSpc>
                <a:spcPct val="115000"/>
              </a:lnSpc>
              <a:spcAft>
                <a:spcPts val="400"/>
              </a:spcAft>
              <a:buNone/>
            </a:pPr>
            <a:r>
              <a:rPr lang="en-US" sz="1700" dirty="0">
                <a:solidFill>
                  <a:schemeClr val="accent2"/>
                </a:solidFill>
                <a:latin typeface="JetBrains Mono" pitchFamily="34" charset="0"/>
                <a:ea typeface="JetBrains Mono" pitchFamily="34" charset="-122"/>
                <a:cs typeface="JetBrains Mono" pitchFamily="34" charset="-120"/>
              </a:rPr>
              <a:t>/blog-posts</a:t>
            </a:r>
            <a:endParaRPr lang="en-US" sz="2000" dirty="0"/>
          </a:p>
          <a:p>
            <a:pPr algn="l" indent="0" marL="0">
              <a:lnSpc>
                <a:spcPct val="115000"/>
              </a:lnSpc>
              <a:spcAft>
                <a:spcPts val="400"/>
              </a:spcAft>
              <a:buNone/>
            </a:pPr>
            <a:r>
              <a:rPr lang="en-US" sz="1500" dirty="0">
                <a:solidFill>
                  <a:schemeClr val="accent3"/>
                </a:solidFill>
              </a:rPr>
              <a:t>경로는 대소문자를 구분해서 한 글자만 달라도 404</a:t>
            </a:r>
            <a:endParaRPr lang="en-US" sz="2000" dirty="0"/>
          </a:p>
        </p:txBody>
      </p:sp>
      <p:sp>
        <p:nvSpPr>
          <p:cNvPr id="8" name="card"/>
          <p:cNvSpPr/>
          <p:nvPr/>
        </p:nvSpPr>
        <p:spPr>
          <a:xfrm>
            <a:off x="6208776" y="4206240"/>
            <a:ext cx="5330952" cy="1600200"/>
          </a:xfrm>
          <a:prstGeom prst="roundRect">
            <a:avLst>
              <a:gd name="adj" fmla="val 6857"/>
            </a:avLst>
          </a:prstGeom>
          <a:solidFill>
            <a:schemeClr val="bg2"/>
          </a:solidFill>
          <a:ln/>
        </p:spPr>
      </p:sp>
      <p:sp>
        <p:nvSpPr>
          <p:cNvPr id="9" name="text"/>
          <p:cNvSpPr txBox="1"/>
          <p:nvPr/>
        </p:nvSpPr>
        <p:spPr>
          <a:xfrm>
            <a:off x="6528816" y="4434840"/>
            <a:ext cx="4754880" cy="1280160"/>
          </a:xfrm>
          <a:prstGeom prst="rect">
            <a:avLst/>
          </a:prstGeom>
          <a:noFill/>
          <a:ln/>
        </p:spPr>
        <p:txBody>
          <a:bodyPr wrap="square" lIns="0" tIns="0" rIns="0" bIns="0" rtlCol="0" anchor="t"/>
          <a:lstStyle/>
          <a:p>
            <a:pPr algn="l" indent="0" marL="0">
              <a:lnSpc>
                <a:spcPct val="115000"/>
              </a:lnSpc>
              <a:spcAft>
                <a:spcPts val="400"/>
              </a:spcAft>
              <a:buNone/>
            </a:pPr>
            <a:r>
              <a:rPr lang="en-US" sz="2000" b="1" dirty="0">
                <a:solidFill>
                  <a:schemeClr val="tx1"/>
                </a:solidFill>
              </a:rPr>
              <a:t>GET으로 상태를 바꾸지 않는다</a:t>
            </a:r>
            <a:endParaRPr lang="en-US" sz="2000" dirty="0"/>
          </a:p>
          <a:p>
            <a:pPr algn="l" indent="0" marL="0">
              <a:lnSpc>
                <a:spcPct val="115000"/>
              </a:lnSpc>
              <a:spcAft>
                <a:spcPts val="400"/>
              </a:spcAft>
              <a:buNone/>
            </a:pPr>
            <a:r>
              <a:rPr lang="en-US" sz="1500" dirty="0">
                <a:solidFill>
                  <a:schemeClr val="accent3"/>
                </a:solidFill>
              </a:rPr>
              <a:t>크롤러 · 링크 미리보기는 GET을 마음대로 보낸다</a:t>
            </a:r>
            <a:endParaRPr lang="en-US" sz="2000" dirty="0"/>
          </a:p>
          <a:p>
            <a:pPr algn="l" indent="0" marL="0">
              <a:lnSpc>
                <a:spcPct val="115000"/>
              </a:lnSpc>
              <a:spcAft>
                <a:spcPts val="400"/>
              </a:spcAft>
              <a:buNone/>
            </a:pPr>
            <a:r>
              <a:rPr lang="en-US" sz="1500" dirty="0">
                <a:solidFill>
                  <a:schemeClr val="accent3"/>
                </a:solidFill>
              </a:rPr>
              <a:t>삭제 링크를 공유만 해도 지워질 수 있다</a:t>
            </a:r>
            <a:endParaRPr lang="en-US" sz="20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01 · URL</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계층은 두 단계까지, 보여 주는 방식은 쿼리로</a:t>
            </a:r>
            <a:endParaRPr lang="en-US" sz="32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5852160"/>
                <a:gridCol w="5038344"/>
              </a:tblGrid>
              <a:tr h="475488">
                <a:tc>
                  <a:txBody>
                    <a:bodyPr/>
                    <a:lstStyle/>
                    <a:p>
                      <a:pPr indent="0" marL="0">
                        <a:buNone/>
                      </a:pPr>
                      <a:r>
                        <a:rPr lang="en-US" sz="1400" dirty="0">
                          <a:solidFill>
                            <a:schemeClr val="accent3"/>
                          </a:solidFill>
                        </a:rPr>
                        <a:t>요청</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뜻</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GET /posts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글 목록</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GET /posts/42</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42번 글</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GET /posts/42/comments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42번 글의 댓글</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GET /comments/7</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댓글 하나는 id만으로 → 끊는다</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accent6"/>
                          </a:solidFill>
                          <a:latin typeface="JetBrains Mono" pitchFamily="34" charset="0"/>
                          <a:ea typeface="JetBrains Mono" pitchFamily="34" charset="-122"/>
                          <a:cs typeface="JetBrains Mono" pitchFamily="34" charset="-120"/>
                        </a:rPr>
                        <a:t>GET /members/3/posts/42/comments/7</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accent6"/>
                          </a:solidFill>
                        </a:rPr>
                        <a:t>✗ 앞의 id를 다 알아야 한다</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GET /posts?keyword=제주&amp;page=0</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검색 · 정렬 · 쪽 번호는 쿼리</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6" name="badge"/>
          <p:cNvSpPr/>
          <p:nvPr/>
        </p:nvSpPr>
        <p:spPr>
          <a:xfrm>
            <a:off x="649224" y="5120640"/>
            <a:ext cx="3986784" cy="310896"/>
          </a:xfrm>
          <a:prstGeom prst="roundRect">
            <a:avLst>
              <a:gd name="adj" fmla="val 50000"/>
            </a:avLst>
          </a:prstGeom>
          <a:solidFill>
            <a:srgbClr val="E8E0D2"/>
          </a:solidFill>
          <a:ln/>
        </p:spPr>
      </p:sp>
      <p:sp>
        <p:nvSpPr>
          <p:cNvPr id="7" name="badge-text"/>
          <p:cNvSpPr txBox="1"/>
          <p:nvPr/>
        </p:nvSpPr>
        <p:spPr>
          <a:xfrm>
            <a:off x="649224" y="5120640"/>
            <a:ext cx="3986784" cy="310896"/>
          </a:xfrm>
          <a:prstGeom prst="rect">
            <a:avLst/>
          </a:prstGeom>
          <a:noFill/>
          <a:ln/>
        </p:spPr>
        <p:txBody>
          <a:bodyPr wrap="square" lIns="0" tIns="0" rIns="0" bIns="0" rtlCol="0" anchor="ctr"/>
          <a:lstStyle/>
          <a:p>
            <a:pPr algn="ctr" indent="0" marL="0">
              <a:buNone/>
            </a:pPr>
            <a:r>
              <a:rPr lang="en-US" sz="1200" dirty="0">
                <a:solidFill>
                  <a:schemeClr val="accent3"/>
                </a:solidFill>
              </a:rPr>
              <a:t>중첩 = 자원 두 개까지 · id 하나로 찾히면 끊는다</a:t>
            </a:r>
            <a:endParaRPr lang="en-US" sz="12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01 · URL</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CRUD로 안 떨어지는 행위</a:t>
            </a:r>
            <a:endParaRPr lang="en-US" sz="3200" dirty="0"/>
          </a:p>
        </p:txBody>
      </p:sp>
      <p:sp>
        <p:nvSpPr>
          <p:cNvPr id="5" name="text"/>
          <p:cNvSpPr txBox="1"/>
          <p:nvPr/>
        </p:nvSpPr>
        <p:spPr>
          <a:xfrm>
            <a:off x="649224" y="1581912"/>
            <a:ext cx="10890504" cy="36576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3D3D3A"/>
                </a:solidFill>
              </a:rPr>
              <a:t>주문 취소 · 결제 승인 · 비밀번호 재설정은?</a:t>
            </a:r>
            <a:endParaRPr lang="en-US" sz="2000" dirty="0"/>
          </a:p>
        </p:txBody>
      </p:sp>
      <p:sp>
        <p:nvSpPr>
          <p:cNvPr id="6" name="card"/>
          <p:cNvSpPr/>
          <p:nvPr/>
        </p:nvSpPr>
        <p:spPr>
          <a:xfrm>
            <a:off x="649224" y="2148840"/>
            <a:ext cx="3493008" cy="2514600"/>
          </a:xfrm>
          <a:prstGeom prst="roundRect">
            <a:avLst>
              <a:gd name="adj" fmla="val 4364"/>
            </a:avLst>
          </a:prstGeom>
          <a:solidFill>
            <a:schemeClr val="bg2"/>
          </a:solidFill>
          <a:ln/>
        </p:spPr>
      </p:sp>
      <p:sp>
        <p:nvSpPr>
          <p:cNvPr id="7" name="text"/>
          <p:cNvSpPr txBox="1"/>
          <p:nvPr/>
        </p:nvSpPr>
        <p:spPr>
          <a:xfrm>
            <a:off x="923544" y="2331720"/>
            <a:ext cx="3017520" cy="411480"/>
          </a:xfrm>
          <a:prstGeom prst="rect">
            <a:avLst/>
          </a:prstGeom>
          <a:noFill/>
          <a:ln/>
        </p:spPr>
        <p:txBody>
          <a:bodyPr wrap="square" lIns="0" tIns="0" rIns="0" bIns="0" rtlCol="0" anchor="t"/>
          <a:lstStyle/>
          <a:p>
            <a:pPr algn="l" indent="0" marL="0">
              <a:lnSpc>
                <a:spcPct val="115000"/>
              </a:lnSpc>
              <a:spcAft>
                <a:spcPts val="600"/>
              </a:spcAft>
              <a:buNone/>
            </a:pPr>
            <a:r>
              <a:rPr lang="en-US" sz="2200" dirty="0">
                <a:solidFill>
                  <a:schemeClr val="accent2"/>
                </a:solidFill>
              </a:rPr>
              <a:t>①</a:t>
            </a:r>
            <a:endParaRPr lang="en-US" sz="2200" dirty="0"/>
          </a:p>
        </p:txBody>
      </p:sp>
      <p:sp>
        <p:nvSpPr>
          <p:cNvPr id="8" name="text"/>
          <p:cNvSpPr txBox="1"/>
          <p:nvPr/>
        </p:nvSpPr>
        <p:spPr>
          <a:xfrm>
            <a:off x="923544" y="2834640"/>
            <a:ext cx="3017520" cy="640080"/>
          </a:xfrm>
          <a:prstGeom prst="rect">
            <a:avLst/>
          </a:prstGeom>
          <a:noFill/>
          <a:ln/>
        </p:spPr>
        <p:txBody>
          <a:bodyPr wrap="square" lIns="0" tIns="0" rIns="0" bIns="0" rtlCol="0" anchor="t"/>
          <a:lstStyle/>
          <a:p>
            <a:pPr algn="l" indent="0" marL="0">
              <a:lnSpc>
                <a:spcPct val="115000"/>
              </a:lnSpc>
              <a:spcAft>
                <a:spcPts val="200"/>
              </a:spcAft>
              <a:buNone/>
            </a:pPr>
            <a:r>
              <a:rPr lang="en-US" sz="1300" dirty="0">
                <a:solidFill>
                  <a:schemeClr val="tx1"/>
                </a:solidFill>
                <a:latin typeface="JetBrains Mono" pitchFamily="34" charset="0"/>
                <a:ea typeface="JetBrains Mono" pitchFamily="34" charset="-122"/>
                <a:cs typeface="JetBrains Mono" pitchFamily="34" charset="-120"/>
              </a:rPr>
              <a:t>PATCH /orders/42</a:t>
            </a:r>
            <a:endParaRPr lang="en-US" sz="1300" dirty="0"/>
          </a:p>
          <a:p>
            <a:pPr algn="l" indent="0" marL="0">
              <a:lnSpc>
                <a:spcPct val="115000"/>
              </a:lnSpc>
              <a:spcAft>
                <a:spcPts val="200"/>
              </a:spcAft>
              <a:buNone/>
            </a:pPr>
            <a:r>
              <a:rPr lang="en-US" sz="1200" dirty="0">
                <a:solidFill>
                  <a:schemeClr val="accent3"/>
                </a:solidFill>
                <a:latin typeface="JetBrains Mono" pitchFamily="34" charset="0"/>
                <a:ea typeface="JetBrains Mono" pitchFamily="34" charset="-122"/>
                <a:cs typeface="JetBrains Mono" pitchFamily="34" charset="-120"/>
              </a:rPr>
              <a:t>{"status":"CANCELED"}</a:t>
            </a:r>
            <a:endParaRPr lang="en-US" sz="1300" dirty="0"/>
          </a:p>
        </p:txBody>
      </p:sp>
      <p:sp>
        <p:nvSpPr>
          <p:cNvPr id="9" name="text"/>
          <p:cNvSpPr txBox="1"/>
          <p:nvPr/>
        </p:nvSpPr>
        <p:spPr>
          <a:xfrm>
            <a:off x="923544" y="3657600"/>
            <a:ext cx="3017520" cy="868680"/>
          </a:xfrm>
          <a:prstGeom prst="rect">
            <a:avLst/>
          </a:prstGeom>
          <a:noFill/>
          <a:ln/>
        </p:spPr>
        <p:txBody>
          <a:bodyPr wrap="square" lIns="0" tIns="0" rIns="0" bIns="0" rtlCol="0" anchor="t"/>
          <a:lstStyle/>
          <a:p>
            <a:pPr algn="l" indent="0" marL="0">
              <a:lnSpc>
                <a:spcPct val="115000"/>
              </a:lnSpc>
              <a:spcAft>
                <a:spcPts val="600"/>
              </a:spcAft>
              <a:buNone/>
            </a:pPr>
            <a:r>
              <a:rPr lang="en-US" sz="1500" dirty="0">
                <a:solidFill>
                  <a:srgbClr val="3D3D3A"/>
                </a:solidFill>
              </a:rPr>
              <a:t>상태 값만 바꾼다. 단순하지만 환불 · 재고 복구가 숨는다</a:t>
            </a:r>
            <a:endParaRPr lang="en-US" sz="1500" dirty="0"/>
          </a:p>
        </p:txBody>
      </p:sp>
      <p:sp>
        <p:nvSpPr>
          <p:cNvPr id="10" name="card"/>
          <p:cNvSpPr/>
          <p:nvPr/>
        </p:nvSpPr>
        <p:spPr>
          <a:xfrm>
            <a:off x="4347972" y="2148840"/>
            <a:ext cx="3493008" cy="2514600"/>
          </a:xfrm>
          <a:prstGeom prst="roundRect">
            <a:avLst>
              <a:gd name="adj" fmla="val 4364"/>
            </a:avLst>
          </a:prstGeom>
          <a:solidFill>
            <a:schemeClr val="bg2"/>
          </a:solidFill>
          <a:ln/>
        </p:spPr>
      </p:sp>
      <p:sp>
        <p:nvSpPr>
          <p:cNvPr id="11" name="text"/>
          <p:cNvSpPr txBox="1"/>
          <p:nvPr/>
        </p:nvSpPr>
        <p:spPr>
          <a:xfrm>
            <a:off x="4622292" y="2331720"/>
            <a:ext cx="3017520" cy="411480"/>
          </a:xfrm>
          <a:prstGeom prst="rect">
            <a:avLst/>
          </a:prstGeom>
          <a:noFill/>
          <a:ln/>
        </p:spPr>
        <p:txBody>
          <a:bodyPr wrap="square" lIns="0" tIns="0" rIns="0" bIns="0" rtlCol="0" anchor="t"/>
          <a:lstStyle/>
          <a:p>
            <a:pPr algn="l" indent="0" marL="0">
              <a:lnSpc>
                <a:spcPct val="115000"/>
              </a:lnSpc>
              <a:spcAft>
                <a:spcPts val="600"/>
              </a:spcAft>
              <a:buNone/>
            </a:pPr>
            <a:r>
              <a:rPr lang="en-US" sz="2200" dirty="0">
                <a:solidFill>
                  <a:schemeClr val="accent2"/>
                </a:solidFill>
              </a:rPr>
              <a:t>②</a:t>
            </a:r>
            <a:endParaRPr lang="en-US" sz="2200" dirty="0"/>
          </a:p>
        </p:txBody>
      </p:sp>
      <p:sp>
        <p:nvSpPr>
          <p:cNvPr id="12" name="text"/>
          <p:cNvSpPr txBox="1"/>
          <p:nvPr/>
        </p:nvSpPr>
        <p:spPr>
          <a:xfrm>
            <a:off x="4622292" y="2834640"/>
            <a:ext cx="3017520" cy="640080"/>
          </a:xfrm>
          <a:prstGeom prst="rect">
            <a:avLst/>
          </a:prstGeom>
          <a:noFill/>
          <a:ln/>
        </p:spPr>
        <p:txBody>
          <a:bodyPr wrap="square" lIns="0" tIns="0" rIns="0" bIns="0" rtlCol="0" anchor="t"/>
          <a:lstStyle/>
          <a:p>
            <a:pPr algn="l" indent="0" marL="0">
              <a:lnSpc>
                <a:spcPct val="115000"/>
              </a:lnSpc>
              <a:spcAft>
                <a:spcPts val="200"/>
              </a:spcAft>
              <a:buNone/>
            </a:pPr>
            <a:r>
              <a:rPr lang="en-US" sz="1300" dirty="0">
                <a:solidFill>
                  <a:schemeClr val="tx1"/>
                </a:solidFill>
                <a:latin typeface="JetBrains Mono" pitchFamily="34" charset="0"/>
                <a:ea typeface="JetBrains Mono" pitchFamily="34" charset="-122"/>
                <a:cs typeface="JetBrains Mono" pitchFamily="34" charset="-120"/>
              </a:rPr>
              <a:t>POST /orders/42/cancel</a:t>
            </a:r>
            <a:endParaRPr lang="en-US" sz="1300" dirty="0"/>
          </a:p>
        </p:txBody>
      </p:sp>
      <p:sp>
        <p:nvSpPr>
          <p:cNvPr id="13" name="text"/>
          <p:cNvSpPr txBox="1"/>
          <p:nvPr/>
        </p:nvSpPr>
        <p:spPr>
          <a:xfrm>
            <a:off x="4622292" y="3657600"/>
            <a:ext cx="3017520" cy="868680"/>
          </a:xfrm>
          <a:prstGeom prst="rect">
            <a:avLst/>
          </a:prstGeom>
          <a:noFill/>
          <a:ln/>
        </p:spPr>
        <p:txBody>
          <a:bodyPr wrap="square" lIns="0" tIns="0" rIns="0" bIns="0" rtlCol="0" anchor="t"/>
          <a:lstStyle/>
          <a:p>
            <a:pPr algn="l" indent="0" marL="0">
              <a:lnSpc>
                <a:spcPct val="115000"/>
              </a:lnSpc>
              <a:spcAft>
                <a:spcPts val="600"/>
              </a:spcAft>
              <a:buNone/>
            </a:pPr>
            <a:r>
              <a:rPr lang="en-US" sz="1500" dirty="0">
                <a:solidFill>
                  <a:srgbClr val="3D3D3A"/>
                </a:solidFill>
              </a:rPr>
              <a:t>행위를 드러낸다. 권한 · 검증을 따로 걸기 쉽다</a:t>
            </a:r>
            <a:endParaRPr lang="en-US" sz="1500" dirty="0"/>
          </a:p>
        </p:txBody>
      </p:sp>
      <p:sp>
        <p:nvSpPr>
          <p:cNvPr id="14" name="card"/>
          <p:cNvSpPr/>
          <p:nvPr/>
        </p:nvSpPr>
        <p:spPr>
          <a:xfrm>
            <a:off x="8046720" y="2148840"/>
            <a:ext cx="3493008" cy="2514600"/>
          </a:xfrm>
          <a:prstGeom prst="roundRect">
            <a:avLst>
              <a:gd name="adj" fmla="val 4364"/>
            </a:avLst>
          </a:prstGeom>
          <a:solidFill>
            <a:schemeClr val="bg2"/>
          </a:solidFill>
          <a:ln/>
        </p:spPr>
      </p:sp>
      <p:sp>
        <p:nvSpPr>
          <p:cNvPr id="15" name="text"/>
          <p:cNvSpPr txBox="1"/>
          <p:nvPr/>
        </p:nvSpPr>
        <p:spPr>
          <a:xfrm>
            <a:off x="8321040" y="2331720"/>
            <a:ext cx="3017520" cy="411480"/>
          </a:xfrm>
          <a:prstGeom prst="rect">
            <a:avLst/>
          </a:prstGeom>
          <a:noFill/>
          <a:ln/>
        </p:spPr>
        <p:txBody>
          <a:bodyPr wrap="square" lIns="0" tIns="0" rIns="0" bIns="0" rtlCol="0" anchor="t"/>
          <a:lstStyle/>
          <a:p>
            <a:pPr algn="l" indent="0" marL="0">
              <a:lnSpc>
                <a:spcPct val="115000"/>
              </a:lnSpc>
              <a:spcAft>
                <a:spcPts val="600"/>
              </a:spcAft>
              <a:buNone/>
            </a:pPr>
            <a:r>
              <a:rPr lang="en-US" sz="2200" dirty="0">
                <a:solidFill>
                  <a:schemeClr val="accent2"/>
                </a:solidFill>
              </a:rPr>
              <a:t>③</a:t>
            </a:r>
            <a:endParaRPr lang="en-US" sz="2200" dirty="0"/>
          </a:p>
        </p:txBody>
      </p:sp>
      <p:sp>
        <p:nvSpPr>
          <p:cNvPr id="16" name="text"/>
          <p:cNvSpPr txBox="1"/>
          <p:nvPr/>
        </p:nvSpPr>
        <p:spPr>
          <a:xfrm>
            <a:off x="8321040" y="2834640"/>
            <a:ext cx="3017520" cy="640080"/>
          </a:xfrm>
          <a:prstGeom prst="rect">
            <a:avLst/>
          </a:prstGeom>
          <a:noFill/>
          <a:ln/>
        </p:spPr>
        <p:txBody>
          <a:bodyPr wrap="square" lIns="0" tIns="0" rIns="0" bIns="0" rtlCol="0" anchor="t"/>
          <a:lstStyle/>
          <a:p>
            <a:pPr algn="l" indent="0" marL="0">
              <a:lnSpc>
                <a:spcPct val="115000"/>
              </a:lnSpc>
              <a:spcAft>
                <a:spcPts val="200"/>
              </a:spcAft>
              <a:buNone/>
            </a:pPr>
            <a:r>
              <a:rPr lang="en-US" sz="1300" dirty="0">
                <a:solidFill>
                  <a:schemeClr val="tx1"/>
                </a:solidFill>
                <a:latin typeface="JetBrains Mono" pitchFamily="34" charset="0"/>
                <a:ea typeface="JetBrains Mono" pitchFamily="34" charset="-122"/>
                <a:cs typeface="JetBrains Mono" pitchFamily="34" charset="-120"/>
              </a:rPr>
              <a:t>POST /orders/42/cancellations</a:t>
            </a:r>
            <a:endParaRPr lang="en-US" sz="1300" dirty="0"/>
          </a:p>
        </p:txBody>
      </p:sp>
      <p:sp>
        <p:nvSpPr>
          <p:cNvPr id="17" name="text"/>
          <p:cNvSpPr txBox="1"/>
          <p:nvPr/>
        </p:nvSpPr>
        <p:spPr>
          <a:xfrm>
            <a:off x="8321040" y="3657600"/>
            <a:ext cx="3017520" cy="868680"/>
          </a:xfrm>
          <a:prstGeom prst="rect">
            <a:avLst/>
          </a:prstGeom>
          <a:noFill/>
          <a:ln/>
        </p:spPr>
        <p:txBody>
          <a:bodyPr wrap="square" lIns="0" tIns="0" rIns="0" bIns="0" rtlCol="0" anchor="t"/>
          <a:lstStyle/>
          <a:p>
            <a:pPr algn="l" indent="0" marL="0">
              <a:lnSpc>
                <a:spcPct val="115000"/>
              </a:lnSpc>
              <a:spcAft>
                <a:spcPts val="600"/>
              </a:spcAft>
              <a:buNone/>
            </a:pPr>
            <a:r>
              <a:rPr lang="en-US" sz="1500" dirty="0">
                <a:solidFill>
                  <a:srgbClr val="3D3D3A"/>
                </a:solidFill>
              </a:rPr>
              <a:t>취소를 자원으로 만든다. 취소 이력을 조회할 수 있다</a:t>
            </a:r>
            <a:endParaRPr lang="en-US" sz="1500" dirty="0"/>
          </a:p>
        </p:txBody>
      </p:sp>
      <p:sp>
        <p:nvSpPr>
          <p:cNvPr id="18" name="callout-coral"/>
          <p:cNvSpPr/>
          <p:nvPr/>
        </p:nvSpPr>
        <p:spPr>
          <a:xfrm>
            <a:off x="649224" y="4983480"/>
            <a:ext cx="10890504" cy="868680"/>
          </a:xfrm>
          <a:prstGeom prst="roundRect">
            <a:avLst>
              <a:gd name="adj" fmla="val 12632"/>
            </a:avLst>
          </a:prstGeom>
          <a:solidFill>
            <a:schemeClr val="accent1"/>
          </a:solidFill>
          <a:ln/>
        </p:spPr>
      </p:sp>
      <p:sp>
        <p:nvSpPr>
          <p:cNvPr id="19" name="text"/>
          <p:cNvSpPr txBox="1"/>
          <p:nvPr/>
        </p:nvSpPr>
        <p:spPr>
          <a:xfrm>
            <a:off x="1014984" y="5175504"/>
            <a:ext cx="10158984" cy="502920"/>
          </a:xfrm>
          <a:prstGeom prst="rect">
            <a:avLst/>
          </a:prstGeom>
          <a:noFill/>
          <a:ln/>
        </p:spPr>
        <p:txBody>
          <a:bodyPr wrap="square" lIns="0" tIns="0" rIns="0" bIns="0" rtlCol="0" anchor="ctr"/>
          <a:lstStyle/>
          <a:p>
            <a:pPr algn="l" indent="0" marL="0">
              <a:lnSpc>
                <a:spcPct val="115000"/>
              </a:lnSpc>
              <a:spcAft>
                <a:spcPts val="600"/>
              </a:spcAft>
              <a:buNone/>
            </a:pPr>
            <a:r>
              <a:rPr lang="en-US" sz="2200" b="1" dirty="0">
                <a:solidFill>
                  <a:schemeClr val="tx1"/>
                </a:solidFill>
              </a:rPr>
              <a:t>부수 작업이 있으면 ② · ③처럼 행위를 드러낸다</a:t>
            </a:r>
            <a:endParaRPr lang="en-US" sz="22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lIns="0" tIns="0" rIns="0" bIns="0" rtlCol="0" anchor="b"/>
          <a:lstStyle/>
          <a:p>
            <a:pPr algn="l" indent="0" marL="0">
              <a:buNone/>
            </a:pPr>
            <a:r>
              <a:rPr lang="en-US" sz="6000" dirty="0">
                <a:solidFill>
                  <a:schemeClr val="accent1"/>
                </a:solidFill>
                <a:latin typeface="+mj-lt" pitchFamily="34" charset="0"/>
                <a:ea typeface="+mj-lt" pitchFamily="34" charset="-122"/>
                <a:cs typeface="+mj-lt" pitchFamily="34" charset="-120"/>
              </a:rPr>
              <a:t>02</a:t>
            </a: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lIns="0" tIns="0" rIns="0" bIns="0" rtlCol="0" anchor="t"/>
          <a:lstStyle/>
          <a:p>
            <a:pPr algn="l" indent="0" marL="0">
              <a:buNone/>
            </a:pPr>
            <a:r>
              <a:rPr lang="en-US" sz="4000" dirty="0">
                <a:solidFill>
                  <a:schemeClr val="bg1"/>
                </a:solidFill>
              </a:rPr>
              <a:t>HTTP 메서드와 상태 코드</a:t>
            </a: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lIns="0" tIns="0" rIns="0" bIns="0" rtlCol="0" anchor="t"/>
          <a:lstStyle/>
          <a:p>
            <a:pPr algn="l" indent="0" marL="0">
              <a:buNone/>
            </a:pPr>
            <a:r>
              <a:rPr lang="en-US" sz="2000" dirty="0">
                <a:solidFill>
                  <a:srgbClr val="A09D96"/>
                </a:solidFill>
              </a:rPr>
              <a:t>안전성과 멱등성으로 고르고, 결과는 상태 코드로 알린다</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02 · METHOD</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메서드는 안전성과 멱등성으로 고른다</a:t>
            </a:r>
            <a:endParaRPr lang="en-US" sz="3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2011680"/>
                <a:gridCol w="5029200"/>
                <a:gridCol w="1920240"/>
                <a:gridCol w="1929384"/>
              </a:tblGrid>
              <a:tr h="438912">
                <a:tc>
                  <a:txBody>
                    <a:bodyPr/>
                    <a:lstStyle/>
                    <a:p>
                      <a:pPr indent="0" marL="0">
                        <a:buNone/>
                      </a:pPr>
                      <a:r>
                        <a:rPr lang="en-US" sz="1500" dirty="0">
                          <a:solidFill>
                            <a:schemeClr val="accent3"/>
                          </a:solidFill>
                        </a:rPr>
                        <a:t>메서드</a:t>
                      </a:r>
                      <a:endParaRPr lang="en-US" sz="15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500" dirty="0">
                          <a:solidFill>
                            <a:schemeClr val="accent3"/>
                          </a:solidFill>
                        </a:rPr>
                        <a:t>하는 일</a:t>
                      </a:r>
                      <a:endParaRPr lang="en-US" sz="15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500" dirty="0">
                          <a:solidFill>
                            <a:schemeClr val="accent3"/>
                          </a:solidFill>
                        </a:rPr>
                        <a:t>안전</a:t>
                      </a:r>
                      <a:endParaRPr lang="en-US" sz="15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500" dirty="0">
                          <a:solidFill>
                            <a:schemeClr val="accent3"/>
                          </a:solidFill>
                        </a:rPr>
                        <a:t>멱등</a:t>
                      </a:r>
                      <a:endParaRPr lang="en-US" sz="15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38912">
                <a:tc>
                  <a:txBody>
                    <a:bodyPr/>
                    <a:lstStyle/>
                    <a:p>
                      <a:pPr indent="0" marL="0">
                        <a:buNone/>
                      </a:pPr>
                      <a:r>
                        <a:rPr lang="en-US" sz="1800" dirty="0">
                          <a:solidFill>
                            <a:schemeClr val="tx1"/>
                          </a:solidFill>
                          <a:latin typeface="JetBrains Mono" pitchFamily="34" charset="0"/>
                          <a:ea typeface="JetBrains Mono" pitchFamily="34" charset="-122"/>
                          <a:cs typeface="JetBrains Mono" pitchFamily="34" charset="-120"/>
                        </a:rPr>
                        <a:t>GET</a:t>
                      </a:r>
                      <a:endParaRPr lang="en-US" sz="18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tx1"/>
                          </a:solidFill>
                        </a:rPr>
                        <a:t>조회</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800" dirty="0">
                          <a:solidFill>
                            <a:schemeClr val="tx1"/>
                          </a:solidFill>
                          <a:latin typeface="JetBrains Mono" pitchFamily="34" charset="0"/>
                          <a:ea typeface="JetBrains Mono" pitchFamily="34" charset="-122"/>
                          <a:cs typeface="JetBrains Mono" pitchFamily="34" charset="-120"/>
                        </a:rPr>
                        <a:t>POST</a:t>
                      </a:r>
                      <a:endParaRPr lang="en-US" sz="18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tx1"/>
                          </a:solidFill>
                        </a:rPr>
                        <a:t>생성</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accent6"/>
                          </a:solidFill>
                        </a:rPr>
                        <a:t>×</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accent6"/>
                          </a:solidFill>
                        </a:rPr>
                        <a:t>×</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800" dirty="0">
                          <a:solidFill>
                            <a:schemeClr val="tx1"/>
                          </a:solidFill>
                          <a:latin typeface="JetBrains Mono" pitchFamily="34" charset="0"/>
                          <a:ea typeface="JetBrains Mono" pitchFamily="34" charset="-122"/>
                          <a:cs typeface="JetBrains Mono" pitchFamily="34" charset="-120"/>
                        </a:rPr>
                        <a:t>PUT</a:t>
                      </a:r>
                      <a:endParaRPr lang="en-US" sz="18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tx1"/>
                          </a:solidFill>
                        </a:rPr>
                        <a:t>전체 교체 (안 보낸 칸은 비워짐)</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accent6"/>
                          </a:solidFill>
                        </a:rPr>
                        <a:t>×</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800" dirty="0">
                          <a:solidFill>
                            <a:schemeClr val="tx1"/>
                          </a:solidFill>
                          <a:latin typeface="JetBrains Mono" pitchFamily="34" charset="0"/>
                          <a:ea typeface="JetBrains Mono" pitchFamily="34" charset="-122"/>
                          <a:cs typeface="JetBrains Mono" pitchFamily="34" charset="-120"/>
                        </a:rPr>
                        <a:t>PATCH</a:t>
                      </a:r>
                      <a:endParaRPr lang="en-US" sz="18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tx1"/>
                          </a:solidFill>
                        </a:rPr>
                        <a:t>보낸 칸만 수정</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accent6"/>
                          </a:solidFill>
                        </a:rPr>
                        <a:t>×</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accent3"/>
                          </a:solidFill>
                        </a:rPr>
                        <a:t>△</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800" dirty="0">
                          <a:solidFill>
                            <a:schemeClr val="tx1"/>
                          </a:solidFill>
                          <a:latin typeface="JetBrains Mono" pitchFamily="34" charset="0"/>
                          <a:ea typeface="JetBrains Mono" pitchFamily="34" charset="-122"/>
                          <a:cs typeface="JetBrains Mono" pitchFamily="34" charset="-120"/>
                        </a:rPr>
                        <a:t>DELETE</a:t>
                      </a:r>
                      <a:endParaRPr lang="en-US" sz="18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tx1"/>
                          </a:solidFill>
                        </a:rPr>
                        <a:t>삭제</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accent6"/>
                          </a:solidFill>
                        </a:rPr>
                        <a:t>×</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6" name="card"/>
          <p:cNvSpPr/>
          <p:nvPr/>
        </p:nvSpPr>
        <p:spPr>
          <a:xfrm>
            <a:off x="649224" y="4526280"/>
            <a:ext cx="5330952" cy="1325880"/>
          </a:xfrm>
          <a:prstGeom prst="roundRect">
            <a:avLst>
              <a:gd name="adj" fmla="val 8276"/>
            </a:avLst>
          </a:prstGeom>
          <a:solidFill>
            <a:schemeClr val="bg2"/>
          </a:solidFill>
          <a:ln/>
        </p:spPr>
      </p:sp>
      <p:sp>
        <p:nvSpPr>
          <p:cNvPr id="7" name="text"/>
          <p:cNvSpPr txBox="1"/>
          <p:nvPr/>
        </p:nvSpPr>
        <p:spPr>
          <a:xfrm>
            <a:off x="969264" y="4709160"/>
            <a:ext cx="4754880" cy="1005840"/>
          </a:xfrm>
          <a:prstGeom prst="rect">
            <a:avLst/>
          </a:prstGeom>
          <a:noFill/>
          <a:ln/>
        </p:spPr>
        <p:txBody>
          <a:bodyPr wrap="square" lIns="0" tIns="0" rIns="0" bIns="0" rtlCol="0" anchor="t"/>
          <a:lstStyle/>
          <a:p>
            <a:pPr algn="l" indent="0" marL="0">
              <a:lnSpc>
                <a:spcPct val="115000"/>
              </a:lnSpc>
              <a:spcAft>
                <a:spcPts val="400"/>
              </a:spcAft>
              <a:buNone/>
            </a:pPr>
            <a:r>
              <a:rPr lang="en-US" sz="2000" b="1" dirty="0">
                <a:solidFill>
                  <a:schemeClr val="tx1"/>
                </a:solidFill>
              </a:rPr>
              <a:t>안전</a:t>
            </a:r>
            <a:endParaRPr lang="en-US" sz="2000" dirty="0"/>
          </a:p>
          <a:p>
            <a:pPr algn="l" indent="0" marL="0">
              <a:lnSpc>
                <a:spcPct val="115000"/>
              </a:lnSpc>
              <a:spcAft>
                <a:spcPts val="400"/>
              </a:spcAft>
              <a:buNone/>
            </a:pPr>
            <a:r>
              <a:rPr lang="en-US" sz="1500" dirty="0">
                <a:solidFill>
                  <a:srgbClr val="3D3D3A"/>
                </a:solidFill>
              </a:rPr>
              <a:t>서버 상태를 바꾸지 않는다 → 캐시 · 프리페치가 불러도 된다</a:t>
            </a:r>
            <a:endParaRPr lang="en-US" sz="2000" dirty="0"/>
          </a:p>
        </p:txBody>
      </p:sp>
      <p:sp>
        <p:nvSpPr>
          <p:cNvPr id="8" name="card"/>
          <p:cNvSpPr/>
          <p:nvPr/>
        </p:nvSpPr>
        <p:spPr>
          <a:xfrm>
            <a:off x="6208776" y="4526280"/>
            <a:ext cx="5330952" cy="1325880"/>
          </a:xfrm>
          <a:prstGeom prst="roundRect">
            <a:avLst>
              <a:gd name="adj" fmla="val 8276"/>
            </a:avLst>
          </a:prstGeom>
          <a:solidFill>
            <a:schemeClr val="bg2"/>
          </a:solidFill>
          <a:ln/>
        </p:spPr>
      </p:sp>
      <p:sp>
        <p:nvSpPr>
          <p:cNvPr id="9" name="text"/>
          <p:cNvSpPr txBox="1"/>
          <p:nvPr/>
        </p:nvSpPr>
        <p:spPr>
          <a:xfrm>
            <a:off x="6528816" y="4709160"/>
            <a:ext cx="4754880" cy="1005840"/>
          </a:xfrm>
          <a:prstGeom prst="rect">
            <a:avLst/>
          </a:prstGeom>
          <a:noFill/>
          <a:ln/>
        </p:spPr>
        <p:txBody>
          <a:bodyPr wrap="square" lIns="0" tIns="0" rIns="0" bIns="0" rtlCol="0" anchor="t"/>
          <a:lstStyle/>
          <a:p>
            <a:pPr algn="l" indent="0" marL="0">
              <a:lnSpc>
                <a:spcPct val="115000"/>
              </a:lnSpc>
              <a:spcAft>
                <a:spcPts val="400"/>
              </a:spcAft>
              <a:buNone/>
            </a:pPr>
            <a:r>
              <a:rPr lang="en-US" sz="2000" b="1" dirty="0">
                <a:solidFill>
                  <a:schemeClr val="tx1"/>
                </a:solidFill>
              </a:rPr>
              <a:t>멱등</a:t>
            </a:r>
            <a:endParaRPr lang="en-US" sz="2000" dirty="0"/>
          </a:p>
          <a:p>
            <a:pPr algn="l" indent="0" marL="0">
              <a:lnSpc>
                <a:spcPct val="115000"/>
              </a:lnSpc>
              <a:spcAft>
                <a:spcPts val="400"/>
              </a:spcAft>
              <a:buNone/>
            </a:pPr>
            <a:r>
              <a:rPr lang="en-US" sz="1500" dirty="0">
                <a:solidFill>
                  <a:srgbClr val="3D3D3A"/>
                </a:solidFill>
              </a:rPr>
              <a:t>여러 번 보내도 결과가 같다 → 실패하면 다시 보내도 된다</a:t>
            </a:r>
            <a:endParaRPr lang="en-US" sz="20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02 · METHOD</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POST가 두 번 가면 두 번 만들어진다</a:t>
            </a:r>
            <a:endParaRPr lang="en-US" sz="3200" dirty="0"/>
          </a:p>
        </p:txBody>
      </p:sp>
      <p:sp>
        <p:nvSpPr>
          <p:cNvPr id="5" name="code-window"/>
          <p:cNvSpPr/>
          <p:nvPr/>
        </p:nvSpPr>
        <p:spPr>
          <a:xfrm>
            <a:off x="649224" y="1581912"/>
            <a:ext cx="5669280" cy="2240280"/>
          </a:xfrm>
          <a:prstGeom prst="roundRect">
            <a:avLst>
              <a:gd name="adj" fmla="val 4898"/>
            </a:avLst>
          </a:prstGeom>
          <a:solidFill>
            <a:schemeClr val="tx2"/>
          </a:solidFill>
          <a:ln/>
        </p:spPr>
      </p:sp>
      <p:sp>
        <p:nvSpPr>
          <p:cNvPr id="6" name="code-window-dot"/>
          <p:cNvSpPr/>
          <p:nvPr/>
        </p:nvSpPr>
        <p:spPr>
          <a:xfrm>
            <a:off x="850392" y="1728216"/>
            <a:ext cx="100584" cy="100584"/>
          </a:xfrm>
          <a:prstGeom prst="ellipse">
            <a:avLst/>
          </a:prstGeom>
          <a:solidFill>
            <a:srgbClr val="4A4844"/>
          </a:solidFill>
          <a:ln/>
        </p:spPr>
      </p:sp>
      <p:sp>
        <p:nvSpPr>
          <p:cNvPr id="7" name="code-window-dot"/>
          <p:cNvSpPr/>
          <p:nvPr/>
        </p:nvSpPr>
        <p:spPr>
          <a:xfrm>
            <a:off x="1024128" y="1728216"/>
            <a:ext cx="100584" cy="100584"/>
          </a:xfrm>
          <a:prstGeom prst="ellipse">
            <a:avLst/>
          </a:prstGeom>
          <a:solidFill>
            <a:srgbClr val="4A4844"/>
          </a:solidFill>
          <a:ln/>
        </p:spPr>
      </p:sp>
      <p:sp>
        <p:nvSpPr>
          <p:cNvPr id="8" name="code-window-dot"/>
          <p:cNvSpPr/>
          <p:nvPr/>
        </p:nvSpPr>
        <p:spPr>
          <a:xfrm>
            <a:off x="1197864" y="1728216"/>
            <a:ext cx="100584" cy="100584"/>
          </a:xfrm>
          <a:prstGeom prst="ellipse">
            <a:avLst/>
          </a:prstGeom>
          <a:solidFill>
            <a:srgbClr val="4A4844"/>
          </a:solidFill>
          <a:ln/>
        </p:spPr>
      </p:sp>
      <p:sp>
        <p:nvSpPr>
          <p:cNvPr id="9" name="code-window-label"/>
          <p:cNvSpPr txBox="1"/>
          <p:nvPr/>
        </p:nvSpPr>
        <p:spPr>
          <a:xfrm>
            <a:off x="1472184" y="1673352"/>
            <a:ext cx="4663440"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요청 (예시)</a:t>
            </a:r>
            <a:endParaRPr lang="en-US" sz="1100" dirty="0"/>
          </a:p>
        </p:txBody>
      </p:sp>
      <p:sp>
        <p:nvSpPr>
          <p:cNvPr id="10" name="code-window-text"/>
          <p:cNvSpPr txBox="1"/>
          <p:nvPr/>
        </p:nvSpPr>
        <p:spPr>
          <a:xfrm>
            <a:off x="905256" y="2020824"/>
            <a:ext cx="5212080" cy="1691640"/>
          </a:xfrm>
          <a:prstGeom prst="rect">
            <a:avLst/>
          </a:prstGeom>
          <a:noFill/>
          <a:ln/>
        </p:spPr>
        <p:txBody>
          <a:bodyPr wrap="square" lIns="0" tIns="0" rIns="0" bIns="0" rtlCol="0" anchor="t"/>
          <a:lstStyle/>
          <a:p>
            <a:pPr algn="l" indent="0" marL="0">
              <a:lnSpc>
                <a:spcPct val="105000"/>
              </a:lnSpc>
              <a:buNone/>
            </a:pPr>
            <a:r>
              <a:rPr lang="en-US" sz="1500" dirty="0">
                <a:solidFill>
                  <a:schemeClr val="bg1"/>
                </a:solidFill>
                <a:latin typeface="JetBrains Mono" pitchFamily="34" charset="0"/>
                <a:ea typeface="JetBrains Mono" pitchFamily="34" charset="-122"/>
                <a:cs typeface="JetBrains Mono" pitchFamily="34" charset="-120"/>
              </a:rPr>
              <a:t>POST /api/v1/payments</a:t>
            </a:r>
            <a:endParaRPr lang="en-US" sz="1500" dirty="0"/>
          </a:p>
          <a:p>
            <a:pPr algn="l" indent="0" marL="0">
              <a:lnSpc>
                <a:spcPct val="105000"/>
              </a:lnSpc>
              <a:buNone/>
            </a:pPr>
            <a:r>
              <a:rPr lang="en-US" sz="1500" dirty="0">
                <a:solidFill>
                  <a:schemeClr val="accent4"/>
                </a:solidFill>
                <a:latin typeface="JetBrains Mono" pitchFamily="34" charset="0"/>
                <a:ea typeface="JetBrains Mono" pitchFamily="34" charset="-122"/>
                <a:cs typeface="JetBrains Mono" pitchFamily="34" charset="-120"/>
              </a:rPr>
              <a:t>Idempotency-Key: 8f3a2c1e-4b7d-…</a:t>
            </a:r>
            <a:endParaRPr lang="en-US" sz="1500" dirty="0"/>
          </a:p>
          <a:p>
            <a:pPr algn="l" indent="0" marL="0">
              <a:lnSpc>
                <a:spcPct val="105000"/>
              </a:lnSpc>
              <a:buNone/>
            </a:pPr>
            <a:r>
              <a:rPr lang="en-US" sz="1500" dirty="0">
                <a:solidFill>
                  <a:schemeClr val="bg1"/>
                </a:solidFill>
                <a:latin typeface="JetBrains Mono" pitchFamily="34" charset="0"/>
                <a:ea typeface="JetBrains Mono" pitchFamily="34" charset="-122"/>
                <a:cs typeface="JetBrains Mono" pitchFamily="34" charset="-120"/>
              </a:rPr>
              <a:t> </a:t>
            </a:r>
            <a:endParaRPr lang="en-US" sz="1500" dirty="0"/>
          </a:p>
          <a:p>
            <a:pPr algn="l" indent="0" marL="0">
              <a:lnSpc>
                <a:spcPct val="105000"/>
              </a:lnSpc>
              <a:buNone/>
            </a:pPr>
            <a:r>
              <a:rPr lang="en-US" sz="1500" dirty="0">
                <a:solidFill>
                  <a:schemeClr val="bg1"/>
                </a:solidFill>
                <a:latin typeface="JetBrains Mono" pitchFamily="34" charset="0"/>
                <a:ea typeface="JetBrains Mono" pitchFamily="34" charset="-122"/>
                <a:cs typeface="JetBrains Mono" pitchFamily="34" charset="-120"/>
              </a:rPr>
              <a:t>{ "orderId": 42, "amount": 30000 }</a:t>
            </a:r>
            <a:endParaRPr lang="en-US" sz="1500" dirty="0"/>
          </a:p>
        </p:txBody>
      </p:sp>
      <p:sp>
        <p:nvSpPr>
          <p:cNvPr id="11" name="card"/>
          <p:cNvSpPr/>
          <p:nvPr/>
        </p:nvSpPr>
        <p:spPr>
          <a:xfrm>
            <a:off x="6547104" y="1581912"/>
            <a:ext cx="4992624" cy="1005840"/>
          </a:xfrm>
          <a:prstGeom prst="roundRect">
            <a:avLst>
              <a:gd name="adj" fmla="val 10909"/>
            </a:avLst>
          </a:prstGeom>
          <a:solidFill>
            <a:schemeClr val="bg2"/>
          </a:solidFill>
          <a:ln/>
        </p:spPr>
      </p:sp>
      <p:sp>
        <p:nvSpPr>
          <p:cNvPr id="12" name="text"/>
          <p:cNvSpPr txBox="1"/>
          <p:nvPr/>
        </p:nvSpPr>
        <p:spPr>
          <a:xfrm>
            <a:off x="6821424" y="1737360"/>
            <a:ext cx="4572000" cy="731520"/>
          </a:xfrm>
          <a:prstGeom prst="rect">
            <a:avLst/>
          </a:prstGeom>
          <a:noFill/>
          <a:ln/>
        </p:spPr>
        <p:txBody>
          <a:bodyPr wrap="square" lIns="0" tIns="0" rIns="0" bIns="0" rtlCol="0" anchor="t"/>
          <a:lstStyle/>
          <a:p>
            <a:pPr algn="l" indent="0" marL="0">
              <a:lnSpc>
                <a:spcPct val="115000"/>
              </a:lnSpc>
              <a:spcAft>
                <a:spcPts val="200"/>
              </a:spcAft>
              <a:buNone/>
            </a:pPr>
            <a:r>
              <a:rPr lang="en-US" sz="1800" b="1" dirty="0">
                <a:solidFill>
                  <a:schemeClr val="tx1"/>
                </a:solidFill>
              </a:rPr>
              <a:t>처음 온 키</a:t>
            </a:r>
            <a:endParaRPr lang="en-US" sz="1800" dirty="0"/>
          </a:p>
          <a:p>
            <a:pPr algn="l" indent="0" marL="0">
              <a:lnSpc>
                <a:spcPct val="115000"/>
              </a:lnSpc>
              <a:spcAft>
                <a:spcPts val="200"/>
              </a:spcAft>
              <a:buNone/>
            </a:pPr>
            <a:r>
              <a:rPr lang="en-US" sz="1500" dirty="0">
                <a:solidFill>
                  <a:srgbClr val="3D3D3A"/>
                </a:solidFill>
              </a:rPr>
              <a:t>처리하고 결과를 키와 함께 저장</a:t>
            </a:r>
            <a:endParaRPr lang="en-US" sz="1800" dirty="0"/>
          </a:p>
        </p:txBody>
      </p:sp>
      <p:sp>
        <p:nvSpPr>
          <p:cNvPr id="13" name="card"/>
          <p:cNvSpPr/>
          <p:nvPr/>
        </p:nvSpPr>
        <p:spPr>
          <a:xfrm>
            <a:off x="6547104" y="2816352"/>
            <a:ext cx="4992624" cy="1005840"/>
          </a:xfrm>
          <a:prstGeom prst="roundRect">
            <a:avLst>
              <a:gd name="adj" fmla="val 10909"/>
            </a:avLst>
          </a:prstGeom>
          <a:solidFill>
            <a:schemeClr val="bg2"/>
          </a:solidFill>
          <a:ln/>
        </p:spPr>
      </p:sp>
      <p:sp>
        <p:nvSpPr>
          <p:cNvPr id="14" name="text"/>
          <p:cNvSpPr txBox="1"/>
          <p:nvPr/>
        </p:nvSpPr>
        <p:spPr>
          <a:xfrm>
            <a:off x="6821424" y="2971800"/>
            <a:ext cx="4572000" cy="731520"/>
          </a:xfrm>
          <a:prstGeom prst="rect">
            <a:avLst/>
          </a:prstGeom>
          <a:noFill/>
          <a:ln/>
        </p:spPr>
        <p:txBody>
          <a:bodyPr wrap="square" lIns="0" tIns="0" rIns="0" bIns="0" rtlCol="0" anchor="t"/>
          <a:lstStyle/>
          <a:p>
            <a:pPr algn="l" indent="0" marL="0">
              <a:lnSpc>
                <a:spcPct val="115000"/>
              </a:lnSpc>
              <a:spcAft>
                <a:spcPts val="200"/>
              </a:spcAft>
              <a:buNone/>
            </a:pPr>
            <a:r>
              <a:rPr lang="en-US" sz="1800" b="1" dirty="0">
                <a:solidFill>
                  <a:schemeClr val="tx1"/>
                </a:solidFill>
              </a:rPr>
              <a:t>같은 키가 또 오면</a:t>
            </a:r>
            <a:endParaRPr lang="en-US" sz="1800" dirty="0"/>
          </a:p>
          <a:p>
            <a:pPr algn="l" indent="0" marL="0">
              <a:lnSpc>
                <a:spcPct val="115000"/>
              </a:lnSpc>
              <a:spcAft>
                <a:spcPts val="200"/>
              </a:spcAft>
              <a:buNone/>
            </a:pPr>
            <a:r>
              <a:rPr lang="en-US" sz="1500" dirty="0">
                <a:solidFill>
                  <a:srgbClr val="3D3D3A"/>
                </a:solidFill>
              </a:rPr>
              <a:t>다시 처리하지 않고 저장한 결과를 반환</a:t>
            </a:r>
            <a:endParaRPr lang="en-US" sz="18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649224" y="4297680"/>
          <a:ext cx="10890504" cy="914400"/>
        </p:xfrm>
        <a:graphic>
          <a:graphicData uri="http://schemas.openxmlformats.org/drawingml/2006/table">
            <a:tbl>
              <a:tblPr/>
              <a:tblGrid>
                <a:gridCol w="3291840"/>
                <a:gridCol w="7598664"/>
              </a:tblGrid>
              <a:tr h="438912">
                <a:tc>
                  <a:txBody>
                    <a:bodyPr/>
                    <a:lstStyle/>
                    <a:p>
                      <a:pPr indent="0" marL="0">
                        <a:buNone/>
                      </a:pPr>
                      <a:r>
                        <a:rPr lang="en-US" sz="1400" dirty="0">
                          <a:solidFill>
                            <a:schemeClr val="accent3"/>
                          </a:solidFill>
                        </a:rPr>
                        <a:t>막는 곳</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막을 수 있는 것</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38912">
                <a:tc>
                  <a:txBody>
                    <a:bodyPr/>
                    <a:lstStyle/>
                    <a:p>
                      <a:pPr indent="0" marL="0">
                        <a:buNone/>
                      </a:pPr>
                      <a:r>
                        <a:rPr lang="en-US" sz="1700" dirty="0">
                          <a:solidFill>
                            <a:schemeClr val="tx1"/>
                          </a:solidFill>
                        </a:rPr>
                        <a:t>버튼 비활성화</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같은 화면에서 빠른 연속 클릭</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700" dirty="0">
                          <a:solidFill>
                            <a:schemeClr val="tx1"/>
                          </a:solidFill>
                        </a:rPr>
                        <a:t>서버에서 키 확인</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재전송 · 새로고침 · 다른 탭 · 화면 없이 직접 호출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02 · STATUS CODE</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자주 쓰는 상태 코드</a:t>
            </a:r>
            <a:endParaRPr lang="en-US" sz="32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1280160"/>
                <a:gridCol w="3200400"/>
                <a:gridCol w="6409944"/>
              </a:tblGrid>
              <a:tr h="438912">
                <a:tc>
                  <a:txBody>
                    <a:bodyPr/>
                    <a:lstStyle/>
                    <a:p>
                      <a:pPr indent="0" marL="0">
                        <a:buNone/>
                      </a:pPr>
                      <a:r>
                        <a:rPr lang="en-US" sz="1300" dirty="0">
                          <a:solidFill>
                            <a:schemeClr val="accent3"/>
                          </a:solidFill>
                        </a:rPr>
                        <a:t>코드</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이름</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언제</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38912">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200</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OK</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조회 · 수정 성공</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201</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Created</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생성. Location 헤더에 새 주소</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204</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No Content</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삭제 성공, 바디 없음</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600" dirty="0">
                          <a:solidFill>
                            <a:schemeClr val="accent6"/>
                          </a:solidFill>
                          <a:latin typeface="JetBrains Mono" pitchFamily="34" charset="0"/>
                          <a:ea typeface="JetBrains Mono" pitchFamily="34" charset="-122"/>
                          <a:cs typeface="JetBrains Mono" pitchFamily="34" charset="-120"/>
                        </a:rPr>
                        <a:t>400</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Bad Request</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값이 빠졌거나 형식이 틀림</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600" dirty="0">
                          <a:solidFill>
                            <a:schemeClr val="accent6"/>
                          </a:solidFill>
                          <a:latin typeface="JetBrains Mono" pitchFamily="34" charset="0"/>
                          <a:ea typeface="JetBrains Mono" pitchFamily="34" charset="-122"/>
                          <a:cs typeface="JetBrains Mono" pitchFamily="34" charset="-120"/>
                        </a:rPr>
                        <a:t>401</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Unauthorized</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누구인지 모름 (로그인 안 함, 토큰 · 세션 만료)</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600" dirty="0">
                          <a:solidFill>
                            <a:schemeClr val="accent6"/>
                          </a:solidFill>
                          <a:latin typeface="JetBrains Mono" pitchFamily="34" charset="0"/>
                          <a:ea typeface="JetBrains Mono" pitchFamily="34" charset="-122"/>
                          <a:cs typeface="JetBrains Mono" pitchFamily="34" charset="-120"/>
                        </a:rPr>
                        <a:t>403</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Forbidden</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누구인지 알지만 권한 없음</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600" dirty="0">
                          <a:solidFill>
                            <a:schemeClr val="accent6"/>
                          </a:solidFill>
                          <a:latin typeface="JetBrains Mono" pitchFamily="34" charset="0"/>
                          <a:ea typeface="JetBrains Mono" pitchFamily="34" charset="-122"/>
                          <a:cs typeface="JetBrains Mono" pitchFamily="34" charset="-120"/>
                        </a:rPr>
                        <a:t>404</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Not Found</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없는 자원 (존재를 숨길 때도)</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600" dirty="0">
                          <a:solidFill>
                            <a:schemeClr val="accent6"/>
                          </a:solidFill>
                          <a:latin typeface="JetBrains Mono" pitchFamily="34" charset="0"/>
                          <a:ea typeface="JetBrains Mono" pitchFamily="34" charset="-122"/>
                          <a:cs typeface="JetBrains Mono" pitchFamily="34" charset="-120"/>
                        </a:rPr>
                        <a:t>409</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Conflict</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중복 · 동시 수정 충돌</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600" dirty="0">
                          <a:solidFill>
                            <a:schemeClr val="accent6"/>
                          </a:solidFill>
                          <a:latin typeface="JetBrains Mono" pitchFamily="34" charset="0"/>
                          <a:ea typeface="JetBrains Mono" pitchFamily="34" charset="-122"/>
                          <a:cs typeface="JetBrains Mono" pitchFamily="34" charset="-120"/>
                        </a:rPr>
                        <a:t>500</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Internal Server Error</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서버가 처리 못 한 예외</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02 · STATUS CODE</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실패를 200으로 보내면</a:t>
            </a:r>
            <a:endParaRPr lang="en-US" sz="3200" dirty="0"/>
          </a:p>
        </p:txBody>
      </p:sp>
      <p:sp>
        <p:nvSpPr>
          <p:cNvPr id="5" name="code-window"/>
          <p:cNvSpPr/>
          <p:nvPr/>
        </p:nvSpPr>
        <p:spPr>
          <a:xfrm>
            <a:off x="649224" y="1581912"/>
            <a:ext cx="5330952" cy="3154680"/>
          </a:xfrm>
          <a:prstGeom prst="roundRect">
            <a:avLst>
              <a:gd name="adj" fmla="val 3478"/>
            </a:avLst>
          </a:prstGeom>
          <a:solidFill>
            <a:schemeClr val="tx2"/>
          </a:solidFill>
          <a:ln/>
        </p:spPr>
      </p:sp>
      <p:sp>
        <p:nvSpPr>
          <p:cNvPr id="6" name="code-window-dot"/>
          <p:cNvSpPr/>
          <p:nvPr/>
        </p:nvSpPr>
        <p:spPr>
          <a:xfrm>
            <a:off x="850392" y="1728216"/>
            <a:ext cx="100584" cy="100584"/>
          </a:xfrm>
          <a:prstGeom prst="ellipse">
            <a:avLst/>
          </a:prstGeom>
          <a:solidFill>
            <a:srgbClr val="4A4844"/>
          </a:solidFill>
          <a:ln/>
        </p:spPr>
      </p:sp>
      <p:sp>
        <p:nvSpPr>
          <p:cNvPr id="7" name="code-window-dot"/>
          <p:cNvSpPr/>
          <p:nvPr/>
        </p:nvSpPr>
        <p:spPr>
          <a:xfrm>
            <a:off x="1024128" y="1728216"/>
            <a:ext cx="100584" cy="100584"/>
          </a:xfrm>
          <a:prstGeom prst="ellipse">
            <a:avLst/>
          </a:prstGeom>
          <a:solidFill>
            <a:srgbClr val="4A4844"/>
          </a:solidFill>
          <a:ln/>
        </p:spPr>
      </p:sp>
      <p:sp>
        <p:nvSpPr>
          <p:cNvPr id="8" name="code-window-dot"/>
          <p:cNvSpPr/>
          <p:nvPr/>
        </p:nvSpPr>
        <p:spPr>
          <a:xfrm>
            <a:off x="1197864" y="1728216"/>
            <a:ext cx="100584" cy="100584"/>
          </a:xfrm>
          <a:prstGeom prst="ellipse">
            <a:avLst/>
          </a:prstGeom>
          <a:solidFill>
            <a:srgbClr val="4A4844"/>
          </a:solidFill>
          <a:ln/>
        </p:spPr>
      </p:sp>
      <p:sp>
        <p:nvSpPr>
          <p:cNvPr id="9" name="code-window-label"/>
          <p:cNvSpPr txBox="1"/>
          <p:nvPr/>
        </p:nvSpPr>
        <p:spPr>
          <a:xfrm>
            <a:off x="1472184"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 안티패턴 (예시)</a:t>
            </a:r>
            <a:endParaRPr lang="en-US" sz="1100" dirty="0"/>
          </a:p>
        </p:txBody>
      </p:sp>
      <p:sp>
        <p:nvSpPr>
          <p:cNvPr id="10" name="code-window-text"/>
          <p:cNvSpPr txBox="1"/>
          <p:nvPr/>
        </p:nvSpPr>
        <p:spPr>
          <a:xfrm>
            <a:off x="905256" y="2020824"/>
            <a:ext cx="4873752" cy="2606040"/>
          </a:xfrm>
          <a:prstGeom prst="rect">
            <a:avLst/>
          </a:prstGeom>
          <a:noFill/>
          <a:ln/>
        </p:spPr>
        <p:txBody>
          <a:bodyPr wrap="square" lIns="0" tIns="0" rIns="0" bIns="0" rtlCol="0" anchor="t"/>
          <a:lstStyle/>
          <a:p>
            <a:pPr algn="l" indent="0" marL="0">
              <a:lnSpc>
                <a:spcPct val="105000"/>
              </a:lnSpc>
              <a:buNone/>
            </a:pPr>
            <a:r>
              <a:rPr lang="en-US" sz="1400" dirty="0">
                <a:solidFill>
                  <a:srgbClr val="5DB872"/>
                </a:solidFill>
                <a:latin typeface="JetBrains Mono" pitchFamily="34" charset="0"/>
                <a:ea typeface="JetBrains Mono" pitchFamily="34" charset="-122"/>
                <a:cs typeface="JetBrains Mono" pitchFamily="34" charset="-120"/>
              </a:rPr>
              <a:t>HTTP/1.1 200 OK</a:t>
            </a:r>
            <a:endParaRPr lang="en-US" sz="1400" dirty="0"/>
          </a:p>
          <a:p>
            <a:pPr algn="l" indent="0" marL="0">
              <a:lnSpc>
                <a:spcPct val="105000"/>
              </a:lnSpc>
              <a:buNone/>
            </a:pPr>
            <a:r>
              <a:rPr lang="en-US" sz="1400" dirty="0">
                <a:solidFill>
                  <a:schemeClr val="bg1"/>
                </a:solidFill>
                <a:latin typeface="JetBrains Mono" pitchFamily="34" charset="0"/>
                <a:ea typeface="JetBrains Mono" pitchFamily="34" charset="-122"/>
                <a:cs typeface="JetBrains Mono" pitchFamily="34" charset="-120"/>
              </a:rPr>
              <a:t> </a:t>
            </a:r>
            <a:endParaRPr lang="en-US" sz="1400" dirty="0"/>
          </a:p>
          <a:p>
            <a:pPr algn="l" indent="0" marL="0">
              <a:lnSpc>
                <a:spcPct val="105000"/>
              </a:lnSpc>
              <a:buNone/>
            </a:pPr>
            <a:r>
              <a:rPr lang="en-US" sz="1400" dirty="0">
                <a:solidFill>
                  <a:schemeClr val="bg1"/>
                </a:solidFill>
                <a:latin typeface="JetBrains Mono" pitchFamily="34" charset="0"/>
                <a:ea typeface="JetBrains Mono" pitchFamily="34" charset="-122"/>
                <a:cs typeface="JetBrains Mono" pitchFamily="34" charset="-120"/>
              </a:rPr>
              <a:t>{</a:t>
            </a:r>
            <a:endParaRPr lang="en-US" sz="1400" dirty="0"/>
          </a:p>
          <a:p>
            <a:pPr algn="l" indent="0" marL="0">
              <a:lnSpc>
                <a:spcPct val="105000"/>
              </a:lnSpc>
              <a:buNone/>
            </a:pPr>
            <a:r>
              <a:rPr lang="en-US" sz="1400" dirty="0">
                <a:solidFill>
                  <a:srgbClr val="E5806F"/>
                </a:solidFill>
                <a:latin typeface="JetBrains Mono" pitchFamily="34" charset="0"/>
                <a:ea typeface="JetBrains Mono" pitchFamily="34" charset="-122"/>
                <a:cs typeface="JetBrains Mono" pitchFamily="34" charset="-120"/>
              </a:rPr>
              <a:t>  "success": false,</a:t>
            </a:r>
            <a:endParaRPr lang="en-US" sz="1400" dirty="0"/>
          </a:p>
          <a:p>
            <a:pPr algn="l" indent="0" marL="0">
              <a:lnSpc>
                <a:spcPct val="105000"/>
              </a:lnSpc>
              <a:buNone/>
            </a:pPr>
            <a:r>
              <a:rPr lang="en-US" sz="1400" dirty="0">
                <a:solidFill>
                  <a:schemeClr val="bg1"/>
                </a:solidFill>
                <a:latin typeface="JetBrains Mono" pitchFamily="34" charset="0"/>
                <a:ea typeface="JetBrains Mono" pitchFamily="34" charset="-122"/>
                <a:cs typeface="JetBrains Mono" pitchFamily="34" charset="-120"/>
              </a:rPr>
              <a:t>  "message": "글이 없습니다"</a:t>
            </a:r>
            <a:endParaRPr lang="en-US" sz="1400" dirty="0"/>
          </a:p>
          <a:p>
            <a:pPr algn="l" indent="0" marL="0">
              <a:lnSpc>
                <a:spcPct val="105000"/>
              </a:lnSpc>
              <a:buNone/>
            </a:pPr>
            <a:r>
              <a:rPr lang="en-US" sz="1400" dirty="0">
                <a:solidFill>
                  <a:schemeClr val="bg1"/>
                </a:solidFill>
                <a:latin typeface="JetBrains Mono" pitchFamily="34" charset="0"/>
                <a:ea typeface="JetBrains Mono" pitchFamily="34" charset="-122"/>
                <a:cs typeface="JetBrains Mono" pitchFamily="34" charset="-120"/>
              </a:rPr>
              <a:t>}</a:t>
            </a:r>
            <a:endParaRPr lang="en-US" sz="1400" dirty="0"/>
          </a:p>
        </p:txBody>
      </p:sp>
      <p:sp>
        <p:nvSpPr>
          <p:cNvPr id="11" name="code-window"/>
          <p:cNvSpPr/>
          <p:nvPr/>
        </p:nvSpPr>
        <p:spPr>
          <a:xfrm>
            <a:off x="6208776" y="1581912"/>
            <a:ext cx="5330952" cy="3154680"/>
          </a:xfrm>
          <a:prstGeom prst="roundRect">
            <a:avLst>
              <a:gd name="adj" fmla="val 3478"/>
            </a:avLst>
          </a:prstGeom>
          <a:solidFill>
            <a:schemeClr val="tx2"/>
          </a:solidFill>
          <a:ln/>
        </p:spPr>
      </p:sp>
      <p:sp>
        <p:nvSpPr>
          <p:cNvPr id="12" name="code-window-dot"/>
          <p:cNvSpPr/>
          <p:nvPr/>
        </p:nvSpPr>
        <p:spPr>
          <a:xfrm>
            <a:off x="6409944" y="1728216"/>
            <a:ext cx="100584" cy="100584"/>
          </a:xfrm>
          <a:prstGeom prst="ellipse">
            <a:avLst/>
          </a:prstGeom>
          <a:solidFill>
            <a:srgbClr val="4A4844"/>
          </a:solidFill>
          <a:ln/>
        </p:spPr>
      </p:sp>
      <p:sp>
        <p:nvSpPr>
          <p:cNvPr id="13" name="code-window-dot"/>
          <p:cNvSpPr/>
          <p:nvPr/>
        </p:nvSpPr>
        <p:spPr>
          <a:xfrm>
            <a:off x="6583680" y="1728216"/>
            <a:ext cx="100584" cy="100584"/>
          </a:xfrm>
          <a:prstGeom prst="ellipse">
            <a:avLst/>
          </a:prstGeom>
          <a:solidFill>
            <a:srgbClr val="4A4844"/>
          </a:solidFill>
          <a:ln/>
        </p:spPr>
      </p:sp>
      <p:sp>
        <p:nvSpPr>
          <p:cNvPr id="14" name="code-window-dot"/>
          <p:cNvSpPr/>
          <p:nvPr/>
        </p:nvSpPr>
        <p:spPr>
          <a:xfrm>
            <a:off x="6757416" y="1728216"/>
            <a:ext cx="100584" cy="100584"/>
          </a:xfrm>
          <a:prstGeom prst="ellipse">
            <a:avLst/>
          </a:prstGeom>
          <a:solidFill>
            <a:srgbClr val="4A4844"/>
          </a:solidFill>
          <a:ln/>
        </p:spPr>
      </p:sp>
      <p:sp>
        <p:nvSpPr>
          <p:cNvPr id="15" name="code-window-label"/>
          <p:cNvSpPr txBox="1"/>
          <p:nvPr/>
        </p:nvSpPr>
        <p:spPr>
          <a:xfrm>
            <a:off x="7031736"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예제 서버 실제 응답</a:t>
            </a:r>
            <a:endParaRPr lang="en-US" sz="1100" dirty="0"/>
          </a:p>
        </p:txBody>
      </p:sp>
      <p:sp>
        <p:nvSpPr>
          <p:cNvPr id="16" name="code-window-text"/>
          <p:cNvSpPr txBox="1"/>
          <p:nvPr/>
        </p:nvSpPr>
        <p:spPr>
          <a:xfrm>
            <a:off x="6464808" y="2020824"/>
            <a:ext cx="4873752" cy="2606040"/>
          </a:xfrm>
          <a:prstGeom prst="rect">
            <a:avLst/>
          </a:prstGeom>
          <a:noFill/>
          <a:ln/>
        </p:spPr>
        <p:txBody>
          <a:bodyPr wrap="square" lIns="0" tIns="0" rIns="0" bIns="0" rtlCol="0" anchor="t"/>
          <a:lstStyle/>
          <a:p>
            <a:pPr algn="l" indent="0" marL="0">
              <a:lnSpc>
                <a:spcPct val="105000"/>
              </a:lnSpc>
              <a:buNone/>
            </a:pPr>
            <a:r>
              <a:rPr lang="en-US" sz="1200" dirty="0">
                <a:solidFill>
                  <a:schemeClr val="accent5"/>
                </a:solidFill>
                <a:latin typeface="JetBrains Mono" pitchFamily="34" charset="0"/>
                <a:ea typeface="JetBrains Mono" pitchFamily="34" charset="-122"/>
                <a:cs typeface="JetBrains Mono" pitchFamily="34" charset="-120"/>
              </a:rPr>
              <a:t>$ curl -i localhost:8080/api/v1/posts/99999</a:t>
            </a:r>
            <a:endParaRPr lang="en-US" sz="1200" dirty="0"/>
          </a:p>
          <a:p>
            <a:pPr algn="l" indent="0" marL="0">
              <a:lnSpc>
                <a:spcPct val="105000"/>
              </a:lnSpc>
              <a:buNone/>
            </a:pPr>
            <a:r>
              <a:rPr lang="en-US" sz="1200" dirty="0">
                <a:solidFill>
                  <a:srgbClr val="E5806F"/>
                </a:solidFill>
                <a:latin typeface="JetBrains Mono" pitchFamily="34" charset="0"/>
                <a:ea typeface="JetBrains Mono" pitchFamily="34" charset="-122"/>
                <a:cs typeface="JetBrains Mono" pitchFamily="34" charset="-120"/>
              </a:rPr>
              <a:t>HTTP/1.1 404</a:t>
            </a:r>
            <a:endParaRPr lang="en-US" sz="1200" dirty="0"/>
          </a:p>
          <a:p>
            <a:pPr algn="l" indent="0" marL="0">
              <a:lnSpc>
                <a:spcPct val="105000"/>
              </a:lnSpc>
              <a:buNone/>
            </a:pPr>
            <a:r>
              <a:rPr lang="en-US" sz="1200" dirty="0">
                <a:solidFill>
                  <a:srgbClr val="A09D96"/>
                </a:solidFill>
                <a:latin typeface="JetBrains Mono" pitchFamily="34" charset="0"/>
                <a:ea typeface="JetBrains Mono" pitchFamily="34" charset="-122"/>
                <a:cs typeface="JetBrains Mono" pitchFamily="34" charset="-120"/>
              </a:rPr>
              <a:t>Content-Type: application/problem+json</a:t>
            </a:r>
            <a:endParaRPr lang="en-US" sz="1200" dirty="0"/>
          </a:p>
          <a:p>
            <a:pPr algn="l" indent="0" marL="0">
              <a:lnSpc>
                <a:spcPct val="105000"/>
              </a:lnSpc>
              <a:buNone/>
            </a:pPr>
            <a:r>
              <a:rPr lang="en-US" sz="1200" dirty="0">
                <a:solidFill>
                  <a:schemeClr val="bg1"/>
                </a:solidFill>
                <a:latin typeface="JetBrains Mono" pitchFamily="34" charset="0"/>
                <a:ea typeface="JetBrains Mono" pitchFamily="34" charset="-122"/>
                <a:cs typeface="JetBrains Mono" pitchFamily="34" charset="-120"/>
              </a:rPr>
              <a:t> </a:t>
            </a:r>
            <a:endParaRPr lang="en-US" sz="1200" dirty="0"/>
          </a:p>
          <a:p>
            <a:pPr algn="l" indent="0" marL="0">
              <a:lnSpc>
                <a:spcPct val="105000"/>
              </a:lnSpc>
              <a:buNone/>
            </a:pPr>
            <a:r>
              <a:rPr lang="en-US" sz="1200" dirty="0">
                <a:solidFill>
                  <a:schemeClr val="bg1"/>
                </a:solidFill>
                <a:latin typeface="JetBrains Mono" pitchFamily="34" charset="0"/>
                <a:ea typeface="JetBrains Mono" pitchFamily="34" charset="-122"/>
                <a:cs typeface="JetBrains Mono" pitchFamily="34" charset="-120"/>
              </a:rPr>
              <a:t>{</a:t>
            </a:r>
            <a:endParaRPr lang="en-US" sz="1200" dirty="0"/>
          </a:p>
          <a:p>
            <a:pPr algn="l" indent="0" marL="0">
              <a:lnSpc>
                <a:spcPct val="105000"/>
              </a:lnSpc>
              <a:buNone/>
            </a:pPr>
            <a:r>
              <a:rPr lang="en-US" sz="1200" dirty="0">
                <a:solidFill>
                  <a:schemeClr val="bg1"/>
                </a:solidFill>
                <a:latin typeface="JetBrains Mono" pitchFamily="34" charset="0"/>
                <a:ea typeface="JetBrains Mono" pitchFamily="34" charset="-122"/>
                <a:cs typeface="JetBrains Mono" pitchFamily="34" charset="-120"/>
              </a:rPr>
              <a:t>  "type": "about:blank",</a:t>
            </a:r>
            <a:endParaRPr lang="en-US" sz="1200" dirty="0"/>
          </a:p>
          <a:p>
            <a:pPr algn="l" indent="0" marL="0">
              <a:lnSpc>
                <a:spcPct val="105000"/>
              </a:lnSpc>
              <a:buNone/>
            </a:pPr>
            <a:r>
              <a:rPr lang="en-US" sz="1200" dirty="0">
                <a:solidFill>
                  <a:schemeClr val="bg1"/>
                </a:solidFill>
                <a:latin typeface="JetBrains Mono" pitchFamily="34" charset="0"/>
                <a:ea typeface="JetBrains Mono" pitchFamily="34" charset="-122"/>
                <a:cs typeface="JetBrains Mono" pitchFamily="34" charset="-120"/>
              </a:rPr>
              <a:t>  "title": "글을 찾을 수 없습니다",</a:t>
            </a:r>
            <a:endParaRPr lang="en-US" sz="1200" dirty="0"/>
          </a:p>
          <a:p>
            <a:pPr algn="l" indent="0" marL="0">
              <a:lnSpc>
                <a:spcPct val="105000"/>
              </a:lnSpc>
              <a:buNone/>
            </a:pPr>
            <a:r>
              <a:rPr lang="en-US" sz="1200" dirty="0">
                <a:solidFill>
                  <a:schemeClr val="bg1"/>
                </a:solidFill>
                <a:latin typeface="JetBrains Mono" pitchFamily="34" charset="0"/>
                <a:ea typeface="JetBrains Mono" pitchFamily="34" charset="-122"/>
                <a:cs typeface="JetBrains Mono" pitchFamily="34" charset="-120"/>
              </a:rPr>
              <a:t>  "status": 404,</a:t>
            </a:r>
            <a:endParaRPr lang="en-US" sz="1200" dirty="0"/>
          </a:p>
          <a:p>
            <a:pPr algn="l" indent="0" marL="0">
              <a:lnSpc>
                <a:spcPct val="105000"/>
              </a:lnSpc>
              <a:buNone/>
            </a:pPr>
            <a:r>
              <a:rPr lang="en-US" sz="1200" dirty="0">
                <a:solidFill>
                  <a:schemeClr val="bg1"/>
                </a:solidFill>
                <a:latin typeface="JetBrains Mono" pitchFamily="34" charset="0"/>
                <a:ea typeface="JetBrains Mono" pitchFamily="34" charset="-122"/>
                <a:cs typeface="JetBrains Mono" pitchFamily="34" charset="-120"/>
              </a:rPr>
              <a:t>  "detail": "99999번 글이 없습니다.",</a:t>
            </a:r>
            <a:endParaRPr lang="en-US" sz="1200" dirty="0"/>
          </a:p>
          <a:p>
            <a:pPr algn="l" indent="0" marL="0">
              <a:lnSpc>
                <a:spcPct val="105000"/>
              </a:lnSpc>
              <a:buNone/>
            </a:pPr>
            <a:r>
              <a:rPr lang="en-US" sz="1200" dirty="0">
                <a:solidFill>
                  <a:schemeClr val="bg1"/>
                </a:solidFill>
                <a:latin typeface="JetBrains Mono" pitchFamily="34" charset="0"/>
                <a:ea typeface="JetBrains Mono" pitchFamily="34" charset="-122"/>
                <a:cs typeface="JetBrains Mono" pitchFamily="34" charset="-120"/>
              </a:rPr>
              <a:t>  "instance": "/api/v1/posts/99999",</a:t>
            </a:r>
            <a:endParaRPr lang="en-US" sz="1200" dirty="0"/>
          </a:p>
          <a:p>
            <a:pPr algn="l" indent="0" marL="0">
              <a:lnSpc>
                <a:spcPct val="105000"/>
              </a:lnSpc>
              <a:buNone/>
            </a:pPr>
            <a:r>
              <a:rPr lang="en-US" sz="1200" dirty="0">
                <a:solidFill>
                  <a:schemeClr val="accent4"/>
                </a:solidFill>
                <a:latin typeface="JetBrains Mono" pitchFamily="34" charset="0"/>
                <a:ea typeface="JetBrains Mono" pitchFamily="34" charset="-122"/>
                <a:cs typeface="JetBrains Mono" pitchFamily="34" charset="-120"/>
              </a:rPr>
              <a:t>  "code": "POST_NOT_FOUND"</a:t>
            </a:r>
            <a:endParaRPr lang="en-US" sz="1200" dirty="0"/>
          </a:p>
          <a:p>
            <a:pPr algn="l" indent="0" marL="0">
              <a:lnSpc>
                <a:spcPct val="105000"/>
              </a:lnSpc>
              <a:buNone/>
            </a:pPr>
            <a:r>
              <a:rPr lang="en-US" sz="1200" dirty="0">
                <a:solidFill>
                  <a:schemeClr val="bg1"/>
                </a:solidFill>
                <a:latin typeface="JetBrains Mono" pitchFamily="34" charset="0"/>
                <a:ea typeface="JetBrains Mono" pitchFamily="34" charset="-122"/>
                <a:cs typeface="JetBrains Mono" pitchFamily="34" charset="-120"/>
              </a:rPr>
              <a:t>}</a:t>
            </a:r>
            <a:endParaRPr lang="en-US" sz="1200" dirty="0"/>
          </a:p>
        </p:txBody>
      </p:sp>
      <p:sp>
        <p:nvSpPr>
          <p:cNvPr id="17" name="callout-coral"/>
          <p:cNvSpPr/>
          <p:nvPr/>
        </p:nvSpPr>
        <p:spPr>
          <a:xfrm>
            <a:off x="649224" y="4983480"/>
            <a:ext cx="10890504" cy="868680"/>
          </a:xfrm>
          <a:prstGeom prst="roundRect">
            <a:avLst>
              <a:gd name="adj" fmla="val 12632"/>
            </a:avLst>
          </a:prstGeom>
          <a:solidFill>
            <a:schemeClr val="accent1"/>
          </a:solidFill>
          <a:ln/>
        </p:spPr>
      </p:sp>
      <p:sp>
        <p:nvSpPr>
          <p:cNvPr id="18" name="text"/>
          <p:cNvSpPr txBox="1"/>
          <p:nvPr/>
        </p:nvSpPr>
        <p:spPr>
          <a:xfrm>
            <a:off x="1014984" y="5175504"/>
            <a:ext cx="10158984" cy="502920"/>
          </a:xfrm>
          <a:prstGeom prst="rect">
            <a:avLst/>
          </a:prstGeom>
          <a:noFill/>
          <a:ln/>
        </p:spPr>
        <p:txBody>
          <a:bodyPr wrap="square" lIns="0" tIns="0" rIns="0" bIns="0" rtlCol="0" anchor="ctr"/>
          <a:lstStyle/>
          <a:p>
            <a:pPr algn="l" indent="0" marL="0">
              <a:lnSpc>
                <a:spcPct val="115000"/>
              </a:lnSpc>
              <a:spcAft>
                <a:spcPts val="600"/>
              </a:spcAft>
              <a:buNone/>
            </a:pPr>
            <a:r>
              <a:rPr lang="en-US" sz="2000" b="1" dirty="0">
                <a:solidFill>
                  <a:schemeClr val="tx1"/>
                </a:solidFill>
              </a:rPr>
              <a:t>모니터링 · 로드밸런서 · 캐시 · 재시도는 바디가 아니라 상태 코드를 본다</a:t>
            </a:r>
            <a:endParaRPr lang="en-US" sz="20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lIns="0" tIns="0" rIns="0" bIns="0" rtlCol="0" anchor="b"/>
          <a:lstStyle/>
          <a:p>
            <a:pPr algn="l" indent="0" marL="0">
              <a:buNone/>
            </a:pPr>
            <a:r>
              <a:rPr lang="en-US" sz="6000" dirty="0">
                <a:solidFill>
                  <a:schemeClr val="accent1"/>
                </a:solidFill>
                <a:latin typeface="+mj-lt" pitchFamily="34" charset="0"/>
                <a:ea typeface="+mj-lt" pitchFamily="34" charset="-122"/>
                <a:cs typeface="+mj-lt" pitchFamily="34" charset="-120"/>
              </a:rPr>
              <a:t>03</a:t>
            </a: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lIns="0" tIns="0" rIns="0" bIns="0" rtlCol="0" anchor="t"/>
          <a:lstStyle/>
          <a:p>
            <a:pPr algn="l" indent="0" marL="0">
              <a:buNone/>
            </a:pPr>
            <a:r>
              <a:rPr lang="en-US" sz="4000" dirty="0">
                <a:solidFill>
                  <a:schemeClr val="bg1"/>
                </a:solidFill>
              </a:rPr>
              <a:t>공통 응답과 에러 형식</a:t>
            </a: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lIns="0" tIns="0" rIns="0" bIns="0" rtlCol="0" anchor="t"/>
          <a:lstStyle/>
          <a:p>
            <a:pPr algn="l" indent="0" marL="0">
              <a:buNone/>
            </a:pPr>
            <a:r>
              <a:rPr lang="en-US" sz="2000" dirty="0">
                <a:solidFill>
                  <a:srgbClr val="A09D96"/>
                </a:solidFill>
              </a:rPr>
              <a:t>모든 API가 같은 모양으로 답하고, 내부 정보는 로그에만 남긴다</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03 · RESPONSE · ERROR</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에러는 모든 API가 같은 모양으로</a:t>
            </a:r>
            <a:endParaRPr lang="en-US" sz="3200" dirty="0"/>
          </a:p>
        </p:txBody>
      </p:sp>
      <p:sp>
        <p:nvSpPr>
          <p:cNvPr id="5" name="code-window"/>
          <p:cNvSpPr/>
          <p:nvPr/>
        </p:nvSpPr>
        <p:spPr>
          <a:xfrm>
            <a:off x="649224" y="1581912"/>
            <a:ext cx="5330952" cy="3749040"/>
          </a:xfrm>
          <a:prstGeom prst="roundRect">
            <a:avLst>
              <a:gd name="adj" fmla="val 2927"/>
            </a:avLst>
          </a:prstGeom>
          <a:solidFill>
            <a:schemeClr val="tx2"/>
          </a:solidFill>
          <a:ln/>
        </p:spPr>
      </p:sp>
      <p:sp>
        <p:nvSpPr>
          <p:cNvPr id="6" name="code-window-dot"/>
          <p:cNvSpPr/>
          <p:nvPr/>
        </p:nvSpPr>
        <p:spPr>
          <a:xfrm>
            <a:off x="850392" y="1728216"/>
            <a:ext cx="100584" cy="100584"/>
          </a:xfrm>
          <a:prstGeom prst="ellipse">
            <a:avLst/>
          </a:prstGeom>
          <a:solidFill>
            <a:srgbClr val="4A4844"/>
          </a:solidFill>
          <a:ln/>
        </p:spPr>
      </p:sp>
      <p:sp>
        <p:nvSpPr>
          <p:cNvPr id="7" name="code-window-dot"/>
          <p:cNvSpPr/>
          <p:nvPr/>
        </p:nvSpPr>
        <p:spPr>
          <a:xfrm>
            <a:off x="1024128" y="1728216"/>
            <a:ext cx="100584" cy="100584"/>
          </a:xfrm>
          <a:prstGeom prst="ellipse">
            <a:avLst/>
          </a:prstGeom>
          <a:solidFill>
            <a:srgbClr val="4A4844"/>
          </a:solidFill>
          <a:ln/>
        </p:spPr>
      </p:sp>
      <p:sp>
        <p:nvSpPr>
          <p:cNvPr id="8" name="code-window-dot"/>
          <p:cNvSpPr/>
          <p:nvPr/>
        </p:nvSpPr>
        <p:spPr>
          <a:xfrm>
            <a:off x="1197864" y="1728216"/>
            <a:ext cx="100584" cy="100584"/>
          </a:xfrm>
          <a:prstGeom prst="ellipse">
            <a:avLst/>
          </a:prstGeom>
          <a:solidFill>
            <a:srgbClr val="4A4844"/>
          </a:solidFill>
          <a:ln/>
        </p:spPr>
      </p:sp>
      <p:sp>
        <p:nvSpPr>
          <p:cNvPr id="9" name="code-window-label"/>
          <p:cNvSpPr txBox="1"/>
          <p:nvPr/>
        </p:nvSpPr>
        <p:spPr>
          <a:xfrm>
            <a:off x="1472184"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실제 응답 · 400</a:t>
            </a:r>
            <a:endParaRPr lang="en-US" sz="1100" dirty="0"/>
          </a:p>
        </p:txBody>
      </p:sp>
      <p:sp>
        <p:nvSpPr>
          <p:cNvPr id="10" name="code-window-text"/>
          <p:cNvSpPr txBox="1"/>
          <p:nvPr/>
        </p:nvSpPr>
        <p:spPr>
          <a:xfrm>
            <a:off x="905256" y="2020824"/>
            <a:ext cx="4873752" cy="3200400"/>
          </a:xfrm>
          <a:prstGeom prst="rect">
            <a:avLst/>
          </a:prstGeom>
          <a:noFill/>
          <a:ln/>
        </p:spPr>
        <p:txBody>
          <a:bodyPr wrap="square" lIns="0" tIns="0" rIns="0" bIns="0" rtlCol="0" anchor="t"/>
          <a:lstStyle/>
          <a:p>
            <a:pPr algn="l" indent="0" marL="0">
              <a:lnSpc>
                <a:spcPct val="105000"/>
              </a:lnSpc>
              <a:buNone/>
            </a:pPr>
            <a:r>
              <a:rPr lang="en-US" sz="1100" dirty="0">
                <a:solidFill>
                  <a:schemeClr val="accent5"/>
                </a:solidFill>
                <a:latin typeface="JetBrains Mono" pitchFamily="34" charset="0"/>
                <a:ea typeface="JetBrains Mono" pitchFamily="34" charset="-122"/>
                <a:cs typeface="JetBrains Mono" pitchFamily="34" charset="-120"/>
              </a:rPr>
              <a:t>$ curl -i -X POST …/posts -d '{"title":""}'</a:t>
            </a:r>
            <a:endParaRPr lang="en-US" sz="1100" dirty="0"/>
          </a:p>
          <a:p>
            <a:pPr algn="l" indent="0" marL="0">
              <a:lnSpc>
                <a:spcPct val="105000"/>
              </a:lnSpc>
              <a:buNone/>
            </a:pPr>
            <a:r>
              <a:rPr lang="en-US" sz="1100" dirty="0">
                <a:solidFill>
                  <a:srgbClr val="E5806F"/>
                </a:solidFill>
                <a:latin typeface="JetBrains Mono" pitchFamily="34" charset="0"/>
                <a:ea typeface="JetBrains Mono" pitchFamily="34" charset="-122"/>
                <a:cs typeface="JetBrains Mono" pitchFamily="34" charset="-120"/>
              </a:rPr>
              <a:t>HTTP/1.1 400</a:t>
            </a:r>
            <a:endParaRPr lang="en-US" sz="1100" dirty="0"/>
          </a:p>
          <a:p>
            <a:pPr algn="l" indent="0" marL="0">
              <a:lnSpc>
                <a:spcPct val="105000"/>
              </a:lnSpc>
              <a:buNone/>
            </a:pPr>
            <a:r>
              <a:rPr lang="en-US" sz="1100" dirty="0">
                <a:solidFill>
                  <a:srgbClr val="A09D96"/>
                </a:solidFill>
                <a:latin typeface="JetBrains Mono" pitchFamily="34" charset="0"/>
                <a:ea typeface="JetBrains Mono" pitchFamily="34" charset="-122"/>
                <a:cs typeface="JetBrains Mono" pitchFamily="34" charset="-120"/>
              </a:rPr>
              <a:t>Content-Type: application/problem+json</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"type": "about:blank",</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"title": "잘못된 요청입니다",</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"status": 400,</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"detail": "입력값을 확인해 주세요.",</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"instance": "/api/v1/posts",</a:t>
            </a:r>
            <a:endParaRPr lang="en-US" sz="1100" dirty="0"/>
          </a:p>
          <a:p>
            <a:pPr algn="l" indent="0" marL="0">
              <a:lnSpc>
                <a:spcPct val="105000"/>
              </a:lnSpc>
              <a:buNone/>
            </a:pPr>
            <a:r>
              <a:rPr lang="en-US" sz="1100" dirty="0">
                <a:solidFill>
                  <a:schemeClr val="accent4"/>
                </a:solidFill>
                <a:latin typeface="JetBrains Mono" pitchFamily="34" charset="0"/>
                <a:ea typeface="JetBrains Mono" pitchFamily="34" charset="-122"/>
                <a:cs typeface="JetBrains Mono" pitchFamily="34" charset="-120"/>
              </a:rPr>
              <a:t>  "code": "INVALID_INPUT",</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"errors": [</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"reason": "must not be blank",</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"field": "title"</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a:t>
            </a:r>
            <a:endParaRPr lang="en-US" sz="1100" dirty="0"/>
          </a:p>
        </p:txBody>
      </p:sp>
      <p:sp>
        <p:nvSpPr>
          <p:cNvPr id="11" name="code-window"/>
          <p:cNvSpPr/>
          <p:nvPr/>
        </p:nvSpPr>
        <p:spPr>
          <a:xfrm>
            <a:off x="6208776" y="1581912"/>
            <a:ext cx="5330952" cy="3749040"/>
          </a:xfrm>
          <a:prstGeom prst="roundRect">
            <a:avLst>
              <a:gd name="adj" fmla="val 2927"/>
            </a:avLst>
          </a:prstGeom>
          <a:solidFill>
            <a:schemeClr val="tx2"/>
          </a:solidFill>
          <a:ln/>
        </p:spPr>
      </p:sp>
      <p:sp>
        <p:nvSpPr>
          <p:cNvPr id="12" name="code-window-dot"/>
          <p:cNvSpPr/>
          <p:nvPr/>
        </p:nvSpPr>
        <p:spPr>
          <a:xfrm>
            <a:off x="6409944" y="1728216"/>
            <a:ext cx="100584" cy="100584"/>
          </a:xfrm>
          <a:prstGeom prst="ellipse">
            <a:avLst/>
          </a:prstGeom>
          <a:solidFill>
            <a:srgbClr val="4A4844"/>
          </a:solidFill>
          <a:ln/>
        </p:spPr>
      </p:sp>
      <p:sp>
        <p:nvSpPr>
          <p:cNvPr id="13" name="code-window-dot"/>
          <p:cNvSpPr/>
          <p:nvPr/>
        </p:nvSpPr>
        <p:spPr>
          <a:xfrm>
            <a:off x="6583680" y="1728216"/>
            <a:ext cx="100584" cy="100584"/>
          </a:xfrm>
          <a:prstGeom prst="ellipse">
            <a:avLst/>
          </a:prstGeom>
          <a:solidFill>
            <a:srgbClr val="4A4844"/>
          </a:solidFill>
          <a:ln/>
        </p:spPr>
      </p:sp>
      <p:sp>
        <p:nvSpPr>
          <p:cNvPr id="14" name="code-window-dot"/>
          <p:cNvSpPr/>
          <p:nvPr/>
        </p:nvSpPr>
        <p:spPr>
          <a:xfrm>
            <a:off x="6757416" y="1728216"/>
            <a:ext cx="100584" cy="100584"/>
          </a:xfrm>
          <a:prstGeom prst="ellipse">
            <a:avLst/>
          </a:prstGeom>
          <a:solidFill>
            <a:srgbClr val="4A4844"/>
          </a:solidFill>
          <a:ln/>
        </p:spPr>
      </p:sp>
      <p:sp>
        <p:nvSpPr>
          <p:cNvPr id="15" name="code-window-label"/>
          <p:cNvSpPr txBox="1"/>
          <p:nvPr/>
        </p:nvSpPr>
        <p:spPr>
          <a:xfrm>
            <a:off x="7031736"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실제 응답 · 409</a:t>
            </a:r>
            <a:endParaRPr lang="en-US" sz="1100" dirty="0"/>
          </a:p>
        </p:txBody>
      </p:sp>
      <p:sp>
        <p:nvSpPr>
          <p:cNvPr id="16" name="code-window-text"/>
          <p:cNvSpPr txBox="1"/>
          <p:nvPr/>
        </p:nvSpPr>
        <p:spPr>
          <a:xfrm>
            <a:off x="6464808" y="2020824"/>
            <a:ext cx="4873752" cy="3200400"/>
          </a:xfrm>
          <a:prstGeom prst="rect">
            <a:avLst/>
          </a:prstGeom>
          <a:noFill/>
          <a:ln/>
        </p:spPr>
        <p:txBody>
          <a:bodyPr wrap="square" lIns="0" tIns="0" rIns="0" bIns="0" rtlCol="0" anchor="t"/>
          <a:lstStyle/>
          <a:p>
            <a:pPr algn="l" indent="0" marL="0">
              <a:lnSpc>
                <a:spcPct val="105000"/>
              </a:lnSpc>
              <a:buNone/>
            </a:pPr>
            <a:r>
              <a:rPr lang="en-US" sz="1100" dirty="0">
                <a:solidFill>
                  <a:schemeClr val="accent5"/>
                </a:solidFill>
                <a:latin typeface="JetBrains Mono" pitchFamily="34" charset="0"/>
                <a:ea typeface="JetBrains Mono" pitchFamily="34" charset="-122"/>
                <a:cs typeface="JetBrains Mono" pitchFamily="34" charset="-120"/>
              </a:rPr>
              <a:t>$ curl -i -X POST …/posts -d '{"title":"제주 여행"}'</a:t>
            </a:r>
            <a:endParaRPr lang="en-US" sz="1100" dirty="0"/>
          </a:p>
          <a:p>
            <a:pPr algn="l" indent="0" marL="0">
              <a:lnSpc>
                <a:spcPct val="105000"/>
              </a:lnSpc>
              <a:buNone/>
            </a:pPr>
            <a:r>
              <a:rPr lang="en-US" sz="1100" dirty="0">
                <a:solidFill>
                  <a:srgbClr val="E5806F"/>
                </a:solidFill>
                <a:latin typeface="JetBrains Mono" pitchFamily="34" charset="0"/>
                <a:ea typeface="JetBrains Mono" pitchFamily="34" charset="-122"/>
                <a:cs typeface="JetBrains Mono" pitchFamily="34" charset="-120"/>
              </a:rPr>
              <a:t>HTTP/1.1 409</a:t>
            </a:r>
            <a:endParaRPr lang="en-US" sz="1100" dirty="0"/>
          </a:p>
          <a:p>
            <a:pPr algn="l" indent="0" marL="0">
              <a:lnSpc>
                <a:spcPct val="105000"/>
              </a:lnSpc>
              <a:buNone/>
            </a:pPr>
            <a:r>
              <a:rPr lang="en-US" sz="1100" dirty="0">
                <a:solidFill>
                  <a:srgbClr val="A09D96"/>
                </a:solidFill>
                <a:latin typeface="JetBrains Mono" pitchFamily="34" charset="0"/>
                <a:ea typeface="JetBrains Mono" pitchFamily="34" charset="-122"/>
                <a:cs typeface="JetBrains Mono" pitchFamily="34" charset="-120"/>
              </a:rPr>
              <a:t>Content-Type: application/problem+json</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"type": "about:blank",</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"title": "같은 제목의 글이 이미 있습니다",</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"status": 409,</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"detail": "'제주 여행' 제목의 글이 이미 있습니다.",</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"instance": "/api/v1/posts",</a:t>
            </a:r>
            <a:endParaRPr lang="en-US" sz="1100" dirty="0"/>
          </a:p>
          <a:p>
            <a:pPr algn="l" indent="0" marL="0">
              <a:lnSpc>
                <a:spcPct val="105000"/>
              </a:lnSpc>
              <a:buNone/>
            </a:pPr>
            <a:r>
              <a:rPr lang="en-US" sz="1100" dirty="0">
                <a:solidFill>
                  <a:schemeClr val="accent4"/>
                </a:solidFill>
                <a:latin typeface="JetBrains Mono" pitchFamily="34" charset="0"/>
                <a:ea typeface="JetBrains Mono" pitchFamily="34" charset="-122"/>
                <a:cs typeface="JetBrains Mono" pitchFamily="34" charset="-120"/>
              </a:rPr>
              <a:t>  "code": "DUPLICATE_TITLE"</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a:t>
            </a:r>
            <a:endParaRPr lang="en-US" sz="1100" dirty="0"/>
          </a:p>
        </p:txBody>
      </p:sp>
      <p:sp>
        <p:nvSpPr>
          <p:cNvPr id="17" name="text"/>
          <p:cNvSpPr txBox="1"/>
          <p:nvPr/>
        </p:nvSpPr>
        <p:spPr>
          <a:xfrm>
            <a:off x="649224" y="5532120"/>
            <a:ext cx="10890504" cy="411480"/>
          </a:xfrm>
          <a:prstGeom prst="rect">
            <a:avLst/>
          </a:prstGeom>
          <a:noFill/>
          <a:ln/>
        </p:spPr>
        <p:txBody>
          <a:bodyPr wrap="square" lIns="0" tIns="0" rIns="0" bIns="0" rtlCol="0" anchor="t"/>
          <a:lstStyle/>
          <a:p>
            <a:pPr algn="l" indent="0" marL="0">
              <a:lnSpc>
                <a:spcPct val="115000"/>
              </a:lnSpc>
              <a:spcAft>
                <a:spcPts val="600"/>
              </a:spcAft>
              <a:buNone/>
            </a:pPr>
            <a:r>
              <a:rPr lang="en-US" sz="1500" dirty="0">
                <a:solidFill>
                  <a:schemeClr val="accent3"/>
                </a:solidFill>
                <a:latin typeface="JetBrains Mono" pitchFamily="34" charset="0"/>
                <a:ea typeface="JetBrains Mono" pitchFamily="34" charset="-122"/>
                <a:cs typeface="JetBrains Mono" pitchFamily="34" charset="-120"/>
              </a:rPr>
              <a:t>type · title · status · detail</a:t>
            </a:r>
            <a:pPr algn="l" indent="0" marL="0">
              <a:lnSpc>
                <a:spcPct val="115000"/>
              </a:lnSpc>
              <a:spcAft>
                <a:spcPts val="600"/>
              </a:spcAft>
              <a:buNone/>
            </a:pPr>
            <a:r>
              <a:rPr lang="en-US" sz="1500" dirty="0">
                <a:solidFill>
                  <a:schemeClr val="accent3"/>
                </a:solidFill>
              </a:rPr>
              <a:t>  RFC 9457 표준     </a:t>
            </a:r>
            <a:pPr algn="l" indent="0" marL="0">
              <a:lnSpc>
                <a:spcPct val="115000"/>
              </a:lnSpc>
              <a:spcAft>
                <a:spcPts val="600"/>
              </a:spcAft>
              <a:buNone/>
            </a:pPr>
            <a:r>
              <a:rPr lang="en-US" sz="1500" b="1" dirty="0">
                <a:solidFill>
                  <a:schemeClr val="accent2"/>
                </a:solidFill>
                <a:latin typeface="JetBrains Mono" pitchFamily="34" charset="0"/>
                <a:ea typeface="JetBrains Mono" pitchFamily="34" charset="-122"/>
                <a:cs typeface="JetBrains Mono" pitchFamily="34" charset="-120"/>
              </a:rPr>
              <a:t>code</a:t>
            </a:r>
            <a:pPr algn="l" indent="0" marL="0">
              <a:lnSpc>
                <a:spcPct val="115000"/>
              </a:lnSpc>
              <a:spcAft>
                <a:spcPts val="600"/>
              </a:spcAft>
              <a:buNone/>
            </a:pPr>
            <a:r>
              <a:rPr lang="en-US" sz="1500" dirty="0">
                <a:solidFill>
                  <a:schemeClr val="accent3"/>
                </a:solidFill>
              </a:rPr>
              <a:t>  화면이 분기하는 값     </a:t>
            </a:r>
            <a:pPr algn="l" indent="0" marL="0">
              <a:lnSpc>
                <a:spcPct val="115000"/>
              </a:lnSpc>
              <a:spcAft>
                <a:spcPts val="600"/>
              </a:spcAft>
              <a:buNone/>
            </a:pPr>
            <a:r>
              <a:rPr lang="en-US" sz="1500" b="1" dirty="0">
                <a:solidFill>
                  <a:schemeClr val="accent2"/>
                </a:solidFill>
                <a:latin typeface="JetBrains Mono" pitchFamily="34" charset="0"/>
                <a:ea typeface="JetBrains Mono" pitchFamily="34" charset="-122"/>
                <a:cs typeface="JetBrains Mono" pitchFamily="34" charset="-120"/>
              </a:rPr>
              <a:t>errors</a:t>
            </a:r>
            <a:pPr algn="l" indent="0" marL="0">
              <a:lnSpc>
                <a:spcPct val="115000"/>
              </a:lnSpc>
              <a:spcAft>
                <a:spcPts val="600"/>
              </a:spcAft>
              <a:buNone/>
            </a:pPr>
            <a:r>
              <a:rPr lang="en-US" sz="1500" dirty="0">
                <a:solidFill>
                  <a:schemeClr val="accent3"/>
                </a:solidFill>
              </a:rPr>
              <a:t>  틀린 칸</a:t>
            </a:r>
            <a:endParaRPr lang="en-US" sz="15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03 · RESPONSE · ERROR</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내부 정보는 로그로, 응답에는 traceId만</a:t>
            </a:r>
            <a:endParaRPr lang="en-US" sz="3200" dirty="0"/>
          </a:p>
        </p:txBody>
      </p:sp>
      <p:sp>
        <p:nvSpPr>
          <p:cNvPr id="5" name="badge"/>
          <p:cNvSpPr/>
          <p:nvPr/>
        </p:nvSpPr>
        <p:spPr>
          <a:xfrm>
            <a:off x="10716768" y="384048"/>
            <a:ext cx="585216" cy="310896"/>
          </a:xfrm>
          <a:prstGeom prst="roundRect">
            <a:avLst>
              <a:gd name="adj" fmla="val 50000"/>
            </a:avLst>
          </a:prstGeom>
          <a:solidFill>
            <a:srgbClr val="E8E0D2"/>
          </a:solidFill>
          <a:ln/>
        </p:spPr>
      </p:sp>
      <p:sp>
        <p:nvSpPr>
          <p:cNvPr id="6" name="badge-text"/>
          <p:cNvSpPr txBox="1"/>
          <p:nvPr/>
        </p:nvSpPr>
        <p:spPr>
          <a:xfrm>
            <a:off x="10716768" y="384048"/>
            <a:ext cx="585216" cy="310896"/>
          </a:xfrm>
          <a:prstGeom prst="rect">
            <a:avLst/>
          </a:prstGeom>
          <a:noFill/>
          <a:ln/>
        </p:spPr>
        <p:txBody>
          <a:bodyPr wrap="square" lIns="0" tIns="0" rIns="0" bIns="0" rtlCol="0" anchor="ctr"/>
          <a:lstStyle/>
          <a:p>
            <a:pPr algn="ctr" indent="0" marL="0">
              <a:buNone/>
            </a:pPr>
            <a:r>
              <a:rPr lang="en-US" sz="1200" dirty="0">
                <a:solidFill>
                  <a:schemeClr val="accent3"/>
                </a:solidFill>
              </a:rPr>
              <a:t>예시</a:t>
            </a:r>
            <a:endParaRPr lang="en-US" sz="1200" dirty="0"/>
          </a:p>
        </p:txBody>
      </p:sp>
      <p:sp>
        <p:nvSpPr>
          <p:cNvPr id="7" name="code-window"/>
          <p:cNvSpPr/>
          <p:nvPr/>
        </p:nvSpPr>
        <p:spPr>
          <a:xfrm>
            <a:off x="649224" y="1581912"/>
            <a:ext cx="10890504" cy="1417320"/>
          </a:xfrm>
          <a:prstGeom prst="roundRect">
            <a:avLst>
              <a:gd name="adj" fmla="val 7742"/>
            </a:avLst>
          </a:prstGeom>
          <a:solidFill>
            <a:schemeClr val="tx2"/>
          </a:solidFill>
          <a:ln/>
        </p:spPr>
      </p:sp>
      <p:sp>
        <p:nvSpPr>
          <p:cNvPr id="8" name="code-window-dot"/>
          <p:cNvSpPr/>
          <p:nvPr/>
        </p:nvSpPr>
        <p:spPr>
          <a:xfrm>
            <a:off x="850392" y="1728216"/>
            <a:ext cx="100584" cy="100584"/>
          </a:xfrm>
          <a:prstGeom prst="ellipse">
            <a:avLst/>
          </a:prstGeom>
          <a:solidFill>
            <a:srgbClr val="4A4844"/>
          </a:solidFill>
          <a:ln/>
        </p:spPr>
      </p:sp>
      <p:sp>
        <p:nvSpPr>
          <p:cNvPr id="9" name="code-window-dot"/>
          <p:cNvSpPr/>
          <p:nvPr/>
        </p:nvSpPr>
        <p:spPr>
          <a:xfrm>
            <a:off x="1024128" y="1728216"/>
            <a:ext cx="100584" cy="100584"/>
          </a:xfrm>
          <a:prstGeom prst="ellipse">
            <a:avLst/>
          </a:prstGeom>
          <a:solidFill>
            <a:srgbClr val="4A4844"/>
          </a:solidFill>
          <a:ln/>
        </p:spPr>
      </p:sp>
      <p:sp>
        <p:nvSpPr>
          <p:cNvPr id="10" name="code-window-dot"/>
          <p:cNvSpPr/>
          <p:nvPr/>
        </p:nvSpPr>
        <p:spPr>
          <a:xfrm>
            <a:off x="1197864" y="1728216"/>
            <a:ext cx="100584" cy="100584"/>
          </a:xfrm>
          <a:prstGeom prst="ellipse">
            <a:avLst/>
          </a:prstGeom>
          <a:solidFill>
            <a:srgbClr val="4A4844"/>
          </a:solidFill>
          <a:ln/>
        </p:spPr>
      </p:sp>
      <p:sp>
        <p:nvSpPr>
          <p:cNvPr id="11" name="code-window-label"/>
          <p:cNvSpPr txBox="1"/>
          <p:nvPr/>
        </p:nvSpPr>
        <p:spPr>
          <a:xfrm>
            <a:off x="1472184" y="1673352"/>
            <a:ext cx="9884664"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사용자에게 가는 응답</a:t>
            </a:r>
            <a:endParaRPr lang="en-US" sz="1100" dirty="0"/>
          </a:p>
        </p:txBody>
      </p:sp>
      <p:sp>
        <p:nvSpPr>
          <p:cNvPr id="12" name="code-window-text"/>
          <p:cNvSpPr txBox="1"/>
          <p:nvPr/>
        </p:nvSpPr>
        <p:spPr>
          <a:xfrm>
            <a:off x="905256" y="2020824"/>
            <a:ext cx="10433304" cy="868680"/>
          </a:xfrm>
          <a:prstGeom prst="rect">
            <a:avLst/>
          </a:prstGeom>
          <a:noFill/>
          <a:ln/>
        </p:spPr>
        <p:txBody>
          <a:bodyPr wrap="square" lIns="0" tIns="0" rIns="0" bIns="0" rtlCol="0" anchor="t"/>
          <a:lstStyle/>
          <a:p>
            <a:pPr algn="l" indent="0" marL="0">
              <a:lnSpc>
                <a:spcPct val="105000"/>
              </a:lnSpc>
              <a:buNone/>
            </a:pPr>
            <a:r>
              <a:rPr lang="en-US" sz="1500" dirty="0">
                <a:solidFill>
                  <a:srgbClr val="E5806F"/>
                </a:solidFill>
                <a:latin typeface="JetBrains Mono" pitchFamily="34" charset="0"/>
                <a:ea typeface="JetBrains Mono" pitchFamily="34" charset="-122"/>
                <a:cs typeface="JetBrains Mono" pitchFamily="34" charset="-120"/>
              </a:rPr>
              <a:t>HTTP/1.1 500</a:t>
            </a:r>
            <a:endParaRPr lang="en-US" sz="1500" dirty="0"/>
          </a:p>
          <a:p>
            <a:pPr algn="l" indent="0" marL="0">
              <a:lnSpc>
                <a:spcPct val="105000"/>
              </a:lnSpc>
              <a:buNone/>
            </a:pPr>
            <a:r>
              <a:rPr lang="en-US" sz="1500" dirty="0">
                <a:solidFill>
                  <a:schemeClr val="bg1"/>
                </a:solidFill>
                <a:latin typeface="JetBrains Mono" pitchFamily="34" charset="0"/>
                <a:ea typeface="JetBrains Mono" pitchFamily="34" charset="-122"/>
                <a:cs typeface="JetBrains Mono" pitchFamily="34" charset="-120"/>
              </a:rPr>
              <a:t>{ "code": "INTERNAL_ERROR", "detail": "잠시 후 다시 시도해 주세요.", "traceId": "9b1deb4d" }</a:t>
            </a:r>
            <a:endParaRPr lang="en-US" sz="1500" dirty="0"/>
          </a:p>
        </p:txBody>
      </p:sp>
      <p:sp>
        <p:nvSpPr>
          <p:cNvPr id="13" name="code-window"/>
          <p:cNvSpPr/>
          <p:nvPr/>
        </p:nvSpPr>
        <p:spPr>
          <a:xfrm>
            <a:off x="649224" y="3246120"/>
            <a:ext cx="10890504" cy="1691640"/>
          </a:xfrm>
          <a:prstGeom prst="roundRect">
            <a:avLst>
              <a:gd name="adj" fmla="val 6486"/>
            </a:avLst>
          </a:prstGeom>
          <a:solidFill>
            <a:schemeClr val="tx2"/>
          </a:solidFill>
          <a:ln/>
        </p:spPr>
      </p:sp>
      <p:sp>
        <p:nvSpPr>
          <p:cNvPr id="14" name="code-window-dot"/>
          <p:cNvSpPr/>
          <p:nvPr/>
        </p:nvSpPr>
        <p:spPr>
          <a:xfrm>
            <a:off x="850392" y="3392424"/>
            <a:ext cx="100584" cy="100584"/>
          </a:xfrm>
          <a:prstGeom prst="ellipse">
            <a:avLst/>
          </a:prstGeom>
          <a:solidFill>
            <a:srgbClr val="4A4844"/>
          </a:solidFill>
          <a:ln/>
        </p:spPr>
      </p:sp>
      <p:sp>
        <p:nvSpPr>
          <p:cNvPr id="15" name="code-window-dot"/>
          <p:cNvSpPr/>
          <p:nvPr/>
        </p:nvSpPr>
        <p:spPr>
          <a:xfrm>
            <a:off x="1024128" y="3392424"/>
            <a:ext cx="100584" cy="100584"/>
          </a:xfrm>
          <a:prstGeom prst="ellipse">
            <a:avLst/>
          </a:prstGeom>
          <a:solidFill>
            <a:srgbClr val="4A4844"/>
          </a:solidFill>
          <a:ln/>
        </p:spPr>
      </p:sp>
      <p:sp>
        <p:nvSpPr>
          <p:cNvPr id="16" name="code-window-dot"/>
          <p:cNvSpPr/>
          <p:nvPr/>
        </p:nvSpPr>
        <p:spPr>
          <a:xfrm>
            <a:off x="1197864" y="3392424"/>
            <a:ext cx="100584" cy="100584"/>
          </a:xfrm>
          <a:prstGeom prst="ellipse">
            <a:avLst/>
          </a:prstGeom>
          <a:solidFill>
            <a:srgbClr val="4A4844"/>
          </a:solidFill>
          <a:ln/>
        </p:spPr>
      </p:sp>
      <p:sp>
        <p:nvSpPr>
          <p:cNvPr id="17" name="code-window-label"/>
          <p:cNvSpPr txBox="1"/>
          <p:nvPr/>
        </p:nvSpPr>
        <p:spPr>
          <a:xfrm>
            <a:off x="1472184" y="3337560"/>
            <a:ext cx="9884664"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서버 로그 (개발자만)</a:t>
            </a:r>
            <a:endParaRPr lang="en-US" sz="1100" dirty="0"/>
          </a:p>
        </p:txBody>
      </p:sp>
      <p:sp>
        <p:nvSpPr>
          <p:cNvPr id="18" name="code-window-text"/>
          <p:cNvSpPr txBox="1"/>
          <p:nvPr/>
        </p:nvSpPr>
        <p:spPr>
          <a:xfrm>
            <a:off x="905256" y="3685032"/>
            <a:ext cx="10433304" cy="1143000"/>
          </a:xfrm>
          <a:prstGeom prst="rect">
            <a:avLst/>
          </a:prstGeom>
          <a:noFill/>
          <a:ln/>
        </p:spPr>
        <p:txBody>
          <a:bodyPr wrap="square" lIns="0" tIns="0" rIns="0" bIns="0" rtlCol="0" anchor="t"/>
          <a:lstStyle/>
          <a:p>
            <a:pPr algn="l" indent="0" marL="0">
              <a:lnSpc>
                <a:spcPct val="105000"/>
              </a:lnSpc>
              <a:buNone/>
            </a:pPr>
            <a:r>
              <a:rPr lang="en-US" sz="1500" dirty="0">
                <a:solidFill>
                  <a:srgbClr val="E5806F"/>
                </a:solidFill>
                <a:latin typeface="JetBrains Mono" pitchFamily="34" charset="0"/>
                <a:ea typeface="JetBrains Mono" pitchFamily="34" charset="-122"/>
                <a:cs typeface="JetBrains Mono" pitchFamily="34" charset="-120"/>
              </a:rPr>
              <a:t>ERROR [traceId=9b1deb4d] 글 조회 실패</a:t>
            </a:r>
            <a:endParaRPr lang="en-US" sz="1500" dirty="0"/>
          </a:p>
          <a:p>
            <a:pPr algn="l" indent="0" marL="0">
              <a:lnSpc>
                <a:spcPct val="105000"/>
              </a:lnSpc>
              <a:buNone/>
            </a:pPr>
            <a:r>
              <a:rPr lang="en-US" sz="1500" dirty="0">
                <a:solidFill>
                  <a:schemeClr val="bg1"/>
                </a:solidFill>
                <a:latin typeface="JetBrains Mono" pitchFamily="34" charset="0"/>
                <a:ea typeface="JetBrains Mono" pitchFamily="34" charset="-122"/>
                <a:cs typeface="JetBrains Mono" pitchFamily="34" charset="-120"/>
              </a:rPr>
              <a:t>java.lang.NullPointerException: …</a:t>
            </a:r>
            <a:endParaRPr lang="en-US" sz="1500" dirty="0"/>
          </a:p>
          <a:p>
            <a:pPr algn="l" indent="0" marL="0">
              <a:lnSpc>
                <a:spcPct val="105000"/>
              </a:lnSpc>
              <a:buNone/>
            </a:pPr>
            <a:r>
              <a:rPr lang="en-US" sz="1500" dirty="0">
                <a:solidFill>
                  <a:srgbClr val="A09D96"/>
                </a:solidFill>
                <a:latin typeface="JetBrains Mono" pitchFamily="34" charset="0"/>
                <a:ea typeface="JetBrains Mono" pitchFamily="34" charset="-122"/>
                <a:cs typeface="JetBrains Mono" pitchFamily="34" charset="-120"/>
              </a:rPr>
              <a:t>    at com.example.blog.PostService.find(PostService.java:42)</a:t>
            </a:r>
            <a:endParaRPr lang="en-US" sz="1500" dirty="0"/>
          </a:p>
        </p:txBody>
      </p:sp>
      <p:sp>
        <p:nvSpPr>
          <p:cNvPr id="19" name="text"/>
          <p:cNvSpPr txBox="1"/>
          <p:nvPr/>
        </p:nvSpPr>
        <p:spPr>
          <a:xfrm>
            <a:off x="649224" y="5257800"/>
            <a:ext cx="10890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3D3D3A"/>
                </a:solidFill>
              </a:rPr>
              <a:t>스택 트레이스 · SQL · 테이블 이름은 응답에 넣지 않는다. 같은 traceId로 로그를 찾는다.</a:t>
            </a:r>
            <a:endParaRPr lang="en-US" sz="20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lIns="0" tIns="0" rIns="0" bIns="0" rtlCol="0" anchor="b"/>
          <a:lstStyle/>
          <a:p>
            <a:pPr algn="l" indent="0" marL="0">
              <a:buNone/>
            </a:pPr>
            <a:r>
              <a:rPr lang="en-US" sz="6000" dirty="0">
                <a:solidFill>
                  <a:schemeClr val="accent1"/>
                </a:solidFill>
                <a:latin typeface="+mj-lt" pitchFamily="34" charset="0"/>
                <a:ea typeface="+mj-lt" pitchFamily="34" charset="-122"/>
                <a:cs typeface="+mj-lt" pitchFamily="34" charset="-120"/>
              </a:rPr>
              <a:t>04</a:t>
            </a: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lIns="0" tIns="0" rIns="0" bIns="0" rtlCol="0" anchor="t"/>
          <a:lstStyle/>
          <a:p>
            <a:pPr algn="l" indent="0" marL="0">
              <a:buNone/>
            </a:pPr>
            <a:r>
              <a:rPr lang="en-US" sz="4000" dirty="0">
                <a:solidFill>
                  <a:schemeClr val="bg1"/>
                </a:solidFill>
              </a:rPr>
              <a:t>전역 예외 처리와 입력 검증</a:t>
            </a: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lIns="0" tIns="0" rIns="0" bIns="0" rtlCol="0" anchor="t"/>
          <a:lstStyle/>
          <a:p>
            <a:pPr algn="l" indent="0" marL="0">
              <a:buNone/>
            </a:pPr>
            <a:r>
              <a:rPr lang="en-US" sz="2000" dirty="0">
                <a:solidFill>
                  <a:srgbClr val="A09D96"/>
                </a:solidFill>
              </a:rPr>
              <a:t>검증은 두 층으로, 응답 변환은 한 곳에서</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04 · EXCEPTION · VALIDATION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검증과 예외 처리는 한 곳에서</a:t>
            </a:r>
            <a:endParaRPr lang="en-US" sz="3200" dirty="0"/>
          </a:p>
        </p:txBody>
      </p:sp>
      <p:sp>
        <p:nvSpPr>
          <p:cNvPr id="5" name="flow-step"/>
          <p:cNvSpPr/>
          <p:nvPr/>
        </p:nvSpPr>
        <p:spPr>
          <a:xfrm>
            <a:off x="649224" y="1581912"/>
            <a:ext cx="1097280" cy="548640"/>
          </a:xfrm>
          <a:prstGeom prst="roundRect">
            <a:avLst>
              <a:gd name="adj" fmla="val 20000"/>
            </a:avLst>
          </a:prstGeom>
          <a:solidFill>
            <a:schemeClr val="bg2"/>
          </a:solidFill>
          <a:ln/>
        </p:spPr>
      </p:sp>
      <p:sp>
        <p:nvSpPr>
          <p:cNvPr id="6" name="text"/>
          <p:cNvSpPr txBox="1"/>
          <p:nvPr/>
        </p:nvSpPr>
        <p:spPr>
          <a:xfrm>
            <a:off x="649224" y="1719072"/>
            <a:ext cx="1097280" cy="274320"/>
          </a:xfrm>
          <a:prstGeom prst="rect">
            <a:avLst/>
          </a:prstGeom>
          <a:noFill/>
          <a:ln/>
        </p:spPr>
        <p:txBody>
          <a:bodyPr wrap="square" lIns="0" tIns="0" rIns="0" bIns="0" rtlCol="0" anchor="t"/>
          <a:lstStyle/>
          <a:p>
            <a:pPr algn="ctr" indent="0" marL="0">
              <a:lnSpc>
                <a:spcPct val="115000"/>
              </a:lnSpc>
              <a:spcAft>
                <a:spcPts val="600"/>
              </a:spcAft>
              <a:buNone/>
            </a:pPr>
            <a:r>
              <a:rPr lang="en-US" sz="1500" dirty="0">
                <a:solidFill>
                  <a:schemeClr val="tx1"/>
                </a:solidFill>
              </a:rPr>
              <a:t>요청</a:t>
            </a:r>
            <a:endParaRPr lang="en-US" sz="1500" dirty="0"/>
          </a:p>
        </p:txBody>
      </p:sp>
      <p:sp>
        <p:nvSpPr>
          <p:cNvPr id="7" name="text"/>
          <p:cNvSpPr txBox="1"/>
          <p:nvPr/>
        </p:nvSpPr>
        <p:spPr>
          <a:xfrm>
            <a:off x="1746504" y="1700784"/>
            <a:ext cx="493776" cy="320040"/>
          </a:xfrm>
          <a:prstGeom prst="rect">
            <a:avLst/>
          </a:prstGeom>
          <a:noFill/>
          <a:ln/>
        </p:spPr>
        <p:txBody>
          <a:bodyPr wrap="square" lIns="0" tIns="0" rIns="0" bIns="0" rtlCol="0" anchor="t"/>
          <a:lstStyle/>
          <a:p>
            <a:pPr algn="ctr" indent="0" marL="0">
              <a:lnSpc>
                <a:spcPct val="115000"/>
              </a:lnSpc>
              <a:spcAft>
                <a:spcPts val="600"/>
              </a:spcAft>
              <a:buNone/>
            </a:pPr>
            <a:r>
              <a:rPr lang="en-US" sz="1800" dirty="0">
                <a:solidFill>
                  <a:schemeClr val="accent3"/>
                </a:solidFill>
              </a:rPr>
              <a:t>→</a:t>
            </a:r>
            <a:endParaRPr lang="en-US" sz="1800" dirty="0"/>
          </a:p>
        </p:txBody>
      </p:sp>
      <p:sp>
        <p:nvSpPr>
          <p:cNvPr id="8" name="flow-step"/>
          <p:cNvSpPr/>
          <p:nvPr/>
        </p:nvSpPr>
        <p:spPr>
          <a:xfrm>
            <a:off x="2240280" y="1581912"/>
            <a:ext cx="2514600" cy="548640"/>
          </a:xfrm>
          <a:prstGeom prst="roundRect">
            <a:avLst>
              <a:gd name="adj" fmla="val 20000"/>
            </a:avLst>
          </a:prstGeom>
          <a:solidFill>
            <a:srgbClr val="E8E0D2"/>
          </a:solidFill>
          <a:ln/>
        </p:spPr>
      </p:sp>
      <p:sp>
        <p:nvSpPr>
          <p:cNvPr id="9" name="text"/>
          <p:cNvSpPr txBox="1"/>
          <p:nvPr/>
        </p:nvSpPr>
        <p:spPr>
          <a:xfrm>
            <a:off x="2240280" y="1719072"/>
            <a:ext cx="2514600" cy="274320"/>
          </a:xfrm>
          <a:prstGeom prst="rect">
            <a:avLst/>
          </a:prstGeom>
          <a:noFill/>
          <a:ln/>
        </p:spPr>
        <p:txBody>
          <a:bodyPr wrap="square" lIns="0" tIns="0" rIns="0" bIns="0" rtlCol="0" anchor="t"/>
          <a:lstStyle/>
          <a:p>
            <a:pPr algn="ctr" indent="0" marL="0">
              <a:lnSpc>
                <a:spcPct val="115000"/>
              </a:lnSpc>
              <a:spcAft>
                <a:spcPts val="600"/>
              </a:spcAft>
              <a:buNone/>
            </a:pPr>
            <a:r>
              <a:rPr lang="en-US" sz="1500" b="1" dirty="0">
                <a:solidFill>
                  <a:schemeClr val="tx1"/>
                </a:solidFill>
              </a:rPr>
              <a:t>@Valid 형식 검증</a:t>
            </a:r>
            <a:endParaRPr lang="en-US" sz="1500" dirty="0"/>
          </a:p>
        </p:txBody>
      </p:sp>
      <p:sp>
        <p:nvSpPr>
          <p:cNvPr id="10" name="text"/>
          <p:cNvSpPr txBox="1"/>
          <p:nvPr/>
        </p:nvSpPr>
        <p:spPr>
          <a:xfrm>
            <a:off x="4754880" y="1700784"/>
            <a:ext cx="493776" cy="320040"/>
          </a:xfrm>
          <a:prstGeom prst="rect">
            <a:avLst/>
          </a:prstGeom>
          <a:noFill/>
          <a:ln/>
        </p:spPr>
        <p:txBody>
          <a:bodyPr wrap="square" lIns="0" tIns="0" rIns="0" bIns="0" rtlCol="0" anchor="t"/>
          <a:lstStyle/>
          <a:p>
            <a:pPr algn="ctr" indent="0" marL="0">
              <a:lnSpc>
                <a:spcPct val="115000"/>
              </a:lnSpc>
              <a:spcAft>
                <a:spcPts val="600"/>
              </a:spcAft>
              <a:buNone/>
            </a:pPr>
            <a:r>
              <a:rPr lang="en-US" sz="1800" dirty="0">
                <a:solidFill>
                  <a:schemeClr val="accent3"/>
                </a:solidFill>
              </a:rPr>
              <a:t>→</a:t>
            </a:r>
            <a:endParaRPr lang="en-US" sz="1800" dirty="0"/>
          </a:p>
        </p:txBody>
      </p:sp>
      <p:sp>
        <p:nvSpPr>
          <p:cNvPr id="11" name="flow-step"/>
          <p:cNvSpPr/>
          <p:nvPr/>
        </p:nvSpPr>
        <p:spPr>
          <a:xfrm>
            <a:off x="5248656" y="1581912"/>
            <a:ext cx="1691640" cy="548640"/>
          </a:xfrm>
          <a:prstGeom prst="roundRect">
            <a:avLst>
              <a:gd name="adj" fmla="val 20000"/>
            </a:avLst>
          </a:prstGeom>
          <a:solidFill>
            <a:schemeClr val="bg2"/>
          </a:solidFill>
          <a:ln/>
        </p:spPr>
      </p:sp>
      <p:sp>
        <p:nvSpPr>
          <p:cNvPr id="12" name="text"/>
          <p:cNvSpPr txBox="1"/>
          <p:nvPr/>
        </p:nvSpPr>
        <p:spPr>
          <a:xfrm>
            <a:off x="5248656" y="1719072"/>
            <a:ext cx="1691640" cy="274320"/>
          </a:xfrm>
          <a:prstGeom prst="rect">
            <a:avLst/>
          </a:prstGeom>
          <a:noFill/>
          <a:ln/>
        </p:spPr>
        <p:txBody>
          <a:bodyPr wrap="square" lIns="0" tIns="0" rIns="0" bIns="0" rtlCol="0" anchor="t"/>
          <a:lstStyle/>
          <a:p>
            <a:pPr algn="ctr" indent="0" marL="0">
              <a:lnSpc>
                <a:spcPct val="115000"/>
              </a:lnSpc>
              <a:spcAft>
                <a:spcPts val="600"/>
              </a:spcAft>
              <a:buNone/>
            </a:pPr>
            <a:r>
              <a:rPr lang="en-US" sz="1500" dirty="0">
                <a:solidFill>
                  <a:schemeClr val="tx1"/>
                </a:solidFill>
              </a:rPr>
              <a:t>컨트롤러</a:t>
            </a:r>
            <a:endParaRPr lang="en-US" sz="1500" dirty="0"/>
          </a:p>
        </p:txBody>
      </p:sp>
      <p:sp>
        <p:nvSpPr>
          <p:cNvPr id="13" name="text"/>
          <p:cNvSpPr txBox="1"/>
          <p:nvPr/>
        </p:nvSpPr>
        <p:spPr>
          <a:xfrm>
            <a:off x="6940296" y="1700784"/>
            <a:ext cx="493776" cy="320040"/>
          </a:xfrm>
          <a:prstGeom prst="rect">
            <a:avLst/>
          </a:prstGeom>
          <a:noFill/>
          <a:ln/>
        </p:spPr>
        <p:txBody>
          <a:bodyPr wrap="square" lIns="0" tIns="0" rIns="0" bIns="0" rtlCol="0" anchor="t"/>
          <a:lstStyle/>
          <a:p>
            <a:pPr algn="ctr" indent="0" marL="0">
              <a:lnSpc>
                <a:spcPct val="115000"/>
              </a:lnSpc>
              <a:spcAft>
                <a:spcPts val="600"/>
              </a:spcAft>
              <a:buNone/>
            </a:pPr>
            <a:r>
              <a:rPr lang="en-US" sz="1800" dirty="0">
                <a:solidFill>
                  <a:schemeClr val="accent3"/>
                </a:solidFill>
              </a:rPr>
              <a:t>→</a:t>
            </a:r>
            <a:endParaRPr lang="en-US" sz="1800" dirty="0"/>
          </a:p>
        </p:txBody>
      </p:sp>
      <p:sp>
        <p:nvSpPr>
          <p:cNvPr id="14" name="flow-step"/>
          <p:cNvSpPr/>
          <p:nvPr/>
        </p:nvSpPr>
        <p:spPr>
          <a:xfrm>
            <a:off x="7434072" y="1581912"/>
            <a:ext cx="2697480" cy="548640"/>
          </a:xfrm>
          <a:prstGeom prst="roundRect">
            <a:avLst>
              <a:gd name="adj" fmla="val 20000"/>
            </a:avLst>
          </a:prstGeom>
          <a:solidFill>
            <a:srgbClr val="E8E0D2"/>
          </a:solidFill>
          <a:ln/>
        </p:spPr>
      </p:sp>
      <p:sp>
        <p:nvSpPr>
          <p:cNvPr id="15" name="text"/>
          <p:cNvSpPr txBox="1"/>
          <p:nvPr/>
        </p:nvSpPr>
        <p:spPr>
          <a:xfrm>
            <a:off x="7434072" y="1719072"/>
            <a:ext cx="2697480" cy="274320"/>
          </a:xfrm>
          <a:prstGeom prst="rect">
            <a:avLst/>
          </a:prstGeom>
          <a:noFill/>
          <a:ln/>
        </p:spPr>
        <p:txBody>
          <a:bodyPr wrap="square" lIns="0" tIns="0" rIns="0" bIns="0" rtlCol="0" anchor="t"/>
          <a:lstStyle/>
          <a:p>
            <a:pPr algn="ctr" indent="0" marL="0">
              <a:lnSpc>
                <a:spcPct val="115000"/>
              </a:lnSpc>
              <a:spcAft>
                <a:spcPts val="600"/>
              </a:spcAft>
              <a:buNone/>
            </a:pPr>
            <a:r>
              <a:rPr lang="en-US" sz="1500" b="1" dirty="0">
                <a:solidFill>
                  <a:schemeClr val="tx1"/>
                </a:solidFill>
              </a:rPr>
              <a:t>서비스 (업무 규칙)</a:t>
            </a:r>
            <a:endParaRPr lang="en-US" sz="1500" dirty="0"/>
          </a:p>
        </p:txBody>
      </p:sp>
      <p:sp>
        <p:nvSpPr>
          <p:cNvPr id="16" name="text"/>
          <p:cNvSpPr txBox="1"/>
          <p:nvPr/>
        </p:nvSpPr>
        <p:spPr>
          <a:xfrm>
            <a:off x="10131552" y="1700784"/>
            <a:ext cx="493776" cy="320040"/>
          </a:xfrm>
          <a:prstGeom prst="rect">
            <a:avLst/>
          </a:prstGeom>
          <a:noFill/>
          <a:ln/>
        </p:spPr>
        <p:txBody>
          <a:bodyPr wrap="square" lIns="0" tIns="0" rIns="0" bIns="0" rtlCol="0" anchor="t"/>
          <a:lstStyle/>
          <a:p>
            <a:pPr algn="ctr" indent="0" marL="0">
              <a:lnSpc>
                <a:spcPct val="115000"/>
              </a:lnSpc>
              <a:spcAft>
                <a:spcPts val="600"/>
              </a:spcAft>
              <a:buNone/>
            </a:pPr>
            <a:r>
              <a:rPr lang="en-US" sz="1800" dirty="0">
                <a:solidFill>
                  <a:schemeClr val="accent3"/>
                </a:solidFill>
              </a:rPr>
              <a:t>→</a:t>
            </a:r>
            <a:endParaRPr lang="en-US" sz="1800" dirty="0"/>
          </a:p>
        </p:txBody>
      </p:sp>
      <p:sp>
        <p:nvSpPr>
          <p:cNvPr id="17" name="flow-step"/>
          <p:cNvSpPr/>
          <p:nvPr/>
        </p:nvSpPr>
        <p:spPr>
          <a:xfrm>
            <a:off x="10625328" y="1581912"/>
            <a:ext cx="914400" cy="548640"/>
          </a:xfrm>
          <a:prstGeom prst="roundRect">
            <a:avLst>
              <a:gd name="adj" fmla="val 20000"/>
            </a:avLst>
          </a:prstGeom>
          <a:solidFill>
            <a:schemeClr val="bg2"/>
          </a:solidFill>
          <a:ln/>
        </p:spPr>
      </p:sp>
      <p:sp>
        <p:nvSpPr>
          <p:cNvPr id="18" name="text"/>
          <p:cNvSpPr txBox="1"/>
          <p:nvPr/>
        </p:nvSpPr>
        <p:spPr>
          <a:xfrm>
            <a:off x="10625328" y="1719072"/>
            <a:ext cx="914400" cy="274320"/>
          </a:xfrm>
          <a:prstGeom prst="rect">
            <a:avLst/>
          </a:prstGeom>
          <a:noFill/>
          <a:ln/>
        </p:spPr>
        <p:txBody>
          <a:bodyPr wrap="square" lIns="0" tIns="0" rIns="0" bIns="0" rtlCol="0" anchor="t"/>
          <a:lstStyle/>
          <a:p>
            <a:pPr algn="ctr" indent="0" marL="0">
              <a:lnSpc>
                <a:spcPct val="115000"/>
              </a:lnSpc>
              <a:spcAft>
                <a:spcPts val="600"/>
              </a:spcAft>
              <a:buNone/>
            </a:pPr>
            <a:r>
              <a:rPr lang="en-US" sz="1500" dirty="0">
                <a:solidFill>
                  <a:schemeClr val="tx1"/>
                </a:solidFill>
              </a:rPr>
              <a:t>DB</a:t>
            </a:r>
            <a:endParaRPr lang="en-US" sz="15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649224" y="2423160"/>
          <a:ext cx="10890504" cy="914400"/>
        </p:xfrm>
        <a:graphic>
          <a:graphicData uri="http://schemas.openxmlformats.org/drawingml/2006/table">
            <a:tbl>
              <a:tblPr/>
              <a:tblGrid>
                <a:gridCol w="2011680"/>
                <a:gridCol w="1737360"/>
                <a:gridCol w="4480560"/>
                <a:gridCol w="2660904"/>
              </a:tblGrid>
              <a:tr h="438912">
                <a:tc>
                  <a:txBody>
                    <a:bodyPr/>
                    <a:lstStyle/>
                    <a:p>
                      <a:pPr indent="0" marL="0">
                        <a:buNone/>
                      </a:pPr>
                      <a:r>
                        <a:rPr lang="en-US" sz="1200" dirty="0">
                          <a:solidFill>
                            <a:schemeClr val="accent3"/>
                          </a:solidFill>
                        </a:rPr>
                        <a:t>실패</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200" dirty="0">
                          <a:solidFill>
                            <a:schemeClr val="accent3"/>
                          </a:solidFill>
                        </a:rPr>
                        <a:t>어디서</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200" dirty="0">
                          <a:solidFill>
                            <a:schemeClr val="accent3"/>
                          </a:solidFill>
                        </a:rPr>
                        <a:t>예외</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200" dirty="0">
                          <a:solidFill>
                            <a:schemeClr val="accent3"/>
                          </a:solidFill>
                        </a:rPr>
                        <a:t>응답</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38912">
                <a:tc>
                  <a:txBody>
                    <a:bodyPr/>
                    <a:lstStyle/>
                    <a:p>
                      <a:pPr indent="0" marL="0">
                        <a:buNone/>
                      </a:pPr>
                      <a:r>
                        <a:rPr lang="en-US" sz="1500" dirty="0">
                          <a:solidFill>
                            <a:schemeClr val="tx1"/>
                          </a:solidFill>
                        </a:rPr>
                        <a:t>빈 제목</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DTO 검증</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MethodArgumentNotValidException</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400 INVALID_INPUT</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500" dirty="0">
                          <a:solidFill>
                            <a:schemeClr val="tx1"/>
                          </a:solidFill>
                        </a:rPr>
                        <a:t>없는 글</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서비스</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ApiException(POST_NOT_FOUND)</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404</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500" dirty="0">
                          <a:solidFill>
                            <a:schemeClr val="tx1"/>
                          </a:solidFill>
                        </a:rPr>
                        <a:t>제목 중복</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서비스</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ApiException(DUPLICATE_TITLE)</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409</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500" dirty="0">
                          <a:solidFill>
                            <a:schemeClr val="tx1"/>
                          </a:solidFill>
                        </a:rPr>
                        <a:t>예상 못 한 오류</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어디서든</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Exception</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500 + 로그</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20" name="text"/>
          <p:cNvSpPr txBox="1"/>
          <p:nvPr/>
        </p:nvSpPr>
        <p:spPr>
          <a:xfrm>
            <a:off x="649224" y="4892040"/>
            <a:ext cx="10890504" cy="914400"/>
          </a:xfrm>
          <a:prstGeom prst="rect">
            <a:avLst/>
          </a:prstGeom>
          <a:noFill/>
          <a:ln/>
        </p:spPr>
        <p:txBody>
          <a:bodyPr wrap="square" lIns="0" tIns="0" rIns="0" bIns="0" rtlCol="0" anchor="t"/>
          <a:lstStyle/>
          <a:p>
            <a:pPr algn="l" indent="0" marL="0">
              <a:lnSpc>
                <a:spcPct val="115000"/>
              </a:lnSpc>
              <a:spcAft>
                <a:spcPts val="600"/>
              </a:spcAft>
              <a:buNone/>
            </a:pPr>
            <a:r>
              <a:rPr lang="en-US" sz="1800" dirty="0">
                <a:solidFill>
                  <a:schemeClr val="tx1"/>
                </a:solidFill>
              </a:rPr>
              <a:t>모두 </a:t>
            </a:r>
            <a:pPr algn="l" indent="0" marL="0">
              <a:lnSpc>
                <a:spcPct val="115000"/>
              </a:lnSpc>
              <a:spcAft>
                <a:spcPts val="600"/>
              </a:spcAft>
              <a:buNone/>
            </a:pPr>
            <a:r>
              <a:rPr lang="en-US" sz="1700" b="1" dirty="0">
                <a:solidFill>
                  <a:schemeClr val="accent2"/>
                </a:solidFill>
                <a:latin typeface="JetBrains Mono" pitchFamily="34" charset="0"/>
                <a:ea typeface="JetBrains Mono" pitchFamily="34" charset="-122"/>
                <a:cs typeface="JetBrains Mono" pitchFamily="34" charset="-120"/>
              </a:rPr>
              <a:t>@RestControllerAdvice</a:t>
            </a:r>
            <a:pPr algn="l" indent="0" marL="0">
              <a:lnSpc>
                <a:spcPct val="115000"/>
              </a:lnSpc>
              <a:spcAft>
                <a:spcPts val="600"/>
              </a:spcAft>
              <a:buNone/>
            </a:pPr>
            <a:r>
              <a:rPr lang="en-US" sz="1800" dirty="0">
                <a:solidFill>
                  <a:schemeClr val="tx1"/>
                </a:solidFill>
              </a:rPr>
              <a:t> 한 곳에서 같은 형식으로 바꾼다 · 컨트롤러에 try-catch 없음</a:t>
            </a:r>
            <a:endParaRPr lang="en-US" sz="1800" dirty="0"/>
          </a:p>
          <a:p>
            <a:pPr algn="l" indent="0" marL="0">
              <a:lnSpc>
                <a:spcPct val="115000"/>
              </a:lnSpc>
              <a:spcAft>
                <a:spcPts val="600"/>
              </a:spcAft>
              <a:buNone/>
            </a:pPr>
            <a:r>
              <a:rPr lang="en-US" sz="1500" dirty="0">
                <a:solidFill>
                  <a:schemeClr val="accent3"/>
                </a:solidFill>
              </a:rPr>
              <a:t>Security 필터에서 난 예외는 컨트롤러 밖이라 여기서 안 잡힌다</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04 · EXCEPTION · VALIDATION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코드로 보면</a:t>
            </a:r>
            <a:endParaRPr lang="en-US" sz="3200" dirty="0"/>
          </a:p>
        </p:txBody>
      </p:sp>
      <p:sp>
        <p:nvSpPr>
          <p:cNvPr id="5" name="code-window"/>
          <p:cNvSpPr/>
          <p:nvPr/>
        </p:nvSpPr>
        <p:spPr>
          <a:xfrm>
            <a:off x="649224" y="1581912"/>
            <a:ext cx="5330952" cy="4297680"/>
          </a:xfrm>
          <a:prstGeom prst="roundRect">
            <a:avLst>
              <a:gd name="adj" fmla="val 2553"/>
            </a:avLst>
          </a:prstGeom>
          <a:solidFill>
            <a:schemeClr val="tx2"/>
          </a:solidFill>
          <a:ln/>
        </p:spPr>
      </p:sp>
      <p:sp>
        <p:nvSpPr>
          <p:cNvPr id="6" name="code-window-dot"/>
          <p:cNvSpPr/>
          <p:nvPr/>
        </p:nvSpPr>
        <p:spPr>
          <a:xfrm>
            <a:off x="850392" y="1728216"/>
            <a:ext cx="100584" cy="100584"/>
          </a:xfrm>
          <a:prstGeom prst="ellipse">
            <a:avLst/>
          </a:prstGeom>
          <a:solidFill>
            <a:srgbClr val="4A4844"/>
          </a:solidFill>
          <a:ln/>
        </p:spPr>
      </p:sp>
      <p:sp>
        <p:nvSpPr>
          <p:cNvPr id="7" name="code-window-dot"/>
          <p:cNvSpPr/>
          <p:nvPr/>
        </p:nvSpPr>
        <p:spPr>
          <a:xfrm>
            <a:off x="1024128" y="1728216"/>
            <a:ext cx="100584" cy="100584"/>
          </a:xfrm>
          <a:prstGeom prst="ellipse">
            <a:avLst/>
          </a:prstGeom>
          <a:solidFill>
            <a:srgbClr val="4A4844"/>
          </a:solidFill>
          <a:ln/>
        </p:spPr>
      </p:sp>
      <p:sp>
        <p:nvSpPr>
          <p:cNvPr id="8" name="code-window-dot"/>
          <p:cNvSpPr/>
          <p:nvPr/>
        </p:nvSpPr>
        <p:spPr>
          <a:xfrm>
            <a:off x="1197864" y="1728216"/>
            <a:ext cx="100584" cy="100584"/>
          </a:xfrm>
          <a:prstGeom prst="ellipse">
            <a:avLst/>
          </a:prstGeom>
          <a:solidFill>
            <a:srgbClr val="4A4844"/>
          </a:solidFill>
          <a:ln/>
        </p:spPr>
      </p:sp>
      <p:sp>
        <p:nvSpPr>
          <p:cNvPr id="9" name="code-window-label"/>
          <p:cNvSpPr txBox="1"/>
          <p:nvPr/>
        </p:nvSpPr>
        <p:spPr>
          <a:xfrm>
            <a:off x="1472184"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Dtos.java · ErrorCode.java</a:t>
            </a:r>
            <a:endParaRPr lang="en-US" sz="1100" dirty="0"/>
          </a:p>
        </p:txBody>
      </p:sp>
      <p:sp>
        <p:nvSpPr>
          <p:cNvPr id="10" name="code-window-text"/>
          <p:cNvSpPr txBox="1"/>
          <p:nvPr/>
        </p:nvSpPr>
        <p:spPr>
          <a:xfrm>
            <a:off x="905256" y="2020824"/>
            <a:ext cx="4873752" cy="3749040"/>
          </a:xfrm>
          <a:prstGeom prst="rect">
            <a:avLst/>
          </a:prstGeom>
          <a:noFill/>
          <a:ln/>
        </p:spPr>
        <p:txBody>
          <a:bodyPr wrap="square" lIns="0" tIns="0" rIns="0" bIns="0" rtlCol="0" anchor="t"/>
          <a:lstStyle/>
          <a:p>
            <a:pPr algn="l" indent="0" marL="0">
              <a:lnSpc>
                <a:spcPct val="105000"/>
              </a:lnSpc>
              <a:buNone/>
            </a:pPr>
            <a:r>
              <a:rPr lang="en-US" sz="1300" dirty="0">
                <a:solidFill>
                  <a:schemeClr val="bg1"/>
                </a:solidFill>
                <a:latin typeface="JetBrains Mono" pitchFamily="34" charset="0"/>
                <a:ea typeface="JetBrains Mono" pitchFamily="34" charset="-122"/>
                <a:cs typeface="JetBrains Mono" pitchFamily="34" charset="-120"/>
              </a:rPr>
              <a:t>record CreatePostRequest(</a:t>
            </a:r>
            <a:endParaRPr lang="en-US" sz="1300" dirty="0"/>
          </a:p>
          <a:p>
            <a:pPr algn="l" indent="0" marL="0">
              <a:lnSpc>
                <a:spcPct val="105000"/>
              </a:lnSpc>
              <a:buNone/>
            </a:pPr>
            <a:r>
              <a:rPr lang="en-US" sz="1300" dirty="0">
                <a:solidFill>
                  <a:schemeClr val="accent4"/>
                </a:solidFill>
                <a:latin typeface="JetBrains Mono" pitchFamily="34" charset="0"/>
                <a:ea typeface="JetBrains Mono" pitchFamily="34" charset="-122"/>
                <a:cs typeface="JetBrains Mono" pitchFamily="34" charset="-120"/>
              </a:rPr>
              <a:t>  @NotBlank @Size(max = 100) String title,</a:t>
            </a:r>
            <a:endParaRPr lang="en-US" sz="1300" dirty="0"/>
          </a:p>
          <a:p>
            <a:pPr algn="l" indent="0" marL="0">
              <a:lnSpc>
                <a:spcPct val="105000"/>
              </a:lnSpc>
              <a:buNone/>
            </a:pPr>
            <a:r>
              <a:rPr lang="en-US" sz="1300" dirty="0">
                <a:solidFill>
                  <a:schemeClr val="accent4"/>
                </a:solidFill>
                <a:latin typeface="JetBrains Mono" pitchFamily="34" charset="0"/>
                <a:ea typeface="JetBrains Mono" pitchFamily="34" charset="-122"/>
                <a:cs typeface="JetBrains Mono" pitchFamily="34" charset="-120"/>
              </a:rPr>
              <a:t>  @NotBlank String content) {}</a:t>
            </a:r>
            <a:endParaRPr lang="en-US" sz="1300" dirty="0"/>
          </a:p>
          <a:p>
            <a:pPr algn="l" indent="0" marL="0">
              <a:lnSpc>
                <a:spcPct val="105000"/>
              </a:lnSpc>
              <a:buNone/>
            </a:pPr>
            <a:r>
              <a:rPr lang="en-US" sz="1300" dirty="0">
                <a:solidFill>
                  <a:schemeClr val="bg1"/>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chemeClr val="bg1"/>
                </a:solidFill>
                <a:latin typeface="JetBrains Mono" pitchFamily="34" charset="0"/>
                <a:ea typeface="JetBrains Mono" pitchFamily="34" charset="-122"/>
                <a:cs typeface="JetBrains Mono" pitchFamily="34" charset="-120"/>
              </a:rPr>
              <a:t>enum ErrorCode {</a:t>
            </a:r>
            <a:endParaRPr lang="en-US" sz="1300" dirty="0"/>
          </a:p>
          <a:p>
            <a:pPr algn="l" indent="0" marL="0">
              <a:lnSpc>
                <a:spcPct val="105000"/>
              </a:lnSpc>
              <a:buNone/>
            </a:pPr>
            <a:r>
              <a:rPr lang="en-US" sz="1300" dirty="0">
                <a:solidFill>
                  <a:schemeClr val="accent4"/>
                </a:solidFill>
                <a:latin typeface="JetBrains Mono" pitchFamily="34" charset="0"/>
                <a:ea typeface="JetBrains Mono" pitchFamily="34" charset="-122"/>
                <a:cs typeface="JetBrains Mono" pitchFamily="34" charset="-120"/>
              </a:rPr>
              <a:t>  POST_NOT_FOUND(NOT_FOUND, "글이 없음"),</a:t>
            </a:r>
            <a:endParaRPr lang="en-US" sz="1300" dirty="0"/>
          </a:p>
          <a:p>
            <a:pPr algn="l" indent="0" marL="0">
              <a:lnSpc>
                <a:spcPct val="105000"/>
              </a:lnSpc>
              <a:buNone/>
            </a:pPr>
            <a:r>
              <a:rPr lang="en-US" sz="1300" dirty="0">
                <a:solidFill>
                  <a:schemeClr val="accent4"/>
                </a:solidFill>
                <a:latin typeface="JetBrains Mono" pitchFamily="34" charset="0"/>
                <a:ea typeface="JetBrains Mono" pitchFamily="34" charset="-122"/>
                <a:cs typeface="JetBrains Mono" pitchFamily="34" charset="-120"/>
              </a:rPr>
              <a:t>  DUPLICATE_TITLE(CONFLICT, "같은 제목…");</a:t>
            </a:r>
            <a:endParaRPr lang="en-US" sz="1300" dirty="0"/>
          </a:p>
          <a:p>
            <a:pPr algn="l" indent="0" marL="0">
              <a:lnSpc>
                <a:spcPct val="105000"/>
              </a:lnSpc>
              <a:buNone/>
            </a:pPr>
            <a:r>
              <a:rPr lang="en-US" sz="1300" dirty="0">
                <a:solidFill>
                  <a:schemeClr val="bg1"/>
                </a:solidFill>
                <a:latin typeface="JetBrains Mono" pitchFamily="34" charset="0"/>
                <a:ea typeface="JetBrains Mono" pitchFamily="34" charset="-122"/>
                <a:cs typeface="JetBrains Mono" pitchFamily="34" charset="-120"/>
              </a:rPr>
              <a:t>}</a:t>
            </a:r>
            <a:endParaRPr lang="en-US" sz="1300" dirty="0"/>
          </a:p>
          <a:p>
            <a:pPr algn="l" indent="0" marL="0">
              <a:lnSpc>
                <a:spcPct val="105000"/>
              </a:lnSpc>
              <a:buNone/>
            </a:pPr>
            <a:r>
              <a:rPr lang="en-US" sz="1300" dirty="0">
                <a:solidFill>
                  <a:schemeClr val="bg1"/>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rgbClr val="A09D96"/>
                </a:solidFill>
                <a:latin typeface="JetBrains Mono" pitchFamily="34" charset="0"/>
                <a:ea typeface="JetBrains Mono" pitchFamily="34" charset="-122"/>
                <a:cs typeface="JetBrains Mono" pitchFamily="34" charset="-120"/>
              </a:rPr>
              <a:t>// 서비스</a:t>
            </a:r>
            <a:endParaRPr lang="en-US" sz="1300" dirty="0"/>
          </a:p>
          <a:p>
            <a:pPr algn="l" indent="0" marL="0">
              <a:lnSpc>
                <a:spcPct val="105000"/>
              </a:lnSpc>
              <a:buNone/>
            </a:pPr>
            <a:r>
              <a:rPr lang="en-US" sz="1300" dirty="0">
                <a:solidFill>
                  <a:schemeClr val="bg1"/>
                </a:solidFill>
                <a:latin typeface="JetBrains Mono" pitchFamily="34" charset="0"/>
                <a:ea typeface="JetBrains Mono" pitchFamily="34" charset="-122"/>
                <a:cs typeface="JetBrains Mono" pitchFamily="34" charset="-120"/>
              </a:rPr>
              <a:t>throw new ApiException(POST_NOT_FOUND, …);</a:t>
            </a:r>
            <a:endParaRPr lang="en-US" sz="1300" dirty="0"/>
          </a:p>
        </p:txBody>
      </p:sp>
      <p:sp>
        <p:nvSpPr>
          <p:cNvPr id="11" name="code-window"/>
          <p:cNvSpPr/>
          <p:nvPr/>
        </p:nvSpPr>
        <p:spPr>
          <a:xfrm>
            <a:off x="6208776" y="1581912"/>
            <a:ext cx="5330952" cy="4297680"/>
          </a:xfrm>
          <a:prstGeom prst="roundRect">
            <a:avLst>
              <a:gd name="adj" fmla="val 2553"/>
            </a:avLst>
          </a:prstGeom>
          <a:solidFill>
            <a:schemeClr val="tx2"/>
          </a:solidFill>
          <a:ln/>
        </p:spPr>
      </p:sp>
      <p:sp>
        <p:nvSpPr>
          <p:cNvPr id="12" name="code-window-dot"/>
          <p:cNvSpPr/>
          <p:nvPr/>
        </p:nvSpPr>
        <p:spPr>
          <a:xfrm>
            <a:off x="6409944" y="1728216"/>
            <a:ext cx="100584" cy="100584"/>
          </a:xfrm>
          <a:prstGeom prst="ellipse">
            <a:avLst/>
          </a:prstGeom>
          <a:solidFill>
            <a:srgbClr val="4A4844"/>
          </a:solidFill>
          <a:ln/>
        </p:spPr>
      </p:sp>
      <p:sp>
        <p:nvSpPr>
          <p:cNvPr id="13" name="code-window-dot"/>
          <p:cNvSpPr/>
          <p:nvPr/>
        </p:nvSpPr>
        <p:spPr>
          <a:xfrm>
            <a:off x="6583680" y="1728216"/>
            <a:ext cx="100584" cy="100584"/>
          </a:xfrm>
          <a:prstGeom prst="ellipse">
            <a:avLst/>
          </a:prstGeom>
          <a:solidFill>
            <a:srgbClr val="4A4844"/>
          </a:solidFill>
          <a:ln/>
        </p:spPr>
      </p:sp>
      <p:sp>
        <p:nvSpPr>
          <p:cNvPr id="14" name="code-window-dot"/>
          <p:cNvSpPr/>
          <p:nvPr/>
        </p:nvSpPr>
        <p:spPr>
          <a:xfrm>
            <a:off x="6757416" y="1728216"/>
            <a:ext cx="100584" cy="100584"/>
          </a:xfrm>
          <a:prstGeom prst="ellipse">
            <a:avLst/>
          </a:prstGeom>
          <a:solidFill>
            <a:srgbClr val="4A4844"/>
          </a:solidFill>
          <a:ln/>
        </p:spPr>
      </p:sp>
      <p:sp>
        <p:nvSpPr>
          <p:cNvPr id="15" name="code-window-label"/>
          <p:cNvSpPr txBox="1"/>
          <p:nvPr/>
        </p:nvSpPr>
        <p:spPr>
          <a:xfrm>
            <a:off x="7031736"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GlobalExceptionHandler.java</a:t>
            </a:r>
            <a:endParaRPr lang="en-US" sz="1100" dirty="0"/>
          </a:p>
        </p:txBody>
      </p:sp>
      <p:sp>
        <p:nvSpPr>
          <p:cNvPr id="16" name="code-window-text"/>
          <p:cNvSpPr txBox="1"/>
          <p:nvPr/>
        </p:nvSpPr>
        <p:spPr>
          <a:xfrm>
            <a:off x="6464808" y="2020824"/>
            <a:ext cx="4873752" cy="3749040"/>
          </a:xfrm>
          <a:prstGeom prst="rect">
            <a:avLst/>
          </a:prstGeom>
          <a:noFill/>
          <a:ln/>
        </p:spPr>
        <p:txBody>
          <a:bodyPr wrap="square" lIns="0" tIns="0" rIns="0" bIns="0" rtlCol="0" anchor="t"/>
          <a:lstStyle/>
          <a:p>
            <a:pPr algn="l" indent="0" marL="0">
              <a:lnSpc>
                <a:spcPct val="105000"/>
              </a:lnSpc>
              <a:buNone/>
            </a:pPr>
            <a:r>
              <a:rPr lang="en-US" sz="1300" dirty="0">
                <a:solidFill>
                  <a:schemeClr val="accent4"/>
                </a:solidFill>
                <a:latin typeface="JetBrains Mono" pitchFamily="34" charset="0"/>
                <a:ea typeface="JetBrains Mono" pitchFamily="34" charset="-122"/>
                <a:cs typeface="JetBrains Mono" pitchFamily="34" charset="-120"/>
              </a:rPr>
              <a:t>@RestControllerAdvice</a:t>
            </a:r>
            <a:endParaRPr lang="en-US" sz="1300" dirty="0"/>
          </a:p>
          <a:p>
            <a:pPr algn="l" indent="0" marL="0">
              <a:lnSpc>
                <a:spcPct val="105000"/>
              </a:lnSpc>
              <a:buNone/>
            </a:pPr>
            <a:r>
              <a:rPr lang="en-US" sz="1300" dirty="0">
                <a:solidFill>
                  <a:schemeClr val="bg1"/>
                </a:solidFill>
                <a:latin typeface="JetBrains Mono" pitchFamily="34" charset="0"/>
                <a:ea typeface="JetBrains Mono" pitchFamily="34" charset="-122"/>
                <a:cs typeface="JetBrains Mono" pitchFamily="34" charset="-120"/>
              </a:rPr>
              <a:t>class GlobalExceptionHandler {</a:t>
            </a:r>
            <a:endParaRPr lang="en-US" sz="1300" dirty="0"/>
          </a:p>
          <a:p>
            <a:pPr algn="l" indent="0" marL="0">
              <a:lnSpc>
                <a:spcPct val="105000"/>
              </a:lnSpc>
              <a:buNone/>
            </a:pPr>
            <a:r>
              <a:rPr lang="en-US" sz="1300" dirty="0">
                <a:solidFill>
                  <a:schemeClr val="bg1"/>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chemeClr val="accent4"/>
                </a:solidFill>
                <a:latin typeface="JetBrains Mono" pitchFamily="34" charset="0"/>
                <a:ea typeface="JetBrains Mono" pitchFamily="34" charset="-122"/>
                <a:cs typeface="JetBrains Mono" pitchFamily="34" charset="-120"/>
              </a:rPr>
              <a:t>  @ExceptionHandler(ApiException.class)</a:t>
            </a:r>
            <a:endParaRPr lang="en-US" sz="1300" dirty="0"/>
          </a:p>
          <a:p>
            <a:pPr algn="l" indent="0" marL="0">
              <a:lnSpc>
                <a:spcPct val="105000"/>
              </a:lnSpc>
              <a:buNone/>
            </a:pPr>
            <a:r>
              <a:rPr lang="en-US" sz="1300" dirty="0">
                <a:solidFill>
                  <a:schemeClr val="bg1"/>
                </a:solidFill>
                <a:latin typeface="JetBrains Mono" pitchFamily="34" charset="0"/>
                <a:ea typeface="JetBrains Mono" pitchFamily="34" charset="-122"/>
                <a:cs typeface="JetBrains Mono" pitchFamily="34" charset="-120"/>
              </a:rPr>
              <a:t>  ResponseEntity&lt;ProblemDetail&gt; handleApi(…) {</a:t>
            </a:r>
            <a:endParaRPr lang="en-US" sz="1300" dirty="0"/>
          </a:p>
          <a:p>
            <a:pPr algn="l" indent="0" marL="0">
              <a:lnSpc>
                <a:spcPct val="105000"/>
              </a:lnSpc>
              <a:buNone/>
            </a:pPr>
            <a:r>
              <a:rPr lang="en-US" sz="1300" dirty="0">
                <a:solidFill>
                  <a:schemeClr val="bg1"/>
                </a:solidFill>
                <a:latin typeface="JetBrains Mono" pitchFamily="34" charset="0"/>
                <a:ea typeface="JetBrains Mono" pitchFamily="34" charset="-122"/>
                <a:cs typeface="JetBrains Mono" pitchFamily="34" charset="-120"/>
              </a:rPr>
              <a:t>    body = forStatusAndDetail(status, …);</a:t>
            </a:r>
            <a:endParaRPr lang="en-US" sz="1300" dirty="0"/>
          </a:p>
          <a:p>
            <a:pPr algn="l" indent="0" marL="0">
              <a:lnSpc>
                <a:spcPct val="105000"/>
              </a:lnSpc>
              <a:buNone/>
            </a:pPr>
            <a:r>
              <a:rPr lang="en-US" sz="1300" dirty="0">
                <a:solidFill>
                  <a:schemeClr val="bg1"/>
                </a:solidFill>
                <a:latin typeface="JetBrains Mono" pitchFamily="34" charset="0"/>
                <a:ea typeface="JetBrains Mono" pitchFamily="34" charset="-122"/>
                <a:cs typeface="JetBrains Mono" pitchFamily="34" charset="-120"/>
              </a:rPr>
              <a:t>    body.setProperty("code", code);</a:t>
            </a:r>
            <a:endParaRPr lang="en-US" sz="1300" dirty="0"/>
          </a:p>
          <a:p>
            <a:pPr algn="l" indent="0" marL="0">
              <a:lnSpc>
                <a:spcPct val="105000"/>
              </a:lnSpc>
              <a:buNone/>
            </a:pPr>
            <a:r>
              <a:rPr lang="en-US" sz="1300" dirty="0">
                <a:solidFill>
                  <a:schemeClr val="bg1"/>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chemeClr val="bg1"/>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chemeClr val="accent4"/>
                </a:solidFill>
                <a:latin typeface="JetBrains Mono" pitchFamily="34" charset="0"/>
                <a:ea typeface="JetBrains Mono" pitchFamily="34" charset="-122"/>
                <a:cs typeface="JetBrains Mono" pitchFamily="34" charset="-120"/>
              </a:rPr>
              <a:t>  @ExceptionHandler(</a:t>
            </a:r>
            <a:endParaRPr lang="en-US" sz="1300" dirty="0"/>
          </a:p>
          <a:p>
            <a:pPr algn="l" indent="0" marL="0">
              <a:lnSpc>
                <a:spcPct val="105000"/>
              </a:lnSpc>
              <a:buNone/>
            </a:pPr>
            <a:r>
              <a:rPr lang="en-US" sz="1300" dirty="0">
                <a:solidFill>
                  <a:schemeClr val="accent4"/>
                </a:solidFill>
                <a:latin typeface="JetBrains Mono" pitchFamily="34" charset="0"/>
                <a:ea typeface="JetBrains Mono" pitchFamily="34" charset="-122"/>
                <a:cs typeface="JetBrains Mono" pitchFamily="34" charset="-120"/>
              </a:rPr>
              <a:t>    MethodArgumentNotValidException.class)</a:t>
            </a:r>
            <a:endParaRPr lang="en-US" sz="1300" dirty="0"/>
          </a:p>
          <a:p>
            <a:pPr algn="l" indent="0" marL="0">
              <a:lnSpc>
                <a:spcPct val="105000"/>
              </a:lnSpc>
              <a:buNone/>
            </a:pPr>
            <a:r>
              <a:rPr lang="en-US" sz="1300" dirty="0">
                <a:solidFill>
                  <a:srgbClr val="A09D96"/>
                </a:solidFill>
                <a:latin typeface="JetBrains Mono" pitchFamily="34" charset="0"/>
                <a:ea typeface="JetBrains Mono" pitchFamily="34" charset="-122"/>
                <a:cs typeface="JetBrains Mono" pitchFamily="34" charset="-120"/>
              </a:rPr>
              <a:t>  … // 400 + 필드별 errors</a:t>
            </a:r>
            <a:endParaRPr lang="en-US" sz="1300" dirty="0"/>
          </a:p>
          <a:p>
            <a:pPr algn="l" indent="0" marL="0">
              <a:lnSpc>
                <a:spcPct val="105000"/>
              </a:lnSpc>
              <a:buNone/>
            </a:pPr>
            <a:r>
              <a:rPr lang="en-US" sz="1300" dirty="0">
                <a:solidFill>
                  <a:schemeClr val="bg1"/>
                </a:solidFill>
                <a:latin typeface="JetBrains Mono" pitchFamily="34" charset="0"/>
                <a:ea typeface="JetBrains Mono" pitchFamily="34" charset="-122"/>
                <a:cs typeface="JetBrains Mono" pitchFamily="34" charset="-120"/>
              </a:rPr>
              <a:t>}</a:t>
            </a:r>
            <a:endParaRPr lang="en-US" sz="13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lIns="0" tIns="0" rIns="0" bIns="0" rtlCol="0" anchor="b"/>
          <a:lstStyle/>
          <a:p>
            <a:pPr algn="l" indent="0" marL="0">
              <a:buNone/>
            </a:pPr>
            <a:r>
              <a:rPr lang="en-US" sz="6000" dirty="0">
                <a:solidFill>
                  <a:schemeClr val="accent1"/>
                </a:solidFill>
                <a:latin typeface="+mj-lt" pitchFamily="34" charset="0"/>
                <a:ea typeface="+mj-lt" pitchFamily="34" charset="-122"/>
                <a:cs typeface="+mj-lt" pitchFamily="34" charset="-120"/>
              </a:rPr>
              <a:t>05</a:t>
            </a: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lIns="0" tIns="0" rIns="0" bIns="0" rtlCol="0" anchor="t"/>
          <a:lstStyle/>
          <a:p>
            <a:pPr algn="l" indent="0" marL="0">
              <a:buNone/>
            </a:pPr>
            <a:r>
              <a:rPr lang="en-US" sz="4000" dirty="0">
                <a:solidFill>
                  <a:schemeClr val="bg1"/>
                </a:solidFill>
              </a:rPr>
              <a:t>페이징 · 검색 · 정렬</a:t>
            </a: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lIns="0" tIns="0" rIns="0" bIns="0" rtlCol="0" anchor="t"/>
          <a:lstStyle/>
          <a:p>
            <a:pPr algn="l" indent="0" marL="0">
              <a:buNone/>
            </a:pPr>
            <a:r>
              <a:rPr lang="en-US" sz="2000" dirty="0">
                <a:solidFill>
                  <a:srgbClr val="A09D96"/>
                </a:solidFill>
              </a:rPr>
              <a:t>조건은 쿼리로 받고, 한도는 서버가 정한다</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05 · PAGINATION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목록 요청은 쿼리로</a:t>
            </a:r>
            <a:endParaRPr lang="en-US" sz="3200" dirty="0"/>
          </a:p>
        </p:txBody>
      </p:sp>
      <p:sp>
        <p:nvSpPr>
          <p:cNvPr id="5" name="code-inline"/>
          <p:cNvSpPr/>
          <p:nvPr/>
        </p:nvSpPr>
        <p:spPr>
          <a:xfrm>
            <a:off x="649224" y="1581912"/>
            <a:ext cx="10890504" cy="548640"/>
          </a:xfrm>
          <a:prstGeom prst="roundRect">
            <a:avLst>
              <a:gd name="adj" fmla="val 20000"/>
            </a:avLst>
          </a:prstGeom>
          <a:solidFill>
            <a:schemeClr val="bg2"/>
          </a:solidFill>
          <a:ln/>
        </p:spPr>
      </p:sp>
      <p:sp>
        <p:nvSpPr>
          <p:cNvPr id="6" name="code-inline-text"/>
          <p:cNvSpPr txBox="1"/>
          <p:nvPr/>
        </p:nvSpPr>
        <p:spPr>
          <a:xfrm>
            <a:off x="877824" y="1581912"/>
            <a:ext cx="10433304" cy="548640"/>
          </a:xfrm>
          <a:prstGeom prst="rect">
            <a:avLst/>
          </a:prstGeom>
          <a:noFill/>
          <a:ln/>
        </p:spPr>
        <p:txBody>
          <a:bodyPr wrap="square" lIns="0" tIns="0" rIns="0" bIns="0" rtlCol="0" anchor="ctr"/>
          <a:lstStyle/>
          <a:p>
            <a:pPr algn="l" indent="0" marL="0">
              <a:lnSpc>
                <a:spcPct val="100000"/>
              </a:lnSpc>
              <a:buNone/>
            </a:pPr>
            <a:r>
              <a:rPr lang="en-US" sz="1400" dirty="0">
                <a:solidFill>
                  <a:schemeClr val="accent2"/>
                </a:solidFill>
                <a:latin typeface="JetBrains Mono" pitchFamily="34" charset="0"/>
                <a:ea typeface="JetBrains Mono" pitchFamily="34" charset="-122"/>
                <a:cs typeface="JetBrains Mono" pitchFamily="34" charset="-120"/>
              </a:rPr>
              <a:t>GET /api/v1/posts?topic=TRAVEL&amp;keyword=제주&amp;sort=createdAt,desc&amp;sort=id,desc&amp;page=0&amp;size=20</a:t>
            </a:r>
            <a:endParaRPr lang="en-US" sz="14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9224" y="2377440"/>
          <a:ext cx="10890504" cy="914400"/>
        </p:xfrm>
        <a:graphic>
          <a:graphicData uri="http://schemas.openxmlformats.org/drawingml/2006/table">
            <a:tbl>
              <a:tblPr/>
              <a:tblGrid>
                <a:gridCol w="1737360"/>
                <a:gridCol w="3474720"/>
                <a:gridCol w="5678424"/>
              </a:tblGrid>
              <a:tr h="457200">
                <a:tc>
                  <a:txBody>
                    <a:bodyPr/>
                    <a:lstStyle/>
                    <a:p>
                      <a:pPr indent="0" marL="0">
                        <a:buNone/>
                      </a:pPr>
                      <a:r>
                        <a:rPr lang="en-US" sz="1400" dirty="0">
                          <a:solidFill>
                            <a:schemeClr val="accent3"/>
                          </a:solidFill>
                        </a:rPr>
                        <a:t>종류</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파라미터</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규칙</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57200">
                <a:tc>
                  <a:txBody>
                    <a:bodyPr/>
                    <a:lstStyle/>
                    <a:p>
                      <a:pPr indent="0" marL="0">
                        <a:buNone/>
                      </a:pPr>
                      <a:r>
                        <a:rPr lang="en-US" sz="1700" dirty="0">
                          <a:solidFill>
                            <a:schemeClr val="tx1"/>
                          </a:solidFill>
                        </a:rPr>
                        <a:t>필터</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topic=TRAVEL</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값이 같은 것만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57200">
                <a:tc>
                  <a:txBody>
                    <a:bodyPr/>
                    <a:lstStyle/>
                    <a:p>
                      <a:pPr indent="0" marL="0">
                        <a:buNone/>
                      </a:pPr>
                      <a:r>
                        <a:rPr lang="en-US" sz="1700" dirty="0">
                          <a:solidFill>
                            <a:schemeClr val="tx1"/>
                          </a:solidFill>
                        </a:rPr>
                        <a:t>검색</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keyword=제주</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제목 · 본문에 들어 있는 것</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57200">
                <a:tc>
                  <a:txBody>
                    <a:bodyPr/>
                    <a:lstStyle/>
                    <a:p>
                      <a:pPr indent="0" marL="0">
                        <a:buNone/>
                      </a:pPr>
                      <a:r>
                        <a:rPr lang="en-US" sz="1700" dirty="0">
                          <a:solidFill>
                            <a:schemeClr val="tx1"/>
                          </a:solidFill>
                        </a:rPr>
                        <a:t>정렬</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sort=필드,방향</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여러 개 가능, 마지막은 id로 동점 정리</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57200">
                <a:tc>
                  <a:txBody>
                    <a:bodyPr/>
                    <a:lstStyle/>
                    <a:p>
                      <a:pPr indent="0" marL="0">
                        <a:buNone/>
                      </a:pPr>
                      <a:r>
                        <a:rPr lang="en-US" sz="1700" dirty="0">
                          <a:solidFill>
                            <a:schemeClr val="tx1"/>
                          </a:solidFill>
                        </a:rPr>
                        <a:t>페이징</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page=0&amp;size=20</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0부터인지 1부터인지 문서에 적는다</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8" name="card"/>
          <p:cNvSpPr/>
          <p:nvPr/>
        </p:nvSpPr>
        <p:spPr>
          <a:xfrm>
            <a:off x="649224" y="5074920"/>
            <a:ext cx="10890504" cy="777240"/>
          </a:xfrm>
          <a:prstGeom prst="roundRect">
            <a:avLst>
              <a:gd name="adj" fmla="val 14118"/>
            </a:avLst>
          </a:prstGeom>
          <a:solidFill>
            <a:schemeClr val="bg2"/>
          </a:solidFill>
          <a:ln/>
        </p:spPr>
      </p:sp>
      <p:sp>
        <p:nvSpPr>
          <p:cNvPr id="9" name="text"/>
          <p:cNvSpPr txBox="1"/>
          <p:nvPr/>
        </p:nvSpPr>
        <p:spPr>
          <a:xfrm>
            <a:off x="969264" y="5276088"/>
            <a:ext cx="10250424" cy="411480"/>
          </a:xfrm>
          <a:prstGeom prst="rect">
            <a:avLst/>
          </a:prstGeom>
          <a:noFill/>
          <a:ln/>
        </p:spPr>
        <p:txBody>
          <a:bodyPr wrap="square" lIns="0" tIns="0" rIns="0" bIns="0" rtlCol="0" anchor="ctr"/>
          <a:lstStyle/>
          <a:p>
            <a:pPr algn="l" indent="0" marL="0">
              <a:lnSpc>
                <a:spcPct val="115000"/>
              </a:lnSpc>
              <a:spcAft>
                <a:spcPts val="600"/>
              </a:spcAft>
              <a:buNone/>
            </a:pPr>
            <a:r>
              <a:rPr lang="en-US" sz="1800" b="1" dirty="0">
                <a:solidFill>
                  <a:schemeClr val="tx1"/>
                </a:solidFill>
              </a:rPr>
              <a:t>서버가 정할 것  </a:t>
            </a:r>
            <a:pPr algn="l" indent="0" marL="0">
              <a:lnSpc>
                <a:spcPct val="115000"/>
              </a:lnSpc>
              <a:spcAft>
                <a:spcPts val="600"/>
              </a:spcAft>
              <a:buNone/>
            </a:pPr>
            <a:r>
              <a:rPr lang="en-US" sz="1800" dirty="0">
                <a:solidFill>
                  <a:srgbClr val="3D3D3A"/>
                </a:solidFill>
              </a:rPr>
              <a:t>size 최댓값 · 정렬 허용 필드 · 기본 정렬 (최신순 20개)</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05 · PAGINATION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목록 응답에는 페이지 정보를 같이</a:t>
            </a:r>
            <a:endParaRPr lang="en-US" sz="3200" dirty="0"/>
          </a:p>
        </p:txBody>
      </p:sp>
      <p:sp>
        <p:nvSpPr>
          <p:cNvPr id="5" name="code-window"/>
          <p:cNvSpPr/>
          <p:nvPr/>
        </p:nvSpPr>
        <p:spPr>
          <a:xfrm>
            <a:off x="649224" y="1581912"/>
            <a:ext cx="5120640" cy="4251960"/>
          </a:xfrm>
          <a:prstGeom prst="roundRect">
            <a:avLst>
              <a:gd name="adj" fmla="val 2581"/>
            </a:avLst>
          </a:prstGeom>
          <a:solidFill>
            <a:schemeClr val="tx2"/>
          </a:solidFill>
          <a:ln/>
        </p:spPr>
      </p:sp>
      <p:sp>
        <p:nvSpPr>
          <p:cNvPr id="6" name="code-window-dot"/>
          <p:cNvSpPr/>
          <p:nvPr/>
        </p:nvSpPr>
        <p:spPr>
          <a:xfrm>
            <a:off x="850392" y="1728216"/>
            <a:ext cx="100584" cy="100584"/>
          </a:xfrm>
          <a:prstGeom prst="ellipse">
            <a:avLst/>
          </a:prstGeom>
          <a:solidFill>
            <a:srgbClr val="4A4844"/>
          </a:solidFill>
          <a:ln/>
        </p:spPr>
      </p:sp>
      <p:sp>
        <p:nvSpPr>
          <p:cNvPr id="7" name="code-window-dot"/>
          <p:cNvSpPr/>
          <p:nvPr/>
        </p:nvSpPr>
        <p:spPr>
          <a:xfrm>
            <a:off x="1024128" y="1728216"/>
            <a:ext cx="100584" cy="100584"/>
          </a:xfrm>
          <a:prstGeom prst="ellipse">
            <a:avLst/>
          </a:prstGeom>
          <a:solidFill>
            <a:srgbClr val="4A4844"/>
          </a:solidFill>
          <a:ln/>
        </p:spPr>
      </p:sp>
      <p:sp>
        <p:nvSpPr>
          <p:cNvPr id="8" name="code-window-dot"/>
          <p:cNvSpPr/>
          <p:nvPr/>
        </p:nvSpPr>
        <p:spPr>
          <a:xfrm>
            <a:off x="1197864" y="1728216"/>
            <a:ext cx="100584" cy="100584"/>
          </a:xfrm>
          <a:prstGeom prst="ellipse">
            <a:avLst/>
          </a:prstGeom>
          <a:solidFill>
            <a:srgbClr val="4A4844"/>
          </a:solidFill>
          <a:ln/>
        </p:spPr>
      </p:sp>
      <p:sp>
        <p:nvSpPr>
          <p:cNvPr id="9" name="code-window-label"/>
          <p:cNvSpPr txBox="1"/>
          <p:nvPr/>
        </p:nvSpPr>
        <p:spPr>
          <a:xfrm>
            <a:off x="1472184" y="1673352"/>
            <a:ext cx="4114800"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응답 (예시)</a:t>
            </a:r>
            <a:endParaRPr lang="en-US" sz="1100" dirty="0"/>
          </a:p>
        </p:txBody>
      </p:sp>
      <p:sp>
        <p:nvSpPr>
          <p:cNvPr id="10" name="code-window-text"/>
          <p:cNvSpPr txBox="1"/>
          <p:nvPr/>
        </p:nvSpPr>
        <p:spPr>
          <a:xfrm>
            <a:off x="905256" y="2020824"/>
            <a:ext cx="4663440" cy="3703320"/>
          </a:xfrm>
          <a:prstGeom prst="rect">
            <a:avLst/>
          </a:prstGeom>
          <a:noFill/>
          <a:ln/>
        </p:spPr>
        <p:txBody>
          <a:bodyPr wrap="square" lIns="0" tIns="0" rIns="0" bIns="0" rtlCol="0" anchor="t"/>
          <a:lstStyle/>
          <a:p>
            <a:pPr algn="l" indent="0" marL="0">
              <a:lnSpc>
                <a:spcPct val="105000"/>
              </a:lnSpc>
              <a:buNone/>
            </a:pPr>
            <a:r>
              <a:rPr lang="en-US" sz="1400" dirty="0">
                <a:solidFill>
                  <a:schemeClr val="bg1"/>
                </a:solidFill>
                <a:latin typeface="JetBrains Mono" pitchFamily="34" charset="0"/>
                <a:ea typeface="JetBrains Mono" pitchFamily="34" charset="-122"/>
                <a:cs typeface="JetBrains Mono" pitchFamily="34" charset="-120"/>
              </a:rPr>
              <a:t>{</a:t>
            </a:r>
            <a:endParaRPr lang="en-US" sz="1400" dirty="0"/>
          </a:p>
          <a:p>
            <a:pPr algn="l" indent="0" marL="0">
              <a:lnSpc>
                <a:spcPct val="105000"/>
              </a:lnSpc>
              <a:buNone/>
            </a:pPr>
            <a:r>
              <a:rPr lang="en-US" sz="1400" dirty="0">
                <a:solidFill>
                  <a:schemeClr val="accent4"/>
                </a:solidFill>
                <a:latin typeface="JetBrains Mono" pitchFamily="34" charset="0"/>
                <a:ea typeface="JetBrains Mono" pitchFamily="34" charset="-122"/>
                <a:cs typeface="JetBrains Mono" pitchFamily="34" charset="-120"/>
              </a:rPr>
              <a:t>  "content": [</a:t>
            </a:r>
            <a:endParaRPr lang="en-US" sz="1400" dirty="0"/>
          </a:p>
          <a:p>
            <a:pPr algn="l" indent="0" marL="0">
              <a:lnSpc>
                <a:spcPct val="105000"/>
              </a:lnSpc>
              <a:buNone/>
            </a:pPr>
            <a:r>
              <a:rPr lang="en-US" sz="1400" dirty="0">
                <a:solidFill>
                  <a:schemeClr val="bg1"/>
                </a:solidFill>
                <a:latin typeface="JetBrains Mono" pitchFamily="34" charset="0"/>
                <a:ea typeface="JetBrains Mono" pitchFamily="34" charset="-122"/>
                <a:cs typeface="JetBrains Mono" pitchFamily="34" charset="-120"/>
              </a:rPr>
              <a:t>    { "id": 43, "title": "부산 맛집" },</a:t>
            </a:r>
            <a:endParaRPr lang="en-US" sz="1400" dirty="0"/>
          </a:p>
          <a:p>
            <a:pPr algn="l" indent="0" marL="0">
              <a:lnSpc>
                <a:spcPct val="105000"/>
              </a:lnSpc>
              <a:buNone/>
            </a:pPr>
            <a:r>
              <a:rPr lang="en-US" sz="1400" dirty="0">
                <a:solidFill>
                  <a:schemeClr val="bg1"/>
                </a:solidFill>
                <a:latin typeface="JetBrains Mono" pitchFamily="34" charset="0"/>
                <a:ea typeface="JetBrains Mono" pitchFamily="34" charset="-122"/>
                <a:cs typeface="JetBrains Mono" pitchFamily="34" charset="-120"/>
              </a:rPr>
              <a:t>    { "id": 42, "title": "제주 여행" }, …</a:t>
            </a:r>
            <a:endParaRPr lang="en-US" sz="1400" dirty="0"/>
          </a:p>
          <a:p>
            <a:pPr algn="l" indent="0" marL="0">
              <a:lnSpc>
                <a:spcPct val="105000"/>
              </a:lnSpc>
              <a:buNone/>
            </a:pPr>
            <a:r>
              <a:rPr lang="en-US" sz="1400" dirty="0">
                <a:solidFill>
                  <a:schemeClr val="accent4"/>
                </a:solidFill>
                <a:latin typeface="JetBrains Mono" pitchFamily="34" charset="0"/>
                <a:ea typeface="JetBrains Mono" pitchFamily="34" charset="-122"/>
                <a:cs typeface="JetBrains Mono" pitchFamily="34" charset="-120"/>
              </a:rPr>
              <a:t>  ],</a:t>
            </a:r>
            <a:endParaRPr lang="en-US" sz="1400" dirty="0"/>
          </a:p>
          <a:p>
            <a:pPr algn="l" indent="0" marL="0">
              <a:lnSpc>
                <a:spcPct val="105000"/>
              </a:lnSpc>
              <a:buNone/>
            </a:pPr>
            <a:r>
              <a:rPr lang="en-US" sz="1400" dirty="0">
                <a:solidFill>
                  <a:schemeClr val="accent4"/>
                </a:solidFill>
                <a:latin typeface="JetBrains Mono" pitchFamily="34" charset="0"/>
                <a:ea typeface="JetBrains Mono" pitchFamily="34" charset="-122"/>
                <a:cs typeface="JetBrains Mono" pitchFamily="34" charset="-120"/>
              </a:rPr>
              <a:t>  "page": {</a:t>
            </a:r>
            <a:endParaRPr lang="en-US" sz="1400" dirty="0"/>
          </a:p>
          <a:p>
            <a:pPr algn="l" indent="0" marL="0">
              <a:lnSpc>
                <a:spcPct val="105000"/>
              </a:lnSpc>
              <a:buNone/>
            </a:pPr>
            <a:r>
              <a:rPr lang="en-US" sz="1400" dirty="0">
                <a:solidFill>
                  <a:schemeClr val="bg1"/>
                </a:solidFill>
                <a:latin typeface="JetBrains Mono" pitchFamily="34" charset="0"/>
                <a:ea typeface="JetBrains Mono" pitchFamily="34" charset="-122"/>
                <a:cs typeface="JetBrains Mono" pitchFamily="34" charset="-120"/>
              </a:rPr>
              <a:t>    "number": 0,</a:t>
            </a:r>
            <a:endParaRPr lang="en-US" sz="1400" dirty="0"/>
          </a:p>
          <a:p>
            <a:pPr algn="l" indent="0" marL="0">
              <a:lnSpc>
                <a:spcPct val="105000"/>
              </a:lnSpc>
              <a:buNone/>
            </a:pPr>
            <a:r>
              <a:rPr lang="en-US" sz="1400" dirty="0">
                <a:solidFill>
                  <a:schemeClr val="bg1"/>
                </a:solidFill>
                <a:latin typeface="JetBrains Mono" pitchFamily="34" charset="0"/>
                <a:ea typeface="JetBrains Mono" pitchFamily="34" charset="-122"/>
                <a:cs typeface="JetBrains Mono" pitchFamily="34" charset="-120"/>
              </a:rPr>
              <a:t>    "size": 20,</a:t>
            </a:r>
            <a:endParaRPr lang="en-US" sz="1400" dirty="0"/>
          </a:p>
          <a:p>
            <a:pPr algn="l" indent="0" marL="0">
              <a:lnSpc>
                <a:spcPct val="105000"/>
              </a:lnSpc>
              <a:buNone/>
            </a:pPr>
            <a:r>
              <a:rPr lang="en-US" sz="1400" dirty="0">
                <a:solidFill>
                  <a:schemeClr val="bg1"/>
                </a:solidFill>
                <a:latin typeface="JetBrains Mono" pitchFamily="34" charset="0"/>
                <a:ea typeface="JetBrains Mono" pitchFamily="34" charset="-122"/>
                <a:cs typeface="JetBrains Mono" pitchFamily="34" charset="-120"/>
              </a:rPr>
              <a:t>    "totalElements": 57,</a:t>
            </a:r>
            <a:endParaRPr lang="en-US" sz="1400" dirty="0"/>
          </a:p>
          <a:p>
            <a:pPr algn="l" indent="0" marL="0">
              <a:lnSpc>
                <a:spcPct val="105000"/>
              </a:lnSpc>
              <a:buNone/>
            </a:pPr>
            <a:r>
              <a:rPr lang="en-US" sz="1400" dirty="0">
                <a:solidFill>
                  <a:schemeClr val="bg1"/>
                </a:solidFill>
                <a:latin typeface="JetBrains Mono" pitchFamily="34" charset="0"/>
                <a:ea typeface="JetBrains Mono" pitchFamily="34" charset="-122"/>
                <a:cs typeface="JetBrains Mono" pitchFamily="34" charset="-120"/>
              </a:rPr>
              <a:t>    "totalPages": 3</a:t>
            </a:r>
            <a:endParaRPr lang="en-US" sz="1400" dirty="0"/>
          </a:p>
          <a:p>
            <a:pPr algn="l" indent="0" marL="0">
              <a:lnSpc>
                <a:spcPct val="105000"/>
              </a:lnSpc>
              <a:buNone/>
            </a:pPr>
            <a:r>
              <a:rPr lang="en-US" sz="1400" dirty="0">
                <a:solidFill>
                  <a:schemeClr val="accent4"/>
                </a:solidFill>
                <a:latin typeface="JetBrains Mono" pitchFamily="34" charset="0"/>
                <a:ea typeface="JetBrains Mono" pitchFamily="34" charset="-122"/>
                <a:cs typeface="JetBrains Mono" pitchFamily="34" charset="-120"/>
              </a:rPr>
              <a:t>  }</a:t>
            </a:r>
            <a:endParaRPr lang="en-US" sz="1400" dirty="0"/>
          </a:p>
          <a:p>
            <a:pPr algn="l" indent="0" marL="0">
              <a:lnSpc>
                <a:spcPct val="105000"/>
              </a:lnSpc>
              <a:buNone/>
            </a:pPr>
            <a:r>
              <a:rPr lang="en-US" sz="1400" dirty="0">
                <a:solidFill>
                  <a:schemeClr val="bg1"/>
                </a:solidFill>
                <a:latin typeface="JetBrains Mono" pitchFamily="34" charset="0"/>
                <a:ea typeface="JetBrains Mono" pitchFamily="34" charset="-122"/>
                <a:cs typeface="JetBrains Mono" pitchFamily="34" charset="-120"/>
              </a:rPr>
              <a:t>}</a:t>
            </a:r>
            <a:endParaRPr lang="en-US" sz="1400" dirty="0"/>
          </a:p>
        </p:txBody>
      </p:sp>
      <p:graphicFrame>
        <p:nvGraphicFramePr>
          <p:cNvPr id="11" name="chart-count-cost" descr=""/>
          <p:cNvGraphicFramePr/>
          <p:nvPr/>
        </p:nvGraphicFramePr>
        <p:xfrm>
          <a:off x="5998464" y="1581912"/>
          <a:ext cx="5541264" cy="2743200"/>
        </p:xfrm>
        <a:graphic xmlns:a="http://schemas.openxmlformats.org/drawingml/2006/main">
          <a:graphicData uri="http://schemas.openxmlformats.org/drawingml/2006/chart">
            <c:chart xmlns:c="http://schemas.openxmlformats.org/drawingml/2006/chart" r:id="rId1"/>
          </a:graphicData>
        </a:graphic>
      </p:graphicFrame>
      <p:sp>
        <p:nvSpPr>
          <p:cNvPr id="12" name="text"/>
          <p:cNvSpPr txBox="1"/>
          <p:nvPr/>
        </p:nvSpPr>
        <p:spPr>
          <a:xfrm>
            <a:off x="5998464" y="4526280"/>
            <a:ext cx="5541264" cy="1280160"/>
          </a:xfrm>
          <a:prstGeom prst="rect">
            <a:avLst/>
          </a:prstGeom>
          <a:noFill/>
          <a:ln/>
        </p:spPr>
        <p:txBody>
          <a:bodyPr wrap="square" lIns="0" tIns="0" rIns="0" bIns="0" rtlCol="0" anchor="t"/>
          <a:lstStyle/>
          <a:p>
            <a:pPr algn="l" indent="0" marL="0">
              <a:lnSpc>
                <a:spcPct val="115000"/>
              </a:lnSpc>
              <a:spcAft>
                <a:spcPts val="600"/>
              </a:spcAft>
              <a:buNone/>
            </a:pPr>
            <a:r>
              <a:rPr lang="en-US" sz="1600" b="1" dirty="0">
                <a:solidFill>
                  <a:schemeClr val="tx1"/>
                </a:solidFill>
              </a:rPr>
              <a:t>결과가 없으면 200 + 빈 배열 [ ]  (404 아님)</a:t>
            </a:r>
            <a:endParaRPr lang="en-US" sz="1600" dirty="0"/>
          </a:p>
          <a:p>
            <a:pPr algn="l" indent="0" marL="0">
              <a:lnSpc>
                <a:spcPct val="115000"/>
              </a:lnSpc>
              <a:spcAft>
                <a:spcPts val="600"/>
              </a:spcAft>
              <a:buNone/>
            </a:pPr>
            <a:r>
              <a:rPr lang="en-US" sz="1500" dirty="0">
                <a:solidFill>
                  <a:srgbClr val="3D3D3A"/>
                </a:solidFill>
              </a:rPr>
              <a:t>totalElements를 주려면 COUNT 쿼리가 한 번 더 나간다 → 무한 스크롤이면 hasNext만</a:t>
            </a:r>
            <a:endParaRPr lang="en-US" sz="16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05 · PAGINATION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오프셋 페이징과 커서 페이징</a:t>
            </a:r>
            <a:endParaRPr lang="en-US" sz="32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2011680"/>
                <a:gridCol w="4434840"/>
                <a:gridCol w="4443984"/>
              </a:tblGrid>
              <a:tr h="566928">
                <a:tc>
                  <a:txBody>
                    <a:bodyPr/>
                    <a:lstStyle/>
                    <a:p>
                      <a:pPr indent="0" marL="0">
                        <a:buNone/>
                      </a:pP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오프셋</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커서</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566928">
                <a:tc>
                  <a:txBody>
                    <a:bodyPr/>
                    <a:lstStyle/>
                    <a:p>
                      <a:pPr indent="0" marL="0">
                        <a:buNone/>
                      </a:pPr>
                      <a:r>
                        <a:rPr lang="en-US" sz="1700" dirty="0">
                          <a:solidFill>
                            <a:schemeClr val="tx1"/>
                          </a:solidFill>
                        </a:rPr>
                        <a:t>요청</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?page=2&amp;size=20</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?cursor=981&amp;size=20</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700" dirty="0">
                          <a:solidFill>
                            <a:schemeClr val="tx1"/>
                          </a:solidFill>
                        </a:rPr>
                        <a:t>SQL</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LIMIT 20 OFFSET 40</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WHERE id &lt; 981 LIMIT 20</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700" dirty="0">
                          <a:solidFill>
                            <a:schemeClr val="tx1"/>
                          </a:solidFill>
                        </a:rPr>
                        <a:t>장점</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쪽 번호로 바로 이동, 전체 쪽 수</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뒤로 가도 속도 일정, 중복 없음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700" dirty="0">
                          <a:solidFill>
                            <a:schemeClr val="tx1"/>
                          </a:solidFill>
                        </a:rPr>
                        <a:t>단점</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뒤 페이지일수록 느림, 중간 추가 시 중복 · 누락</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특정 쪽으로 바로 못 감</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700" dirty="0">
                          <a:solidFill>
                            <a:schemeClr val="tx1"/>
                          </a:solidFill>
                        </a:rPr>
                        <a:t>어울리는 곳</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게시판 (쪽 번호)</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피드 · 무한 스크롤</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05 · PAGINATION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직접 재 보면: 뒤로 갈수록 오프셋만 느려진다</a:t>
            </a:r>
            <a:endParaRPr lang="en-US" sz="3200" dirty="0"/>
          </a:p>
        </p:txBody>
      </p:sp>
      <p:sp>
        <p:nvSpPr>
          <p:cNvPr id="5" name="badge"/>
          <p:cNvSpPr/>
          <p:nvPr/>
        </p:nvSpPr>
        <p:spPr>
          <a:xfrm>
            <a:off x="10351008" y="384048"/>
            <a:ext cx="978408" cy="310896"/>
          </a:xfrm>
          <a:prstGeom prst="roundRect">
            <a:avLst>
              <a:gd name="adj" fmla="val 50000"/>
            </a:avLst>
          </a:prstGeom>
          <a:solidFill>
            <a:srgbClr val="E8E0D2"/>
          </a:solidFill>
          <a:ln/>
        </p:spPr>
      </p:sp>
      <p:sp>
        <p:nvSpPr>
          <p:cNvPr id="6" name="badge-text"/>
          <p:cNvSpPr txBox="1"/>
          <p:nvPr/>
        </p:nvSpPr>
        <p:spPr>
          <a:xfrm>
            <a:off x="10351008" y="384048"/>
            <a:ext cx="978408" cy="310896"/>
          </a:xfrm>
          <a:prstGeom prst="rect">
            <a:avLst/>
          </a:prstGeom>
          <a:noFill/>
          <a:ln/>
        </p:spPr>
        <p:txBody>
          <a:bodyPr wrap="square" lIns="0" tIns="0" rIns="0" bIns="0" rtlCol="0" anchor="ctr"/>
          <a:lstStyle/>
          <a:p>
            <a:pPr algn="ctr" indent="0" marL="0">
              <a:buNone/>
            </a:pPr>
            <a:r>
              <a:rPr lang="en-US" sz="1200" dirty="0">
                <a:solidFill>
                  <a:schemeClr val="accent3"/>
                </a:solidFill>
              </a:rPr>
              <a:t>직접 측정</a:t>
            </a:r>
            <a:endParaRPr lang="en-US" sz="1200" dirty="0"/>
          </a:p>
        </p:txBody>
      </p:sp>
      <p:graphicFrame>
        <p:nvGraphicFramePr>
          <p:cNvPr id="7" name="chart-offset-vs-cursor" descr=""/>
          <p:cNvGraphicFramePr/>
          <p:nvPr/>
        </p:nvGraphicFramePr>
        <p:xfrm>
          <a:off x="649224" y="1581912"/>
          <a:ext cx="7406640" cy="4251960"/>
        </p:xfrm>
        <a:graphic xmlns:a="http://schemas.openxmlformats.org/drawingml/2006/main">
          <a:graphicData uri="http://schemas.openxmlformats.org/drawingml/2006/chart">
            <c:chart xmlns:c="http://schemas.openxmlformats.org/drawingml/2006/chart" r:id="rId1"/>
          </a:graphicData>
        </a:graphic>
      </p:graphicFrame>
      <p:sp>
        <p:nvSpPr>
          <p:cNvPr id="8" name="text"/>
          <p:cNvSpPr txBox="1"/>
          <p:nvPr/>
        </p:nvSpPr>
        <p:spPr>
          <a:xfrm>
            <a:off x="8375904" y="1764792"/>
            <a:ext cx="3163824" cy="4023360"/>
          </a:xfrm>
          <a:prstGeom prst="rect">
            <a:avLst/>
          </a:prstGeom>
          <a:noFill/>
          <a:ln/>
        </p:spPr>
        <p:txBody>
          <a:bodyPr wrap="square" lIns="0" tIns="0" rIns="0" bIns="0" rtlCol="0" anchor="t"/>
          <a:lstStyle/>
          <a:p>
            <a:pPr algn="l" indent="0" marL="0">
              <a:lnSpc>
                <a:spcPct val="115000"/>
              </a:lnSpc>
              <a:spcAft>
                <a:spcPts val="200"/>
              </a:spcAft>
              <a:buNone/>
            </a:pPr>
            <a:r>
              <a:rPr lang="en-US" sz="1600" dirty="0">
                <a:solidFill>
                  <a:schemeClr val="accent3"/>
                </a:solidFill>
              </a:rPr>
              <a:t>오프셋</a:t>
            </a:r>
            <a:endParaRPr lang="en-US" sz="1600" dirty="0"/>
          </a:p>
          <a:p>
            <a:pPr algn="l" indent="0" marL="0">
              <a:lnSpc>
                <a:spcPct val="115000"/>
              </a:lnSpc>
              <a:spcAft>
                <a:spcPts val="200"/>
              </a:spcAft>
              <a:buNone/>
            </a:pPr>
            <a:r>
              <a:rPr lang="en-US" sz="2400" dirty="0">
                <a:solidFill>
                  <a:schemeClr val="accent2"/>
                </a:solidFill>
              </a:rPr>
              <a:t>0.02 → 54.89 ms</a:t>
            </a:r>
            <a:endParaRPr lang="en-US" sz="1600" dirty="0"/>
          </a:p>
          <a:p>
            <a:pPr algn="l" indent="0" marL="0">
              <a:lnSpc>
                <a:spcPct val="115000"/>
              </a:lnSpc>
              <a:spcAft>
                <a:spcPts val="200"/>
              </a:spcAft>
              <a:buNone/>
            </a:pPr>
            <a:r>
              <a:rPr lang="en-US" sz="2000" dirty="0">
                <a:solidFill>
                  <a:schemeClr val="tx1"/>
                </a:solidFill>
              </a:rPr>
              <a:t> </a:t>
            </a:r>
            <a:endParaRPr lang="en-US" sz="1600" dirty="0"/>
          </a:p>
          <a:p>
            <a:pPr algn="l" indent="0" marL="0">
              <a:lnSpc>
                <a:spcPct val="115000"/>
              </a:lnSpc>
              <a:spcAft>
                <a:spcPts val="200"/>
              </a:spcAft>
              <a:buNone/>
            </a:pPr>
            <a:r>
              <a:rPr lang="en-US" sz="1600" dirty="0">
                <a:solidFill>
                  <a:schemeClr val="accent3"/>
                </a:solidFill>
              </a:rPr>
              <a:t>커서</a:t>
            </a:r>
            <a:endParaRPr lang="en-US" sz="1600" dirty="0"/>
          </a:p>
          <a:p>
            <a:pPr algn="l" indent="0" marL="0">
              <a:lnSpc>
                <a:spcPct val="115000"/>
              </a:lnSpc>
              <a:spcAft>
                <a:spcPts val="200"/>
              </a:spcAft>
              <a:buNone/>
            </a:pPr>
            <a:r>
              <a:rPr lang="en-US" sz="2400" dirty="0">
                <a:solidFill>
                  <a:schemeClr val="tx1"/>
                </a:solidFill>
              </a:rPr>
              <a:t>거의 일정</a:t>
            </a:r>
            <a:endParaRPr lang="en-US" sz="1600" dirty="0"/>
          </a:p>
          <a:p>
            <a:pPr algn="l" indent="0" marL="0">
              <a:lnSpc>
                <a:spcPct val="115000"/>
              </a:lnSpc>
              <a:spcAft>
                <a:spcPts val="200"/>
              </a:spcAft>
              <a:buNone/>
            </a:pPr>
            <a:r>
              <a:rPr lang="en-US" sz="2000" dirty="0">
                <a:solidFill>
                  <a:schemeClr val="tx1"/>
                </a:solidFill>
              </a:rPr>
              <a:t> </a:t>
            </a:r>
            <a:endParaRPr lang="en-US" sz="1600" dirty="0"/>
          </a:p>
          <a:p>
            <a:pPr algn="l" indent="0" marL="0">
              <a:lnSpc>
                <a:spcPct val="115000"/>
              </a:lnSpc>
              <a:spcAft>
                <a:spcPts val="200"/>
              </a:spcAft>
              <a:buNone/>
            </a:pPr>
            <a:r>
              <a:rPr lang="en-US" sz="1300" dirty="0">
                <a:solidFill>
                  <a:schemeClr val="accent3"/>
                </a:solidFill>
              </a:rPr>
              <a:t>SQLite 3.45.1 · 100만 행 · 20개씩 · 이 노트북에서 측정. 숫자는 환경마다 다르다.</a:t>
            </a:r>
            <a:endParaRPr lang="en-US" sz="16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lIns="0" tIns="0" rIns="0" bIns="0" rtlCol="0" anchor="b"/>
          <a:lstStyle/>
          <a:p>
            <a:pPr algn="l" indent="0" marL="0">
              <a:buNone/>
            </a:pPr>
            <a:r>
              <a:rPr lang="en-US" sz="6000" dirty="0">
                <a:solidFill>
                  <a:schemeClr val="accent1"/>
                </a:solidFill>
                <a:latin typeface="+mj-lt" pitchFamily="34" charset="0"/>
                <a:ea typeface="+mj-lt" pitchFamily="34" charset="-122"/>
                <a:cs typeface="+mj-lt" pitchFamily="34" charset="-120"/>
              </a:rPr>
              <a:t>06</a:t>
            </a: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lIns="0" tIns="0" rIns="0" bIns="0" rtlCol="0" anchor="t"/>
          <a:lstStyle/>
          <a:p>
            <a:pPr algn="l" indent="0" marL="0">
              <a:buNone/>
            </a:pPr>
            <a:r>
              <a:rPr lang="en-US" sz="4000" dirty="0">
                <a:solidFill>
                  <a:schemeClr val="bg1"/>
                </a:solidFill>
              </a:rPr>
              <a:t>API 문서 작성</a:t>
            </a: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lIns="0" tIns="0" rIns="0" bIns="0" rtlCol="0" anchor="t"/>
          <a:lstStyle/>
          <a:p>
            <a:pPr algn="l" indent="0" marL="0">
              <a:buNone/>
            </a:pPr>
            <a:r>
              <a:rPr lang="en-US" sz="2000" dirty="0">
                <a:solidFill>
                  <a:srgbClr val="A09D96"/>
                </a:solidFill>
              </a:rPr>
              <a:t>손으로 쓰지 않고, 코드와 테스트에서 만든다</a:t>
            </a:r>
            <a:endParaRPr lang="en-US" sz="2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06 · DOCS</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API 문서: Swagger와 REST Docs</a:t>
            </a:r>
            <a:endParaRPr lang="en-US" sz="32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2286000"/>
                <a:gridCol w="4297680"/>
                <a:gridCol w="4306824"/>
              </a:tblGrid>
              <a:tr h="475488">
                <a:tc>
                  <a:txBody>
                    <a:bodyPr/>
                    <a:lstStyle/>
                    <a:p>
                      <a:pPr indent="0" marL="0">
                        <a:buNone/>
                      </a:pP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Swagger (springdoc)</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Spring REST Docs</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600" dirty="0">
                          <a:solidFill>
                            <a:schemeClr val="tx1"/>
                          </a:solidFill>
                        </a:rPr>
                        <a:t>만드는 법</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의존성 추가 → 컨트롤러를 읽어 자동 생성</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API마다 테스트 작성 → 통과하면 생성</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600" dirty="0">
                          <a:solidFill>
                            <a:schemeClr val="tx1"/>
                          </a:solidFill>
                        </a:rPr>
                        <a:t>정확도</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코드 기준. 설명 문구는 사람이 관리</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테스트가 실제로 주고받은 값</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600" dirty="0">
                          <a:solidFill>
                            <a:schemeClr val="tx1"/>
                          </a:solidFill>
                        </a:rPr>
                        <a:t>운영 코드</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@Operation 같은 어노테이션이 붙음</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건드리지 않음</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600" dirty="0">
                          <a:solidFill>
                            <a:schemeClr val="tx1"/>
                          </a:solidFill>
                        </a:rPr>
                        <a:t>화면에서 호출</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Try it out</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기본은 없음 (정적 HTML)</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600" dirty="0">
                          <a:solidFill>
                            <a:schemeClr val="tx1"/>
                          </a:solidFill>
                        </a:rPr>
                        <a:t>비용</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시작이 쉽다</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테스트 작성 비용</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6" name="card"/>
          <p:cNvSpPr/>
          <p:nvPr/>
        </p:nvSpPr>
        <p:spPr>
          <a:xfrm>
            <a:off x="649224" y="4937760"/>
            <a:ext cx="10890504" cy="868680"/>
          </a:xfrm>
          <a:prstGeom prst="roundRect">
            <a:avLst>
              <a:gd name="adj" fmla="val 12632"/>
            </a:avLst>
          </a:prstGeom>
          <a:solidFill>
            <a:schemeClr val="bg2"/>
          </a:solidFill>
          <a:ln/>
        </p:spPr>
      </p:sp>
      <p:sp>
        <p:nvSpPr>
          <p:cNvPr id="7" name="text"/>
          <p:cNvSpPr txBox="1"/>
          <p:nvPr/>
        </p:nvSpPr>
        <p:spPr>
          <a:xfrm>
            <a:off x="969264" y="5138928"/>
            <a:ext cx="10250424" cy="457200"/>
          </a:xfrm>
          <a:prstGeom prst="rect">
            <a:avLst/>
          </a:prstGeom>
          <a:noFill/>
          <a:ln/>
        </p:spPr>
        <p:txBody>
          <a:bodyPr wrap="square" lIns="0" tIns="0" rIns="0" bIns="0" rtlCol="0" anchor="ctr"/>
          <a:lstStyle/>
          <a:p>
            <a:pPr algn="l" indent="0" marL="0">
              <a:lnSpc>
                <a:spcPct val="115000"/>
              </a:lnSpc>
              <a:spcAft>
                <a:spcPts val="600"/>
              </a:spcAft>
              <a:buNone/>
            </a:pPr>
            <a:r>
              <a:rPr lang="en-US" sz="1800" b="1" dirty="0">
                <a:solidFill>
                  <a:schemeClr val="tx1"/>
                </a:solidFill>
              </a:rPr>
              <a:t>혼합  </a:t>
            </a:r>
            <a:pPr algn="l" indent="0" marL="0">
              <a:lnSpc>
                <a:spcPct val="115000"/>
              </a:lnSpc>
              <a:spcAft>
                <a:spcPts val="600"/>
              </a:spcAft>
              <a:buNone/>
            </a:pPr>
            <a:r>
              <a:rPr lang="en-US" sz="1800" dirty="0">
                <a:solidFill>
                  <a:srgbClr val="3D3D3A"/>
                </a:solidFill>
              </a:rPr>
              <a:t>REST Docs 테스트 → OpenAPI 명세 (restdocs-api-spec) → Swagger UI</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06 · DOCS · 글결</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글결: Swagger</a:t>
            </a:r>
            <a:endParaRPr lang="en-US" sz="3200" dirty="0"/>
          </a:p>
        </p:txBody>
      </p:sp>
      <p:pic>
        <p:nvPicPr>
          <p:cNvPr id="5" name="screenshot" descr="/tmp/slide-img-390-7udvxod1rn.png">    </p:cNvPr>
          <p:cNvPicPr>
            <a:picLocks noChangeAspect="1"/>
          </p:cNvPicPr>
          <p:nvPr/>
        </p:nvPicPr>
        <p:blipFill>
          <a:blip r:embed="rId1"/>
          <a:stretch>
            <a:fillRect/>
          </a:stretch>
        </p:blipFill>
        <p:spPr>
          <a:xfrm>
            <a:off x="2605126" y="1581912"/>
            <a:ext cx="6978701" cy="4846320"/>
          </a:xfrm>
          <a:prstGeom prst="rect">
            <a:avLst/>
          </a:prstGeom>
        </p:spPr>
      </p:pic>
      <p:sp>
        <p:nvSpPr>
          <p:cNvPr id="6" name="screenshot-frame"/>
          <p:cNvSpPr/>
          <p:nvPr/>
        </p:nvSpPr>
        <p:spPr>
          <a:xfrm>
            <a:off x="2605126" y="1581912"/>
            <a:ext cx="6978701" cy="4846320"/>
          </a:xfrm>
          <a:prstGeom prst="rect">
            <a:avLst/>
          </a:prstGeom>
          <a:ln w="9525">
            <a:solidFill>
              <a:srgbClr val="E6DFD8"/>
            </a:solidFill>
            <a:prstDash val="solid"/>
          </a:ln>
        </p:spPr>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06 · DOCS · 글결</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글결: Swagger에서 API 하나 펼치기</a:t>
            </a:r>
            <a:endParaRPr lang="en-US" sz="3200" dirty="0"/>
          </a:p>
        </p:txBody>
      </p:sp>
      <p:pic>
        <p:nvPicPr>
          <p:cNvPr id="5" name="screenshot" descr="/tmp/slide-img-390-p01mwkxla0r.png">    </p:cNvPr>
          <p:cNvPicPr>
            <a:picLocks noChangeAspect="1"/>
          </p:cNvPicPr>
          <p:nvPr/>
        </p:nvPicPr>
        <p:blipFill>
          <a:blip r:embed="rId1"/>
          <a:stretch>
            <a:fillRect/>
          </a:stretch>
        </p:blipFill>
        <p:spPr>
          <a:xfrm>
            <a:off x="649224" y="1581912"/>
            <a:ext cx="5330952" cy="4580068"/>
          </a:xfrm>
          <a:prstGeom prst="rect">
            <a:avLst/>
          </a:prstGeom>
        </p:spPr>
      </p:pic>
      <p:sp>
        <p:nvSpPr>
          <p:cNvPr id="6" name="screenshot-frame"/>
          <p:cNvSpPr/>
          <p:nvPr/>
        </p:nvSpPr>
        <p:spPr>
          <a:xfrm>
            <a:off x="649224" y="1581912"/>
            <a:ext cx="5330952" cy="4580068"/>
          </a:xfrm>
          <a:prstGeom prst="rect">
            <a:avLst/>
          </a:prstGeom>
          <a:ln w="9525">
            <a:solidFill>
              <a:srgbClr val="E6DFD8"/>
            </a:solidFill>
            <a:prstDash val="solid"/>
          </a:ln>
        </p:spPr>
      </p:sp>
      <p:pic>
        <p:nvPicPr>
          <p:cNvPr id="7" name="screenshot" descr="/tmp/slide-img-390-7zqkjl1fnhk.png">    </p:cNvPr>
          <p:cNvPicPr>
            <a:picLocks noChangeAspect="1"/>
          </p:cNvPicPr>
          <p:nvPr/>
        </p:nvPicPr>
        <p:blipFill>
          <a:blip r:embed="rId2"/>
          <a:stretch>
            <a:fillRect/>
          </a:stretch>
        </p:blipFill>
        <p:spPr>
          <a:xfrm>
            <a:off x="6208776" y="1581912"/>
            <a:ext cx="5330952" cy="4580068"/>
          </a:xfrm>
          <a:prstGeom prst="rect">
            <a:avLst/>
          </a:prstGeom>
        </p:spPr>
      </p:pic>
      <p:sp>
        <p:nvSpPr>
          <p:cNvPr id="8" name="screenshot-frame"/>
          <p:cNvSpPr/>
          <p:nvPr/>
        </p:nvSpPr>
        <p:spPr>
          <a:xfrm>
            <a:off x="6208776" y="1581912"/>
            <a:ext cx="5330952" cy="4580068"/>
          </a:xfrm>
          <a:prstGeom prst="rect">
            <a:avLst/>
          </a:prstGeom>
          <a:ln w="9525">
            <a:solidFill>
              <a:srgbClr val="E6DFD8"/>
            </a:solidFill>
            <a:prstDash val="solid"/>
          </a:ln>
        </p:spPr>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06 · DOCS · 글결</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글결: REST Docs</a:t>
            </a:r>
            <a:endParaRPr lang="en-US" sz="3200" dirty="0"/>
          </a:p>
        </p:txBody>
      </p:sp>
      <p:pic>
        <p:nvPicPr>
          <p:cNvPr id="5" name="screenshot" descr="/tmp/slide-img-390-he3we1ci1yd.png">    </p:cNvPr>
          <p:cNvPicPr>
            <a:picLocks noChangeAspect="1"/>
          </p:cNvPicPr>
          <p:nvPr/>
        </p:nvPicPr>
        <p:blipFill>
          <a:blip r:embed="rId1"/>
          <a:stretch>
            <a:fillRect/>
          </a:stretch>
        </p:blipFill>
        <p:spPr>
          <a:xfrm>
            <a:off x="2217420" y="1581912"/>
            <a:ext cx="7754112" cy="4846320"/>
          </a:xfrm>
          <a:prstGeom prst="rect">
            <a:avLst/>
          </a:prstGeom>
        </p:spPr>
      </p:pic>
      <p:sp>
        <p:nvSpPr>
          <p:cNvPr id="6" name="screenshot-frame"/>
          <p:cNvSpPr/>
          <p:nvPr/>
        </p:nvSpPr>
        <p:spPr>
          <a:xfrm>
            <a:off x="2217420" y="1581912"/>
            <a:ext cx="7754112" cy="4846320"/>
          </a:xfrm>
          <a:prstGeom prst="rect">
            <a:avLst/>
          </a:prstGeom>
          <a:ln w="9525">
            <a:solidFill>
              <a:srgbClr val="E6DFD8"/>
            </a:solidFill>
            <a:prstDash val="solid"/>
          </a:ln>
        </p:spPr>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06 · DOCS · 글결</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글결: 에러 응답</a:t>
            </a:r>
            <a:endParaRPr lang="en-US" sz="3200" dirty="0"/>
          </a:p>
        </p:txBody>
      </p:sp>
      <p:pic>
        <p:nvPicPr>
          <p:cNvPr id="5" name="screenshot" descr="/tmp/slide-img-390-ze8zcmyux4.png">    </p:cNvPr>
          <p:cNvPicPr>
            <a:picLocks noChangeAspect="1"/>
          </p:cNvPicPr>
          <p:nvPr/>
        </p:nvPicPr>
        <p:blipFill>
          <a:blip r:embed="rId1"/>
          <a:stretch>
            <a:fillRect/>
          </a:stretch>
        </p:blipFill>
        <p:spPr>
          <a:xfrm>
            <a:off x="649224" y="1581912"/>
            <a:ext cx="10890504" cy="3825290"/>
          </a:xfrm>
          <a:prstGeom prst="rect">
            <a:avLst/>
          </a:prstGeom>
        </p:spPr>
      </p:pic>
      <p:sp>
        <p:nvSpPr>
          <p:cNvPr id="6" name="screenshot-frame"/>
          <p:cNvSpPr/>
          <p:nvPr/>
        </p:nvSpPr>
        <p:spPr>
          <a:xfrm>
            <a:off x="649224" y="1581912"/>
            <a:ext cx="10890504" cy="3825290"/>
          </a:xfrm>
          <a:prstGeom prst="rect">
            <a:avLst/>
          </a:prstGeom>
          <a:ln w="9525">
            <a:solidFill>
              <a:srgbClr val="E6DFD8"/>
            </a:solidFill>
            <a:prstDash val="solid"/>
          </a:ln>
        </p:spPr>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bg1"/>
                </a:solidFill>
              </a:rPr>
              <a:t>정리</a:t>
            </a:r>
            <a:endParaRPr lang="en-US" sz="3200" dirty="0"/>
          </a:p>
        </p:txBody>
      </p:sp>
      <p:sp>
        <p:nvSpPr>
          <p:cNvPr id="3" name="text"/>
          <p:cNvSpPr txBox="1"/>
          <p:nvPr/>
        </p:nvSpPr>
        <p:spPr>
          <a:xfrm>
            <a:off x="649224" y="1581912"/>
            <a:ext cx="201168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URL</a:t>
            </a:r>
            <a:endParaRPr lang="en-US" sz="2000" dirty="0"/>
          </a:p>
        </p:txBody>
      </p:sp>
      <p:sp>
        <p:nvSpPr>
          <p:cNvPr id="4" name="text"/>
          <p:cNvSpPr txBox="1"/>
          <p:nvPr/>
        </p:nvSpPr>
        <p:spPr>
          <a:xfrm>
            <a:off x="2752344" y="1581912"/>
            <a:ext cx="878738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bg1"/>
                </a:solidFill>
              </a:rPr>
              <a:t>자원만 · 복수 · 소문자 · 두 단계 · 행위는 드러나게</a:t>
            </a:r>
            <a:endParaRPr lang="en-US" sz="2000" dirty="0"/>
          </a:p>
        </p:txBody>
      </p:sp>
      <p:sp>
        <p:nvSpPr>
          <p:cNvPr id="5" name="text"/>
          <p:cNvSpPr txBox="1"/>
          <p:nvPr/>
        </p:nvSpPr>
        <p:spPr>
          <a:xfrm>
            <a:off x="649224" y="2203704"/>
            <a:ext cx="201168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메서드</a:t>
            </a:r>
            <a:endParaRPr lang="en-US" sz="2000" dirty="0"/>
          </a:p>
        </p:txBody>
      </p:sp>
      <p:sp>
        <p:nvSpPr>
          <p:cNvPr id="6" name="text"/>
          <p:cNvSpPr txBox="1"/>
          <p:nvPr/>
        </p:nvSpPr>
        <p:spPr>
          <a:xfrm>
            <a:off x="2752344" y="2203704"/>
            <a:ext cx="878738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bg1"/>
                </a:solidFill>
              </a:rPr>
              <a:t>안전성 · 멱등성으로 고른다 · POST 중복은 키로 막는다</a:t>
            </a:r>
            <a:endParaRPr lang="en-US" sz="2000" dirty="0"/>
          </a:p>
        </p:txBody>
      </p:sp>
      <p:sp>
        <p:nvSpPr>
          <p:cNvPr id="7" name="text"/>
          <p:cNvSpPr txBox="1"/>
          <p:nvPr/>
        </p:nvSpPr>
        <p:spPr>
          <a:xfrm>
            <a:off x="649224" y="2825496"/>
            <a:ext cx="201168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상태 코드</a:t>
            </a:r>
            <a:endParaRPr lang="en-US" sz="2000" dirty="0"/>
          </a:p>
        </p:txBody>
      </p:sp>
      <p:sp>
        <p:nvSpPr>
          <p:cNvPr id="8" name="text"/>
          <p:cNvSpPr txBox="1"/>
          <p:nvPr/>
        </p:nvSpPr>
        <p:spPr>
          <a:xfrm>
            <a:off x="2752344" y="2825496"/>
            <a:ext cx="878738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bg1"/>
                </a:solidFill>
              </a:rPr>
              <a:t>실패는 4xx · 5xx, 200에 실패를 담지 않는다</a:t>
            </a:r>
            <a:endParaRPr lang="en-US" sz="2000" dirty="0"/>
          </a:p>
        </p:txBody>
      </p:sp>
      <p:sp>
        <p:nvSpPr>
          <p:cNvPr id="9" name="text"/>
          <p:cNvSpPr txBox="1"/>
          <p:nvPr/>
        </p:nvSpPr>
        <p:spPr>
          <a:xfrm>
            <a:off x="649224" y="3447288"/>
            <a:ext cx="201168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에러</a:t>
            </a:r>
            <a:endParaRPr lang="en-US" sz="2000" dirty="0"/>
          </a:p>
        </p:txBody>
      </p:sp>
      <p:sp>
        <p:nvSpPr>
          <p:cNvPr id="10" name="text"/>
          <p:cNvSpPr txBox="1"/>
          <p:nvPr/>
        </p:nvSpPr>
        <p:spPr>
          <a:xfrm>
            <a:off x="2752344" y="3447288"/>
            <a:ext cx="878738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bg1"/>
                </a:solidFill>
              </a:rPr>
              <a:t>한 모양 + code · 내부 정보는 로그와 traceId로</a:t>
            </a:r>
            <a:endParaRPr lang="en-US" sz="2000" dirty="0"/>
          </a:p>
        </p:txBody>
      </p:sp>
      <p:sp>
        <p:nvSpPr>
          <p:cNvPr id="11" name="text"/>
          <p:cNvSpPr txBox="1"/>
          <p:nvPr/>
        </p:nvSpPr>
        <p:spPr>
          <a:xfrm>
            <a:off x="649224" y="4069080"/>
            <a:ext cx="201168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예외 처리</a:t>
            </a:r>
            <a:endParaRPr lang="en-US" sz="2000" dirty="0"/>
          </a:p>
        </p:txBody>
      </p:sp>
      <p:sp>
        <p:nvSpPr>
          <p:cNvPr id="12" name="text"/>
          <p:cNvSpPr txBox="1"/>
          <p:nvPr/>
        </p:nvSpPr>
        <p:spPr>
          <a:xfrm>
            <a:off x="2752344" y="4069080"/>
            <a:ext cx="878738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bg1"/>
                </a:solidFill>
              </a:rPr>
              <a:t>검증은 DTO와 서비스, 변환은 한 곳에서</a:t>
            </a:r>
            <a:endParaRPr lang="en-US" sz="2000" dirty="0"/>
          </a:p>
        </p:txBody>
      </p:sp>
      <p:sp>
        <p:nvSpPr>
          <p:cNvPr id="13" name="text"/>
          <p:cNvSpPr txBox="1"/>
          <p:nvPr/>
        </p:nvSpPr>
        <p:spPr>
          <a:xfrm>
            <a:off x="649224" y="4690872"/>
            <a:ext cx="201168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목록</a:t>
            </a:r>
            <a:endParaRPr lang="en-US" sz="2000" dirty="0"/>
          </a:p>
        </p:txBody>
      </p:sp>
      <p:sp>
        <p:nvSpPr>
          <p:cNvPr id="14" name="text"/>
          <p:cNvSpPr txBox="1"/>
          <p:nvPr/>
        </p:nvSpPr>
        <p:spPr>
          <a:xfrm>
            <a:off x="2752344" y="4690872"/>
            <a:ext cx="878738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bg1"/>
                </a:solidFill>
              </a:rPr>
              <a:t>쿼리로 받고 한도를 정한다 · 게시판은 오프셋, 피드는 커서</a:t>
            </a:r>
            <a:endParaRPr lang="en-US" sz="2000" dirty="0"/>
          </a:p>
        </p:txBody>
      </p:sp>
      <p:sp>
        <p:nvSpPr>
          <p:cNvPr id="15" name="text"/>
          <p:cNvSpPr txBox="1"/>
          <p:nvPr/>
        </p:nvSpPr>
        <p:spPr>
          <a:xfrm>
            <a:off x="649224" y="5312664"/>
            <a:ext cx="201168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문서</a:t>
            </a:r>
            <a:endParaRPr lang="en-US" sz="2000" dirty="0"/>
          </a:p>
        </p:txBody>
      </p:sp>
      <p:sp>
        <p:nvSpPr>
          <p:cNvPr id="16" name="text"/>
          <p:cNvSpPr txBox="1"/>
          <p:nvPr/>
        </p:nvSpPr>
        <p:spPr>
          <a:xfrm>
            <a:off x="2752344" y="5312664"/>
            <a:ext cx="878738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bg1"/>
                </a:solidFill>
              </a:rPr>
              <a:t>코드와 테스트에서 만든다 · Swagger와 REST Docs</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성공 응답은 감쌀까?</a:t>
            </a:r>
            <a:endParaRPr lang="en-US" sz="3200" dirty="0"/>
          </a:p>
        </p:txBody>
      </p:sp>
      <p:sp>
        <p:nvSpPr>
          <p:cNvPr id="5" name="text"/>
          <p:cNvSpPr txBox="1"/>
          <p:nvPr/>
        </p:nvSpPr>
        <p:spPr>
          <a:xfrm>
            <a:off x="649224" y="1581912"/>
            <a:ext cx="5330952" cy="365760"/>
          </a:xfrm>
          <a:prstGeom prst="rect">
            <a:avLst/>
          </a:prstGeom>
          <a:noFill/>
          <a:ln/>
        </p:spPr>
        <p:txBody>
          <a:bodyPr wrap="square" lIns="0" tIns="0" rIns="0" bIns="0" rtlCol="0" anchor="t"/>
          <a:lstStyle/>
          <a:p>
            <a:pPr algn="l" indent="0" marL="0">
              <a:lnSpc>
                <a:spcPct val="115000"/>
              </a:lnSpc>
              <a:spcAft>
                <a:spcPts val="600"/>
              </a:spcAft>
              <a:buNone/>
            </a:pPr>
            <a:r>
              <a:rPr lang="en-US" sz="2000" b="1" dirty="0">
                <a:solidFill>
                  <a:schemeClr val="tx1"/>
                </a:solidFill>
              </a:rPr>
              <a:t>그대로 주기</a:t>
            </a:r>
            <a:endParaRPr lang="en-US" sz="2000" dirty="0"/>
          </a:p>
        </p:txBody>
      </p:sp>
      <p:sp>
        <p:nvSpPr>
          <p:cNvPr id="6" name="code-window"/>
          <p:cNvSpPr/>
          <p:nvPr/>
        </p:nvSpPr>
        <p:spPr>
          <a:xfrm>
            <a:off x="649224" y="2084832"/>
            <a:ext cx="5330952" cy="2103120"/>
          </a:xfrm>
          <a:prstGeom prst="roundRect">
            <a:avLst>
              <a:gd name="adj" fmla="val 5217"/>
            </a:avLst>
          </a:prstGeom>
          <a:solidFill>
            <a:schemeClr val="tx2"/>
          </a:solidFill>
          <a:ln/>
        </p:spPr>
      </p:sp>
      <p:sp>
        <p:nvSpPr>
          <p:cNvPr id="7" name="code-window-dot"/>
          <p:cNvSpPr/>
          <p:nvPr/>
        </p:nvSpPr>
        <p:spPr>
          <a:xfrm>
            <a:off x="850392" y="2231136"/>
            <a:ext cx="100584" cy="100584"/>
          </a:xfrm>
          <a:prstGeom prst="ellipse">
            <a:avLst/>
          </a:prstGeom>
          <a:solidFill>
            <a:srgbClr val="4A4844"/>
          </a:solidFill>
          <a:ln/>
        </p:spPr>
      </p:sp>
      <p:sp>
        <p:nvSpPr>
          <p:cNvPr id="8" name="code-window-dot"/>
          <p:cNvSpPr/>
          <p:nvPr/>
        </p:nvSpPr>
        <p:spPr>
          <a:xfrm>
            <a:off x="1024128" y="2231136"/>
            <a:ext cx="100584" cy="100584"/>
          </a:xfrm>
          <a:prstGeom prst="ellipse">
            <a:avLst/>
          </a:prstGeom>
          <a:solidFill>
            <a:srgbClr val="4A4844"/>
          </a:solidFill>
          <a:ln/>
        </p:spPr>
      </p:sp>
      <p:sp>
        <p:nvSpPr>
          <p:cNvPr id="9" name="code-window-dot"/>
          <p:cNvSpPr/>
          <p:nvPr/>
        </p:nvSpPr>
        <p:spPr>
          <a:xfrm>
            <a:off x="1197864" y="2231136"/>
            <a:ext cx="100584" cy="100584"/>
          </a:xfrm>
          <a:prstGeom prst="ellipse">
            <a:avLst/>
          </a:prstGeom>
          <a:solidFill>
            <a:srgbClr val="4A4844"/>
          </a:solidFill>
          <a:ln/>
        </p:spPr>
      </p:sp>
      <p:sp>
        <p:nvSpPr>
          <p:cNvPr id="10" name="code-window-text"/>
          <p:cNvSpPr txBox="1"/>
          <p:nvPr/>
        </p:nvSpPr>
        <p:spPr>
          <a:xfrm>
            <a:off x="905256" y="2523744"/>
            <a:ext cx="4873752" cy="1554480"/>
          </a:xfrm>
          <a:prstGeom prst="rect">
            <a:avLst/>
          </a:prstGeom>
          <a:noFill/>
          <a:ln/>
        </p:spPr>
        <p:txBody>
          <a:bodyPr wrap="square" lIns="0" tIns="0" rIns="0" bIns="0" rtlCol="0" anchor="t"/>
          <a:lstStyle/>
          <a:p>
            <a:pPr algn="l" indent="0" marL="0">
              <a:lnSpc>
                <a:spcPct val="105000"/>
              </a:lnSpc>
              <a:buNone/>
            </a:pPr>
            <a:r>
              <a:rPr lang="en-US" sz="1500" dirty="0">
                <a:solidFill>
                  <a:schemeClr val="bg1"/>
                </a:solidFill>
                <a:latin typeface="JetBrains Mono" pitchFamily="34" charset="0"/>
                <a:ea typeface="JetBrains Mono" pitchFamily="34" charset="-122"/>
                <a:cs typeface="JetBrains Mono" pitchFamily="34" charset="-120"/>
              </a:rPr>
              <a:t>{</a:t>
            </a:r>
            <a:endParaRPr lang="en-US" sz="1500" dirty="0"/>
          </a:p>
          <a:p>
            <a:pPr algn="l" indent="0" marL="0">
              <a:lnSpc>
                <a:spcPct val="105000"/>
              </a:lnSpc>
              <a:buNone/>
            </a:pPr>
            <a:r>
              <a:rPr lang="en-US" sz="1500" dirty="0">
                <a:solidFill>
                  <a:schemeClr val="bg1"/>
                </a:solidFill>
                <a:latin typeface="JetBrains Mono" pitchFamily="34" charset="0"/>
                <a:ea typeface="JetBrains Mono" pitchFamily="34" charset="-122"/>
                <a:cs typeface="JetBrains Mono" pitchFamily="34" charset="-120"/>
              </a:rPr>
              <a:t>  "id": 42,</a:t>
            </a:r>
            <a:endParaRPr lang="en-US" sz="1500" dirty="0"/>
          </a:p>
          <a:p>
            <a:pPr algn="l" indent="0" marL="0">
              <a:lnSpc>
                <a:spcPct val="105000"/>
              </a:lnSpc>
              <a:buNone/>
            </a:pPr>
            <a:r>
              <a:rPr lang="en-US" sz="1500" dirty="0">
                <a:solidFill>
                  <a:schemeClr val="bg1"/>
                </a:solidFill>
                <a:latin typeface="JetBrains Mono" pitchFamily="34" charset="0"/>
                <a:ea typeface="JetBrains Mono" pitchFamily="34" charset="-122"/>
                <a:cs typeface="JetBrains Mono" pitchFamily="34" charset="-120"/>
              </a:rPr>
              <a:t>  "title": "제주 여행"</a:t>
            </a:r>
            <a:endParaRPr lang="en-US" sz="1500" dirty="0"/>
          </a:p>
          <a:p>
            <a:pPr algn="l" indent="0" marL="0">
              <a:lnSpc>
                <a:spcPct val="105000"/>
              </a:lnSpc>
              <a:buNone/>
            </a:pPr>
            <a:r>
              <a:rPr lang="en-US" sz="1500" dirty="0">
                <a:solidFill>
                  <a:schemeClr val="bg1"/>
                </a:solidFill>
                <a:latin typeface="JetBrains Mono" pitchFamily="34" charset="0"/>
                <a:ea typeface="JetBrains Mono" pitchFamily="34" charset="-122"/>
                <a:cs typeface="JetBrains Mono" pitchFamily="34" charset="-120"/>
              </a:rPr>
              <a:t>}</a:t>
            </a:r>
            <a:endParaRPr lang="en-US" sz="1500" dirty="0"/>
          </a:p>
        </p:txBody>
      </p:sp>
      <p:sp>
        <p:nvSpPr>
          <p:cNvPr id="11" name="text"/>
          <p:cNvSpPr txBox="1"/>
          <p:nvPr/>
        </p:nvSpPr>
        <p:spPr>
          <a:xfrm>
            <a:off x="649224" y="4416552"/>
            <a:ext cx="5330952" cy="914400"/>
          </a:xfrm>
          <a:prstGeom prst="rect">
            <a:avLst/>
          </a:prstGeom>
          <a:noFill/>
          <a:ln/>
        </p:spPr>
        <p:txBody>
          <a:bodyPr wrap="square" lIns="0" tIns="0" rIns="0" bIns="0" rtlCol="0" anchor="t"/>
          <a:lstStyle/>
          <a:p>
            <a:pPr algn="l" indent="0" marL="0">
              <a:lnSpc>
                <a:spcPct val="115000"/>
              </a:lnSpc>
              <a:spcAft>
                <a:spcPts val="400"/>
              </a:spcAft>
              <a:buNone/>
            </a:pPr>
            <a:r>
              <a:rPr lang="en-US" sz="1600" dirty="0">
                <a:solidFill>
                  <a:srgbClr val="3D3D3A"/>
                </a:solidFill>
              </a:rPr>
              <a:t>+ 상태 코드와 겹치는 정보가 없다</a:t>
            </a:r>
            <a:endParaRPr lang="en-US" sz="1600" dirty="0"/>
          </a:p>
          <a:p>
            <a:pPr algn="l" indent="0" marL="0">
              <a:lnSpc>
                <a:spcPct val="115000"/>
              </a:lnSpc>
              <a:spcAft>
                <a:spcPts val="400"/>
              </a:spcAft>
              <a:buNone/>
            </a:pPr>
            <a:r>
              <a:rPr lang="en-US" sz="1600" dirty="0">
                <a:solidFill>
                  <a:srgbClr val="3D3D3A"/>
                </a:solidFill>
              </a:rPr>
              <a:t>− 응답마다 꺼내는 방식이 조금씩 다르다</a:t>
            </a:r>
            <a:endParaRPr lang="en-US" sz="1600" dirty="0"/>
          </a:p>
        </p:txBody>
      </p:sp>
      <p:sp>
        <p:nvSpPr>
          <p:cNvPr id="12" name="text"/>
          <p:cNvSpPr txBox="1"/>
          <p:nvPr/>
        </p:nvSpPr>
        <p:spPr>
          <a:xfrm>
            <a:off x="6208776" y="1581912"/>
            <a:ext cx="5330952" cy="365760"/>
          </a:xfrm>
          <a:prstGeom prst="rect">
            <a:avLst/>
          </a:prstGeom>
          <a:noFill/>
          <a:ln/>
        </p:spPr>
        <p:txBody>
          <a:bodyPr wrap="square" lIns="0" tIns="0" rIns="0" bIns="0" rtlCol="0" anchor="t"/>
          <a:lstStyle/>
          <a:p>
            <a:pPr algn="l" indent="0" marL="0">
              <a:lnSpc>
                <a:spcPct val="115000"/>
              </a:lnSpc>
              <a:spcAft>
                <a:spcPts val="600"/>
              </a:spcAft>
              <a:buNone/>
            </a:pPr>
            <a:r>
              <a:rPr lang="en-US" sz="2000" b="1" dirty="0">
                <a:solidFill>
                  <a:schemeClr val="tx1"/>
                </a:solidFill>
              </a:rPr>
              <a:t>감싸기 (envelope)</a:t>
            </a:r>
            <a:endParaRPr lang="en-US" sz="2000" dirty="0"/>
          </a:p>
        </p:txBody>
      </p:sp>
      <p:sp>
        <p:nvSpPr>
          <p:cNvPr id="13" name="code-window"/>
          <p:cNvSpPr/>
          <p:nvPr/>
        </p:nvSpPr>
        <p:spPr>
          <a:xfrm>
            <a:off x="6208776" y="2084832"/>
            <a:ext cx="5330952" cy="2103120"/>
          </a:xfrm>
          <a:prstGeom prst="roundRect">
            <a:avLst>
              <a:gd name="adj" fmla="val 5217"/>
            </a:avLst>
          </a:prstGeom>
          <a:solidFill>
            <a:schemeClr val="tx2"/>
          </a:solidFill>
          <a:ln/>
        </p:spPr>
      </p:sp>
      <p:sp>
        <p:nvSpPr>
          <p:cNvPr id="14" name="code-window-dot"/>
          <p:cNvSpPr/>
          <p:nvPr/>
        </p:nvSpPr>
        <p:spPr>
          <a:xfrm>
            <a:off x="6409944" y="2231136"/>
            <a:ext cx="100584" cy="100584"/>
          </a:xfrm>
          <a:prstGeom prst="ellipse">
            <a:avLst/>
          </a:prstGeom>
          <a:solidFill>
            <a:srgbClr val="4A4844"/>
          </a:solidFill>
          <a:ln/>
        </p:spPr>
      </p:sp>
      <p:sp>
        <p:nvSpPr>
          <p:cNvPr id="15" name="code-window-dot"/>
          <p:cNvSpPr/>
          <p:nvPr/>
        </p:nvSpPr>
        <p:spPr>
          <a:xfrm>
            <a:off x="6583680" y="2231136"/>
            <a:ext cx="100584" cy="100584"/>
          </a:xfrm>
          <a:prstGeom prst="ellipse">
            <a:avLst/>
          </a:prstGeom>
          <a:solidFill>
            <a:srgbClr val="4A4844"/>
          </a:solidFill>
          <a:ln/>
        </p:spPr>
      </p:sp>
      <p:sp>
        <p:nvSpPr>
          <p:cNvPr id="16" name="code-window-dot"/>
          <p:cNvSpPr/>
          <p:nvPr/>
        </p:nvSpPr>
        <p:spPr>
          <a:xfrm>
            <a:off x="6757416" y="2231136"/>
            <a:ext cx="100584" cy="100584"/>
          </a:xfrm>
          <a:prstGeom prst="ellipse">
            <a:avLst/>
          </a:prstGeom>
          <a:solidFill>
            <a:srgbClr val="4A4844"/>
          </a:solidFill>
          <a:ln/>
        </p:spPr>
      </p:sp>
      <p:sp>
        <p:nvSpPr>
          <p:cNvPr id="17" name="code-window-text"/>
          <p:cNvSpPr txBox="1"/>
          <p:nvPr/>
        </p:nvSpPr>
        <p:spPr>
          <a:xfrm>
            <a:off x="6464808" y="2523744"/>
            <a:ext cx="4873752" cy="1554480"/>
          </a:xfrm>
          <a:prstGeom prst="rect">
            <a:avLst/>
          </a:prstGeom>
          <a:noFill/>
          <a:ln/>
        </p:spPr>
        <p:txBody>
          <a:bodyPr wrap="square" lIns="0" tIns="0" rIns="0" bIns="0" rtlCol="0" anchor="t"/>
          <a:lstStyle/>
          <a:p>
            <a:pPr algn="l" indent="0" marL="0">
              <a:lnSpc>
                <a:spcPct val="105000"/>
              </a:lnSpc>
              <a:buNone/>
            </a:pPr>
            <a:r>
              <a:rPr lang="en-US" sz="1500" dirty="0">
                <a:solidFill>
                  <a:schemeClr val="bg1"/>
                </a:solidFill>
                <a:latin typeface="JetBrains Mono" pitchFamily="34" charset="0"/>
                <a:ea typeface="JetBrains Mono" pitchFamily="34" charset="-122"/>
                <a:cs typeface="JetBrains Mono" pitchFamily="34" charset="-120"/>
              </a:rPr>
              <a:t>{</a:t>
            </a:r>
            <a:endParaRPr lang="en-US" sz="1500" dirty="0"/>
          </a:p>
          <a:p>
            <a:pPr algn="l" indent="0" marL="0">
              <a:lnSpc>
                <a:spcPct val="105000"/>
              </a:lnSpc>
              <a:buNone/>
            </a:pPr>
            <a:r>
              <a:rPr lang="en-US" sz="1500" dirty="0">
                <a:solidFill>
                  <a:srgbClr val="E5806F"/>
                </a:solidFill>
                <a:latin typeface="JetBrains Mono" pitchFamily="34" charset="0"/>
                <a:ea typeface="JetBrains Mono" pitchFamily="34" charset="-122"/>
                <a:cs typeface="JetBrains Mono" pitchFamily="34" charset="-120"/>
              </a:rPr>
              <a:t>  "success": true,</a:t>
            </a:r>
            <a:endParaRPr lang="en-US" sz="1500" dirty="0"/>
          </a:p>
          <a:p>
            <a:pPr algn="l" indent="0" marL="0">
              <a:lnSpc>
                <a:spcPct val="105000"/>
              </a:lnSpc>
              <a:buNone/>
            </a:pPr>
            <a:r>
              <a:rPr lang="en-US" sz="1500" dirty="0">
                <a:solidFill>
                  <a:schemeClr val="bg1"/>
                </a:solidFill>
                <a:latin typeface="JetBrains Mono" pitchFamily="34" charset="0"/>
                <a:ea typeface="JetBrains Mono" pitchFamily="34" charset="-122"/>
                <a:cs typeface="JetBrains Mono" pitchFamily="34" charset="-120"/>
              </a:rPr>
              <a:t>  "data": { "id": 42, … }</a:t>
            </a:r>
            <a:endParaRPr lang="en-US" sz="1500" dirty="0"/>
          </a:p>
          <a:p>
            <a:pPr algn="l" indent="0" marL="0">
              <a:lnSpc>
                <a:spcPct val="105000"/>
              </a:lnSpc>
              <a:buNone/>
            </a:pPr>
            <a:r>
              <a:rPr lang="en-US" sz="1500" dirty="0">
                <a:solidFill>
                  <a:schemeClr val="bg1"/>
                </a:solidFill>
                <a:latin typeface="JetBrains Mono" pitchFamily="34" charset="0"/>
                <a:ea typeface="JetBrains Mono" pitchFamily="34" charset="-122"/>
                <a:cs typeface="JetBrains Mono" pitchFamily="34" charset="-120"/>
              </a:rPr>
              <a:t>}</a:t>
            </a:r>
            <a:endParaRPr lang="en-US" sz="1500" dirty="0"/>
          </a:p>
        </p:txBody>
      </p:sp>
      <p:sp>
        <p:nvSpPr>
          <p:cNvPr id="18" name="text"/>
          <p:cNvSpPr txBox="1"/>
          <p:nvPr/>
        </p:nvSpPr>
        <p:spPr>
          <a:xfrm>
            <a:off x="6208776" y="4416552"/>
            <a:ext cx="5330952" cy="914400"/>
          </a:xfrm>
          <a:prstGeom prst="rect">
            <a:avLst/>
          </a:prstGeom>
          <a:noFill/>
          <a:ln/>
        </p:spPr>
        <p:txBody>
          <a:bodyPr wrap="square" lIns="0" tIns="0" rIns="0" bIns="0" rtlCol="0" anchor="t"/>
          <a:lstStyle/>
          <a:p>
            <a:pPr algn="l" indent="0" marL="0">
              <a:lnSpc>
                <a:spcPct val="115000"/>
              </a:lnSpc>
              <a:spcAft>
                <a:spcPts val="400"/>
              </a:spcAft>
              <a:buNone/>
            </a:pPr>
            <a:r>
              <a:rPr lang="en-US" sz="1600" dirty="0">
                <a:solidFill>
                  <a:srgbClr val="3D3D3A"/>
                </a:solidFill>
              </a:rPr>
              <a:t>+ 꺼내는 코드가 하나, 메타 정보 넣기 쉽다</a:t>
            </a:r>
            <a:endParaRPr lang="en-US" sz="1600" dirty="0"/>
          </a:p>
          <a:p>
            <a:pPr algn="l" indent="0" marL="0">
              <a:lnSpc>
                <a:spcPct val="115000"/>
              </a:lnSpc>
              <a:spcAft>
                <a:spcPts val="400"/>
              </a:spcAft>
              <a:buNone/>
            </a:pPr>
            <a:r>
              <a:rPr lang="en-US" sz="1600" dirty="0">
                <a:solidFill>
                  <a:srgbClr val="3D3D3A"/>
                </a:solidFill>
              </a:rPr>
              <a:t>− success가 상태 코드와 중복된다</a:t>
            </a:r>
            <a:endParaRPr lang="en-US" sz="1600" dirty="0"/>
          </a:p>
        </p:txBody>
      </p:sp>
      <p:sp>
        <p:nvSpPr>
          <p:cNvPr id="19" name="text"/>
          <p:cNvSpPr txBox="1"/>
          <p:nvPr/>
        </p:nvSpPr>
        <p:spPr>
          <a:xfrm>
            <a:off x="649224" y="5349240"/>
            <a:ext cx="10890504" cy="457200"/>
          </a:xfrm>
          <a:prstGeom prst="rect">
            <a:avLst/>
          </a:prstGeom>
          <a:noFill/>
          <a:ln/>
        </p:spPr>
        <p:txBody>
          <a:bodyPr wrap="square" lIns="0" tIns="0" rIns="0" bIns="0" rtlCol="0" anchor="t"/>
          <a:lstStyle/>
          <a:p>
            <a:pPr algn="l" indent="0" marL="0">
              <a:lnSpc>
                <a:spcPct val="115000"/>
              </a:lnSpc>
              <a:spcAft>
                <a:spcPts val="600"/>
              </a:spcAft>
              <a:buNone/>
            </a:pPr>
            <a:r>
              <a:rPr lang="en-US" sz="1800" b="1" dirty="0">
                <a:solidFill>
                  <a:schemeClr val="tx1"/>
                </a:solidFill>
              </a:rPr>
              <a:t>어느 쪽이든: 목록은 content + page · camelCase · ISO 8601</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버전: /api/v1</a:t>
            </a:r>
            <a:endParaRPr lang="en-US" sz="32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4023360"/>
                <a:gridCol w="3657600"/>
                <a:gridCol w="3209544"/>
              </a:tblGrid>
              <a:tr h="475488">
                <a:tc>
                  <a:txBody>
                    <a:bodyPr/>
                    <a:lstStyle/>
                    <a:p>
                      <a:pPr indent="0" marL="0">
                        <a:buNone/>
                      </a:pPr>
                      <a:r>
                        <a:rPr lang="en-US" sz="1400" dirty="0">
                          <a:solidFill>
                            <a:schemeClr val="accent3"/>
                          </a:solidFill>
                        </a:rPr>
                        <a:t>변경</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예전 클라이언트</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v2 필요?</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700" dirty="0">
                          <a:solidFill>
                            <a:schemeClr val="tx1"/>
                          </a:solidFill>
                        </a:rPr>
                        <a:t>칸 추가</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모르는 칸은 무시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필요 없음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칸 삭제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읽으려던 값이 없음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필요</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이름 변경 (writer → author)</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못 찾음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필요</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타입 변경 (글자 → 객체)</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읽다가 실패</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필요</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6" name="text"/>
          <p:cNvSpPr txBox="1"/>
          <p:nvPr/>
        </p:nvSpPr>
        <p:spPr>
          <a:xfrm>
            <a:off x="649224" y="4297680"/>
            <a:ext cx="10890504" cy="457200"/>
          </a:xfrm>
          <a:prstGeom prst="rect">
            <a:avLst/>
          </a:prstGeom>
          <a:noFill/>
          <a:ln/>
        </p:spPr>
        <p:txBody>
          <a:bodyPr wrap="square" lIns="0" tIns="0" rIns="0" bIns="0" rtlCol="0" anchor="t"/>
          <a:lstStyle/>
          <a:p>
            <a:pPr algn="l" indent="0" marL="0">
              <a:lnSpc>
                <a:spcPct val="115000"/>
              </a:lnSpc>
              <a:spcAft>
                <a:spcPts val="600"/>
              </a:spcAft>
              <a:buNone/>
            </a:pPr>
            <a:r>
              <a:rPr lang="en-US" sz="1800" dirty="0">
                <a:solidFill>
                  <a:srgbClr val="3D3D3A"/>
                </a:solidFill>
              </a:rPr>
              <a:t>v1과 v2를 같이 운영 → v1 요청이 거의 없어지면 닫는다</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글결이 쓰는 상태 코드</a:t>
            </a:r>
            <a:endParaRPr lang="en-US" sz="3200" dirty="0"/>
          </a:p>
        </p:txBody>
      </p:sp>
      <p:pic>
        <p:nvPicPr>
          <p:cNvPr id="5" name="screenshot" descr="/tmp/slide-img-390-omi49hu4be.png">    </p:cNvPr>
          <p:cNvPicPr>
            <a:picLocks noChangeAspect="1"/>
          </p:cNvPicPr>
          <p:nvPr/>
        </p:nvPicPr>
        <p:blipFill>
          <a:blip r:embed="rId1"/>
          <a:stretch>
            <a:fillRect/>
          </a:stretch>
        </p:blipFill>
        <p:spPr>
          <a:xfrm>
            <a:off x="649224" y="1581912"/>
            <a:ext cx="10890504" cy="4534006"/>
          </a:xfrm>
          <a:prstGeom prst="rect">
            <a:avLst/>
          </a:prstGeom>
        </p:spPr>
      </p:pic>
      <p:sp>
        <p:nvSpPr>
          <p:cNvPr id="6" name="screenshot-frame"/>
          <p:cNvSpPr/>
          <p:nvPr/>
        </p:nvSpPr>
        <p:spPr>
          <a:xfrm>
            <a:off x="649224" y="1581912"/>
            <a:ext cx="10890504" cy="4534006"/>
          </a:xfrm>
          <a:prstGeom prst="rect">
            <a:avLst/>
          </a:prstGeom>
          <a:ln w="9525">
            <a:solidFill>
              <a:srgbClr val="E6DFD8"/>
            </a:solidFill>
            <a:prstDash val="solid"/>
          </a:ln>
        </p:spPr>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REST Docs에 API 하나가 적힌 모양</a:t>
            </a:r>
            <a:endParaRPr lang="en-US" sz="3200" dirty="0"/>
          </a:p>
        </p:txBody>
      </p:sp>
      <p:pic>
        <p:nvPicPr>
          <p:cNvPr id="5" name="screenshot" descr="/tmp/slide-img-390-dlwojwvsgpj.png">    </p:cNvPr>
          <p:cNvPicPr>
            <a:picLocks noChangeAspect="1"/>
          </p:cNvPicPr>
          <p:nvPr/>
        </p:nvPicPr>
        <p:blipFill>
          <a:blip r:embed="rId1"/>
          <a:stretch>
            <a:fillRect/>
          </a:stretch>
        </p:blipFill>
        <p:spPr>
          <a:xfrm>
            <a:off x="649224" y="1581912"/>
            <a:ext cx="3477768" cy="3019780"/>
          </a:xfrm>
          <a:prstGeom prst="rect">
            <a:avLst/>
          </a:prstGeom>
        </p:spPr>
      </p:pic>
      <p:sp>
        <p:nvSpPr>
          <p:cNvPr id="6" name="screenshot-frame"/>
          <p:cNvSpPr/>
          <p:nvPr/>
        </p:nvSpPr>
        <p:spPr>
          <a:xfrm>
            <a:off x="649224" y="1581912"/>
            <a:ext cx="3477768" cy="3019780"/>
          </a:xfrm>
          <a:prstGeom prst="rect">
            <a:avLst/>
          </a:prstGeom>
          <a:ln w="9525">
            <a:solidFill>
              <a:srgbClr val="E6DFD8"/>
            </a:solidFill>
            <a:prstDash val="solid"/>
          </a:ln>
        </p:spPr>
      </p:sp>
      <p:pic>
        <p:nvPicPr>
          <p:cNvPr id="7" name="screenshot" descr="/tmp/slide-img-390-9awwv4ipaxr.png">    </p:cNvPr>
          <p:cNvPicPr>
            <a:picLocks noChangeAspect="1"/>
          </p:cNvPicPr>
          <p:nvPr/>
        </p:nvPicPr>
        <p:blipFill>
          <a:blip r:embed="rId2"/>
          <a:stretch>
            <a:fillRect/>
          </a:stretch>
        </p:blipFill>
        <p:spPr>
          <a:xfrm>
            <a:off x="4355592" y="1581912"/>
            <a:ext cx="3477768" cy="2850790"/>
          </a:xfrm>
          <a:prstGeom prst="rect">
            <a:avLst/>
          </a:prstGeom>
        </p:spPr>
      </p:pic>
      <p:sp>
        <p:nvSpPr>
          <p:cNvPr id="8" name="screenshot-frame"/>
          <p:cNvSpPr/>
          <p:nvPr/>
        </p:nvSpPr>
        <p:spPr>
          <a:xfrm>
            <a:off x="4355592" y="1581912"/>
            <a:ext cx="3477768" cy="2850790"/>
          </a:xfrm>
          <a:prstGeom prst="rect">
            <a:avLst/>
          </a:prstGeom>
          <a:ln w="9525">
            <a:solidFill>
              <a:srgbClr val="E6DFD8"/>
            </a:solidFill>
            <a:prstDash val="solid"/>
          </a:ln>
        </p:spPr>
      </p:sp>
      <p:pic>
        <p:nvPicPr>
          <p:cNvPr id="9" name="screenshot" descr="/tmp/slide-img-390-3jqw6f0es42.png">    </p:cNvPr>
          <p:cNvPicPr>
            <a:picLocks noChangeAspect="1"/>
          </p:cNvPicPr>
          <p:nvPr/>
        </p:nvPicPr>
        <p:blipFill>
          <a:blip r:embed="rId3"/>
          <a:stretch>
            <a:fillRect/>
          </a:stretch>
        </p:blipFill>
        <p:spPr>
          <a:xfrm>
            <a:off x="8061960" y="1581912"/>
            <a:ext cx="3477768" cy="2515259"/>
          </a:xfrm>
          <a:prstGeom prst="rect">
            <a:avLst/>
          </a:prstGeom>
        </p:spPr>
      </p:pic>
      <p:sp>
        <p:nvSpPr>
          <p:cNvPr id="10" name="screenshot-frame"/>
          <p:cNvSpPr/>
          <p:nvPr/>
        </p:nvSpPr>
        <p:spPr>
          <a:xfrm>
            <a:off x="8061960" y="1581912"/>
            <a:ext cx="3477768" cy="2515259"/>
          </a:xfrm>
          <a:prstGeom prst="rect">
            <a:avLst/>
          </a:prstGeom>
          <a:ln w="9525">
            <a:solidFill>
              <a:srgbClr val="E6DFD8"/>
            </a:solidFill>
            <a:prstDash val="solid"/>
          </a:ln>
        </p:spPr>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MSA에서 보는 502 · 503 · 504</a:t>
            </a:r>
            <a:endParaRPr lang="en-US" sz="32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1371600"/>
                <a:gridCol w="3566160"/>
                <a:gridCol w="5952744"/>
              </a:tblGrid>
              <a:tr h="475488">
                <a:tc>
                  <a:txBody>
                    <a:bodyPr/>
                    <a:lstStyle/>
                    <a:p>
                      <a:pPr indent="0" marL="0">
                        <a:buNone/>
                      </a:pPr>
                      <a:r>
                        <a:rPr lang="en-US" sz="1400" dirty="0">
                          <a:solidFill>
                            <a:schemeClr val="accent3"/>
                          </a:solidFill>
                        </a:rPr>
                        <a:t>코드</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이름</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언제</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700" dirty="0">
                          <a:solidFill>
                            <a:schemeClr val="accent6"/>
                          </a:solidFill>
                          <a:latin typeface="JetBrains Mono" pitchFamily="34" charset="0"/>
                          <a:ea typeface="JetBrains Mono" pitchFamily="34" charset="-122"/>
                          <a:cs typeface="JetBrains Mono" pitchFamily="34" charset="-120"/>
                        </a:rPr>
                        <a:t>502</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Bad Gateway</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뒤쪽 서비스가 잘못된 응답을 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accent6"/>
                          </a:solidFill>
                          <a:latin typeface="JetBrains Mono" pitchFamily="34" charset="0"/>
                          <a:ea typeface="JetBrains Mono" pitchFamily="34" charset="-122"/>
                          <a:cs typeface="JetBrains Mono" pitchFamily="34" charset="-120"/>
                        </a:rPr>
                        <a:t>503</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Service Unavailable</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과부하 · 점검 · 배포 중</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accent6"/>
                          </a:solidFill>
                          <a:latin typeface="JetBrains Mono" pitchFamily="34" charset="0"/>
                          <a:ea typeface="JetBrains Mono" pitchFamily="34" charset="-122"/>
                          <a:cs typeface="JetBrains Mono" pitchFamily="34" charset="-120"/>
                        </a:rPr>
                        <a:t>504</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Gateway Timeout</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제한 시간 안에 응답이 없음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6" name="text"/>
          <p:cNvSpPr txBox="1"/>
          <p:nvPr/>
        </p:nvSpPr>
        <p:spPr>
          <a:xfrm>
            <a:off x="649224" y="3657600"/>
            <a:ext cx="10890504" cy="457200"/>
          </a:xfrm>
          <a:prstGeom prst="rect">
            <a:avLst/>
          </a:prstGeom>
          <a:noFill/>
          <a:ln/>
        </p:spPr>
        <p:txBody>
          <a:bodyPr wrap="square" lIns="0" tIns="0" rIns="0" bIns="0" rtlCol="0" anchor="t"/>
          <a:lstStyle/>
          <a:p>
            <a:pPr algn="l" indent="0" marL="0">
              <a:lnSpc>
                <a:spcPct val="115000"/>
              </a:lnSpc>
              <a:spcAft>
                <a:spcPts val="600"/>
              </a:spcAft>
              <a:buNone/>
            </a:pPr>
            <a:r>
              <a:rPr lang="en-US" sz="1800" dirty="0">
                <a:solidFill>
                  <a:srgbClr val="3D3D3A"/>
                </a:solidFill>
              </a:rPr>
              <a:t>다른 서비스의 에러는 그대로 넘기지 않고 내 API의 에러 형식으로 바꾼다</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REST 발표">
  <a:themeElements>
    <a:clrScheme name="REST 발표">
      <a:dk1>
        <a:srgbClr val="141413"/>
      </a:dk1>
      <a:lt1>
        <a:srgbClr val="FAF9F5"/>
      </a:lt1>
      <a:dk2>
        <a:srgbClr val="181715"/>
      </a:dk2>
      <a:lt2>
        <a:srgbClr val="EFE9DE"/>
      </a:lt2>
      <a:accent1>
        <a:srgbClr val="CC785C"/>
      </a:accent1>
      <a:accent2>
        <a:srgbClr val="A9583E"/>
      </a:accent2>
      <a:accent3>
        <a:srgbClr val="6C6A64"/>
      </a:accent3>
      <a:accent4>
        <a:srgbClr val="E8A55A"/>
      </a:accent4>
      <a:accent5>
        <a:srgbClr val="5DB8A6"/>
      </a:accent5>
      <a:accent6>
        <a:srgbClr val="C64545"/>
      </a:accent6>
      <a:hlink>
        <a:srgbClr val="A9583E"/>
      </a:hlink>
      <a:folHlink>
        <a:srgbClr val="6C6A64"/>
      </a:folHlink>
    </a:clrScheme>
    <a:fontScheme name="REST 발표">
      <a:majorFont>
        <a:latin typeface="Noto Serif KR"/>
        <a:ea typeface="Noto Serif KR"/>
        <a:cs typeface=""/>
        <a:font script="Jpan" typeface="游ゴシック Light"/>
        <a:font script="Hang" typeface="Noto Serif KR"/>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Pretendard"/>
        <a:cs typeface=""/>
        <a:font script="Jpan" typeface="游ゴシック"/>
        <a:font script="Hang" typeface="Pretendard"/>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RESTful API 설계</dc:title>
  <dc:subject>PptxGenJS Presentation</dc:subject>
  <dc:creator>이재웅</dc:creator>
  <cp:lastModifiedBy>이재웅</cp:lastModifiedBy>
  <cp:revision>1</cp:revision>
  <dcterms:created xsi:type="dcterms:W3CDTF">2026-10-14T15:56:48Z</dcterms:created>
  <dcterms:modified xsi:type="dcterms:W3CDTF">2026-10-14T15:56:48Z</dcterms:modified>
</cp:coreProperties>
</file>