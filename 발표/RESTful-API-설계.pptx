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이재웅입니다. 오늘은 REST API를 설계할 때 팀이 정해야 하는 규칙들을, 문법보다 왜 그렇게 정하는지 위주로 이야기하겠습니다. 마지막에는 제 프로젝트 글결의 실제 API 문서와 에러 응답을 보여 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REST는 HTTP를 이렇게 쓰자는 설계 스타일입니다. 자원은 URL로, 행동은 메서드로, 결과는 상태 코드로 표현합니다. 이 한 줄만 봐도 42번 글을 지웠고 성공했다는 걸 알 수 있습니다. 다만 REST는 표준 규격이 아니라서 세부 규칙은 팀이 정해야 하고, 오늘 이야기는 그 규칙들입니다.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URL에 동사를 넣으면 기능마다 주소가 늘고, 같은 권한 검사를 주소마다 걸어야 해서 하나만 빠져도 구멍이 됩니다. 그래서 주소는 자원만 가리키고 행동은 메서드에 맡깁니다. 특히 GET으로 삭제하면 안 됩니다. 크롤러나 메신저의 링크 미리보기는 GET을 마음대로 보내서, 링크를 공유만 해도 글이 지워질 수 있습니다. 컬렉션은 복수형으로 통일하고, URL 경로는 대소문자를 구분해서 한 글자만 틀려도 404가 나니 전부 소문자로 쓰고 단어는 하이픈으로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경로 계층으로 표현하되, 자원 두 개 정도까지만 둡니다. 더 깊어지면 앞의 id를 전부 알아야 부를 수 있고, 서버도 단계마다 짝이 맞는지 검사해야 합니다. 댓글처럼 id 하나로 찾을 수 있는 자원은 /comments/7처럼 최상위로 끊는 게 흔한 선택입니다. 어떤 자원인지는 경로에, 검색어나 정렬, 쪽 번호처럼 보여 주는 방식은 쿼리에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실무에서는 CRUD로 안 떨어지는 행위가 꼭 나옵니다. 주문 취소를 예로 들면 세 가지 방법이 있습니다. 상태 값만 바꾸는 PATCH는 단순하지만, 취소에 환불이나 재고 복구가 따라오면 그 일이 요청에 드러나지 않고, 권한도 일반 수정과 나누기 어렵습니다. 그래서 부수 작업이 있는 행위는 POST로 cancel을 붙이거나, 취소 자체를 자원으로 만들어 이력을 남깁니다. 동사를 무조건 막는 게 목적이 아니라, 의도가 드러나게 하는 게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메서드를 고르는 기준은 두 가지입니다. 안전은 서버 상태를 바꾸지 않는다는 뜻이라, GET은 캐시나 프리페치가 마음대로 불러도 됩니다. 멱등은 여러 번 보내도 결과가 같다는 뜻이라, 타임아웃이 났을 때 그냥 다시 보내도 되는지 판단하는 기준이 됩니다. PUT은 자원 전체를 교체해서 안 보낸 칸이 비워질 수 있으니 일부 수정에는 PATCH를 씁니다. PATCH는 값을 바꾸면 멱등이지만, 조회수 1 증가처럼 연산을 보내면 멱등이 아니라서 세모입니다.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POST는 멱등이 아니라서 버튼을 두 번 누르거나 네트워크가 다시 보내면 두 번 처리됩니다. 버튼 비활성화는 화면 하나만 막을 뿐이라, 결제처럼 중요한 요청은 서버에서 막습니다. 클라이언트가 요청마다 고유한 키를 만들어 보내고, 서버는 같은 키가 다시 오면 처리하지 않고 저장해 둔 결과를 돌려줍니다. 제 프로젝트에서도 글쓰기 화면을 열 때 키를 만들어서 같은 글이 두 번 생기지 않게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쓰는 건 이 정도입니다. 생성은 201과 함께 Location 헤더에 새 자원의 주소를, 삭제는 바디 없이 204를 줍니다. 헷갈리는 건 401과 403입니다. 401은 누구인지 모르는 것, 403은 누구인지는 알지만 권한이 없는 것입니다. 409는 중복 가입이나 동시 수정처럼 현재 상태와 충돌할 때 씁니다. 그리고 남의 비공개 글처럼 존재 자체를 숨겨야 할 때는 일부러 403 대신 404를 주기도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보는 안티패턴이 실패를 200으로 보내고 바디에 success false를 담는 방식입니다. APM 같은 모니터링, 로드밸런서, 캐시, 자동 재시도, 프론트엔드의 HTTP 클라이언트는 모두 바디가 아니라 상태 코드를 봅니다. 그래서 장애가 나도 대시보드는 정상으로 보이고, 실패 응답이 캐시되기도 합니다. 실패는 4xx, 5xx로 보내고, 세밀한 구분은 바디의 에러 코드로 합니다. 오른쪽은 예제 서버에 실제로 보낸 요청입니다.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에러는 모든 API가 같은 모양으로 보냅니다. 예제 서버는 RFC 9457 표준인 ProblemDetail에, 팀 에러 코드인 code와 입력값 오류일 때 필드별 errors를 붙였습니다. 프론트엔드는 code로 분기하고 detail은 화면에 보여 주기만 합니다. 문장으로 분기하면 문구 하나 고칠 때 화면이 깨지기 때문입니다. 표준을 따를지 팀 형식을 쓸지는 선택이지만, 하나로 통일하는 게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성공 응답을 감쌀지는 팀마다 갈립니다. 감싸면 프론트엔드가 응답을 꺼내는 코드가 하나로 통일되고 메타 정보를 넣기 쉽습니다. 대신 success 필드는 상태 코드와 같은 정보를 두 번 보내는 셈이라, 이걸로 분기하다 보면 앞의 200 안티패턴으로 가기 쉽습니다. 어느 쪽이든 목록은 페이지 정보와 함께 감싸고, 필드는 camelCase, 시각은 ISO 8601로 맞춥니다.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예상 못 한 예외가 나도 스택 트레이스나 SQL, 테이블 이름은 응답에 넣지 않습니다. 공격자에게 내부 구조를 알려 주기 때문입니다. 대신 요청마다 traceId를 만들어 응답에는 그 값만, 서버 로그에는 같은 traceId와 전체 스택 트레이스를 남깁니다. 사용자가 문의하면 traceId 하나로 로그를 바로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형식을 모든 API가 지키게 하는 게 전역 예외 처리입니다. 검증은 두 층으로 나눕니다. 빈 제목처럼 값만 보면 아는 건 DTO에 규칙을 적어 컨트롤러 메서드에 들어오기 전에 걸러지고, 없는 글이나 중복 제목처럼 DB를 봐야 아는 건 서비스에서 예외를 던집니다. 컨트롤러에는 try-catch가 없고, 예외는 호출한 쪽으로 올라가 @RestControllerAdvice 한 곳에서 상태 코드와 에러 형식으로 바뀝니다. 다만 Spring Security 필터에서 난 인증 오류는 컨트롤러 밖이라 여기서 잡히지 않으니 따로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프로젝트의 실제 코드입니다. 에러 코드는 enum 하나에 상태 코드와 제목을 같이 묶어 둡니다. 새 에러가 생기면 여기에 한 줄 추가하고, 서비스는 throw 한 줄로 끝납니다. 처리기는 예외 종류마다 어떤 응답을 만들지 적어 둔 곳이라, 에러 형식이 한 곳에서만 정해집니다. 화면에서 이미 검사했더라도 서버 검증은 생략하지 않습니다. curl이나 Postman으로 화면 없이 호출할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조건은 전부 쿼리로 받습니다. 필터는 필드 이름 그대로, 검색어는 keyword로, 정렬은 필드와 방향을 받습니다. 정렬은 여러 개를 받게 하고 마지막에 id를 붙여서, 같은 시각에 쓴 글이 페이지마다 순서가 바뀌지 않게 합니다. page는 Spring 기본이 0부터라 문서에 꼭 적습니다. 그리고 서버는 size 최댓값과 정렬할 수 있는 필드를 정해 둡니다. 인덱스 없는 컬럼 정렬이나 size 백만 같은 요청 하나로 DB가 멈출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응답에는 목록과 함께 페이지 정보를 줘야 화면이 쪽 번호를 그립니다. 결과가 없으면 404가 아니라 200과 빈 배열입니다. 전체 개수는 공짜가 아닙니다. 이를 위해 count 쿼리가 한 번 더 나가니, 쪽 번호가 필요 없는 무한 스크롤이라면 다음 페이지가 있는지만 알려 주는 게 더 가볍습니다.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페이징 방식은 두 가지입니다. 오프셋은 쪽 번호로 바로 이동할 수 있어 게시판에 맞지만, 뒤 페이지일수록 앞의 행을 읽고 버리는 비용이 커지고, 그 사이 글이 추가되면 중복이나 누락이 생깁니다. 커서는 마지막으로 본 id 다음부터 인덱스로 바로 찾아서 속도가 일정하고 중복도 없지만, 42쪽으로 바로 가는 건 못 합니다. 그래서 쪽 번호가 보이는 게시판은 오프셋, 피드나 무한 스크롤은 커서를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문서는 손으로 쓰면 코드와 금방 어긋나서 코드에서 만듭니다. Swagger는 springdoc 의존성만 넣으면 컨트롤러를 읽어 자동으로 만들고 화면에서 바로 호출해 볼 수 있지만, 설명을 붙이려면 운영 코드에 어노테이션이 늘어납니다. REST Docs는 테스트가 통과해야 문서가 생겨서 실제 동작과 어긋나지 않지만, API마다 테스트를 써야 합니다. 그래서 REST Docs 테스트로 OpenAPI 명세를 만들고 Swagger UI로 보여 주는 혼합 방식도 많이 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 프로젝트 글결의 문서입니다. Swagger에서 API가 로그인, 블로그, 글처럼 묶음별로 보이고, 메서드가 색으로 구분됩니다.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하나를 펼치면 필요한 CSRF 머리글, 요청 바디 예시, 응답 코드별 예시가 나옵니다. 성공하면 201, 제목을 비우면 400입니다. Try it out으로 바로 호출해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 Docs 쪽은 테스트가 실제로 보내고 받은 요청과 응답으로 만든 문서입니다. 응답에 문서에 없는 칸이 생기거나 적은 칸이 사라지면 테스트가 실패해서, 문서가 코드와 어긋나지 않습니다. 전체 목록은 Swagger로, 주요 흐름은 예시와 함께 REST Docs로 나눴습니다.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글결의 에러 응답입니다. 글결은 표준 필드 대신 code, message, fieldErrors 세 칸으로 팀 형식을 정했습니다. 형식은 앞의 예제와 다르지만, 모든 API가 같은 모양이라는 원칙은 같습니다. 입력값 오류면 fieldErrors에 칸마다 까닭이 와서 제목 칸 옆에 바로 문구를 띄우고, 404도 같은 모양으로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정리하겠습니다. URL은 자원만, 행동은 메서드로 표현하고, 메서드는 안전성과 멱등성으로 고릅니다. 실패는 상태 코드로 알리고, 에러는 한 모양으로 보내되 내부 정보는 로그에만 남깁니다. 검증과 예외 처리는 한 곳에 모으고, 목록은 쿼리로 받되 서버가 한도를 정합니다. 그리고 이 규칙들은 코드에서 만든 문서로 공개합니다.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버전은 응답 구조를 깨는 변경이 필요할 때 예전 클라이언트를 지키려고 붙입니다. 칸을 더하는 건 예전 클라이언트가 모르는 칸을 무시하니 v1 그대로 두고, 칸을 빼거나 이름이나 타입을 바꿀 때만 v2를 엽니다. v1과 v2를 한동안 같이 운영하다가, v1 요청이 거의 없어지면 닫습니다. 웹만 쓰면 서버와 화면을 같이 배포하면 되지만, 앱이나 외부 서비스가 쓰면 꼭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글결은 400, 401, 403, 404, 409, 429를 씁니다. 남의 비공개 글은 403이 아니라 404로 답해서, 그 글이 있다는 사실도 드러나지 않게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댓글 쓰기 하나에 요청 머리글, 주소 안의 값, 요청 본문 칸, 실제 요청, 실제 응답, 응답 칸이 차례로 적혀 있습니다. 모두 테스트가 실제로 주고받은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MSA에서는 게이트웨이 뒤에 서비스가 여러 개 있습니다. 뒤쪽 서비스가 잘못된 응답을 주면 502, 과부하나 배포 중이면 503, 제한 시간 안에 응답이 없으면 504입니다. 그리고 다른 서비스의 에러를 그대로 넘기지 않고, 내 API의 에러 형식으로 바꿔서 돌려줍니다.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64000" y="2232000"/>
            <a:ext cx="10440000" cy="720000"/>
          </a:xfrm>
          <a:prstGeom prst="rect">
            <a:avLst/>
          </a:prstGeom>
          <a:noFill/>
        </p:spPr>
        <p:txBody>
          <a:bodyPr wrap="square">
            <a:spAutoFit/>
          </a:bodyPr>
          <a:lstStyle/>
          <a:p>
            <a:pPr algn="l">
              <a:spcAft>
                <a:spcPts val="1000"/>
              </a:spcAft>
            </a:pPr>
            <a:r>
              <a:rPr sz="4400" b="1">
                <a:solidFill>
                  <a:srgbClr val="222222"/>
                </a:solidFill>
                <a:latin typeface="맑은 고딕"/>
              </a:rPr>
              <a:t>RESTful API 설계</a:t>
            </a:r>
          </a:p>
        </p:txBody>
      </p:sp>
      <p:sp>
        <p:nvSpPr>
          <p:cNvPr id="3" name="TextBox 2"/>
          <p:cNvSpPr txBox="1"/>
          <p:nvPr/>
        </p:nvSpPr>
        <p:spPr>
          <a:xfrm>
            <a:off x="864000" y="3168000"/>
            <a:ext cx="10440000" cy="720000"/>
          </a:xfrm>
          <a:prstGeom prst="rect">
            <a:avLst/>
          </a:prstGeom>
          <a:noFill/>
        </p:spPr>
        <p:txBody>
          <a:bodyPr wrap="square">
            <a:spAutoFit/>
          </a:bodyPr>
          <a:lstStyle/>
          <a:p>
            <a:pPr algn="l">
              <a:spcAft>
                <a:spcPts val="1000"/>
              </a:spcAft>
            </a:pPr>
            <a:r>
              <a:rPr sz="2200" b="0">
                <a:solidFill>
                  <a:srgbClr val="757575"/>
                </a:solidFill>
                <a:latin typeface="맑은 고딕"/>
              </a:rPr>
              <a:t>URL · 메서드 · 상태 코드 · 에러 · 목록 · 문서</a:t>
            </a:r>
          </a:p>
        </p:txBody>
      </p:sp>
      <p:sp>
        <p:nvSpPr>
          <p:cNvPr id="4" name="TextBox 3"/>
          <p:cNvSpPr txBox="1"/>
          <p:nvPr/>
        </p:nvSpPr>
        <p:spPr>
          <a:xfrm>
            <a:off x="864000" y="5256000"/>
            <a:ext cx="10440000" cy="720000"/>
          </a:xfrm>
          <a:prstGeom prst="rect">
            <a:avLst/>
          </a:prstGeom>
          <a:noFill/>
        </p:spPr>
        <p:txBody>
          <a:bodyPr wrap="square">
            <a:spAutoFit/>
          </a:bodyPr>
          <a:lstStyle/>
          <a:p>
            <a:pPr algn="l">
              <a:spcAft>
                <a:spcPts val="1000"/>
              </a:spcAft>
            </a:pPr>
            <a:r>
              <a:rPr sz="1600" b="0">
                <a:solidFill>
                  <a:srgbClr val="757575"/>
                </a:solidFill>
                <a:latin typeface="맑은 고딕"/>
              </a:rPr>
              <a:t>이재웅 · 2026.10.16</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REST로 설계한다는 것</a:t>
            </a:r>
          </a:p>
        </p:txBody>
      </p:sp>
      <p:sp>
        <p:nvSpPr>
          <p:cNvPr id="3" name="TextBox 2"/>
          <p:cNvSpPr txBox="1"/>
          <p:nvPr/>
        </p:nvSpPr>
        <p:spPr>
          <a:xfrm>
            <a:off x="576000" y="1872000"/>
            <a:ext cx="11160000" cy="720000"/>
          </a:xfrm>
          <a:prstGeom prst="rect">
            <a:avLst/>
          </a:prstGeom>
          <a:noFill/>
        </p:spPr>
        <p:txBody>
          <a:bodyPr wrap="square">
            <a:spAutoFit/>
          </a:bodyPr>
          <a:lstStyle/>
          <a:p>
            <a:pPr algn="l">
              <a:spcAft>
                <a:spcPts val="1000"/>
              </a:spcAft>
            </a:pPr>
            <a:r>
              <a:rPr sz="3000" b="1">
                <a:solidFill>
                  <a:srgbClr val="1565C0"/>
                </a:solidFill>
                <a:latin typeface="Consolas"/>
              </a:rPr>
              <a:t>DELETE </a:t>
            </a:r>
            <a:r>
              <a:rPr sz="3000" b="0">
                <a:solidFill>
                  <a:srgbClr val="222222"/>
                </a:solidFill>
                <a:latin typeface="Consolas"/>
              </a:rPr>
              <a:t>/api/v1/posts/42</a:t>
            </a:r>
            <a:r>
              <a:rPr sz="3000" b="0">
                <a:solidFill>
                  <a:srgbClr val="757575"/>
                </a:solidFill>
                <a:latin typeface="Consolas"/>
              </a:rPr>
              <a:t>  →  </a:t>
            </a:r>
            <a:r>
              <a:rPr sz="3000" b="0">
                <a:solidFill>
                  <a:srgbClr val="2E7D32"/>
                </a:solidFill>
                <a:latin typeface="Consolas"/>
              </a:rPr>
              <a:t>204 No Content</a:t>
            </a:r>
          </a:p>
        </p:txBody>
      </p:sp>
      <p:sp>
        <p:nvSpPr>
          <p:cNvPr id="4" name="TextBox 3"/>
          <p:cNvSpPr txBox="1"/>
          <p:nvPr/>
        </p:nvSpPr>
        <p:spPr>
          <a:xfrm>
            <a:off x="576000" y="3456000"/>
            <a:ext cx="11160000" cy="720000"/>
          </a:xfrm>
          <a:prstGeom prst="rect">
            <a:avLst/>
          </a:prstGeom>
          <a:noFill/>
        </p:spPr>
        <p:txBody>
          <a:bodyPr wrap="square">
            <a:spAutoFit/>
          </a:bodyPr>
          <a:lstStyle/>
          <a:p>
            <a:pPr algn="l">
              <a:spcAft>
                <a:spcPts val="1000"/>
              </a:spcAft>
            </a:pPr>
            <a:r>
              <a:rPr sz="2400" b="1">
                <a:solidFill>
                  <a:srgbClr val="222222"/>
                </a:solidFill>
                <a:latin typeface="맑은 고딕"/>
              </a:rPr>
              <a:t>자원</a:t>
            </a:r>
            <a:r>
              <a:rPr sz="2400" b="0">
                <a:solidFill>
                  <a:srgbClr val="222222"/>
                </a:solidFill>
                <a:latin typeface="맑은 고딕"/>
              </a:rPr>
              <a:t>은 URL로   ·   </a:t>
            </a:r>
            <a:r>
              <a:rPr sz="2400" b="1">
                <a:solidFill>
                  <a:srgbClr val="222222"/>
                </a:solidFill>
                <a:latin typeface="맑은 고딕"/>
              </a:rPr>
              <a:t>행동</a:t>
            </a:r>
            <a:r>
              <a:rPr sz="2400" b="0">
                <a:solidFill>
                  <a:srgbClr val="222222"/>
                </a:solidFill>
                <a:latin typeface="맑은 고딕"/>
              </a:rPr>
              <a:t>은 메서드로   ·   </a:t>
            </a:r>
            <a:r>
              <a:rPr sz="2400" b="1">
                <a:solidFill>
                  <a:srgbClr val="222222"/>
                </a:solidFill>
                <a:latin typeface="맑은 고딕"/>
              </a:rPr>
              <a:t>결과</a:t>
            </a:r>
            <a:r>
              <a:rPr sz="2400" b="0">
                <a:solidFill>
                  <a:srgbClr val="222222"/>
                </a:solidFill>
                <a:latin typeface="맑은 고딕"/>
              </a:rPr>
              <a:t>는 상태 코드로</a:t>
            </a:r>
          </a:p>
        </p:txBody>
      </p:sp>
      <p:sp>
        <p:nvSpPr>
          <p:cNvPr id="5" name="TextBox 4"/>
          <p:cNvSpPr txBox="1"/>
          <p:nvPr/>
        </p:nvSpPr>
        <p:spPr>
          <a:xfrm>
            <a:off x="576000" y="5184000"/>
            <a:ext cx="11160000" cy="720000"/>
          </a:xfrm>
          <a:prstGeom prst="rect">
            <a:avLst/>
          </a:prstGeom>
          <a:noFill/>
        </p:spPr>
        <p:txBody>
          <a:bodyPr wrap="square">
            <a:spAutoFit/>
          </a:bodyPr>
          <a:lstStyle/>
          <a:p>
            <a:pPr algn="l">
              <a:spcAft>
                <a:spcPts val="1000"/>
              </a:spcAft>
            </a:pPr>
            <a:r>
              <a:rPr sz="1700" b="0">
                <a:solidFill>
                  <a:srgbClr val="757575"/>
                </a:solidFill>
                <a:latin typeface="맑은 고딕"/>
              </a:rPr>
              <a:t>REST는 표준 규격이 아니라 설계 스타일이다 → 세부 규칙은 팀이 정한다</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URL에는 자원만 쓴다</a:t>
            </a:r>
          </a:p>
        </p:txBody>
      </p:sp>
      <p:graphicFrame>
        <p:nvGraphicFramePr>
          <p:cNvPr id="3" name="Table 2"/>
          <p:cNvGraphicFramePr>
            <a:graphicFrameLocks noGrp="1"/>
          </p:cNvGraphicFramePr>
          <p:nvPr/>
        </p:nvGraphicFramePr>
        <p:xfrm>
          <a:off x="576000" y="1512000"/>
          <a:ext cx="11016000" cy="1980000"/>
        </p:xfrm>
        <a:graphic>
          <a:graphicData uri="http://schemas.openxmlformats.org/drawingml/2006/table">
            <a:tbl>
              <a:tblPr firstRow="1" bandRow="1">
                <a:tableStyleId>{5C22544A-7EE6-4342-B048-85BDC9FD1C3A}</a:tableStyleId>
              </a:tblPr>
              <a:tblGrid>
                <a:gridCol w="5508000"/>
                <a:gridCol w="5508000"/>
              </a:tblGrid>
              <a:tr h="396000">
                <a:tc>
                  <a:txBody>
                    <a:bodyPr/>
                    <a:lstStyle/>
                    <a:p>
                      <a:r>
                        <a:rPr sz="1900" b="1">
                          <a:solidFill>
                            <a:srgbClr val="222222"/>
                          </a:solidFill>
                          <a:latin typeface="맑은 고딕"/>
                        </a:rPr>
                        <a:t>흔히 보는 URL</a:t>
                      </a:r>
                    </a:p>
                  </a:txBody>
                  <a:tcPr marT="43200" marB="43200">
                    <a:solidFill>
                      <a:srgbClr val="ECECEC"/>
                    </a:solidFill>
                  </a:tcPr>
                </a:tc>
                <a:tc>
                  <a:txBody>
                    <a:bodyPr/>
                    <a:lstStyle/>
                    <a:p>
                      <a:r>
                        <a:rPr sz="1900" b="1">
                          <a:solidFill>
                            <a:srgbClr val="222222"/>
                          </a:solidFill>
                          <a:latin typeface="맑은 고딕"/>
                        </a:rPr>
                        <a:t>바꾼 URL</a:t>
                      </a:r>
                    </a:p>
                  </a:txBody>
                  <a:tcPr marT="43200" marB="43200">
                    <a:solidFill>
                      <a:srgbClr val="ECECEC"/>
                    </a:solidFill>
                  </a:tcPr>
                </a:tc>
              </a:tr>
              <a:tr h="396000">
                <a:tc>
                  <a:txBody>
                    <a:bodyPr/>
                    <a:lstStyle/>
                    <a:p>
                      <a:r>
                        <a:rPr sz="1900" b="0">
                          <a:solidFill>
                            <a:srgbClr val="C62828"/>
                          </a:solidFill>
                          <a:latin typeface="Consolas"/>
                        </a:rPr>
                        <a:t>GET  /getPosts</a:t>
                      </a:r>
                    </a:p>
                  </a:txBody>
                  <a:tcPr marT="43200" marB="43200">
                    <a:solidFill>
                      <a:srgbClr val="FFFFFF"/>
                    </a:solidFill>
                  </a:tcPr>
                </a:tc>
                <a:tc>
                  <a:txBody>
                    <a:bodyPr/>
                    <a:lstStyle/>
                    <a:p>
                      <a:r>
                        <a:rPr sz="1900" b="0">
                          <a:solidFill>
                            <a:srgbClr val="222222"/>
                          </a:solidFill>
                          <a:latin typeface="Consolas"/>
                        </a:rPr>
                        <a:t>GET    /posts</a:t>
                      </a:r>
                    </a:p>
                  </a:txBody>
                  <a:tcPr marT="43200" marB="43200">
                    <a:solidFill>
                      <a:srgbClr val="FFFFFF"/>
                    </a:solidFill>
                  </a:tcPr>
                </a:tc>
              </a:tr>
              <a:tr h="396000">
                <a:tc>
                  <a:txBody>
                    <a:bodyPr/>
                    <a:lstStyle/>
                    <a:p>
                      <a:r>
                        <a:rPr sz="1900" b="0">
                          <a:solidFill>
                            <a:srgbClr val="C62828"/>
                          </a:solidFill>
                          <a:latin typeface="Consolas"/>
                        </a:rPr>
                        <a:t>POST /posts/create</a:t>
                      </a:r>
                    </a:p>
                  </a:txBody>
                  <a:tcPr marT="43200" marB="43200">
                    <a:solidFill>
                      <a:srgbClr val="FFFFFF"/>
                    </a:solidFill>
                  </a:tcPr>
                </a:tc>
                <a:tc>
                  <a:txBody>
                    <a:bodyPr/>
                    <a:lstStyle/>
                    <a:p>
                      <a:r>
                        <a:rPr sz="1900" b="0">
                          <a:solidFill>
                            <a:srgbClr val="222222"/>
                          </a:solidFill>
                          <a:latin typeface="Consolas"/>
                        </a:rPr>
                        <a:t>POST   /posts</a:t>
                      </a:r>
                    </a:p>
                  </a:txBody>
                  <a:tcPr marT="43200" marB="43200">
                    <a:solidFill>
                      <a:srgbClr val="FFFFFF"/>
                    </a:solidFill>
                  </a:tcPr>
                </a:tc>
              </a:tr>
              <a:tr h="396000">
                <a:tc>
                  <a:txBody>
                    <a:bodyPr/>
                    <a:lstStyle/>
                    <a:p>
                      <a:r>
                        <a:rPr sz="1900" b="0">
                          <a:solidFill>
                            <a:srgbClr val="C62828"/>
                          </a:solidFill>
                          <a:latin typeface="Consolas"/>
                        </a:rPr>
                        <a:t>GET  /deletePost?id=42</a:t>
                      </a:r>
                    </a:p>
                  </a:txBody>
                  <a:tcPr marT="43200" marB="43200">
                    <a:solidFill>
                      <a:srgbClr val="FFFFFF"/>
                    </a:solidFill>
                  </a:tcPr>
                </a:tc>
                <a:tc>
                  <a:txBody>
                    <a:bodyPr/>
                    <a:lstStyle/>
                    <a:p>
                      <a:r>
                        <a:rPr sz="1900" b="0">
                          <a:solidFill>
                            <a:srgbClr val="222222"/>
                          </a:solidFill>
                          <a:latin typeface="Consolas"/>
                        </a:rPr>
                        <a:t>DELETE /posts/42</a:t>
                      </a:r>
                    </a:p>
                  </a:txBody>
                  <a:tcPr marT="43200" marB="43200">
                    <a:solidFill>
                      <a:srgbClr val="FFFFFF"/>
                    </a:solidFill>
                  </a:tcPr>
                </a:tc>
              </a:tr>
              <a:tr h="396000">
                <a:tc>
                  <a:txBody>
                    <a:bodyPr/>
                    <a:lstStyle/>
                    <a:p>
                      <a:r>
                        <a:rPr sz="1900" b="0">
                          <a:solidFill>
                            <a:srgbClr val="C62828"/>
                          </a:solidFill>
                          <a:latin typeface="Consolas"/>
                        </a:rPr>
                        <a:t>GET  /post_list,  /Posts</a:t>
                      </a:r>
                    </a:p>
                  </a:txBody>
                  <a:tcPr marT="43200" marB="43200">
                    <a:solidFill>
                      <a:srgbClr val="FFFFFF"/>
                    </a:solidFill>
                  </a:tcPr>
                </a:tc>
                <a:tc>
                  <a:txBody>
                    <a:bodyPr/>
                    <a:lstStyle/>
                    <a:p>
                      <a:r>
                        <a:rPr sz="1900" b="0">
                          <a:solidFill>
                            <a:srgbClr val="222222"/>
                          </a:solidFill>
                          <a:latin typeface="Consolas"/>
                        </a:rPr>
                        <a:t>GET    /posts</a:t>
                      </a:r>
                    </a:p>
                  </a:txBody>
                  <a:tcPr marT="43200" marB="43200">
                    <a:solidFill>
                      <a:srgbClr val="FFFFFF"/>
                    </a:solidFill>
                  </a:tcPr>
                </a:tc>
              </a:tr>
            </a:tbl>
          </a:graphicData>
        </a:graphic>
      </p:graphicFrame>
      <p:sp>
        <p:nvSpPr>
          <p:cNvPr id="4" name="TextBox 3"/>
          <p:cNvSpPr txBox="1"/>
          <p:nvPr/>
        </p:nvSpPr>
        <p:spPr>
          <a:xfrm>
            <a:off x="576000" y="4464000"/>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복수 명사 · 소문자 · 단어는 하이픈 </a:t>
            </a:r>
            <a:r>
              <a:rPr sz="2000" b="0">
                <a:solidFill>
                  <a:srgbClr val="222222"/>
                </a:solidFill>
                <a:latin typeface="Consolas"/>
              </a:rPr>
              <a:t>/blog-posts</a:t>
            </a:r>
          </a:p>
        </p:txBody>
      </p:sp>
      <p:sp>
        <p:nvSpPr>
          <p:cNvPr id="5" name="TextBox 4"/>
          <p:cNvSpPr txBox="1"/>
          <p:nvPr/>
        </p:nvSpPr>
        <p:spPr>
          <a:xfrm>
            <a:off x="576000" y="5040000"/>
            <a:ext cx="11160000" cy="720000"/>
          </a:xfrm>
          <a:prstGeom prst="rect">
            <a:avLst/>
          </a:prstGeom>
          <a:noFill/>
        </p:spPr>
        <p:txBody>
          <a:bodyPr wrap="square">
            <a:spAutoFit/>
          </a:bodyPr>
          <a:lstStyle/>
          <a:p>
            <a:pPr algn="l">
              <a:spcAft>
                <a:spcPts val="1000"/>
              </a:spcAft>
            </a:pPr>
            <a:r>
              <a:rPr sz="1700" b="0">
                <a:solidFill>
                  <a:srgbClr val="757575"/>
                </a:solidFill>
                <a:latin typeface="맑은 고딕"/>
              </a:rPr>
              <a:t>GET은 크롤러·링크 미리보기가 마음대로 보낸다 → GET으로 상태를 바꾸지 않는다</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계층은 두 단계까지, 보여 주는 방식은 쿼리로</a:t>
            </a:r>
          </a:p>
        </p:txBody>
      </p:sp>
      <p:sp>
        <p:nvSpPr>
          <p:cNvPr id="3" name="TextBox 2"/>
          <p:cNvSpPr txBox="1"/>
          <p:nvPr/>
        </p:nvSpPr>
        <p:spPr>
          <a:xfrm>
            <a:off x="576000" y="154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a:t>
            </a:r>
          </a:p>
        </p:txBody>
      </p:sp>
      <p:sp>
        <p:nvSpPr>
          <p:cNvPr id="4" name="TextBox 3"/>
          <p:cNvSpPr txBox="1"/>
          <p:nvPr/>
        </p:nvSpPr>
        <p:spPr>
          <a:xfrm>
            <a:off x="7416000" y="1583999"/>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글 목록</a:t>
            </a:r>
          </a:p>
        </p:txBody>
      </p:sp>
      <p:sp>
        <p:nvSpPr>
          <p:cNvPr id="5" name="TextBox 4"/>
          <p:cNvSpPr txBox="1"/>
          <p:nvPr/>
        </p:nvSpPr>
        <p:spPr>
          <a:xfrm>
            <a:off x="576000" y="217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/posts/42</a:t>
            </a:r>
          </a:p>
        </p:txBody>
      </p:sp>
      <p:sp>
        <p:nvSpPr>
          <p:cNvPr id="6" name="TextBox 5"/>
          <p:cNvSpPr txBox="1"/>
          <p:nvPr/>
        </p:nvSpPr>
        <p:spPr>
          <a:xfrm>
            <a:off x="7416000" y="221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42번 글</a:t>
            </a:r>
          </a:p>
        </p:txBody>
      </p:sp>
      <p:sp>
        <p:nvSpPr>
          <p:cNvPr id="7" name="TextBox 6"/>
          <p:cNvSpPr txBox="1"/>
          <p:nvPr/>
        </p:nvSpPr>
        <p:spPr>
          <a:xfrm>
            <a:off x="576000" y="280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/posts/42/comments</a:t>
            </a:r>
          </a:p>
        </p:txBody>
      </p:sp>
      <p:sp>
        <p:nvSpPr>
          <p:cNvPr id="8" name="TextBox 7"/>
          <p:cNvSpPr txBox="1"/>
          <p:nvPr/>
        </p:nvSpPr>
        <p:spPr>
          <a:xfrm>
            <a:off x="7416000" y="284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42번 글의 댓글</a:t>
            </a:r>
          </a:p>
        </p:txBody>
      </p:sp>
      <p:sp>
        <p:nvSpPr>
          <p:cNvPr id="9" name="TextBox 8"/>
          <p:cNvSpPr txBox="1"/>
          <p:nvPr/>
        </p:nvSpPr>
        <p:spPr>
          <a:xfrm>
            <a:off x="576000" y="343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/comments/7</a:t>
            </a:r>
          </a:p>
        </p:txBody>
      </p:sp>
      <p:sp>
        <p:nvSpPr>
          <p:cNvPr id="10" name="TextBox 9"/>
          <p:cNvSpPr txBox="1"/>
          <p:nvPr/>
        </p:nvSpPr>
        <p:spPr>
          <a:xfrm>
            <a:off x="7416000" y="347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댓글 하나는 id만으로 → 끊는다</a:t>
            </a:r>
          </a:p>
        </p:txBody>
      </p:sp>
      <p:sp>
        <p:nvSpPr>
          <p:cNvPr id="11" name="TextBox 10"/>
          <p:cNvSpPr txBox="1"/>
          <p:nvPr/>
        </p:nvSpPr>
        <p:spPr>
          <a:xfrm>
            <a:off x="576000" y="4068000"/>
            <a:ext cx="6660000" cy="720000"/>
          </a:xfrm>
          <a:prstGeom prst="rect">
            <a:avLst/>
          </a:prstGeom>
          <a:noFill/>
        </p:spPr>
        <p:txBody>
          <a:bodyPr wrap="square">
            <a:spAutoFit/>
          </a:bodyPr>
          <a:lstStyle/>
          <a:p>
            <a:pPr algn="l">
              <a:spcAft>
                <a:spcPts val="1000"/>
              </a:spcAft>
            </a:pPr>
            <a:r>
              <a:rPr sz="2000" b="0">
                <a:solidFill>
                  <a:srgbClr val="C62828"/>
                </a:solidFill>
                <a:latin typeface="Consolas"/>
              </a:rPr>
              <a:t>GET /members/3/posts/42/comments/7</a:t>
            </a:r>
          </a:p>
        </p:txBody>
      </p:sp>
      <p:sp>
        <p:nvSpPr>
          <p:cNvPr id="12" name="TextBox 11"/>
          <p:cNvSpPr txBox="1"/>
          <p:nvPr/>
        </p:nvSpPr>
        <p:spPr>
          <a:xfrm>
            <a:off x="7416000" y="4104000"/>
            <a:ext cx="4320000" cy="720000"/>
          </a:xfrm>
          <a:prstGeom prst="rect">
            <a:avLst/>
          </a:prstGeom>
          <a:noFill/>
        </p:spPr>
        <p:txBody>
          <a:bodyPr wrap="square">
            <a:spAutoFit/>
          </a:bodyPr>
          <a:lstStyle/>
          <a:p>
            <a:pPr algn="l">
              <a:spcAft>
                <a:spcPts val="1000"/>
              </a:spcAft>
            </a:pPr>
            <a:r>
              <a:rPr sz="1700" b="0">
                <a:solidFill>
                  <a:srgbClr val="C62828"/>
                </a:solidFill>
                <a:latin typeface="맑은 고딕"/>
              </a:rPr>
              <a:t>✗ 앞의 id를 다 알아야 한다</a:t>
            </a:r>
          </a:p>
        </p:txBody>
      </p:sp>
      <p:sp>
        <p:nvSpPr>
          <p:cNvPr id="13" name="TextBox 12"/>
          <p:cNvSpPr txBox="1"/>
          <p:nvPr/>
        </p:nvSpPr>
        <p:spPr>
          <a:xfrm>
            <a:off x="576000" y="469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/posts?keyword=제주&amp;page=0</a:t>
            </a:r>
          </a:p>
        </p:txBody>
      </p:sp>
      <p:sp>
        <p:nvSpPr>
          <p:cNvPr id="14" name="TextBox 13"/>
          <p:cNvSpPr txBox="1"/>
          <p:nvPr/>
        </p:nvSpPr>
        <p:spPr>
          <a:xfrm>
            <a:off x="7416000" y="473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검색·정렬·쪽 번호는 쿼리</a:t>
            </a:r>
          </a:p>
        </p:txBody>
      </p:sp>
      <p:sp>
        <p:nvSpPr>
          <p:cNvPr id="15" name="TextBox 1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CRUD로 안 떨어지는 행위</a:t>
            </a:r>
          </a:p>
        </p:txBody>
      </p:sp>
      <p:sp>
        <p:nvSpPr>
          <p:cNvPr id="3" name="TextBox 2"/>
          <p:cNvSpPr txBox="1"/>
          <p:nvPr/>
        </p:nvSpPr>
        <p:spPr>
          <a:xfrm>
            <a:off x="576000" y="1440000"/>
            <a:ext cx="11160000" cy="720000"/>
          </a:xfrm>
          <a:prstGeom prst="rect">
            <a:avLst/>
          </a:prstGeom>
          <a:noFill/>
        </p:spPr>
        <p:txBody>
          <a:bodyPr wrap="square">
            <a:spAutoFit/>
          </a:bodyPr>
          <a:lstStyle/>
          <a:p>
            <a:pPr algn="l">
              <a:spcAft>
                <a:spcPts val="1000"/>
              </a:spcAft>
            </a:pPr>
            <a:r>
              <a:rPr sz="2200" b="0">
                <a:solidFill>
                  <a:srgbClr val="222222"/>
                </a:solidFill>
                <a:latin typeface="맑은 고딕"/>
              </a:rPr>
              <a:t>주문 취소 · 결제 승인 · 비밀번호 재설정은?</a:t>
            </a:r>
          </a:p>
        </p:txBody>
      </p:sp>
      <p:sp>
        <p:nvSpPr>
          <p:cNvPr id="4" name="TextBox 3"/>
          <p:cNvSpPr txBox="1"/>
          <p:nvPr/>
        </p:nvSpPr>
        <p:spPr>
          <a:xfrm>
            <a:off x="576000" y="2232000"/>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①  </a:t>
            </a:r>
            <a:r>
              <a:rPr sz="2000" b="0">
                <a:solidFill>
                  <a:srgbClr val="1565C0"/>
                </a:solidFill>
                <a:latin typeface="Consolas"/>
              </a:rPr>
              <a:t>PATCH /orders/42</a:t>
            </a:r>
            <a:r>
              <a:rPr sz="1700" b="0">
                <a:solidFill>
                  <a:srgbClr val="757575"/>
                </a:solidFill>
                <a:latin typeface="Consolas"/>
              </a:rPr>
              <a:t>   {"status": "CANCELED"}</a:t>
            </a:r>
          </a:p>
        </p:txBody>
      </p:sp>
      <p:sp>
        <p:nvSpPr>
          <p:cNvPr id="5" name="TextBox 4"/>
          <p:cNvSpPr txBox="1"/>
          <p:nvPr/>
        </p:nvSpPr>
        <p:spPr>
          <a:xfrm>
            <a:off x="1080000" y="2700000"/>
            <a:ext cx="10800000" cy="720000"/>
          </a:xfrm>
          <a:prstGeom prst="rect">
            <a:avLst/>
          </a:prstGeom>
          <a:noFill/>
        </p:spPr>
        <p:txBody>
          <a:bodyPr wrap="square">
            <a:spAutoFit/>
          </a:bodyPr>
          <a:lstStyle/>
          <a:p>
            <a:pPr algn="l">
              <a:spcAft>
                <a:spcPts val="1000"/>
              </a:spcAft>
            </a:pPr>
            <a:r>
              <a:rPr sz="1600" b="0">
                <a:solidFill>
                  <a:srgbClr val="757575"/>
                </a:solidFill>
                <a:latin typeface="맑은 고딕"/>
              </a:rPr>
              <a:t>상태 값만 바꾼다. 단순하지만 환불·재고 복구가 숨는다</a:t>
            </a:r>
          </a:p>
        </p:txBody>
      </p:sp>
      <p:sp>
        <p:nvSpPr>
          <p:cNvPr id="6" name="TextBox 5"/>
          <p:cNvSpPr txBox="1"/>
          <p:nvPr/>
        </p:nvSpPr>
        <p:spPr>
          <a:xfrm>
            <a:off x="576000" y="3311999"/>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②  </a:t>
            </a:r>
            <a:r>
              <a:rPr sz="2000" b="0">
                <a:solidFill>
                  <a:srgbClr val="1565C0"/>
                </a:solidFill>
                <a:latin typeface="Consolas"/>
              </a:rPr>
              <a:t>POST  /orders/42/cancel</a:t>
            </a:r>
            <a:r>
              <a:rPr sz="1700" b="0">
                <a:solidFill>
                  <a:srgbClr val="757575"/>
                </a:solidFill>
                <a:latin typeface="Consolas"/>
              </a:rPr>
              <a:t>   </a:t>
            </a:r>
          </a:p>
        </p:txBody>
      </p:sp>
      <p:sp>
        <p:nvSpPr>
          <p:cNvPr id="7" name="TextBox 6"/>
          <p:cNvSpPr txBox="1"/>
          <p:nvPr/>
        </p:nvSpPr>
        <p:spPr>
          <a:xfrm>
            <a:off x="1080000" y="3780000"/>
            <a:ext cx="10800000" cy="720000"/>
          </a:xfrm>
          <a:prstGeom prst="rect">
            <a:avLst/>
          </a:prstGeom>
          <a:noFill/>
        </p:spPr>
        <p:txBody>
          <a:bodyPr wrap="square">
            <a:spAutoFit/>
          </a:bodyPr>
          <a:lstStyle/>
          <a:p>
            <a:pPr algn="l">
              <a:spcAft>
                <a:spcPts val="1000"/>
              </a:spcAft>
            </a:pPr>
            <a:r>
              <a:rPr sz="1600" b="0">
                <a:solidFill>
                  <a:srgbClr val="757575"/>
                </a:solidFill>
                <a:latin typeface="맑은 고딕"/>
              </a:rPr>
              <a:t>행위를 드러낸다. 권한·검증을 따로 걸기 쉽다</a:t>
            </a:r>
          </a:p>
        </p:txBody>
      </p:sp>
      <p:sp>
        <p:nvSpPr>
          <p:cNvPr id="8" name="TextBox 7"/>
          <p:cNvSpPr txBox="1"/>
          <p:nvPr/>
        </p:nvSpPr>
        <p:spPr>
          <a:xfrm>
            <a:off x="576000" y="4392000"/>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③  </a:t>
            </a:r>
            <a:r>
              <a:rPr sz="2000" b="0">
                <a:solidFill>
                  <a:srgbClr val="1565C0"/>
                </a:solidFill>
                <a:latin typeface="Consolas"/>
              </a:rPr>
              <a:t>POST  /orders/42/cancellations</a:t>
            </a:r>
            <a:r>
              <a:rPr sz="1700" b="0">
                <a:solidFill>
                  <a:srgbClr val="757575"/>
                </a:solidFill>
                <a:latin typeface="Consolas"/>
              </a:rPr>
              <a:t>   </a:t>
            </a:r>
          </a:p>
        </p:txBody>
      </p:sp>
      <p:sp>
        <p:nvSpPr>
          <p:cNvPr id="9" name="TextBox 8"/>
          <p:cNvSpPr txBox="1"/>
          <p:nvPr/>
        </p:nvSpPr>
        <p:spPr>
          <a:xfrm>
            <a:off x="1080000" y="4860000"/>
            <a:ext cx="10800000" cy="720000"/>
          </a:xfrm>
          <a:prstGeom prst="rect">
            <a:avLst/>
          </a:prstGeom>
          <a:noFill/>
        </p:spPr>
        <p:txBody>
          <a:bodyPr wrap="square">
            <a:spAutoFit/>
          </a:bodyPr>
          <a:lstStyle/>
          <a:p>
            <a:pPr algn="l">
              <a:spcAft>
                <a:spcPts val="1000"/>
              </a:spcAft>
            </a:pPr>
            <a:r>
              <a:rPr sz="1600" b="0">
                <a:solidFill>
                  <a:srgbClr val="757575"/>
                </a:solidFill>
                <a:latin typeface="맑은 고딕"/>
              </a:rPr>
              <a:t>취소를 자원으로 만든다. 취소 이력을 조회할 수 있다</a:t>
            </a:r>
          </a:p>
        </p:txBody>
      </p:sp>
      <p:sp>
        <p:nvSpPr>
          <p:cNvPr id="10" name="TextBox 9"/>
          <p:cNvSpPr txBox="1"/>
          <p:nvPr/>
        </p:nvSpPr>
        <p:spPr>
          <a:xfrm>
            <a:off x="576000" y="5616000"/>
            <a:ext cx="11160000" cy="720000"/>
          </a:xfrm>
          <a:prstGeom prst="rect">
            <a:avLst/>
          </a:prstGeom>
          <a:noFill/>
        </p:spPr>
        <p:txBody>
          <a:bodyPr wrap="square">
            <a:spAutoFit/>
          </a:bodyPr>
          <a:lstStyle/>
          <a:p>
            <a:pPr algn="l">
              <a:spcAft>
                <a:spcPts val="1000"/>
              </a:spcAft>
            </a:pPr>
            <a:r>
              <a:rPr sz="1900" b="1">
                <a:solidFill>
                  <a:srgbClr val="222222"/>
                </a:solidFill>
                <a:latin typeface="맑은 고딕"/>
              </a:rPr>
              <a:t>부수 작업이 있으면 ②·③처럼 행위를 드러낸다</a:t>
            </a:r>
          </a:p>
        </p:txBody>
      </p:sp>
      <p:sp>
        <p:nvSpPr>
          <p:cNvPr id="11" name="TextBox 10"/>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메서드는 안전성과 멱등성으로 고른다</a:t>
            </a:r>
          </a:p>
        </p:txBody>
      </p:sp>
      <p:graphicFrame>
        <p:nvGraphicFramePr>
          <p:cNvPr id="3" name="Table 2"/>
          <p:cNvGraphicFramePr>
            <a:graphicFrameLocks noGrp="1"/>
          </p:cNvGraphicFramePr>
          <p:nvPr/>
        </p:nvGraphicFramePr>
        <p:xfrm>
          <a:off x="576000" y="1440000"/>
          <a:ext cx="11016000" cy="2376000"/>
        </p:xfrm>
        <a:graphic>
          <a:graphicData uri="http://schemas.openxmlformats.org/drawingml/2006/table">
            <a:tbl>
              <a:tblPr firstRow="1" bandRow="1">
                <a:tableStyleId>{5C22544A-7EE6-4342-B048-85BDC9FD1C3A}</a:tableStyleId>
              </a:tblPr>
              <a:tblGrid>
                <a:gridCol w="1800000"/>
                <a:gridCol w="4536000"/>
                <a:gridCol w="2340000"/>
                <a:gridCol w="2340000"/>
              </a:tblGrid>
              <a:tr h="396000">
                <a:tc>
                  <a:txBody>
                    <a:bodyPr/>
                    <a:lstStyle/>
                    <a:p>
                      <a:r>
                        <a:rPr sz="1900" b="1">
                          <a:solidFill>
                            <a:srgbClr val="222222"/>
                          </a:solidFill>
                          <a:latin typeface="맑은 고딕"/>
                        </a:rPr>
                        <a:t>메서드</a:t>
                      </a:r>
                    </a:p>
                  </a:txBody>
                  <a:tcPr marT="43200" marB="43200">
                    <a:solidFill>
                      <a:srgbClr val="ECECEC"/>
                    </a:solidFill>
                  </a:tcPr>
                </a:tc>
                <a:tc>
                  <a:txBody>
                    <a:bodyPr/>
                    <a:lstStyle/>
                    <a:p>
                      <a:r>
                        <a:rPr sz="1900" b="1">
                          <a:solidFill>
                            <a:srgbClr val="222222"/>
                          </a:solidFill>
                          <a:latin typeface="맑은 고딕"/>
                        </a:rPr>
                        <a:t>하는 일</a:t>
                      </a:r>
                    </a:p>
                  </a:txBody>
                  <a:tcPr marT="43200" marB="43200">
                    <a:solidFill>
                      <a:srgbClr val="ECECEC"/>
                    </a:solidFill>
                  </a:tcPr>
                </a:tc>
                <a:tc>
                  <a:txBody>
                    <a:bodyPr/>
                    <a:lstStyle/>
                    <a:p>
                      <a:r>
                        <a:rPr sz="1900" b="1">
                          <a:solidFill>
                            <a:srgbClr val="222222"/>
                          </a:solidFill>
                          <a:latin typeface="맑은 고딕"/>
                        </a:rPr>
                        <a:t>안전</a:t>
                      </a:r>
                    </a:p>
                  </a:txBody>
                  <a:tcPr marT="43200" marB="43200">
                    <a:solidFill>
                      <a:srgbClr val="ECECEC"/>
                    </a:solidFill>
                  </a:tcPr>
                </a:tc>
                <a:tc>
                  <a:txBody>
                    <a:bodyPr/>
                    <a:lstStyle/>
                    <a:p>
                      <a:r>
                        <a:rPr sz="1900" b="1">
                          <a:solidFill>
                            <a:srgbClr val="222222"/>
                          </a:solidFill>
                          <a:latin typeface="맑은 고딕"/>
                        </a:rPr>
                        <a:t>멱등</a:t>
                      </a:r>
                    </a:p>
                  </a:txBody>
                  <a:tcPr marT="43200" marB="43200">
                    <a:solidFill>
                      <a:srgbClr val="ECECEC"/>
                    </a:solidFill>
                  </a:tcPr>
                </a:tc>
              </a:tr>
              <a:tr h="396000">
                <a:tc>
                  <a:txBody>
                    <a:bodyPr/>
                    <a:lstStyle/>
                    <a:p>
                      <a:r>
                        <a:rPr sz="1900" b="0">
                          <a:solidFill>
                            <a:srgbClr val="222222"/>
                          </a:solidFill>
                          <a:latin typeface="Consolas"/>
                        </a:rPr>
                        <a:t>GET</a:t>
                      </a:r>
                    </a:p>
                  </a:txBody>
                  <a:tcPr marT="43200" marB="43200">
                    <a:solidFill>
                      <a:srgbClr val="FFFFFF"/>
                    </a:solidFill>
                  </a:tcPr>
                </a:tc>
                <a:tc>
                  <a:txBody>
                    <a:bodyPr/>
                    <a:lstStyle/>
                    <a:p>
                      <a:r>
                        <a:rPr sz="1900" b="0">
                          <a:solidFill>
                            <a:srgbClr val="222222"/>
                          </a:solidFill>
                          <a:latin typeface="맑은 고딕"/>
                        </a:rPr>
                        <a:t>조회</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r>
              <a:tr h="396000">
                <a:tc>
                  <a:txBody>
                    <a:bodyPr/>
                    <a:lstStyle/>
                    <a:p>
                      <a:r>
                        <a:rPr sz="1900" b="0">
                          <a:solidFill>
                            <a:srgbClr val="222222"/>
                          </a:solidFill>
                          <a:latin typeface="Consolas"/>
                        </a:rPr>
                        <a:t>POST</a:t>
                      </a:r>
                    </a:p>
                  </a:txBody>
                  <a:tcPr marT="43200" marB="43200">
                    <a:solidFill>
                      <a:srgbClr val="FFFFFF"/>
                    </a:solidFill>
                  </a:tcPr>
                </a:tc>
                <a:tc>
                  <a:txBody>
                    <a:bodyPr/>
                    <a:lstStyle/>
                    <a:p>
                      <a:r>
                        <a:rPr sz="1900" b="0">
                          <a:solidFill>
                            <a:srgbClr val="222222"/>
                          </a:solidFill>
                          <a:latin typeface="맑은 고딕"/>
                        </a:rPr>
                        <a:t>생성</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r>
              <a:tr h="396000">
                <a:tc>
                  <a:txBody>
                    <a:bodyPr/>
                    <a:lstStyle/>
                    <a:p>
                      <a:r>
                        <a:rPr sz="1900" b="0">
                          <a:solidFill>
                            <a:srgbClr val="222222"/>
                          </a:solidFill>
                          <a:latin typeface="Consolas"/>
                        </a:rPr>
                        <a:t>PUT</a:t>
                      </a:r>
                    </a:p>
                  </a:txBody>
                  <a:tcPr marT="43200" marB="43200">
                    <a:solidFill>
                      <a:srgbClr val="FFFFFF"/>
                    </a:solidFill>
                  </a:tcPr>
                </a:tc>
                <a:tc>
                  <a:txBody>
                    <a:bodyPr/>
                    <a:lstStyle/>
                    <a:p>
                      <a:r>
                        <a:rPr sz="1900" b="0">
                          <a:solidFill>
                            <a:srgbClr val="222222"/>
                          </a:solidFill>
                          <a:latin typeface="맑은 고딕"/>
                        </a:rPr>
                        <a:t>전체 교체 (안 보낸 칸은 비워짐)</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r>
              <a:tr h="396000">
                <a:tc>
                  <a:txBody>
                    <a:bodyPr/>
                    <a:lstStyle/>
                    <a:p>
                      <a:r>
                        <a:rPr sz="1900" b="0">
                          <a:solidFill>
                            <a:srgbClr val="222222"/>
                          </a:solidFill>
                          <a:latin typeface="Consolas"/>
                        </a:rPr>
                        <a:t>PATCH</a:t>
                      </a:r>
                    </a:p>
                  </a:txBody>
                  <a:tcPr marT="43200" marB="43200">
                    <a:solidFill>
                      <a:srgbClr val="FFFFFF"/>
                    </a:solidFill>
                  </a:tcPr>
                </a:tc>
                <a:tc>
                  <a:txBody>
                    <a:bodyPr/>
                    <a:lstStyle/>
                    <a:p>
                      <a:r>
                        <a:rPr sz="1900" b="0">
                          <a:solidFill>
                            <a:srgbClr val="222222"/>
                          </a:solidFill>
                          <a:latin typeface="맑은 고딕"/>
                        </a:rPr>
                        <a:t>보낸 칸만 수정</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222222"/>
                          </a:solidFill>
                          <a:latin typeface="맑은 고딕"/>
                        </a:rPr>
                        <a:t>△</a:t>
                      </a:r>
                    </a:p>
                  </a:txBody>
                  <a:tcPr marT="43200" marB="43200">
                    <a:solidFill>
                      <a:srgbClr val="FFFFFF"/>
                    </a:solidFill>
                  </a:tcPr>
                </a:tc>
              </a:tr>
              <a:tr h="396000">
                <a:tc>
                  <a:txBody>
                    <a:bodyPr/>
                    <a:lstStyle/>
                    <a:p>
                      <a:r>
                        <a:rPr sz="1900" b="0">
                          <a:solidFill>
                            <a:srgbClr val="222222"/>
                          </a:solidFill>
                          <a:latin typeface="Consolas"/>
                        </a:rPr>
                        <a:t>DELETE</a:t>
                      </a:r>
                    </a:p>
                  </a:txBody>
                  <a:tcPr marT="43200" marB="43200">
                    <a:solidFill>
                      <a:srgbClr val="FFFFFF"/>
                    </a:solidFill>
                  </a:tcPr>
                </a:tc>
                <a:tc>
                  <a:txBody>
                    <a:bodyPr/>
                    <a:lstStyle/>
                    <a:p>
                      <a:r>
                        <a:rPr sz="1900" b="0">
                          <a:solidFill>
                            <a:srgbClr val="222222"/>
                          </a:solidFill>
                          <a:latin typeface="맑은 고딕"/>
                        </a:rPr>
                        <a:t>삭제</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r>
            </a:tbl>
          </a:graphicData>
        </a:graphic>
      </p:graphicFrame>
      <p:sp>
        <p:nvSpPr>
          <p:cNvPr id="4" name="TextBox 3"/>
          <p:cNvSpPr txBox="1"/>
          <p:nvPr/>
        </p:nvSpPr>
        <p:spPr>
          <a:xfrm>
            <a:off x="576000" y="453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안전</a:t>
            </a:r>
            <a:r>
              <a:rPr sz="1800" b="0">
                <a:solidFill>
                  <a:srgbClr val="757575"/>
                </a:solidFill>
                <a:latin typeface="맑은 고딕"/>
              </a:rPr>
              <a:t>: 서버 상태를 바꾸지 않는다 → 캐시·프리페치가 불러도 된다</a:t>
            </a:r>
          </a:p>
          <a:p>
            <a:pPr algn="l">
              <a:spcAft>
                <a:spcPts val="1000"/>
              </a:spcAft>
            </a:pPr>
            <a:r>
              <a:rPr sz="1800" b="1">
                <a:solidFill>
                  <a:srgbClr val="222222"/>
                </a:solidFill>
                <a:latin typeface="맑은 고딕"/>
              </a:rPr>
              <a:t>멱등</a:t>
            </a:r>
            <a:r>
              <a:rPr sz="1800" b="0">
                <a:solidFill>
                  <a:srgbClr val="757575"/>
                </a:solidFill>
                <a:latin typeface="맑은 고딕"/>
              </a:rPr>
              <a:t>: 여러 번 보내도 결과가 같다 → 실패하면 다시 보내도 된다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POST가 두 번 가면 두 번 만들어진다</a:t>
            </a:r>
          </a:p>
        </p:txBody>
      </p:sp>
      <p:sp>
        <p:nvSpPr>
          <p:cNvPr id="3" name="Rectangle 2"/>
          <p:cNvSpPr/>
          <p:nvPr/>
        </p:nvSpPr>
        <p:spPr>
          <a:xfrm>
            <a:off x="576000" y="1512000"/>
            <a:ext cx="6120000" cy="1463809"/>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700">
                <a:solidFill>
                  <a:srgbClr val="1565C0"/>
                </a:solidFill>
                <a:latin typeface="Consolas"/>
              </a:rPr>
              <a:t>POST /api/v1/payments</a:t>
            </a:r>
          </a:p>
          <a:p>
            <a:pPr algn="l"/>
            <a:r>
              <a:rPr sz="1700">
                <a:solidFill>
                  <a:srgbClr val="C62828"/>
                </a:solidFill>
                <a:latin typeface="Consolas"/>
              </a:rPr>
              <a:t>Idempotency-Key: 8f3a2c1e-4b7d-…</a:t>
            </a:r>
          </a:p>
          <a:p>
            <a:pPr algn="l"/>
            <a:r>
              <a:rPr sz="1700">
                <a:solidFill>
                  <a:srgbClr val="222222"/>
                </a:solidFill>
                <a:latin typeface="Consolas"/>
              </a:rPr>
              <a:t> </a:t>
            </a:r>
          </a:p>
          <a:p>
            <a:pPr algn="l"/>
            <a:r>
              <a:rPr sz="1700">
                <a:solidFill>
                  <a:srgbClr val="222222"/>
                </a:solidFill>
                <a:latin typeface="Consolas"/>
              </a:rPr>
              <a:t>{ "orderId": 42, "amount": 30000 }</a:t>
            </a:r>
          </a:p>
        </p:txBody>
      </p:sp>
      <p:sp>
        <p:nvSpPr>
          <p:cNvPr id="4" name="TextBox 3"/>
          <p:cNvSpPr txBox="1"/>
          <p:nvPr/>
        </p:nvSpPr>
        <p:spPr>
          <a:xfrm>
            <a:off x="7056000" y="1584000"/>
            <a:ext cx="4680000" cy="720000"/>
          </a:xfrm>
          <a:prstGeom prst="rect">
            <a:avLst/>
          </a:prstGeom>
          <a:noFill/>
        </p:spPr>
        <p:txBody>
          <a:bodyPr wrap="square">
            <a:spAutoFit/>
          </a:bodyPr>
          <a:lstStyle/>
          <a:p>
            <a:pPr algn="l">
              <a:spcAft>
                <a:spcPts val="600"/>
              </a:spcAft>
            </a:pPr>
            <a:r>
              <a:rPr sz="1900" b="1">
                <a:solidFill>
                  <a:srgbClr val="222222"/>
                </a:solidFill>
                <a:latin typeface="맑은 고딕"/>
              </a:rPr>
              <a:t>처음 온 키</a:t>
            </a:r>
          </a:p>
          <a:p>
            <a:pPr algn="l">
              <a:spcAft>
                <a:spcPts val="600"/>
              </a:spcAft>
            </a:pPr>
            <a:r>
              <a:rPr sz="1700" b="0">
                <a:solidFill>
                  <a:srgbClr val="757575"/>
                </a:solidFill>
                <a:latin typeface="맑은 고딕"/>
              </a:rPr>
              <a:t>처리하고 결과를 키와 함께 저장</a:t>
            </a:r>
          </a:p>
          <a:p>
            <a:pPr algn="l">
              <a:spcAft>
                <a:spcPts val="600"/>
              </a:spcAft>
            </a:pPr>
            <a:r>
              <a:rPr sz="2000" b="0">
                <a:solidFill>
                  <a:srgbClr val="222222"/>
                </a:solidFill>
                <a:latin typeface="맑은 고딕"/>
              </a:rPr>
              <a:t> </a:t>
            </a:r>
          </a:p>
          <a:p>
            <a:pPr algn="l">
              <a:spcAft>
                <a:spcPts val="600"/>
              </a:spcAft>
            </a:pPr>
            <a:r>
              <a:rPr sz="1900" b="1">
                <a:solidFill>
                  <a:srgbClr val="222222"/>
                </a:solidFill>
                <a:latin typeface="맑은 고딕"/>
              </a:rPr>
              <a:t>같은 키가 또 오면</a:t>
            </a:r>
          </a:p>
          <a:p>
            <a:pPr algn="l">
              <a:spcAft>
                <a:spcPts val="600"/>
              </a:spcAft>
            </a:pPr>
            <a:r>
              <a:rPr sz="1700" b="0">
                <a:solidFill>
                  <a:srgbClr val="757575"/>
                </a:solidFill>
                <a:latin typeface="맑은 고딕"/>
              </a:rPr>
              <a:t>다시 처리하지 않고 저장한 결과를 반환</a:t>
            </a:r>
          </a:p>
        </p:txBody>
      </p:sp>
      <p:sp>
        <p:nvSpPr>
          <p:cNvPr id="5" name="TextBox 4"/>
          <p:cNvSpPr txBox="1"/>
          <p:nvPr/>
        </p:nvSpPr>
        <p:spPr>
          <a:xfrm>
            <a:off x="576000" y="417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버튼 막기</a:t>
            </a:r>
            <a:r>
              <a:rPr sz="1800" b="0">
                <a:solidFill>
                  <a:srgbClr val="757575"/>
                </a:solidFill>
                <a:latin typeface="맑은 고딕"/>
              </a:rPr>
              <a:t> = 화면 하나만 막는다</a:t>
            </a:r>
          </a:p>
          <a:p>
            <a:pPr algn="l">
              <a:spcAft>
                <a:spcPts val="1000"/>
              </a:spcAft>
            </a:pPr>
            <a:r>
              <a:rPr sz="1800" b="1">
                <a:solidFill>
                  <a:srgbClr val="222222"/>
                </a:solidFill>
                <a:latin typeface="맑은 고딕"/>
              </a:rPr>
              <a:t>서버에서 키 확인</a:t>
            </a:r>
            <a:r>
              <a:rPr sz="1800" b="0">
                <a:solidFill>
                  <a:srgbClr val="757575"/>
                </a:solidFill>
                <a:latin typeface="맑은 고딕"/>
              </a:rPr>
              <a:t> = 재전송 · 새로고침 · 직접 호출까지 막는다</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자주 쓰는 상태 코드</a:t>
            </a:r>
          </a:p>
        </p:txBody>
      </p:sp>
      <p:graphicFrame>
        <p:nvGraphicFramePr>
          <p:cNvPr id="3" name="Table 2"/>
          <p:cNvGraphicFramePr>
            <a:graphicFrameLocks noGrp="1"/>
          </p:cNvGraphicFramePr>
          <p:nvPr/>
        </p:nvGraphicFramePr>
        <p:xfrm>
          <a:off x="576000" y="1296000"/>
          <a:ext cx="11016000" cy="3960000"/>
        </p:xfrm>
        <a:graphic>
          <a:graphicData uri="http://schemas.openxmlformats.org/drawingml/2006/table">
            <a:tbl>
              <a:tblPr firstRow="1" bandRow="1">
                <a:tableStyleId>{5C22544A-7EE6-4342-B048-85BDC9FD1C3A}</a:tableStyleId>
              </a:tblPr>
              <a:tblGrid>
                <a:gridCol w="1296000"/>
                <a:gridCol w="3384000"/>
                <a:gridCol w="6336000"/>
              </a:tblGrid>
              <a:tr h="396000">
                <a:tc>
                  <a:txBody>
                    <a:bodyPr/>
                    <a:lstStyle/>
                    <a:p>
                      <a:r>
                        <a:rPr sz="1600" b="1">
                          <a:solidFill>
                            <a:srgbClr val="222222"/>
                          </a:solidFill>
                          <a:latin typeface="맑은 고딕"/>
                        </a:rPr>
                        <a:t>코드</a:t>
                      </a:r>
                    </a:p>
                  </a:txBody>
                  <a:tcPr marT="43200" marB="43200">
                    <a:solidFill>
                      <a:srgbClr val="ECECEC"/>
                    </a:solidFill>
                  </a:tcPr>
                </a:tc>
                <a:tc>
                  <a:txBody>
                    <a:bodyPr/>
                    <a:lstStyle/>
                    <a:p>
                      <a:r>
                        <a:rPr sz="1600" b="1">
                          <a:solidFill>
                            <a:srgbClr val="222222"/>
                          </a:solidFill>
                          <a:latin typeface="맑은 고딕"/>
                        </a:rPr>
                        <a:t>이름</a:t>
                      </a:r>
                    </a:p>
                  </a:txBody>
                  <a:tcPr marT="43200" marB="43200">
                    <a:solidFill>
                      <a:srgbClr val="ECECEC"/>
                    </a:solidFill>
                  </a:tcPr>
                </a:tc>
                <a:tc>
                  <a:txBody>
                    <a:bodyPr/>
                    <a:lstStyle/>
                    <a:p>
                      <a:r>
                        <a:rPr sz="1600" b="1">
                          <a:solidFill>
                            <a:srgbClr val="222222"/>
                          </a:solidFill>
                          <a:latin typeface="맑은 고딕"/>
                        </a:rPr>
                        <a:t>언제</a:t>
                      </a:r>
                    </a:p>
                  </a:txBody>
                  <a:tcPr marT="43200" marB="43200">
                    <a:solidFill>
                      <a:srgbClr val="ECECEC"/>
                    </a:solidFill>
                  </a:tcPr>
                </a:tc>
              </a:tr>
              <a:tr h="396000">
                <a:tc>
                  <a:txBody>
                    <a:bodyPr/>
                    <a:lstStyle/>
                    <a:p>
                      <a:r>
                        <a:rPr sz="1600" b="0">
                          <a:solidFill>
                            <a:srgbClr val="222222"/>
                          </a:solidFill>
                          <a:latin typeface="Consolas"/>
                        </a:rPr>
                        <a:t>200</a:t>
                      </a:r>
                    </a:p>
                  </a:txBody>
                  <a:tcPr marT="43200" marB="43200">
                    <a:solidFill>
                      <a:srgbClr val="FFFFFF"/>
                    </a:solidFill>
                  </a:tcPr>
                </a:tc>
                <a:tc>
                  <a:txBody>
                    <a:bodyPr/>
                    <a:lstStyle/>
                    <a:p>
                      <a:r>
                        <a:rPr sz="1600" b="0">
                          <a:solidFill>
                            <a:srgbClr val="222222"/>
                          </a:solidFill>
                          <a:latin typeface="Consolas"/>
                        </a:rPr>
                        <a:t>OK</a:t>
                      </a:r>
                    </a:p>
                  </a:txBody>
                  <a:tcPr marT="43200" marB="43200">
                    <a:solidFill>
                      <a:srgbClr val="FFFFFF"/>
                    </a:solidFill>
                  </a:tcPr>
                </a:tc>
                <a:tc>
                  <a:txBody>
                    <a:bodyPr/>
                    <a:lstStyle/>
                    <a:p>
                      <a:r>
                        <a:rPr sz="1600" b="0">
                          <a:solidFill>
                            <a:srgbClr val="222222"/>
                          </a:solidFill>
                          <a:latin typeface="맑은 고딕"/>
                        </a:rPr>
                        <a:t>조회 · 수정 성공</a:t>
                      </a:r>
                    </a:p>
                  </a:txBody>
                  <a:tcPr marT="43200" marB="43200">
                    <a:solidFill>
                      <a:srgbClr val="FFFFFF"/>
                    </a:solidFill>
                  </a:tcPr>
                </a:tc>
              </a:tr>
              <a:tr h="396000">
                <a:tc>
                  <a:txBody>
                    <a:bodyPr/>
                    <a:lstStyle/>
                    <a:p>
                      <a:r>
                        <a:rPr sz="1600" b="0">
                          <a:solidFill>
                            <a:srgbClr val="222222"/>
                          </a:solidFill>
                          <a:latin typeface="Consolas"/>
                        </a:rPr>
                        <a:t>201</a:t>
                      </a:r>
                    </a:p>
                  </a:txBody>
                  <a:tcPr marT="43200" marB="43200">
                    <a:solidFill>
                      <a:srgbClr val="FFFFFF"/>
                    </a:solidFill>
                  </a:tcPr>
                </a:tc>
                <a:tc>
                  <a:txBody>
                    <a:bodyPr/>
                    <a:lstStyle/>
                    <a:p>
                      <a:r>
                        <a:rPr sz="1600" b="0">
                          <a:solidFill>
                            <a:srgbClr val="222222"/>
                          </a:solidFill>
                          <a:latin typeface="Consolas"/>
                        </a:rPr>
                        <a:t>Created</a:t>
                      </a:r>
                    </a:p>
                  </a:txBody>
                  <a:tcPr marT="43200" marB="43200">
                    <a:solidFill>
                      <a:srgbClr val="FFFFFF"/>
                    </a:solidFill>
                  </a:tcPr>
                </a:tc>
                <a:tc>
                  <a:txBody>
                    <a:bodyPr/>
                    <a:lstStyle/>
                    <a:p>
                      <a:r>
                        <a:rPr sz="1600" b="0">
                          <a:solidFill>
                            <a:srgbClr val="222222"/>
                          </a:solidFill>
                          <a:latin typeface="맑은 고딕"/>
                        </a:rPr>
                        <a:t>생성. Location 헤더에 새 주소</a:t>
                      </a:r>
                    </a:p>
                  </a:txBody>
                  <a:tcPr marT="43200" marB="43200">
                    <a:solidFill>
                      <a:srgbClr val="FFFFFF"/>
                    </a:solidFill>
                  </a:tcPr>
                </a:tc>
              </a:tr>
              <a:tr h="396000">
                <a:tc>
                  <a:txBody>
                    <a:bodyPr/>
                    <a:lstStyle/>
                    <a:p>
                      <a:r>
                        <a:rPr sz="1600" b="0">
                          <a:solidFill>
                            <a:srgbClr val="222222"/>
                          </a:solidFill>
                          <a:latin typeface="Consolas"/>
                        </a:rPr>
                        <a:t>204</a:t>
                      </a:r>
                    </a:p>
                  </a:txBody>
                  <a:tcPr marT="43200" marB="43200">
                    <a:solidFill>
                      <a:srgbClr val="FFFFFF"/>
                    </a:solidFill>
                  </a:tcPr>
                </a:tc>
                <a:tc>
                  <a:txBody>
                    <a:bodyPr/>
                    <a:lstStyle/>
                    <a:p>
                      <a:r>
                        <a:rPr sz="1600" b="0">
                          <a:solidFill>
                            <a:srgbClr val="222222"/>
                          </a:solidFill>
                          <a:latin typeface="Consolas"/>
                        </a:rPr>
                        <a:t>No Content</a:t>
                      </a:r>
                    </a:p>
                  </a:txBody>
                  <a:tcPr marT="43200" marB="43200">
                    <a:solidFill>
                      <a:srgbClr val="FFFFFF"/>
                    </a:solidFill>
                  </a:tcPr>
                </a:tc>
                <a:tc>
                  <a:txBody>
                    <a:bodyPr/>
                    <a:lstStyle/>
                    <a:p>
                      <a:r>
                        <a:rPr sz="1600" b="0">
                          <a:solidFill>
                            <a:srgbClr val="222222"/>
                          </a:solidFill>
                          <a:latin typeface="맑은 고딕"/>
                        </a:rPr>
                        <a:t>삭제 성공, 바디 없음</a:t>
                      </a:r>
                    </a:p>
                  </a:txBody>
                  <a:tcPr marT="43200" marB="43200">
                    <a:solidFill>
                      <a:srgbClr val="FFFFFF"/>
                    </a:solidFill>
                  </a:tcPr>
                </a:tc>
              </a:tr>
              <a:tr h="396000">
                <a:tc>
                  <a:txBody>
                    <a:bodyPr/>
                    <a:lstStyle/>
                    <a:p>
                      <a:r>
                        <a:rPr sz="1600" b="0">
                          <a:solidFill>
                            <a:srgbClr val="C62828"/>
                          </a:solidFill>
                          <a:latin typeface="Consolas"/>
                        </a:rPr>
                        <a:t>400</a:t>
                      </a:r>
                    </a:p>
                  </a:txBody>
                  <a:tcPr marT="43200" marB="43200">
                    <a:solidFill>
                      <a:srgbClr val="FFFFFF"/>
                    </a:solidFill>
                  </a:tcPr>
                </a:tc>
                <a:tc>
                  <a:txBody>
                    <a:bodyPr/>
                    <a:lstStyle/>
                    <a:p>
                      <a:r>
                        <a:rPr sz="1600" b="0">
                          <a:solidFill>
                            <a:srgbClr val="222222"/>
                          </a:solidFill>
                          <a:latin typeface="Consolas"/>
                        </a:rPr>
                        <a:t>Bad Request</a:t>
                      </a:r>
                    </a:p>
                  </a:txBody>
                  <a:tcPr marT="43200" marB="43200">
                    <a:solidFill>
                      <a:srgbClr val="FFFFFF"/>
                    </a:solidFill>
                  </a:tcPr>
                </a:tc>
                <a:tc>
                  <a:txBody>
                    <a:bodyPr/>
                    <a:lstStyle/>
                    <a:p>
                      <a:r>
                        <a:rPr sz="1600" b="0">
                          <a:solidFill>
                            <a:srgbClr val="222222"/>
                          </a:solidFill>
                          <a:latin typeface="맑은 고딕"/>
                        </a:rPr>
                        <a:t>값이 빠졌거나 형식이 틀림</a:t>
                      </a:r>
                    </a:p>
                  </a:txBody>
                  <a:tcPr marT="43200" marB="43200">
                    <a:solidFill>
                      <a:srgbClr val="FFFFFF"/>
                    </a:solidFill>
                  </a:tcPr>
                </a:tc>
              </a:tr>
              <a:tr h="396000">
                <a:tc>
                  <a:txBody>
                    <a:bodyPr/>
                    <a:lstStyle/>
                    <a:p>
                      <a:r>
                        <a:rPr sz="1600" b="0">
                          <a:solidFill>
                            <a:srgbClr val="C62828"/>
                          </a:solidFill>
                          <a:latin typeface="Consolas"/>
                        </a:rPr>
                        <a:t>401</a:t>
                      </a:r>
                    </a:p>
                  </a:txBody>
                  <a:tcPr marT="43200" marB="43200">
                    <a:solidFill>
                      <a:srgbClr val="FFFFFF"/>
                    </a:solidFill>
                  </a:tcPr>
                </a:tc>
                <a:tc>
                  <a:txBody>
                    <a:bodyPr/>
                    <a:lstStyle/>
                    <a:p>
                      <a:r>
                        <a:rPr sz="1600" b="0">
                          <a:solidFill>
                            <a:srgbClr val="222222"/>
                          </a:solidFill>
                          <a:latin typeface="Consolas"/>
                        </a:rPr>
                        <a:t>Unauthorized</a:t>
                      </a:r>
                    </a:p>
                  </a:txBody>
                  <a:tcPr marT="43200" marB="43200">
                    <a:solidFill>
                      <a:srgbClr val="FFFFFF"/>
                    </a:solidFill>
                  </a:tcPr>
                </a:tc>
                <a:tc>
                  <a:txBody>
                    <a:bodyPr/>
                    <a:lstStyle/>
                    <a:p>
                      <a:r>
                        <a:rPr sz="1600" b="0">
                          <a:solidFill>
                            <a:srgbClr val="222222"/>
                          </a:solidFill>
                          <a:latin typeface="맑은 고딕"/>
                        </a:rPr>
                        <a:t>누구인지 모름 (로그인 안 함, 토큰·세션 만료)</a:t>
                      </a:r>
                    </a:p>
                  </a:txBody>
                  <a:tcPr marT="43200" marB="43200">
                    <a:solidFill>
                      <a:srgbClr val="FFFFFF"/>
                    </a:solidFill>
                  </a:tcPr>
                </a:tc>
              </a:tr>
              <a:tr h="396000">
                <a:tc>
                  <a:txBody>
                    <a:bodyPr/>
                    <a:lstStyle/>
                    <a:p>
                      <a:r>
                        <a:rPr sz="1600" b="0">
                          <a:solidFill>
                            <a:srgbClr val="C62828"/>
                          </a:solidFill>
                          <a:latin typeface="Consolas"/>
                        </a:rPr>
                        <a:t>403</a:t>
                      </a:r>
                    </a:p>
                  </a:txBody>
                  <a:tcPr marT="43200" marB="43200">
                    <a:solidFill>
                      <a:srgbClr val="FFFFFF"/>
                    </a:solidFill>
                  </a:tcPr>
                </a:tc>
                <a:tc>
                  <a:txBody>
                    <a:bodyPr/>
                    <a:lstStyle/>
                    <a:p>
                      <a:r>
                        <a:rPr sz="1600" b="0">
                          <a:solidFill>
                            <a:srgbClr val="222222"/>
                          </a:solidFill>
                          <a:latin typeface="Consolas"/>
                        </a:rPr>
                        <a:t>Forbidden</a:t>
                      </a:r>
                    </a:p>
                  </a:txBody>
                  <a:tcPr marT="43200" marB="43200">
                    <a:solidFill>
                      <a:srgbClr val="FFFFFF"/>
                    </a:solidFill>
                  </a:tcPr>
                </a:tc>
                <a:tc>
                  <a:txBody>
                    <a:bodyPr/>
                    <a:lstStyle/>
                    <a:p>
                      <a:r>
                        <a:rPr sz="1600" b="0">
                          <a:solidFill>
                            <a:srgbClr val="222222"/>
                          </a:solidFill>
                          <a:latin typeface="맑은 고딕"/>
                        </a:rPr>
                        <a:t>누구인지 알지만 권한 없음</a:t>
                      </a:r>
                    </a:p>
                  </a:txBody>
                  <a:tcPr marT="43200" marB="43200">
                    <a:solidFill>
                      <a:srgbClr val="FFFFFF"/>
                    </a:solidFill>
                  </a:tcPr>
                </a:tc>
              </a:tr>
              <a:tr h="396000">
                <a:tc>
                  <a:txBody>
                    <a:bodyPr/>
                    <a:lstStyle/>
                    <a:p>
                      <a:r>
                        <a:rPr sz="1600" b="0">
                          <a:solidFill>
                            <a:srgbClr val="C62828"/>
                          </a:solidFill>
                          <a:latin typeface="Consolas"/>
                        </a:rPr>
                        <a:t>404</a:t>
                      </a:r>
                    </a:p>
                  </a:txBody>
                  <a:tcPr marT="43200" marB="43200">
                    <a:solidFill>
                      <a:srgbClr val="FFFFFF"/>
                    </a:solidFill>
                  </a:tcPr>
                </a:tc>
                <a:tc>
                  <a:txBody>
                    <a:bodyPr/>
                    <a:lstStyle/>
                    <a:p>
                      <a:r>
                        <a:rPr sz="1600" b="0">
                          <a:solidFill>
                            <a:srgbClr val="222222"/>
                          </a:solidFill>
                          <a:latin typeface="Consolas"/>
                        </a:rPr>
                        <a:t>Not Found</a:t>
                      </a:r>
                    </a:p>
                  </a:txBody>
                  <a:tcPr marT="43200" marB="43200">
                    <a:solidFill>
                      <a:srgbClr val="FFFFFF"/>
                    </a:solidFill>
                  </a:tcPr>
                </a:tc>
                <a:tc>
                  <a:txBody>
                    <a:bodyPr/>
                    <a:lstStyle/>
                    <a:p>
                      <a:r>
                        <a:rPr sz="1600" b="0">
                          <a:solidFill>
                            <a:srgbClr val="222222"/>
                          </a:solidFill>
                          <a:latin typeface="맑은 고딕"/>
                        </a:rPr>
                        <a:t>없는 자원 (존재를 숨길 때도)</a:t>
                      </a:r>
                    </a:p>
                  </a:txBody>
                  <a:tcPr marT="43200" marB="43200">
                    <a:solidFill>
                      <a:srgbClr val="FFFFFF"/>
                    </a:solidFill>
                  </a:tcPr>
                </a:tc>
              </a:tr>
              <a:tr h="396000">
                <a:tc>
                  <a:txBody>
                    <a:bodyPr/>
                    <a:lstStyle/>
                    <a:p>
                      <a:r>
                        <a:rPr sz="1600" b="0">
                          <a:solidFill>
                            <a:srgbClr val="C62828"/>
                          </a:solidFill>
                          <a:latin typeface="Consolas"/>
                        </a:rPr>
                        <a:t>409</a:t>
                      </a:r>
                    </a:p>
                  </a:txBody>
                  <a:tcPr marT="43200" marB="43200">
                    <a:solidFill>
                      <a:srgbClr val="FFFFFF"/>
                    </a:solidFill>
                  </a:tcPr>
                </a:tc>
                <a:tc>
                  <a:txBody>
                    <a:bodyPr/>
                    <a:lstStyle/>
                    <a:p>
                      <a:r>
                        <a:rPr sz="1600" b="0">
                          <a:solidFill>
                            <a:srgbClr val="222222"/>
                          </a:solidFill>
                          <a:latin typeface="Consolas"/>
                        </a:rPr>
                        <a:t>Conflict</a:t>
                      </a:r>
                    </a:p>
                  </a:txBody>
                  <a:tcPr marT="43200" marB="43200">
                    <a:solidFill>
                      <a:srgbClr val="FFFFFF"/>
                    </a:solidFill>
                  </a:tcPr>
                </a:tc>
                <a:tc>
                  <a:txBody>
                    <a:bodyPr/>
                    <a:lstStyle/>
                    <a:p>
                      <a:r>
                        <a:rPr sz="1600" b="0">
                          <a:solidFill>
                            <a:srgbClr val="222222"/>
                          </a:solidFill>
                          <a:latin typeface="맑은 고딕"/>
                        </a:rPr>
                        <a:t>중복 · 동시 수정 충돌</a:t>
                      </a:r>
                    </a:p>
                  </a:txBody>
                  <a:tcPr marT="43200" marB="43200">
                    <a:solidFill>
                      <a:srgbClr val="FFFFFF"/>
                    </a:solidFill>
                  </a:tcPr>
                </a:tc>
              </a:tr>
              <a:tr h="396000">
                <a:tc>
                  <a:txBody>
                    <a:bodyPr/>
                    <a:lstStyle/>
                    <a:p>
                      <a:r>
                        <a:rPr sz="1600" b="0">
                          <a:solidFill>
                            <a:srgbClr val="C62828"/>
                          </a:solidFill>
                          <a:latin typeface="Consolas"/>
                        </a:rPr>
                        <a:t>500</a:t>
                      </a:r>
                    </a:p>
                  </a:txBody>
                  <a:tcPr marT="43200" marB="43200">
                    <a:solidFill>
                      <a:srgbClr val="FFFFFF"/>
                    </a:solidFill>
                  </a:tcPr>
                </a:tc>
                <a:tc>
                  <a:txBody>
                    <a:bodyPr/>
                    <a:lstStyle/>
                    <a:p>
                      <a:r>
                        <a:rPr sz="1600" b="0">
                          <a:solidFill>
                            <a:srgbClr val="222222"/>
                          </a:solidFill>
                          <a:latin typeface="Consolas"/>
                        </a:rPr>
                        <a:t>Internal Server Error</a:t>
                      </a:r>
                    </a:p>
                  </a:txBody>
                  <a:tcPr marT="43200" marB="43200">
                    <a:solidFill>
                      <a:srgbClr val="FFFFFF"/>
                    </a:solidFill>
                  </a:tcPr>
                </a:tc>
                <a:tc>
                  <a:txBody>
                    <a:bodyPr/>
                    <a:lstStyle/>
                    <a:p>
                      <a:r>
                        <a:rPr sz="1600" b="0">
                          <a:solidFill>
                            <a:srgbClr val="222222"/>
                          </a:solidFill>
                          <a:latin typeface="맑은 고딕"/>
                        </a:rPr>
                        <a:t>서버가 처리 못 한 예외</a:t>
                      </a:r>
                    </a:p>
                  </a:txBody>
                  <a:tcPr marT="43200" marB="43200">
                    <a:solidFill>
                      <a:srgbClr val="FFFFFF"/>
                    </a:solidFill>
                  </a:tcPr>
                </a:tc>
              </a:tr>
            </a:tbl>
          </a:graphicData>
        </a:graphic>
      </p:graphicFrame>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실패를 200으로 보내면</a:t>
            </a:r>
          </a:p>
        </p:txBody>
      </p:sp>
      <p:sp>
        <p:nvSpPr>
          <p:cNvPr id="3" name="TextBox 2"/>
          <p:cNvSpPr txBox="1"/>
          <p:nvPr/>
        </p:nvSpPr>
        <p:spPr>
          <a:xfrm>
            <a:off x="576000" y="1332000"/>
            <a:ext cx="5256000" cy="720000"/>
          </a:xfrm>
          <a:prstGeom prst="rect">
            <a:avLst/>
          </a:prstGeom>
          <a:noFill/>
        </p:spPr>
        <p:txBody>
          <a:bodyPr wrap="square">
            <a:spAutoFit/>
          </a:bodyPr>
          <a:lstStyle/>
          <a:p>
            <a:pPr algn="l">
              <a:spcAft>
                <a:spcPts val="1000"/>
              </a:spcAft>
            </a:pPr>
            <a:r>
              <a:rPr sz="1600" b="1">
                <a:solidFill>
                  <a:srgbClr val="C62828"/>
                </a:solidFill>
                <a:latin typeface="맑은 고딕"/>
              </a:rPr>
              <a:t>✗ 안티패턴</a:t>
            </a:r>
          </a:p>
        </p:txBody>
      </p:sp>
      <p:sp>
        <p:nvSpPr>
          <p:cNvPr id="4" name="Rectangle 3"/>
          <p:cNvSpPr/>
          <p:nvPr/>
        </p:nvSpPr>
        <p:spPr>
          <a:xfrm>
            <a:off x="576000" y="1728000"/>
            <a:ext cx="5256000" cy="3671999"/>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400">
                <a:solidFill>
                  <a:srgbClr val="FFCA28"/>
                </a:solidFill>
                <a:latin typeface="Consolas"/>
              </a:rPr>
              <a:t>HTTP/1.1 200 OK</a:t>
            </a:r>
          </a:p>
          <a:p>
            <a:pPr algn="l"/>
            <a:r>
              <a:rPr sz="1400">
                <a:solidFill>
                  <a:srgbClr val="E6E6E6"/>
                </a:solidFill>
                <a:latin typeface="Consolas"/>
              </a:rPr>
              <a:t> </a:t>
            </a:r>
          </a:p>
          <a:p>
            <a:pPr algn="l"/>
            <a:r>
              <a:rPr sz="1400">
                <a:solidFill>
                  <a:srgbClr val="E6E6E6"/>
                </a:solidFill>
                <a:latin typeface="Consolas"/>
              </a:rPr>
              <a:t>{</a:t>
            </a:r>
          </a:p>
          <a:p>
            <a:pPr algn="l"/>
            <a:r>
              <a:rPr sz="1400">
                <a:solidFill>
                  <a:srgbClr val="EF5350"/>
                </a:solidFill>
                <a:latin typeface="Consolas"/>
              </a:rPr>
              <a:t>  "success": false,</a:t>
            </a:r>
          </a:p>
          <a:p>
            <a:pPr algn="l"/>
            <a:r>
              <a:rPr sz="1400">
                <a:solidFill>
                  <a:srgbClr val="E6E6E6"/>
                </a:solidFill>
                <a:latin typeface="Consolas"/>
              </a:rPr>
              <a:t>  "message": "글이 없습니다"</a:t>
            </a:r>
          </a:p>
          <a:p>
            <a:pPr algn="l"/>
            <a:r>
              <a:rPr sz="1400">
                <a:solidFill>
                  <a:srgbClr val="E6E6E6"/>
                </a:solidFill>
                <a:latin typeface="Consolas"/>
              </a:rPr>
              <a:t>}</a:t>
            </a:r>
          </a:p>
        </p:txBody>
      </p:sp>
      <p:sp>
        <p:nvSpPr>
          <p:cNvPr id="5" name="TextBox 4"/>
          <p:cNvSpPr txBox="1"/>
          <p:nvPr/>
        </p:nvSpPr>
        <p:spPr>
          <a:xfrm>
            <a:off x="6192000" y="1332000"/>
            <a:ext cx="5400000" cy="720000"/>
          </a:xfrm>
          <a:prstGeom prst="rect">
            <a:avLst/>
          </a:prstGeom>
          <a:noFill/>
        </p:spPr>
        <p:txBody>
          <a:bodyPr wrap="square">
            <a:spAutoFit/>
          </a:bodyPr>
          <a:lstStyle/>
          <a:p>
            <a:pPr algn="l">
              <a:spcAft>
                <a:spcPts val="1000"/>
              </a:spcAft>
            </a:pPr>
            <a:r>
              <a:rPr sz="1600" b="1">
                <a:solidFill>
                  <a:srgbClr val="2E7D32"/>
                </a:solidFill>
                <a:latin typeface="맑은 고딕"/>
              </a:rPr>
              <a:t>✓ 예제 서버 실제 응답</a:t>
            </a:r>
          </a:p>
        </p:txBody>
      </p:sp>
      <p:sp>
        <p:nvSpPr>
          <p:cNvPr id="6" name="Rectangle 5"/>
          <p:cNvSpPr/>
          <p:nvPr/>
        </p:nvSpPr>
        <p:spPr>
          <a:xfrm>
            <a:off x="6192000" y="1728000"/>
            <a:ext cx="5400000" cy="3671999"/>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250">
                <a:solidFill>
                  <a:srgbClr val="8BC34A"/>
                </a:solidFill>
                <a:latin typeface="Consolas"/>
              </a:rPr>
              <a:t>$ curl -i localhost:8080/api/v1/posts/99999</a:t>
            </a:r>
          </a:p>
          <a:p>
            <a:pPr algn="l"/>
            <a:r>
              <a:rPr sz="1250">
                <a:solidFill>
                  <a:srgbClr val="EF5350"/>
                </a:solidFill>
                <a:latin typeface="Consolas"/>
              </a:rPr>
              <a:t>HTTP/1.1 404</a:t>
            </a:r>
          </a:p>
          <a:p>
            <a:pPr algn="l"/>
            <a:r>
              <a:rPr sz="1250">
                <a:solidFill>
                  <a:srgbClr val="9E9E9E"/>
                </a:solidFill>
                <a:latin typeface="Consolas"/>
              </a:rPr>
              <a:t>Content-Type: application/problem+json</a:t>
            </a:r>
          </a:p>
          <a:p>
            <a:pPr algn="l"/>
            <a:r>
              <a:rPr sz="1250">
                <a:solidFill>
                  <a:srgbClr val="E6E6E6"/>
                </a:solidFill>
                <a:latin typeface="Consolas"/>
              </a:rPr>
              <a:t> </a:t>
            </a:r>
          </a:p>
          <a:p>
            <a:pPr algn="l"/>
            <a:r>
              <a:rPr sz="1250">
                <a:solidFill>
                  <a:srgbClr val="E6E6E6"/>
                </a:solidFill>
                <a:latin typeface="Consolas"/>
              </a:rPr>
              <a:t>{</a:t>
            </a:r>
          </a:p>
          <a:p>
            <a:pPr algn="l"/>
            <a:r>
              <a:rPr sz="1250">
                <a:solidFill>
                  <a:srgbClr val="E6E6E6"/>
                </a:solidFill>
                <a:latin typeface="Consolas"/>
              </a:rPr>
              <a:t>  "type": "about:blank",</a:t>
            </a:r>
          </a:p>
          <a:p>
            <a:pPr algn="l"/>
            <a:r>
              <a:rPr sz="1250">
                <a:solidFill>
                  <a:srgbClr val="E6E6E6"/>
                </a:solidFill>
                <a:latin typeface="Consolas"/>
              </a:rPr>
              <a:t>  "title": "글을 찾을 수 없습니다",</a:t>
            </a:r>
          </a:p>
          <a:p>
            <a:pPr algn="l"/>
            <a:r>
              <a:rPr sz="1250">
                <a:solidFill>
                  <a:srgbClr val="E6E6E6"/>
                </a:solidFill>
                <a:latin typeface="Consolas"/>
              </a:rPr>
              <a:t>  "status": 404,</a:t>
            </a:r>
          </a:p>
          <a:p>
            <a:pPr algn="l"/>
            <a:r>
              <a:rPr sz="1250">
                <a:solidFill>
                  <a:srgbClr val="E6E6E6"/>
                </a:solidFill>
                <a:latin typeface="Consolas"/>
              </a:rPr>
              <a:t>  "detail": "99999번 글이 없습니다.",</a:t>
            </a:r>
          </a:p>
          <a:p>
            <a:pPr algn="l"/>
            <a:r>
              <a:rPr sz="1250">
                <a:solidFill>
                  <a:srgbClr val="E6E6E6"/>
                </a:solidFill>
                <a:latin typeface="Consolas"/>
              </a:rPr>
              <a:t>  "instance": "/api/v1/posts/99999",</a:t>
            </a:r>
          </a:p>
          <a:p>
            <a:pPr algn="l"/>
            <a:r>
              <a:rPr sz="1250">
                <a:solidFill>
                  <a:srgbClr val="E6E6E6"/>
                </a:solidFill>
                <a:latin typeface="Consolas"/>
              </a:rPr>
              <a:t>  "code": "POST_NOT_FOUND"</a:t>
            </a:r>
          </a:p>
          <a:p>
            <a:pPr algn="l"/>
            <a:r>
              <a:rPr sz="1250">
                <a:solidFill>
                  <a:srgbClr val="E6E6E6"/>
                </a:solidFill>
                <a:latin typeface="Consolas"/>
              </a:rPr>
              <a:t>}</a:t>
            </a:r>
          </a:p>
        </p:txBody>
      </p:sp>
      <p:sp>
        <p:nvSpPr>
          <p:cNvPr id="7" name="TextBox 6"/>
          <p:cNvSpPr txBox="1"/>
          <p:nvPr/>
        </p:nvSpPr>
        <p:spPr>
          <a:xfrm>
            <a:off x="576000" y="561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모니터링 · 로드밸런서 · 캐시 · 재시도는 바디가 아니라 상태 코드를 본다</a:t>
            </a:r>
          </a:p>
        </p:txBody>
      </p:sp>
      <p:sp>
        <p:nvSpPr>
          <p:cNvPr id="8" name="TextBox 7"/>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에러는 모든 API가 같은 모양으로</a:t>
            </a:r>
          </a:p>
        </p:txBody>
      </p:sp>
      <p:sp>
        <p:nvSpPr>
          <p:cNvPr id="3" name="Rectangle 2"/>
          <p:cNvSpPr/>
          <p:nvPr/>
        </p:nvSpPr>
        <p:spPr>
          <a:xfrm>
            <a:off x="576000" y="1296000"/>
            <a:ext cx="5472000" cy="4176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200">
                <a:solidFill>
                  <a:srgbClr val="8BC34A"/>
                </a:solidFill>
                <a:latin typeface="Consolas"/>
              </a:rPr>
              <a:t>$ curl -i -X POST …/posts -d '{"title":""}'</a:t>
            </a:r>
          </a:p>
          <a:p>
            <a:pPr algn="l"/>
            <a:r>
              <a:rPr sz="1200">
                <a:solidFill>
                  <a:srgbClr val="EF5350"/>
                </a:solidFill>
                <a:latin typeface="Consolas"/>
              </a:rPr>
              <a:t>HTTP/1.1 400</a:t>
            </a:r>
          </a:p>
          <a:p>
            <a:pPr algn="l"/>
            <a:r>
              <a:rPr sz="1200">
                <a:solidFill>
                  <a:srgbClr val="9E9E9E"/>
                </a:solidFill>
                <a:latin typeface="Consolas"/>
              </a:rPr>
              <a:t>Content-Type: application/problem+json</a:t>
            </a:r>
          </a:p>
          <a:p>
            <a:pPr algn="l"/>
            <a:r>
              <a:rPr sz="1200">
                <a:solidFill>
                  <a:srgbClr val="E6E6E6"/>
                </a:solidFill>
                <a:latin typeface="Consolas"/>
              </a:rPr>
              <a:t> </a:t>
            </a:r>
          </a:p>
          <a:p>
            <a:pPr algn="l"/>
            <a:r>
              <a:rPr sz="1200">
                <a:solidFill>
                  <a:srgbClr val="E6E6E6"/>
                </a:solidFill>
                <a:latin typeface="Consolas"/>
              </a:rPr>
              <a:t>{</a:t>
            </a:r>
          </a:p>
          <a:p>
            <a:pPr algn="l"/>
            <a:r>
              <a:rPr sz="1200">
                <a:solidFill>
                  <a:srgbClr val="E6E6E6"/>
                </a:solidFill>
                <a:latin typeface="Consolas"/>
              </a:rPr>
              <a:t>  "type": "about:blank",</a:t>
            </a:r>
          </a:p>
          <a:p>
            <a:pPr algn="l"/>
            <a:r>
              <a:rPr sz="1200">
                <a:solidFill>
                  <a:srgbClr val="E6E6E6"/>
                </a:solidFill>
                <a:latin typeface="Consolas"/>
              </a:rPr>
              <a:t>  "title": "잘못된 요청입니다",</a:t>
            </a:r>
          </a:p>
          <a:p>
            <a:pPr algn="l"/>
            <a:r>
              <a:rPr sz="1200">
                <a:solidFill>
                  <a:srgbClr val="E6E6E6"/>
                </a:solidFill>
                <a:latin typeface="Consolas"/>
              </a:rPr>
              <a:t>  "status": 400,</a:t>
            </a:r>
          </a:p>
          <a:p>
            <a:pPr algn="l"/>
            <a:r>
              <a:rPr sz="1200">
                <a:solidFill>
                  <a:srgbClr val="E6E6E6"/>
                </a:solidFill>
                <a:latin typeface="Consolas"/>
              </a:rPr>
              <a:t>  "detail": "입력값을 확인해 주세요.",</a:t>
            </a:r>
          </a:p>
          <a:p>
            <a:pPr algn="l"/>
            <a:r>
              <a:rPr sz="1200">
                <a:solidFill>
                  <a:srgbClr val="E6E6E6"/>
                </a:solidFill>
                <a:latin typeface="Consolas"/>
              </a:rPr>
              <a:t>  "instance": "/api/v1/posts",</a:t>
            </a:r>
          </a:p>
          <a:p>
            <a:pPr algn="l"/>
            <a:r>
              <a:rPr sz="1200">
                <a:solidFill>
                  <a:srgbClr val="E6E6E6"/>
                </a:solidFill>
                <a:latin typeface="Consolas"/>
              </a:rPr>
              <a:t>  "code": "INVALID_INPUT",</a:t>
            </a:r>
          </a:p>
          <a:p>
            <a:pPr algn="l"/>
            <a:r>
              <a:rPr sz="1200">
                <a:solidFill>
                  <a:srgbClr val="E6E6E6"/>
                </a:solidFill>
                <a:latin typeface="Consolas"/>
              </a:rPr>
              <a:t>  "errors": [</a:t>
            </a:r>
          </a:p>
          <a:p>
            <a:pPr algn="l"/>
            <a:r>
              <a:rPr sz="1200">
                <a:solidFill>
                  <a:srgbClr val="E6E6E6"/>
                </a:solidFill>
                <a:latin typeface="Consolas"/>
              </a:rPr>
              <a:t>    {</a:t>
            </a:r>
          </a:p>
          <a:p>
            <a:pPr algn="l"/>
            <a:r>
              <a:rPr sz="1200">
                <a:solidFill>
                  <a:srgbClr val="E6E6E6"/>
                </a:solidFill>
                <a:latin typeface="Consolas"/>
              </a:rPr>
              <a:t>      "reason": "must not be blank",</a:t>
            </a:r>
          </a:p>
          <a:p>
            <a:pPr algn="l"/>
            <a:r>
              <a:rPr sz="1200">
                <a:solidFill>
                  <a:srgbClr val="E6E6E6"/>
                </a:solidFill>
                <a:latin typeface="Consolas"/>
              </a:rPr>
              <a:t>      "field": "title"</a:t>
            </a:r>
          </a:p>
          <a:p>
            <a:pPr algn="l"/>
            <a:r>
              <a:rPr sz="1200">
                <a:solidFill>
                  <a:srgbClr val="E6E6E6"/>
                </a:solidFill>
                <a:latin typeface="Consolas"/>
              </a:rPr>
              <a:t>    }</a:t>
            </a:r>
          </a:p>
          <a:p>
            <a:pPr algn="l"/>
            <a:r>
              <a:rPr sz="1200">
                <a:solidFill>
                  <a:srgbClr val="E6E6E6"/>
                </a:solidFill>
                <a:latin typeface="Consolas"/>
              </a:rPr>
              <a:t>  ]</a:t>
            </a:r>
          </a:p>
          <a:p>
            <a:pPr algn="l"/>
            <a:r>
              <a:rPr sz="1200">
                <a:solidFill>
                  <a:srgbClr val="E6E6E6"/>
                </a:solidFill>
                <a:latin typeface="Consolas"/>
              </a:rPr>
              <a:t>}</a:t>
            </a:r>
          </a:p>
        </p:txBody>
      </p:sp>
      <p:sp>
        <p:nvSpPr>
          <p:cNvPr id="4" name="Rectangle 3"/>
          <p:cNvSpPr/>
          <p:nvPr/>
        </p:nvSpPr>
        <p:spPr>
          <a:xfrm>
            <a:off x="6263999" y="1296000"/>
            <a:ext cx="5400000" cy="4176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200">
                <a:solidFill>
                  <a:srgbClr val="8BC34A"/>
                </a:solidFill>
                <a:latin typeface="Consolas"/>
              </a:rPr>
              <a:t>$ curl -i -X POST …/posts -d '{"title":"제주 여행"}'</a:t>
            </a:r>
          </a:p>
          <a:p>
            <a:pPr algn="l"/>
            <a:r>
              <a:rPr sz="1200">
                <a:solidFill>
                  <a:srgbClr val="EF5350"/>
                </a:solidFill>
                <a:latin typeface="Consolas"/>
              </a:rPr>
              <a:t>HTTP/1.1 409</a:t>
            </a:r>
          </a:p>
          <a:p>
            <a:pPr algn="l"/>
            <a:r>
              <a:rPr sz="1200">
                <a:solidFill>
                  <a:srgbClr val="9E9E9E"/>
                </a:solidFill>
                <a:latin typeface="Consolas"/>
              </a:rPr>
              <a:t>Content-Type: application/problem+json</a:t>
            </a:r>
          </a:p>
          <a:p>
            <a:pPr algn="l"/>
            <a:r>
              <a:rPr sz="1200">
                <a:solidFill>
                  <a:srgbClr val="E6E6E6"/>
                </a:solidFill>
                <a:latin typeface="Consolas"/>
              </a:rPr>
              <a:t> </a:t>
            </a:r>
          </a:p>
          <a:p>
            <a:pPr algn="l"/>
            <a:r>
              <a:rPr sz="1200">
                <a:solidFill>
                  <a:srgbClr val="E6E6E6"/>
                </a:solidFill>
                <a:latin typeface="Consolas"/>
              </a:rPr>
              <a:t>{</a:t>
            </a:r>
          </a:p>
          <a:p>
            <a:pPr algn="l"/>
            <a:r>
              <a:rPr sz="1200">
                <a:solidFill>
                  <a:srgbClr val="E6E6E6"/>
                </a:solidFill>
                <a:latin typeface="Consolas"/>
              </a:rPr>
              <a:t>  "type": "about:blank",</a:t>
            </a:r>
          </a:p>
          <a:p>
            <a:pPr algn="l"/>
            <a:r>
              <a:rPr sz="1200">
                <a:solidFill>
                  <a:srgbClr val="E6E6E6"/>
                </a:solidFill>
                <a:latin typeface="Consolas"/>
              </a:rPr>
              <a:t>  "title": "같은 제목의 글이 이미 있습니다",</a:t>
            </a:r>
          </a:p>
          <a:p>
            <a:pPr algn="l"/>
            <a:r>
              <a:rPr sz="1200">
                <a:solidFill>
                  <a:srgbClr val="E6E6E6"/>
                </a:solidFill>
                <a:latin typeface="Consolas"/>
              </a:rPr>
              <a:t>  "status": 409,</a:t>
            </a:r>
          </a:p>
          <a:p>
            <a:pPr algn="l"/>
            <a:r>
              <a:rPr sz="1200">
                <a:solidFill>
                  <a:srgbClr val="E6E6E6"/>
                </a:solidFill>
                <a:latin typeface="Consolas"/>
              </a:rPr>
              <a:t>  "detail": "'제주 여행' 제목의 글이 이미 있습니다.",</a:t>
            </a:r>
          </a:p>
          <a:p>
            <a:pPr algn="l"/>
            <a:r>
              <a:rPr sz="1200">
                <a:solidFill>
                  <a:srgbClr val="E6E6E6"/>
                </a:solidFill>
                <a:latin typeface="Consolas"/>
              </a:rPr>
              <a:t>  "instance": "/api/v1/posts",</a:t>
            </a:r>
          </a:p>
          <a:p>
            <a:pPr algn="l"/>
            <a:r>
              <a:rPr sz="1200">
                <a:solidFill>
                  <a:srgbClr val="E6E6E6"/>
                </a:solidFill>
                <a:latin typeface="Consolas"/>
              </a:rPr>
              <a:t>  "code": "DUPLICATE_TITLE"</a:t>
            </a:r>
          </a:p>
          <a:p>
            <a:pPr algn="l"/>
            <a:r>
              <a:rPr sz="1200">
                <a:solidFill>
                  <a:srgbClr val="E6E6E6"/>
                </a:solidFill>
                <a:latin typeface="Consolas"/>
              </a:rPr>
              <a:t>}</a:t>
            </a:r>
          </a:p>
        </p:txBody>
      </p:sp>
      <p:sp>
        <p:nvSpPr>
          <p:cNvPr id="5" name="TextBox 4"/>
          <p:cNvSpPr txBox="1"/>
          <p:nvPr/>
        </p:nvSpPr>
        <p:spPr>
          <a:xfrm>
            <a:off x="576000" y="5652000"/>
            <a:ext cx="11160000" cy="720000"/>
          </a:xfrm>
          <a:prstGeom prst="rect">
            <a:avLst/>
          </a:prstGeom>
          <a:noFill/>
        </p:spPr>
        <p:txBody>
          <a:bodyPr wrap="square">
            <a:spAutoFit/>
          </a:bodyPr>
          <a:lstStyle/>
          <a:p>
            <a:pPr algn="l">
              <a:spcAft>
                <a:spcPts val="1000"/>
              </a:spcAft>
            </a:pPr>
            <a:r>
              <a:rPr sz="1700" b="0">
                <a:solidFill>
                  <a:srgbClr val="757575"/>
                </a:solidFill>
                <a:latin typeface="Consolas"/>
              </a:rPr>
              <a:t>type · title · status · detail</a:t>
            </a:r>
            <a:r>
              <a:rPr sz="1700" b="0">
                <a:solidFill>
                  <a:srgbClr val="757575"/>
                </a:solidFill>
                <a:latin typeface="맑은 고딕"/>
              </a:rPr>
              <a:t> = RFC 9457 표준   </a:t>
            </a:r>
            <a:r>
              <a:rPr sz="1700" b="1">
                <a:solidFill>
                  <a:srgbClr val="1565C0"/>
                </a:solidFill>
                <a:latin typeface="Consolas"/>
              </a:rPr>
              <a:t>code</a:t>
            </a:r>
            <a:r>
              <a:rPr sz="1700" b="0">
                <a:solidFill>
                  <a:srgbClr val="757575"/>
                </a:solidFill>
                <a:latin typeface="맑은 고딕"/>
              </a:rPr>
              <a:t> = 화면이 분기하는 값   </a:t>
            </a:r>
            <a:r>
              <a:rPr sz="1700" b="1">
                <a:solidFill>
                  <a:srgbClr val="1565C0"/>
                </a:solidFill>
                <a:latin typeface="Consolas"/>
              </a:rPr>
              <a:t>errors</a:t>
            </a:r>
            <a:r>
              <a:rPr sz="1700" b="0">
                <a:solidFill>
                  <a:srgbClr val="757575"/>
                </a:solidFill>
                <a:latin typeface="맑은 고딕"/>
              </a:rPr>
              <a:t> = 틀린 칸</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성공 응답은 감쌀까?</a:t>
            </a:r>
          </a:p>
        </p:txBody>
      </p:sp>
      <p:sp>
        <p:nvSpPr>
          <p:cNvPr id="3" name="TextBox 2"/>
          <p:cNvSpPr txBox="1"/>
          <p:nvPr/>
        </p:nvSpPr>
        <p:spPr>
          <a:xfrm>
            <a:off x="576000" y="1368000"/>
            <a:ext cx="5400000" cy="720000"/>
          </a:xfrm>
          <a:prstGeom prst="rect">
            <a:avLst/>
          </a:prstGeom>
          <a:noFill/>
        </p:spPr>
        <p:txBody>
          <a:bodyPr wrap="square">
            <a:spAutoFit/>
          </a:bodyPr>
          <a:lstStyle/>
          <a:p>
            <a:pPr algn="l">
              <a:spcAft>
                <a:spcPts val="1000"/>
              </a:spcAft>
            </a:pPr>
            <a:r>
              <a:rPr sz="1900" b="1">
                <a:solidFill>
                  <a:srgbClr val="222222"/>
                </a:solidFill>
                <a:latin typeface="맑은 고딕"/>
              </a:rPr>
              <a:t>그대로 주기</a:t>
            </a:r>
          </a:p>
        </p:txBody>
      </p:sp>
      <p:sp>
        <p:nvSpPr>
          <p:cNvPr id="4" name="Rectangle 3"/>
          <p:cNvSpPr/>
          <p:nvPr/>
        </p:nvSpPr>
        <p:spPr>
          <a:xfrm>
            <a:off x="576000" y="1800000"/>
            <a:ext cx="5256000" cy="149733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400">
                <a:solidFill>
                  <a:srgbClr val="222222"/>
                </a:solidFill>
                <a:latin typeface="Consolas"/>
              </a:rPr>
              <a:t>{</a:t>
            </a:r>
          </a:p>
          <a:p>
            <a:pPr algn="l"/>
            <a:r>
              <a:rPr sz="1400">
                <a:solidFill>
                  <a:srgbClr val="222222"/>
                </a:solidFill>
                <a:latin typeface="Consolas"/>
              </a:rPr>
              <a:t>  "id": 42,</a:t>
            </a:r>
          </a:p>
          <a:p>
            <a:pPr algn="l"/>
            <a:r>
              <a:rPr sz="1400">
                <a:solidFill>
                  <a:srgbClr val="222222"/>
                </a:solidFill>
                <a:latin typeface="Consolas"/>
              </a:rPr>
              <a:t>  "title": "제주 여행",</a:t>
            </a:r>
          </a:p>
          <a:p>
            <a:pPr algn="l"/>
            <a:r>
              <a:rPr sz="1400">
                <a:solidFill>
                  <a:srgbClr val="222222"/>
                </a:solidFill>
                <a:latin typeface="Consolas"/>
              </a:rPr>
              <a:t>  "createdAt": "2026-10-02T09:00:00"</a:t>
            </a:r>
          </a:p>
          <a:p>
            <a:pPr algn="l"/>
            <a:r>
              <a:rPr sz="1400">
                <a:solidFill>
                  <a:srgbClr val="222222"/>
                </a:solidFill>
                <a:latin typeface="Consolas"/>
              </a:rPr>
              <a:t>}</a:t>
            </a:r>
          </a:p>
        </p:txBody>
      </p:sp>
      <p:sp>
        <p:nvSpPr>
          <p:cNvPr id="5" name="TextBox 4"/>
          <p:cNvSpPr txBox="1"/>
          <p:nvPr/>
        </p:nvSpPr>
        <p:spPr>
          <a:xfrm>
            <a:off x="6263999" y="1368000"/>
            <a:ext cx="5400000" cy="720000"/>
          </a:xfrm>
          <a:prstGeom prst="rect">
            <a:avLst/>
          </a:prstGeom>
          <a:noFill/>
        </p:spPr>
        <p:txBody>
          <a:bodyPr wrap="square">
            <a:spAutoFit/>
          </a:bodyPr>
          <a:lstStyle/>
          <a:p>
            <a:pPr algn="l">
              <a:spcAft>
                <a:spcPts val="1000"/>
              </a:spcAft>
            </a:pPr>
            <a:r>
              <a:rPr sz="1900" b="1">
                <a:solidFill>
                  <a:srgbClr val="222222"/>
                </a:solidFill>
                <a:latin typeface="맑은 고딕"/>
              </a:rPr>
              <a:t>감싸기 (envelope)</a:t>
            </a:r>
          </a:p>
        </p:txBody>
      </p:sp>
      <p:sp>
        <p:nvSpPr>
          <p:cNvPr id="6" name="Rectangle 5"/>
          <p:cNvSpPr/>
          <p:nvPr/>
        </p:nvSpPr>
        <p:spPr>
          <a:xfrm>
            <a:off x="6263999" y="1800000"/>
            <a:ext cx="5328000" cy="149733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400">
                <a:solidFill>
                  <a:srgbClr val="222222"/>
                </a:solidFill>
                <a:latin typeface="Consolas"/>
              </a:rPr>
              <a:t>{</a:t>
            </a:r>
          </a:p>
          <a:p>
            <a:pPr algn="l"/>
            <a:r>
              <a:rPr sz="1400">
                <a:solidFill>
                  <a:srgbClr val="C62828"/>
                </a:solidFill>
                <a:latin typeface="Consolas"/>
              </a:rPr>
              <a:t>  "success": true,</a:t>
            </a:r>
          </a:p>
          <a:p>
            <a:pPr algn="l"/>
            <a:r>
              <a:rPr sz="1400">
                <a:solidFill>
                  <a:srgbClr val="222222"/>
                </a:solidFill>
                <a:latin typeface="Consolas"/>
              </a:rPr>
              <a:t>  "code": "OK",</a:t>
            </a:r>
          </a:p>
          <a:p>
            <a:pPr algn="l"/>
            <a:r>
              <a:rPr sz="1400">
                <a:solidFill>
                  <a:srgbClr val="222222"/>
                </a:solidFill>
                <a:latin typeface="Consolas"/>
              </a:rPr>
              <a:t>  "data": { "id": 42, … }</a:t>
            </a:r>
          </a:p>
          <a:p>
            <a:pPr algn="l"/>
            <a:r>
              <a:rPr sz="1400">
                <a:solidFill>
                  <a:srgbClr val="222222"/>
                </a:solidFill>
                <a:latin typeface="Consolas"/>
              </a:rPr>
              <a:t>}</a:t>
            </a:r>
          </a:p>
        </p:txBody>
      </p:sp>
      <p:sp>
        <p:nvSpPr>
          <p:cNvPr id="7" name="TextBox 6"/>
          <p:cNvSpPr txBox="1"/>
          <p:nvPr/>
        </p:nvSpPr>
        <p:spPr>
          <a:xfrm>
            <a:off x="576000" y="3960000"/>
            <a:ext cx="5400000" cy="720000"/>
          </a:xfrm>
          <a:prstGeom prst="rect">
            <a:avLst/>
          </a:prstGeom>
          <a:noFill/>
        </p:spPr>
        <p:txBody>
          <a:bodyPr wrap="square">
            <a:spAutoFit/>
          </a:bodyPr>
          <a:lstStyle/>
          <a:p>
            <a:pPr algn="l">
              <a:spcAft>
                <a:spcPts val="600"/>
              </a:spcAft>
            </a:pPr>
            <a:r>
              <a:rPr sz="1600" b="0">
                <a:solidFill>
                  <a:srgbClr val="757575"/>
                </a:solidFill>
                <a:latin typeface="맑은 고딕"/>
              </a:rPr>
              <a:t>+ 상태 코드와 겹치는 정보가 없다</a:t>
            </a:r>
          </a:p>
          <a:p>
            <a:pPr algn="l">
              <a:spcAft>
                <a:spcPts val="600"/>
              </a:spcAft>
            </a:pPr>
            <a:r>
              <a:rPr sz="1600" b="0">
                <a:solidFill>
                  <a:srgbClr val="757575"/>
                </a:solidFill>
                <a:latin typeface="맑은 고딕"/>
              </a:rPr>
              <a:t>− 응답마다 꺼내는 방식이 조금씩 다르다</a:t>
            </a:r>
          </a:p>
        </p:txBody>
      </p:sp>
      <p:sp>
        <p:nvSpPr>
          <p:cNvPr id="8" name="TextBox 7"/>
          <p:cNvSpPr txBox="1"/>
          <p:nvPr/>
        </p:nvSpPr>
        <p:spPr>
          <a:xfrm>
            <a:off x="6263999" y="3960000"/>
            <a:ext cx="5400000" cy="720000"/>
          </a:xfrm>
          <a:prstGeom prst="rect">
            <a:avLst/>
          </a:prstGeom>
          <a:noFill/>
        </p:spPr>
        <p:txBody>
          <a:bodyPr wrap="square">
            <a:spAutoFit/>
          </a:bodyPr>
          <a:lstStyle/>
          <a:p>
            <a:pPr algn="l">
              <a:spcAft>
                <a:spcPts val="600"/>
              </a:spcAft>
            </a:pPr>
            <a:r>
              <a:rPr sz="1600" b="0">
                <a:solidFill>
                  <a:srgbClr val="757575"/>
                </a:solidFill>
                <a:latin typeface="맑은 고딕"/>
              </a:rPr>
              <a:t>+ 꺼내는 코드가 하나, 메타 정보 넣기 쉽다</a:t>
            </a:r>
          </a:p>
          <a:p>
            <a:pPr algn="l">
              <a:spcAft>
                <a:spcPts val="600"/>
              </a:spcAft>
            </a:pPr>
            <a:r>
              <a:rPr sz="1600" b="0">
                <a:solidFill>
                  <a:srgbClr val="757575"/>
                </a:solidFill>
                <a:latin typeface="맑은 고딕"/>
              </a:rPr>
              <a:t>− success가 상태 코드와 중복된다</a:t>
            </a:r>
          </a:p>
        </p:txBody>
      </p:sp>
      <p:sp>
        <p:nvSpPr>
          <p:cNvPr id="9" name="TextBox 8"/>
          <p:cNvSpPr txBox="1"/>
          <p:nvPr/>
        </p:nvSpPr>
        <p:spPr>
          <a:xfrm>
            <a:off x="576000" y="5472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어느 쪽이든: 목록은 content + page · camelCase · ISO 8601</a:t>
            </a:r>
          </a:p>
        </p:txBody>
      </p:sp>
      <p:sp>
        <p:nvSpPr>
          <p:cNvPr id="10" name="TextBox 9"/>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내부 정보는 로그로, 응답에는 traceId만</a:t>
            </a:r>
          </a:p>
        </p:txBody>
      </p:sp>
      <p:sp>
        <p:nvSpPr>
          <p:cNvPr id="3" name="TextBox 2"/>
          <p:cNvSpPr txBox="1"/>
          <p:nvPr/>
        </p:nvSpPr>
        <p:spPr>
          <a:xfrm>
            <a:off x="576000" y="1368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응답</a:t>
            </a:r>
            <a:r>
              <a:rPr sz="1600" b="0">
                <a:solidFill>
                  <a:srgbClr val="757575"/>
                </a:solidFill>
                <a:latin typeface="맑은 고딕"/>
              </a:rPr>
              <a:t>  사용자에게</a:t>
            </a:r>
          </a:p>
        </p:txBody>
      </p:sp>
      <p:sp>
        <p:nvSpPr>
          <p:cNvPr id="4" name="Rectangle 3"/>
          <p:cNvSpPr/>
          <p:nvPr/>
        </p:nvSpPr>
        <p:spPr>
          <a:xfrm>
            <a:off x="576000" y="1764000"/>
            <a:ext cx="11016000" cy="826857"/>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500">
                <a:solidFill>
                  <a:srgbClr val="EF5350"/>
                </a:solidFill>
                <a:latin typeface="Consolas"/>
              </a:rPr>
              <a:t>HTTP/1.1 500</a:t>
            </a:r>
          </a:p>
          <a:p>
            <a:pPr algn="l"/>
            <a:r>
              <a:rPr sz="1500">
                <a:solidFill>
                  <a:srgbClr val="E6E6E6"/>
                </a:solidFill>
                <a:latin typeface="Consolas"/>
              </a:rPr>
              <a:t>{ "code": "INTERNAL_ERROR", "detail": "잠시 후 다시 시도해 주세요.", "traceId": "9b1deb4d" }</a:t>
            </a:r>
          </a:p>
        </p:txBody>
      </p:sp>
      <p:sp>
        <p:nvSpPr>
          <p:cNvPr id="5" name="TextBox 4"/>
          <p:cNvSpPr txBox="1"/>
          <p:nvPr/>
        </p:nvSpPr>
        <p:spPr>
          <a:xfrm>
            <a:off x="576000" y="309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서버 로그</a:t>
            </a:r>
            <a:r>
              <a:rPr sz="1600" b="0">
                <a:solidFill>
                  <a:srgbClr val="757575"/>
                </a:solidFill>
                <a:latin typeface="맑은 고딕"/>
              </a:rPr>
              <a:t>  개발자만</a:t>
            </a:r>
          </a:p>
        </p:txBody>
      </p:sp>
      <p:sp>
        <p:nvSpPr>
          <p:cNvPr id="6" name="Rectangle 5"/>
          <p:cNvSpPr/>
          <p:nvPr/>
        </p:nvSpPr>
        <p:spPr>
          <a:xfrm>
            <a:off x="576000" y="3491999"/>
            <a:ext cx="11016000" cy="1078285"/>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500">
                <a:solidFill>
                  <a:srgbClr val="EF5350"/>
                </a:solidFill>
                <a:latin typeface="Consolas"/>
              </a:rPr>
              <a:t>ERROR [traceId=9b1deb4d] 글 조회 실패</a:t>
            </a:r>
          </a:p>
          <a:p>
            <a:pPr algn="l"/>
            <a:r>
              <a:rPr sz="1500">
                <a:solidFill>
                  <a:srgbClr val="E6E6E6"/>
                </a:solidFill>
                <a:latin typeface="Consolas"/>
              </a:rPr>
              <a:t>java.lang.NullPointerException: ...</a:t>
            </a:r>
          </a:p>
          <a:p>
            <a:pPr algn="l"/>
            <a:r>
              <a:rPr sz="1500">
                <a:solidFill>
                  <a:srgbClr val="9E9E9E"/>
                </a:solidFill>
                <a:latin typeface="Consolas"/>
              </a:rPr>
              <a:t>    at com.example.blog.PostService.find(PostService.java:42)</a:t>
            </a:r>
          </a:p>
        </p:txBody>
      </p:sp>
      <p:sp>
        <p:nvSpPr>
          <p:cNvPr id="7" name="TextBox 6"/>
          <p:cNvSpPr txBox="1"/>
          <p:nvPr/>
        </p:nvSpPr>
        <p:spPr>
          <a:xfrm>
            <a:off x="576000" y="525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스택 트레이스 · SQL · 테이블 이름은 응답에 넣지 않는다</a:t>
            </a:r>
          </a:p>
        </p:txBody>
      </p:sp>
      <p:sp>
        <p:nvSpPr>
          <p:cNvPr id="8" name="TextBox 7"/>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검증과 예외 처리는 한 곳에서</a:t>
            </a:r>
          </a:p>
        </p:txBody>
      </p:sp>
      <p:sp>
        <p:nvSpPr>
          <p:cNvPr id="3" name="TextBox 2"/>
          <p:cNvSpPr txBox="1"/>
          <p:nvPr/>
        </p:nvSpPr>
        <p:spPr>
          <a:xfrm>
            <a:off x="576000" y="1332000"/>
            <a:ext cx="11160000" cy="720000"/>
          </a:xfrm>
          <a:prstGeom prst="rect">
            <a:avLst/>
          </a:prstGeom>
          <a:noFill/>
        </p:spPr>
        <p:txBody>
          <a:bodyPr wrap="square">
            <a:spAutoFit/>
          </a:bodyPr>
          <a:lstStyle/>
          <a:p>
            <a:pPr algn="l">
              <a:spcAft>
                <a:spcPts val="1000"/>
              </a:spcAft>
            </a:pPr>
            <a:r>
              <a:rPr sz="1900" b="0">
                <a:solidFill>
                  <a:srgbClr val="757575"/>
                </a:solidFill>
                <a:latin typeface="맑은 고딕"/>
              </a:rPr>
              <a:t>요청 → </a:t>
            </a:r>
            <a:r>
              <a:rPr sz="1900" b="1">
                <a:solidFill>
                  <a:srgbClr val="222222"/>
                </a:solidFill>
                <a:latin typeface="맑은 고딕"/>
              </a:rPr>
              <a:t>@Valid 형식 검증</a:t>
            </a:r>
            <a:r>
              <a:rPr sz="1900" b="0">
                <a:solidFill>
                  <a:srgbClr val="757575"/>
                </a:solidFill>
                <a:latin typeface="맑은 고딕"/>
              </a:rPr>
              <a:t> → 컨트롤러 → </a:t>
            </a:r>
            <a:r>
              <a:rPr sz="1900" b="1">
                <a:solidFill>
                  <a:srgbClr val="222222"/>
                </a:solidFill>
                <a:latin typeface="맑은 고딕"/>
              </a:rPr>
              <a:t>서비스 (업무 규칙)</a:t>
            </a:r>
            <a:r>
              <a:rPr sz="1900" b="0">
                <a:solidFill>
                  <a:srgbClr val="757575"/>
                </a:solidFill>
                <a:latin typeface="맑은 고딕"/>
              </a:rPr>
              <a:t> → DB</a:t>
            </a:r>
          </a:p>
        </p:txBody>
      </p:sp>
      <p:graphicFrame>
        <p:nvGraphicFramePr>
          <p:cNvPr id="4" name="Table 3"/>
          <p:cNvGraphicFramePr>
            <a:graphicFrameLocks noGrp="1"/>
          </p:cNvGraphicFramePr>
          <p:nvPr/>
        </p:nvGraphicFramePr>
        <p:xfrm>
          <a:off x="576000" y="2015999"/>
          <a:ext cx="11015999" cy="1980000"/>
        </p:xfrm>
        <a:graphic>
          <a:graphicData uri="http://schemas.openxmlformats.org/drawingml/2006/table">
            <a:tbl>
              <a:tblPr firstRow="1" bandRow="1">
                <a:tableStyleId>{5C22544A-7EE6-4342-B048-85BDC9FD1C3A}</a:tableStyleId>
              </a:tblPr>
              <a:tblGrid>
                <a:gridCol w="2015999"/>
                <a:gridCol w="1800000"/>
                <a:gridCol w="4536000"/>
                <a:gridCol w="2664000"/>
              </a:tblGrid>
              <a:tr h="396000">
                <a:tc>
                  <a:txBody>
                    <a:bodyPr/>
                    <a:lstStyle/>
                    <a:p>
                      <a:r>
                        <a:rPr sz="1600" b="1">
                          <a:solidFill>
                            <a:srgbClr val="222222"/>
                          </a:solidFill>
                          <a:latin typeface="맑은 고딕"/>
                        </a:rPr>
                        <a:t>실패</a:t>
                      </a:r>
                    </a:p>
                  </a:txBody>
                  <a:tcPr marT="43200" marB="43200">
                    <a:solidFill>
                      <a:srgbClr val="ECECEC"/>
                    </a:solidFill>
                  </a:tcPr>
                </a:tc>
                <a:tc>
                  <a:txBody>
                    <a:bodyPr/>
                    <a:lstStyle/>
                    <a:p>
                      <a:r>
                        <a:rPr sz="1600" b="1">
                          <a:solidFill>
                            <a:srgbClr val="222222"/>
                          </a:solidFill>
                          <a:latin typeface="맑은 고딕"/>
                        </a:rPr>
                        <a:t>어디서</a:t>
                      </a:r>
                    </a:p>
                  </a:txBody>
                  <a:tcPr marT="43200" marB="43200">
                    <a:solidFill>
                      <a:srgbClr val="ECECEC"/>
                    </a:solidFill>
                  </a:tcPr>
                </a:tc>
                <a:tc>
                  <a:txBody>
                    <a:bodyPr/>
                    <a:lstStyle/>
                    <a:p>
                      <a:r>
                        <a:rPr sz="1600" b="1">
                          <a:solidFill>
                            <a:srgbClr val="222222"/>
                          </a:solidFill>
                          <a:latin typeface="맑은 고딕"/>
                        </a:rPr>
                        <a:t>예외</a:t>
                      </a:r>
                    </a:p>
                  </a:txBody>
                  <a:tcPr marT="43200" marB="43200">
                    <a:solidFill>
                      <a:srgbClr val="ECECEC"/>
                    </a:solidFill>
                  </a:tcPr>
                </a:tc>
                <a:tc>
                  <a:txBody>
                    <a:bodyPr/>
                    <a:lstStyle/>
                    <a:p>
                      <a:r>
                        <a:rPr sz="1600" b="1">
                          <a:solidFill>
                            <a:srgbClr val="222222"/>
                          </a:solidFill>
                          <a:latin typeface="맑은 고딕"/>
                        </a:rPr>
                        <a:t>응답</a:t>
                      </a:r>
                    </a:p>
                  </a:txBody>
                  <a:tcPr marT="43200" marB="43200">
                    <a:solidFill>
                      <a:srgbClr val="ECECEC"/>
                    </a:solidFill>
                  </a:tcPr>
                </a:tc>
              </a:tr>
              <a:tr h="396000">
                <a:tc>
                  <a:txBody>
                    <a:bodyPr/>
                    <a:lstStyle/>
                    <a:p>
                      <a:r>
                        <a:rPr sz="1600" b="0">
                          <a:solidFill>
                            <a:srgbClr val="222222"/>
                          </a:solidFill>
                          <a:latin typeface="맑은 고딕"/>
                        </a:rPr>
                        <a:t>빈 제목</a:t>
                      </a:r>
                    </a:p>
                  </a:txBody>
                  <a:tcPr marT="43200" marB="43200">
                    <a:solidFill>
                      <a:srgbClr val="FFFFFF"/>
                    </a:solidFill>
                  </a:tcPr>
                </a:tc>
                <a:tc>
                  <a:txBody>
                    <a:bodyPr/>
                    <a:lstStyle/>
                    <a:p>
                      <a:r>
                        <a:rPr sz="1600" b="0">
                          <a:solidFill>
                            <a:srgbClr val="222222"/>
                          </a:solidFill>
                          <a:latin typeface="맑은 고딕"/>
                        </a:rPr>
                        <a:t>DTO 검증</a:t>
                      </a:r>
                    </a:p>
                  </a:txBody>
                  <a:tcPr marT="43200" marB="43200">
                    <a:solidFill>
                      <a:srgbClr val="FFFFFF"/>
                    </a:solidFill>
                  </a:tcPr>
                </a:tc>
                <a:tc>
                  <a:txBody>
                    <a:bodyPr/>
                    <a:lstStyle/>
                    <a:p>
                      <a:r>
                        <a:rPr sz="1600" b="0">
                          <a:solidFill>
                            <a:srgbClr val="222222"/>
                          </a:solidFill>
                          <a:latin typeface="Consolas"/>
                        </a:rPr>
                        <a:t>MethodArgumentNotValidException</a:t>
                      </a:r>
                    </a:p>
                  </a:txBody>
                  <a:tcPr marT="43200" marB="43200">
                    <a:solidFill>
                      <a:srgbClr val="FFFFFF"/>
                    </a:solidFill>
                  </a:tcPr>
                </a:tc>
                <a:tc>
                  <a:txBody>
                    <a:bodyPr/>
                    <a:lstStyle/>
                    <a:p>
                      <a:r>
                        <a:rPr sz="1600" b="0">
                          <a:solidFill>
                            <a:srgbClr val="222222"/>
                          </a:solidFill>
                          <a:latin typeface="Consolas"/>
                        </a:rPr>
                        <a:t>400 INVALID_INPUT</a:t>
                      </a:r>
                    </a:p>
                  </a:txBody>
                  <a:tcPr marT="43200" marB="43200">
                    <a:solidFill>
                      <a:srgbClr val="FFFFFF"/>
                    </a:solidFill>
                  </a:tcPr>
                </a:tc>
              </a:tr>
              <a:tr h="396000">
                <a:tc>
                  <a:txBody>
                    <a:bodyPr/>
                    <a:lstStyle/>
                    <a:p>
                      <a:r>
                        <a:rPr sz="1600" b="0">
                          <a:solidFill>
                            <a:srgbClr val="222222"/>
                          </a:solidFill>
                          <a:latin typeface="맑은 고딕"/>
                        </a:rPr>
                        <a:t>없는 글</a:t>
                      </a:r>
                    </a:p>
                  </a:txBody>
                  <a:tcPr marT="43200" marB="43200">
                    <a:solidFill>
                      <a:srgbClr val="FFFFFF"/>
                    </a:solidFill>
                  </a:tcPr>
                </a:tc>
                <a:tc>
                  <a:txBody>
                    <a:bodyPr/>
                    <a:lstStyle/>
                    <a:p>
                      <a:r>
                        <a:rPr sz="1600" b="0">
                          <a:solidFill>
                            <a:srgbClr val="222222"/>
                          </a:solidFill>
                          <a:latin typeface="맑은 고딕"/>
                        </a:rPr>
                        <a:t>서비스</a:t>
                      </a:r>
                    </a:p>
                  </a:txBody>
                  <a:tcPr marT="43200" marB="43200">
                    <a:solidFill>
                      <a:srgbClr val="FFFFFF"/>
                    </a:solidFill>
                  </a:tcPr>
                </a:tc>
                <a:tc>
                  <a:txBody>
                    <a:bodyPr/>
                    <a:lstStyle/>
                    <a:p>
                      <a:r>
                        <a:rPr sz="1600" b="0">
                          <a:solidFill>
                            <a:srgbClr val="222222"/>
                          </a:solidFill>
                          <a:latin typeface="Consolas"/>
                        </a:rPr>
                        <a:t>ApiException(POST_NOT_FOUND)</a:t>
                      </a:r>
                    </a:p>
                  </a:txBody>
                  <a:tcPr marT="43200" marB="43200">
                    <a:solidFill>
                      <a:srgbClr val="FFFFFF"/>
                    </a:solidFill>
                  </a:tcPr>
                </a:tc>
                <a:tc>
                  <a:txBody>
                    <a:bodyPr/>
                    <a:lstStyle/>
                    <a:p>
                      <a:r>
                        <a:rPr sz="1600" b="0">
                          <a:solidFill>
                            <a:srgbClr val="222222"/>
                          </a:solidFill>
                          <a:latin typeface="Consolas"/>
                        </a:rPr>
                        <a:t>404</a:t>
                      </a:r>
                    </a:p>
                  </a:txBody>
                  <a:tcPr marT="43200" marB="43200">
                    <a:solidFill>
                      <a:srgbClr val="FFFFFF"/>
                    </a:solidFill>
                  </a:tcPr>
                </a:tc>
              </a:tr>
              <a:tr h="396000">
                <a:tc>
                  <a:txBody>
                    <a:bodyPr/>
                    <a:lstStyle/>
                    <a:p>
                      <a:r>
                        <a:rPr sz="1600" b="0">
                          <a:solidFill>
                            <a:srgbClr val="222222"/>
                          </a:solidFill>
                          <a:latin typeface="맑은 고딕"/>
                        </a:rPr>
                        <a:t>제목 중복</a:t>
                      </a:r>
                    </a:p>
                  </a:txBody>
                  <a:tcPr marT="43200" marB="43200">
                    <a:solidFill>
                      <a:srgbClr val="FFFFFF"/>
                    </a:solidFill>
                  </a:tcPr>
                </a:tc>
                <a:tc>
                  <a:txBody>
                    <a:bodyPr/>
                    <a:lstStyle/>
                    <a:p>
                      <a:r>
                        <a:rPr sz="1600" b="0">
                          <a:solidFill>
                            <a:srgbClr val="222222"/>
                          </a:solidFill>
                          <a:latin typeface="맑은 고딕"/>
                        </a:rPr>
                        <a:t>서비스</a:t>
                      </a:r>
                    </a:p>
                  </a:txBody>
                  <a:tcPr marT="43200" marB="43200">
                    <a:solidFill>
                      <a:srgbClr val="FFFFFF"/>
                    </a:solidFill>
                  </a:tcPr>
                </a:tc>
                <a:tc>
                  <a:txBody>
                    <a:bodyPr/>
                    <a:lstStyle/>
                    <a:p>
                      <a:r>
                        <a:rPr sz="1600" b="0">
                          <a:solidFill>
                            <a:srgbClr val="222222"/>
                          </a:solidFill>
                          <a:latin typeface="Consolas"/>
                        </a:rPr>
                        <a:t>ApiException(DUPLICATE_TITLE)</a:t>
                      </a:r>
                    </a:p>
                  </a:txBody>
                  <a:tcPr marT="43200" marB="43200">
                    <a:solidFill>
                      <a:srgbClr val="FFFFFF"/>
                    </a:solidFill>
                  </a:tcPr>
                </a:tc>
                <a:tc>
                  <a:txBody>
                    <a:bodyPr/>
                    <a:lstStyle/>
                    <a:p>
                      <a:r>
                        <a:rPr sz="1600" b="0">
                          <a:solidFill>
                            <a:srgbClr val="222222"/>
                          </a:solidFill>
                          <a:latin typeface="Consolas"/>
                        </a:rPr>
                        <a:t>409</a:t>
                      </a:r>
                    </a:p>
                  </a:txBody>
                  <a:tcPr marT="43200" marB="43200">
                    <a:solidFill>
                      <a:srgbClr val="FFFFFF"/>
                    </a:solidFill>
                  </a:tcPr>
                </a:tc>
              </a:tr>
              <a:tr h="396000">
                <a:tc>
                  <a:txBody>
                    <a:bodyPr/>
                    <a:lstStyle/>
                    <a:p>
                      <a:r>
                        <a:rPr sz="1600" b="0">
                          <a:solidFill>
                            <a:srgbClr val="222222"/>
                          </a:solidFill>
                          <a:latin typeface="맑은 고딕"/>
                        </a:rPr>
                        <a:t>예상 못 한 오류</a:t>
                      </a:r>
                    </a:p>
                  </a:txBody>
                  <a:tcPr marT="43200" marB="43200">
                    <a:solidFill>
                      <a:srgbClr val="FFFFFF"/>
                    </a:solidFill>
                  </a:tcPr>
                </a:tc>
                <a:tc>
                  <a:txBody>
                    <a:bodyPr/>
                    <a:lstStyle/>
                    <a:p>
                      <a:r>
                        <a:rPr sz="1600" b="0">
                          <a:solidFill>
                            <a:srgbClr val="222222"/>
                          </a:solidFill>
                          <a:latin typeface="맑은 고딕"/>
                        </a:rPr>
                        <a:t>어디서든</a:t>
                      </a:r>
                    </a:p>
                  </a:txBody>
                  <a:tcPr marT="43200" marB="43200">
                    <a:solidFill>
                      <a:srgbClr val="FFFFFF"/>
                    </a:solidFill>
                  </a:tcPr>
                </a:tc>
                <a:tc>
                  <a:txBody>
                    <a:bodyPr/>
                    <a:lstStyle/>
                    <a:p>
                      <a:r>
                        <a:rPr sz="1600" b="0">
                          <a:solidFill>
                            <a:srgbClr val="222222"/>
                          </a:solidFill>
                          <a:latin typeface="Consolas"/>
                        </a:rPr>
                        <a:t>Exception</a:t>
                      </a:r>
                    </a:p>
                  </a:txBody>
                  <a:tcPr marT="43200" marB="43200">
                    <a:solidFill>
                      <a:srgbClr val="FFFFFF"/>
                    </a:solidFill>
                  </a:tcPr>
                </a:tc>
                <a:tc>
                  <a:txBody>
                    <a:bodyPr/>
                    <a:lstStyle/>
                    <a:p>
                      <a:r>
                        <a:rPr sz="1600" b="0">
                          <a:solidFill>
                            <a:srgbClr val="222222"/>
                          </a:solidFill>
                          <a:latin typeface="Consolas"/>
                        </a:rPr>
                        <a:t>500 + 로그</a:t>
                      </a:r>
                    </a:p>
                  </a:txBody>
                  <a:tcPr marT="43200" marB="43200">
                    <a:solidFill>
                      <a:srgbClr val="FFFFFF"/>
                    </a:solidFill>
                  </a:tcPr>
                </a:tc>
              </a:tr>
            </a:tbl>
          </a:graphicData>
        </a:graphic>
      </p:graphicFrame>
      <p:sp>
        <p:nvSpPr>
          <p:cNvPr id="5" name="TextBox 4"/>
          <p:cNvSpPr txBox="1"/>
          <p:nvPr/>
        </p:nvSpPr>
        <p:spPr>
          <a:xfrm>
            <a:off x="576000" y="4464000"/>
            <a:ext cx="11160000" cy="720000"/>
          </a:xfrm>
          <a:prstGeom prst="rect">
            <a:avLst/>
          </a:prstGeom>
          <a:noFill/>
        </p:spPr>
        <p:txBody>
          <a:bodyPr wrap="square">
            <a:spAutoFit/>
          </a:bodyPr>
          <a:lstStyle/>
          <a:p>
            <a:pPr algn="l">
              <a:spcAft>
                <a:spcPts val="1000"/>
              </a:spcAft>
            </a:pPr>
            <a:r>
              <a:rPr sz="1900" b="0">
                <a:solidFill>
                  <a:srgbClr val="222222"/>
                </a:solidFill>
                <a:latin typeface="맑은 고딕"/>
              </a:rPr>
              <a:t>모두 </a:t>
            </a:r>
            <a:r>
              <a:rPr sz="1900" b="1">
                <a:solidFill>
                  <a:srgbClr val="1565C0"/>
                </a:solidFill>
                <a:latin typeface="Consolas"/>
              </a:rPr>
              <a:t>@RestControllerAdvice</a:t>
            </a:r>
            <a:r>
              <a:rPr sz="1900" b="0">
                <a:solidFill>
                  <a:srgbClr val="222222"/>
                </a:solidFill>
                <a:latin typeface="맑은 고딕"/>
              </a:rPr>
              <a:t> 한 곳에서 같은 형식으로 바꾼다 · 컨트롤러에 try-catch 없음</a:t>
            </a:r>
          </a:p>
        </p:txBody>
      </p:sp>
      <p:sp>
        <p:nvSpPr>
          <p:cNvPr id="6" name="TextBox 5"/>
          <p:cNvSpPr txBox="1"/>
          <p:nvPr/>
        </p:nvSpPr>
        <p:spPr>
          <a:xfrm>
            <a:off x="576000" y="5112000"/>
            <a:ext cx="11160000" cy="720000"/>
          </a:xfrm>
          <a:prstGeom prst="rect">
            <a:avLst/>
          </a:prstGeom>
          <a:noFill/>
        </p:spPr>
        <p:txBody>
          <a:bodyPr wrap="square">
            <a:spAutoFit/>
          </a:bodyPr>
          <a:lstStyle/>
          <a:p>
            <a:pPr algn="l">
              <a:spcAft>
                <a:spcPts val="1000"/>
              </a:spcAft>
            </a:pPr>
            <a:r>
              <a:rPr sz="1600" b="0">
                <a:solidFill>
                  <a:srgbClr val="757575"/>
                </a:solidFill>
                <a:latin typeface="맑은 고딕"/>
              </a:rPr>
              <a:t>Security 필터에서 난 예외는 컨트롤러 밖이라 여기서 안 잡힌다</a:t>
            </a:r>
          </a:p>
        </p:txBody>
      </p:sp>
      <p:sp>
        <p:nvSpPr>
          <p:cNvPr id="7" name="TextBox 6"/>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코드로 보면</a:t>
            </a:r>
          </a:p>
        </p:txBody>
      </p:sp>
      <p:sp>
        <p:nvSpPr>
          <p:cNvPr id="3" name="Rectangle 2"/>
          <p:cNvSpPr/>
          <p:nvPr/>
        </p:nvSpPr>
        <p:spPr>
          <a:xfrm>
            <a:off x="576000" y="1296000"/>
            <a:ext cx="5472000" cy="290533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400">
                <a:solidFill>
                  <a:srgbClr val="222222"/>
                </a:solidFill>
                <a:latin typeface="Consolas"/>
              </a:rPr>
              <a:t>record CreatePostRequest(</a:t>
            </a:r>
          </a:p>
          <a:p>
            <a:pPr algn="l"/>
            <a:r>
              <a:rPr sz="1400">
                <a:solidFill>
                  <a:srgbClr val="1565C0"/>
                </a:solidFill>
                <a:latin typeface="Consolas"/>
              </a:rPr>
              <a:t>  @NotBlank @Size(max = 100) String title,</a:t>
            </a:r>
          </a:p>
          <a:p>
            <a:pPr algn="l"/>
            <a:r>
              <a:rPr sz="1400">
                <a:solidFill>
                  <a:srgbClr val="1565C0"/>
                </a:solidFill>
                <a:latin typeface="Consolas"/>
              </a:rPr>
              <a:t>  @NotBlank String content) {}</a:t>
            </a:r>
          </a:p>
          <a:p>
            <a:pPr algn="l"/>
            <a:r>
              <a:rPr sz="1400">
                <a:solidFill>
                  <a:srgbClr val="222222"/>
                </a:solidFill>
                <a:latin typeface="Consolas"/>
              </a:rPr>
              <a:t> </a:t>
            </a:r>
          </a:p>
          <a:p>
            <a:pPr algn="l"/>
            <a:r>
              <a:rPr sz="1400">
                <a:solidFill>
                  <a:srgbClr val="222222"/>
                </a:solidFill>
                <a:latin typeface="Consolas"/>
              </a:rPr>
              <a:t>enum ErrorCode {</a:t>
            </a:r>
          </a:p>
          <a:p>
            <a:pPr algn="l"/>
            <a:r>
              <a:rPr sz="1400">
                <a:solidFill>
                  <a:srgbClr val="1565C0"/>
                </a:solidFill>
                <a:latin typeface="Consolas"/>
              </a:rPr>
              <a:t>    POST_NOT_FOUND(NOT_FOUND, "글이 없음"),</a:t>
            </a:r>
          </a:p>
          <a:p>
            <a:pPr algn="l"/>
            <a:r>
              <a:rPr sz="1400">
                <a:solidFill>
                  <a:srgbClr val="1565C0"/>
                </a:solidFill>
                <a:latin typeface="Consolas"/>
              </a:rPr>
              <a:t>    DUPLICATE_TITLE(CONFLICT, "같은 제목…");</a:t>
            </a:r>
          </a:p>
          <a:p>
            <a:pPr algn="l"/>
            <a:r>
              <a:rPr sz="1400">
                <a:solidFill>
                  <a:srgbClr val="222222"/>
                </a:solidFill>
                <a:latin typeface="Consolas"/>
              </a:rPr>
              <a:t>}</a:t>
            </a:r>
          </a:p>
          <a:p>
            <a:pPr algn="l"/>
            <a:r>
              <a:rPr sz="1400">
                <a:solidFill>
                  <a:srgbClr val="222222"/>
                </a:solidFill>
                <a:latin typeface="Consolas"/>
              </a:rPr>
              <a:t> </a:t>
            </a:r>
          </a:p>
          <a:p>
            <a:pPr algn="l"/>
            <a:r>
              <a:rPr sz="1400">
                <a:solidFill>
                  <a:srgbClr val="757575"/>
                </a:solidFill>
                <a:latin typeface="Consolas"/>
              </a:rPr>
              <a:t>// 서비스</a:t>
            </a:r>
          </a:p>
          <a:p>
            <a:pPr algn="l"/>
            <a:r>
              <a:rPr sz="1400">
                <a:solidFill>
                  <a:srgbClr val="222222"/>
                </a:solidFill>
                <a:latin typeface="Consolas"/>
              </a:rPr>
              <a:t>throw new ApiException(POST_NOT_FOUND, …);</a:t>
            </a:r>
          </a:p>
        </p:txBody>
      </p:sp>
      <p:sp>
        <p:nvSpPr>
          <p:cNvPr id="4" name="Rectangle 3"/>
          <p:cNvSpPr/>
          <p:nvPr/>
        </p:nvSpPr>
        <p:spPr>
          <a:xfrm>
            <a:off x="6263999" y="1296000"/>
            <a:ext cx="5328000" cy="337466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400">
                <a:solidFill>
                  <a:srgbClr val="1565C0"/>
                </a:solidFill>
                <a:latin typeface="Consolas"/>
              </a:rPr>
              <a:t>@RestControllerAdvice</a:t>
            </a:r>
          </a:p>
          <a:p>
            <a:pPr algn="l"/>
            <a:r>
              <a:rPr sz="1400">
                <a:solidFill>
                  <a:srgbClr val="222222"/>
                </a:solidFill>
                <a:latin typeface="Consolas"/>
              </a:rPr>
              <a:t>class GlobalExceptionHandler {</a:t>
            </a:r>
          </a:p>
          <a:p>
            <a:pPr algn="l"/>
            <a:r>
              <a:rPr sz="1400">
                <a:solidFill>
                  <a:srgbClr val="222222"/>
                </a:solidFill>
                <a:latin typeface="Consolas"/>
              </a:rPr>
              <a:t> </a:t>
            </a:r>
          </a:p>
          <a:p>
            <a:pPr algn="l"/>
            <a:r>
              <a:rPr sz="1400">
                <a:solidFill>
                  <a:srgbClr val="1565C0"/>
                </a:solidFill>
                <a:latin typeface="Consolas"/>
              </a:rPr>
              <a:t>  @ExceptionHandler(ApiException.class)</a:t>
            </a:r>
          </a:p>
          <a:p>
            <a:pPr algn="l"/>
            <a:r>
              <a:rPr sz="1400">
                <a:solidFill>
                  <a:srgbClr val="222222"/>
                </a:solidFill>
                <a:latin typeface="Consolas"/>
              </a:rPr>
              <a:t>  ResponseEntity&lt;ProblemDetail&gt; handleApi(…) {</a:t>
            </a:r>
          </a:p>
          <a:p>
            <a:pPr algn="l"/>
            <a:r>
              <a:rPr sz="1400">
                <a:solidFill>
                  <a:srgbClr val="222222"/>
                </a:solidFill>
                <a:latin typeface="Consolas"/>
              </a:rPr>
              <a:t>    body = forStatusAndDetail(status, …);</a:t>
            </a:r>
          </a:p>
          <a:p>
            <a:pPr algn="l"/>
            <a:r>
              <a:rPr sz="1400">
                <a:solidFill>
                  <a:srgbClr val="222222"/>
                </a:solidFill>
                <a:latin typeface="Consolas"/>
              </a:rPr>
              <a:t>    body.setProperty("code", code);</a:t>
            </a:r>
          </a:p>
          <a:p>
            <a:pPr algn="l"/>
            <a:r>
              <a:rPr sz="1400">
                <a:solidFill>
                  <a:srgbClr val="222222"/>
                </a:solidFill>
                <a:latin typeface="Consolas"/>
              </a:rPr>
              <a:t>  }</a:t>
            </a:r>
          </a:p>
          <a:p>
            <a:pPr algn="l"/>
            <a:r>
              <a:rPr sz="1400">
                <a:solidFill>
                  <a:srgbClr val="222222"/>
                </a:solidFill>
                <a:latin typeface="Consolas"/>
              </a:rPr>
              <a:t> </a:t>
            </a:r>
          </a:p>
          <a:p>
            <a:pPr algn="l"/>
            <a:r>
              <a:rPr sz="1400">
                <a:solidFill>
                  <a:srgbClr val="1565C0"/>
                </a:solidFill>
                <a:latin typeface="Consolas"/>
              </a:rPr>
              <a:t>  @ExceptionHandler(</a:t>
            </a:r>
          </a:p>
          <a:p>
            <a:pPr algn="l"/>
            <a:r>
              <a:rPr sz="1400">
                <a:solidFill>
                  <a:srgbClr val="1565C0"/>
                </a:solidFill>
                <a:latin typeface="Consolas"/>
              </a:rPr>
              <a:t>    MethodArgumentNotValidException.class)</a:t>
            </a:r>
          </a:p>
          <a:p>
            <a:pPr algn="l"/>
            <a:r>
              <a:rPr sz="1400">
                <a:solidFill>
                  <a:srgbClr val="757575"/>
                </a:solidFill>
                <a:latin typeface="Consolas"/>
              </a:rPr>
              <a:t>  … // 400 + 필드별 errors</a:t>
            </a:r>
          </a:p>
          <a:p>
            <a:pPr algn="l"/>
            <a:r>
              <a:rPr sz="1400">
                <a:solidFill>
                  <a:srgbClr val="222222"/>
                </a:solidFill>
                <a:latin typeface="Consolas"/>
              </a:rPr>
              <a:t>}</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목록 요청은 쿼리로</a:t>
            </a:r>
          </a:p>
        </p:txBody>
      </p:sp>
      <p:sp>
        <p:nvSpPr>
          <p:cNvPr id="3" name="Rectangle 2"/>
          <p:cNvSpPr/>
          <p:nvPr/>
        </p:nvSpPr>
        <p:spPr>
          <a:xfrm>
            <a:off x="576000" y="1332000"/>
            <a:ext cx="11016000" cy="5754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500">
                <a:solidFill>
                  <a:srgbClr val="1565C0"/>
                </a:solidFill>
                <a:latin typeface="Consolas"/>
              </a:rPr>
              <a:t>GET /api/v1/posts?topic=TRAVEL&amp;keyword=제주&amp;sort=createdAt,desc&amp;sort=id,desc&amp;page=0&amp;size=20</a:t>
            </a:r>
          </a:p>
        </p:txBody>
      </p:sp>
      <p:graphicFrame>
        <p:nvGraphicFramePr>
          <p:cNvPr id="4" name="Table 3"/>
          <p:cNvGraphicFramePr>
            <a:graphicFrameLocks noGrp="1"/>
          </p:cNvGraphicFramePr>
          <p:nvPr/>
        </p:nvGraphicFramePr>
        <p:xfrm>
          <a:off x="576000" y="2268000"/>
          <a:ext cx="11052000" cy="1980000"/>
        </p:xfrm>
        <a:graphic>
          <a:graphicData uri="http://schemas.openxmlformats.org/drawingml/2006/table">
            <a:tbl>
              <a:tblPr firstRow="1" bandRow="1">
                <a:tableStyleId>{5C22544A-7EE6-4342-B048-85BDC9FD1C3A}</a:tableStyleId>
              </a:tblPr>
              <a:tblGrid>
                <a:gridCol w="1872000"/>
                <a:gridCol w="3780000"/>
                <a:gridCol w="5400000"/>
              </a:tblGrid>
              <a:tr h="396000">
                <a:tc>
                  <a:txBody>
                    <a:bodyPr/>
                    <a:lstStyle/>
                    <a:p>
                      <a:r>
                        <a:rPr sz="1600" b="1">
                          <a:solidFill>
                            <a:srgbClr val="222222"/>
                          </a:solidFill>
                          <a:latin typeface="맑은 고딕"/>
                        </a:rPr>
                        <a:t>종류</a:t>
                      </a:r>
                    </a:p>
                  </a:txBody>
                  <a:tcPr marT="43200" marB="43200">
                    <a:solidFill>
                      <a:srgbClr val="ECECEC"/>
                    </a:solidFill>
                  </a:tcPr>
                </a:tc>
                <a:tc>
                  <a:txBody>
                    <a:bodyPr/>
                    <a:lstStyle/>
                    <a:p>
                      <a:r>
                        <a:rPr sz="1600" b="1">
                          <a:solidFill>
                            <a:srgbClr val="222222"/>
                          </a:solidFill>
                          <a:latin typeface="맑은 고딕"/>
                        </a:rPr>
                        <a:t>파라미터</a:t>
                      </a:r>
                    </a:p>
                  </a:txBody>
                  <a:tcPr marT="43200" marB="43200">
                    <a:solidFill>
                      <a:srgbClr val="ECECEC"/>
                    </a:solidFill>
                  </a:tcPr>
                </a:tc>
                <a:tc>
                  <a:txBody>
                    <a:bodyPr/>
                    <a:lstStyle/>
                    <a:p>
                      <a:r>
                        <a:rPr sz="1600" b="1">
                          <a:solidFill>
                            <a:srgbClr val="222222"/>
                          </a:solidFill>
                          <a:latin typeface="맑은 고딕"/>
                        </a:rPr>
                        <a:t>규칙</a:t>
                      </a:r>
                    </a:p>
                  </a:txBody>
                  <a:tcPr marT="43200" marB="43200">
                    <a:solidFill>
                      <a:srgbClr val="ECECEC"/>
                    </a:solidFill>
                  </a:tcPr>
                </a:tc>
              </a:tr>
              <a:tr h="396000">
                <a:tc>
                  <a:txBody>
                    <a:bodyPr/>
                    <a:lstStyle/>
                    <a:p>
                      <a:r>
                        <a:rPr sz="1600" b="0">
                          <a:solidFill>
                            <a:srgbClr val="222222"/>
                          </a:solidFill>
                          <a:latin typeface="맑은 고딕"/>
                        </a:rPr>
                        <a:t>필터</a:t>
                      </a:r>
                    </a:p>
                  </a:txBody>
                  <a:tcPr marT="43200" marB="43200">
                    <a:solidFill>
                      <a:srgbClr val="FFFFFF"/>
                    </a:solidFill>
                  </a:tcPr>
                </a:tc>
                <a:tc>
                  <a:txBody>
                    <a:bodyPr/>
                    <a:lstStyle/>
                    <a:p>
                      <a:r>
                        <a:rPr sz="1600" b="0">
                          <a:solidFill>
                            <a:srgbClr val="222222"/>
                          </a:solidFill>
                          <a:latin typeface="Consolas"/>
                        </a:rPr>
                        <a:t>topic=TRAVEL</a:t>
                      </a:r>
                    </a:p>
                  </a:txBody>
                  <a:tcPr marT="43200" marB="43200">
                    <a:solidFill>
                      <a:srgbClr val="FFFFFF"/>
                    </a:solidFill>
                  </a:tcPr>
                </a:tc>
                <a:tc>
                  <a:txBody>
                    <a:bodyPr/>
                    <a:lstStyle/>
                    <a:p>
                      <a:r>
                        <a:rPr sz="1600" b="0">
                          <a:solidFill>
                            <a:srgbClr val="222222"/>
                          </a:solidFill>
                          <a:latin typeface="맑은 고딕"/>
                        </a:rPr>
                        <a:t>값이 같은 것만</a:t>
                      </a:r>
                    </a:p>
                  </a:txBody>
                  <a:tcPr marT="43200" marB="43200">
                    <a:solidFill>
                      <a:srgbClr val="FFFFFF"/>
                    </a:solidFill>
                  </a:tcPr>
                </a:tc>
              </a:tr>
              <a:tr h="396000">
                <a:tc>
                  <a:txBody>
                    <a:bodyPr/>
                    <a:lstStyle/>
                    <a:p>
                      <a:r>
                        <a:rPr sz="1600" b="0">
                          <a:solidFill>
                            <a:srgbClr val="222222"/>
                          </a:solidFill>
                          <a:latin typeface="맑은 고딕"/>
                        </a:rPr>
                        <a:t>검색</a:t>
                      </a:r>
                    </a:p>
                  </a:txBody>
                  <a:tcPr marT="43200" marB="43200">
                    <a:solidFill>
                      <a:srgbClr val="FFFFFF"/>
                    </a:solidFill>
                  </a:tcPr>
                </a:tc>
                <a:tc>
                  <a:txBody>
                    <a:bodyPr/>
                    <a:lstStyle/>
                    <a:p>
                      <a:r>
                        <a:rPr sz="1600" b="0">
                          <a:solidFill>
                            <a:srgbClr val="222222"/>
                          </a:solidFill>
                          <a:latin typeface="Consolas"/>
                        </a:rPr>
                        <a:t>keyword=제주</a:t>
                      </a:r>
                    </a:p>
                  </a:txBody>
                  <a:tcPr marT="43200" marB="43200">
                    <a:solidFill>
                      <a:srgbClr val="FFFFFF"/>
                    </a:solidFill>
                  </a:tcPr>
                </a:tc>
                <a:tc>
                  <a:txBody>
                    <a:bodyPr/>
                    <a:lstStyle/>
                    <a:p>
                      <a:r>
                        <a:rPr sz="1600" b="0">
                          <a:solidFill>
                            <a:srgbClr val="222222"/>
                          </a:solidFill>
                          <a:latin typeface="맑은 고딕"/>
                        </a:rPr>
                        <a:t>제목·본문에 들어 있는 것</a:t>
                      </a:r>
                    </a:p>
                  </a:txBody>
                  <a:tcPr marT="43200" marB="43200">
                    <a:solidFill>
                      <a:srgbClr val="FFFFFF"/>
                    </a:solidFill>
                  </a:tcPr>
                </a:tc>
              </a:tr>
              <a:tr h="396000">
                <a:tc>
                  <a:txBody>
                    <a:bodyPr/>
                    <a:lstStyle/>
                    <a:p>
                      <a:r>
                        <a:rPr sz="1600" b="0">
                          <a:solidFill>
                            <a:srgbClr val="222222"/>
                          </a:solidFill>
                          <a:latin typeface="맑은 고딕"/>
                        </a:rPr>
                        <a:t>정렬</a:t>
                      </a:r>
                    </a:p>
                  </a:txBody>
                  <a:tcPr marT="43200" marB="43200">
                    <a:solidFill>
                      <a:srgbClr val="FFFFFF"/>
                    </a:solidFill>
                  </a:tcPr>
                </a:tc>
                <a:tc>
                  <a:txBody>
                    <a:bodyPr/>
                    <a:lstStyle/>
                    <a:p>
                      <a:r>
                        <a:rPr sz="1600" b="0">
                          <a:solidFill>
                            <a:srgbClr val="222222"/>
                          </a:solidFill>
                          <a:latin typeface="Consolas"/>
                        </a:rPr>
                        <a:t>sort=필드,방향</a:t>
                      </a:r>
                    </a:p>
                  </a:txBody>
                  <a:tcPr marT="43200" marB="43200">
                    <a:solidFill>
                      <a:srgbClr val="FFFFFF"/>
                    </a:solidFill>
                  </a:tcPr>
                </a:tc>
                <a:tc>
                  <a:txBody>
                    <a:bodyPr/>
                    <a:lstStyle/>
                    <a:p>
                      <a:r>
                        <a:rPr sz="1600" b="0">
                          <a:solidFill>
                            <a:srgbClr val="222222"/>
                          </a:solidFill>
                          <a:latin typeface="맑은 고딕"/>
                        </a:rPr>
                        <a:t>여러 개 가능, 마지막은 id로 동점 정리</a:t>
                      </a:r>
                    </a:p>
                  </a:txBody>
                  <a:tcPr marT="43200" marB="43200">
                    <a:solidFill>
                      <a:srgbClr val="FFFFFF"/>
                    </a:solidFill>
                  </a:tcPr>
                </a:tc>
              </a:tr>
              <a:tr h="396000">
                <a:tc>
                  <a:txBody>
                    <a:bodyPr/>
                    <a:lstStyle/>
                    <a:p>
                      <a:r>
                        <a:rPr sz="1600" b="0">
                          <a:solidFill>
                            <a:srgbClr val="222222"/>
                          </a:solidFill>
                          <a:latin typeface="맑은 고딕"/>
                        </a:rPr>
                        <a:t>페이징</a:t>
                      </a:r>
                    </a:p>
                  </a:txBody>
                  <a:tcPr marT="43200" marB="43200">
                    <a:solidFill>
                      <a:srgbClr val="FFFFFF"/>
                    </a:solidFill>
                  </a:tcPr>
                </a:tc>
                <a:tc>
                  <a:txBody>
                    <a:bodyPr/>
                    <a:lstStyle/>
                    <a:p>
                      <a:r>
                        <a:rPr sz="1600" b="0">
                          <a:solidFill>
                            <a:srgbClr val="222222"/>
                          </a:solidFill>
                          <a:latin typeface="Consolas"/>
                        </a:rPr>
                        <a:t>page=0&amp;size=20</a:t>
                      </a:r>
                    </a:p>
                  </a:txBody>
                  <a:tcPr marT="43200" marB="43200">
                    <a:solidFill>
                      <a:srgbClr val="FFFFFF"/>
                    </a:solidFill>
                  </a:tcPr>
                </a:tc>
                <a:tc>
                  <a:txBody>
                    <a:bodyPr/>
                    <a:lstStyle/>
                    <a:p>
                      <a:r>
                        <a:rPr sz="1600" b="0">
                          <a:solidFill>
                            <a:srgbClr val="222222"/>
                          </a:solidFill>
                          <a:latin typeface="맑은 고딕"/>
                        </a:rPr>
                        <a:t>page가 0부터인지 1부터인지 문서에 적는다</a:t>
                      </a:r>
                    </a:p>
                  </a:txBody>
                  <a:tcPr marT="43200" marB="43200">
                    <a:solidFill>
                      <a:srgbClr val="FFFFFF"/>
                    </a:solidFill>
                  </a:tcPr>
                </a:tc>
              </a:tr>
            </a:tbl>
          </a:graphicData>
        </a:graphic>
      </p:graphicFrame>
      <p:sp>
        <p:nvSpPr>
          <p:cNvPr id="5" name="TextBox 4"/>
          <p:cNvSpPr txBox="1"/>
          <p:nvPr/>
        </p:nvSpPr>
        <p:spPr>
          <a:xfrm>
            <a:off x="576000" y="4824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서버가 정할 것: </a:t>
            </a:r>
            <a:r>
              <a:rPr sz="1800" b="0">
                <a:solidFill>
                  <a:srgbClr val="222222"/>
                </a:solidFill>
                <a:latin typeface="맑은 고딕"/>
              </a:rPr>
              <a:t>size 최댓값 · 정렬 허용 필드 · 기본 정렬 (최신순 20개)</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목록 응답에는 페이지 정보를 같이</a:t>
            </a:r>
          </a:p>
        </p:txBody>
      </p:sp>
      <p:sp>
        <p:nvSpPr>
          <p:cNvPr id="3" name="Rectangle 2"/>
          <p:cNvSpPr/>
          <p:nvPr/>
        </p:nvSpPr>
        <p:spPr>
          <a:xfrm>
            <a:off x="576000" y="1332000"/>
            <a:ext cx="5616000" cy="31400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0" rIns="180000" tIns="125999" bIns="125999"/>
          <a:lstStyle/>
          <a:p>
            <a:pPr algn="l"/>
            <a:r>
              <a:rPr sz="1400">
                <a:solidFill>
                  <a:srgbClr val="222222"/>
                </a:solidFill>
                <a:latin typeface="Consolas"/>
              </a:rPr>
              <a:t>{</a:t>
            </a:r>
          </a:p>
          <a:p>
            <a:pPr algn="l"/>
            <a:r>
              <a:rPr sz="1400">
                <a:solidFill>
                  <a:srgbClr val="1565C0"/>
                </a:solidFill>
                <a:latin typeface="Consolas"/>
              </a:rPr>
              <a:t>  "content": [</a:t>
            </a:r>
          </a:p>
          <a:p>
            <a:pPr algn="l"/>
            <a:r>
              <a:rPr sz="1400">
                <a:solidFill>
                  <a:srgbClr val="222222"/>
                </a:solidFill>
                <a:latin typeface="Consolas"/>
              </a:rPr>
              <a:t>    { "id": 43, "title": "부산 맛집" },</a:t>
            </a:r>
          </a:p>
          <a:p>
            <a:pPr algn="l"/>
            <a:r>
              <a:rPr sz="1400">
                <a:solidFill>
                  <a:srgbClr val="222222"/>
                </a:solidFill>
                <a:latin typeface="Consolas"/>
              </a:rPr>
              <a:t>    { "id": 42, "title": "제주 여행" }, …</a:t>
            </a:r>
          </a:p>
          <a:p>
            <a:pPr algn="l"/>
            <a:r>
              <a:rPr sz="1400">
                <a:solidFill>
                  <a:srgbClr val="1565C0"/>
                </a:solidFill>
                <a:latin typeface="Consolas"/>
              </a:rPr>
              <a:t>  ],</a:t>
            </a:r>
          </a:p>
          <a:p>
            <a:pPr algn="l"/>
            <a:r>
              <a:rPr sz="1400">
                <a:solidFill>
                  <a:srgbClr val="1565C0"/>
                </a:solidFill>
                <a:latin typeface="Consolas"/>
              </a:rPr>
              <a:t>  "page": {</a:t>
            </a:r>
          </a:p>
          <a:p>
            <a:pPr algn="l"/>
            <a:r>
              <a:rPr sz="1400">
                <a:solidFill>
                  <a:srgbClr val="222222"/>
                </a:solidFill>
                <a:latin typeface="Consolas"/>
              </a:rPr>
              <a:t>    "number": 0,</a:t>
            </a:r>
          </a:p>
          <a:p>
            <a:pPr algn="l"/>
            <a:r>
              <a:rPr sz="1400">
                <a:solidFill>
                  <a:srgbClr val="222222"/>
                </a:solidFill>
                <a:latin typeface="Consolas"/>
              </a:rPr>
              <a:t>    "size": 20,</a:t>
            </a:r>
          </a:p>
          <a:p>
            <a:pPr algn="l"/>
            <a:r>
              <a:rPr sz="1400">
                <a:solidFill>
                  <a:srgbClr val="222222"/>
                </a:solidFill>
                <a:latin typeface="Consolas"/>
              </a:rPr>
              <a:t>    "totalElements": 57,</a:t>
            </a:r>
          </a:p>
          <a:p>
            <a:pPr algn="l"/>
            <a:r>
              <a:rPr sz="1400">
                <a:solidFill>
                  <a:srgbClr val="222222"/>
                </a:solidFill>
                <a:latin typeface="Consolas"/>
              </a:rPr>
              <a:t>    "totalPages": 3</a:t>
            </a:r>
          </a:p>
          <a:p>
            <a:pPr algn="l"/>
            <a:r>
              <a:rPr sz="1400">
                <a:solidFill>
                  <a:srgbClr val="1565C0"/>
                </a:solidFill>
                <a:latin typeface="Consolas"/>
              </a:rPr>
              <a:t>  }</a:t>
            </a:r>
          </a:p>
          <a:p>
            <a:pPr algn="l"/>
            <a:r>
              <a:rPr sz="1400">
                <a:solidFill>
                  <a:srgbClr val="222222"/>
                </a:solidFill>
                <a:latin typeface="Consolas"/>
              </a:rPr>
              <a:t>}</a:t>
            </a:r>
          </a:p>
        </p:txBody>
      </p:sp>
      <p:sp>
        <p:nvSpPr>
          <p:cNvPr id="4" name="TextBox 3"/>
          <p:cNvSpPr txBox="1"/>
          <p:nvPr/>
        </p:nvSpPr>
        <p:spPr>
          <a:xfrm>
            <a:off x="6623999" y="1440000"/>
            <a:ext cx="5040000" cy="720000"/>
          </a:xfrm>
          <a:prstGeom prst="rect">
            <a:avLst/>
          </a:prstGeom>
          <a:noFill/>
        </p:spPr>
        <p:txBody>
          <a:bodyPr wrap="square">
            <a:spAutoFit/>
          </a:bodyPr>
          <a:lstStyle/>
          <a:p>
            <a:pPr algn="l">
              <a:spcAft>
                <a:spcPts val="600"/>
              </a:spcAft>
            </a:pPr>
            <a:r>
              <a:rPr sz="1900" b="1">
                <a:solidFill>
                  <a:srgbClr val="222222"/>
                </a:solidFill>
                <a:latin typeface="맑은 고딕"/>
              </a:rPr>
              <a:t>결과가 없으면</a:t>
            </a:r>
          </a:p>
          <a:p>
            <a:pPr algn="l">
              <a:spcAft>
                <a:spcPts val="600"/>
              </a:spcAft>
            </a:pPr>
            <a:r>
              <a:rPr sz="1700" b="0">
                <a:solidFill>
                  <a:srgbClr val="757575"/>
                </a:solidFill>
                <a:latin typeface="맑은 고딕"/>
              </a:rPr>
              <a:t>200 + 빈 배열 [ ]  (404 아님)</a:t>
            </a:r>
          </a:p>
          <a:p>
            <a:pPr algn="l">
              <a:spcAft>
                <a:spcPts val="600"/>
              </a:spcAft>
            </a:pPr>
            <a:r>
              <a:rPr sz="2000" b="0">
                <a:solidFill>
                  <a:srgbClr val="222222"/>
                </a:solidFill>
                <a:latin typeface="맑은 고딕"/>
              </a:rPr>
              <a:t> </a:t>
            </a:r>
          </a:p>
          <a:p>
            <a:pPr algn="l">
              <a:spcAft>
                <a:spcPts val="600"/>
              </a:spcAft>
            </a:pPr>
            <a:r>
              <a:rPr sz="1900" b="1">
                <a:solidFill>
                  <a:srgbClr val="222222"/>
                </a:solidFill>
                <a:latin typeface="맑은 고딕"/>
              </a:rPr>
              <a:t>totalElements는 공짜가 아니다</a:t>
            </a:r>
          </a:p>
          <a:p>
            <a:pPr algn="l">
              <a:spcAft>
                <a:spcPts val="600"/>
              </a:spcAft>
            </a:pPr>
            <a:r>
              <a:rPr sz="1700" b="0">
                <a:solidFill>
                  <a:srgbClr val="757575"/>
                </a:solidFill>
                <a:latin typeface="맑은 고딕"/>
              </a:rPr>
              <a:t>count 쿼리가 한 번 더 나간다</a:t>
            </a:r>
          </a:p>
          <a:p>
            <a:pPr algn="l">
              <a:spcAft>
                <a:spcPts val="600"/>
              </a:spcAft>
            </a:pPr>
            <a:r>
              <a:rPr sz="1700" b="0">
                <a:solidFill>
                  <a:srgbClr val="757575"/>
                </a:solidFill>
                <a:latin typeface="맑은 고딕"/>
              </a:rPr>
              <a:t>무한 스크롤이면 hasNext만 준다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오프셋 페이징과 커서 페이징</a:t>
            </a:r>
          </a:p>
        </p:txBody>
      </p:sp>
      <p:graphicFrame>
        <p:nvGraphicFramePr>
          <p:cNvPr id="3" name="Table 2"/>
          <p:cNvGraphicFramePr>
            <a:graphicFrameLocks noGrp="1"/>
          </p:cNvGraphicFramePr>
          <p:nvPr/>
        </p:nvGraphicFramePr>
        <p:xfrm>
          <a:off x="576000" y="1368000"/>
          <a:ext cx="11016000" cy="2376000"/>
        </p:xfrm>
        <a:graphic>
          <a:graphicData uri="http://schemas.openxmlformats.org/drawingml/2006/table">
            <a:tbl>
              <a:tblPr firstRow="1" bandRow="1">
                <a:tableStyleId>{5C22544A-7EE6-4342-B048-85BDC9FD1C3A}</a:tableStyleId>
              </a:tblPr>
              <a:tblGrid>
                <a:gridCol w="1872000"/>
                <a:gridCol w="4680000"/>
                <a:gridCol w="4464000"/>
              </a:tblGrid>
              <a:tr h="396000">
                <a:tc>
                  <a:txBody>
                    <a:bodyPr/>
                    <a:lstStyle/>
                    <a:p>
                      <a:r>
                        <a:rPr sz="1700" b="1">
                          <a:solidFill>
                            <a:srgbClr val="222222"/>
                          </a:solidFill>
                          <a:latin typeface="맑은 고딕"/>
                        </a:rPr>
                        <a:t> </a:t>
                      </a:r>
                    </a:p>
                  </a:txBody>
                  <a:tcPr marT="43200" marB="43200">
                    <a:solidFill>
                      <a:srgbClr val="ECECEC"/>
                    </a:solidFill>
                  </a:tcPr>
                </a:tc>
                <a:tc>
                  <a:txBody>
                    <a:bodyPr/>
                    <a:lstStyle/>
                    <a:p>
                      <a:r>
                        <a:rPr sz="1700" b="1">
                          <a:solidFill>
                            <a:srgbClr val="222222"/>
                          </a:solidFill>
                          <a:latin typeface="맑은 고딕"/>
                        </a:rPr>
                        <a:t>오프셋</a:t>
                      </a:r>
                    </a:p>
                  </a:txBody>
                  <a:tcPr marT="43200" marB="43200">
                    <a:solidFill>
                      <a:srgbClr val="ECECEC"/>
                    </a:solidFill>
                  </a:tcPr>
                </a:tc>
                <a:tc>
                  <a:txBody>
                    <a:bodyPr/>
                    <a:lstStyle/>
                    <a:p>
                      <a:r>
                        <a:rPr sz="1700" b="1">
                          <a:solidFill>
                            <a:srgbClr val="222222"/>
                          </a:solidFill>
                          <a:latin typeface="맑은 고딕"/>
                        </a:rPr>
                        <a:t>커서</a:t>
                      </a:r>
                    </a:p>
                  </a:txBody>
                  <a:tcPr marT="43200" marB="43200">
                    <a:solidFill>
                      <a:srgbClr val="ECECEC"/>
                    </a:solidFill>
                  </a:tcPr>
                </a:tc>
              </a:tr>
              <a:tr h="396000">
                <a:tc>
                  <a:txBody>
                    <a:bodyPr/>
                    <a:lstStyle/>
                    <a:p>
                      <a:r>
                        <a:rPr sz="1700" b="0">
                          <a:solidFill>
                            <a:srgbClr val="222222"/>
                          </a:solidFill>
                          <a:latin typeface="맑은 고딕"/>
                        </a:rPr>
                        <a:t>요청</a:t>
                      </a:r>
                    </a:p>
                  </a:txBody>
                  <a:tcPr marT="43200" marB="43200">
                    <a:solidFill>
                      <a:srgbClr val="FFFFFF"/>
                    </a:solidFill>
                  </a:tcPr>
                </a:tc>
                <a:tc>
                  <a:txBody>
                    <a:bodyPr/>
                    <a:lstStyle/>
                    <a:p>
                      <a:r>
                        <a:rPr sz="1700" b="0">
                          <a:solidFill>
                            <a:srgbClr val="222222"/>
                          </a:solidFill>
                          <a:latin typeface="맑은 고딕"/>
                        </a:rPr>
                        <a:t>?page=2&amp;size=20</a:t>
                      </a:r>
                    </a:p>
                  </a:txBody>
                  <a:tcPr marT="43200" marB="43200">
                    <a:solidFill>
                      <a:srgbClr val="FFFFFF"/>
                    </a:solidFill>
                  </a:tcPr>
                </a:tc>
                <a:tc>
                  <a:txBody>
                    <a:bodyPr/>
                    <a:lstStyle/>
                    <a:p>
                      <a:r>
                        <a:rPr sz="1700" b="0">
                          <a:solidFill>
                            <a:srgbClr val="222222"/>
                          </a:solidFill>
                          <a:latin typeface="맑은 고딕"/>
                        </a:rPr>
                        <a:t>?cursor=981&amp;size=20</a:t>
                      </a:r>
                    </a:p>
                  </a:txBody>
                  <a:tcPr marT="43200" marB="43200">
                    <a:solidFill>
                      <a:srgbClr val="FFFFFF"/>
                    </a:solidFill>
                  </a:tcPr>
                </a:tc>
              </a:tr>
              <a:tr h="396000">
                <a:tc>
                  <a:txBody>
                    <a:bodyPr/>
                    <a:lstStyle/>
                    <a:p>
                      <a:r>
                        <a:rPr sz="1700" b="0">
                          <a:solidFill>
                            <a:srgbClr val="222222"/>
                          </a:solidFill>
                          <a:latin typeface="맑은 고딕"/>
                        </a:rPr>
                        <a:t>SQL</a:t>
                      </a:r>
                    </a:p>
                  </a:txBody>
                  <a:tcPr marT="43200" marB="43200">
                    <a:solidFill>
                      <a:srgbClr val="FFFFFF"/>
                    </a:solidFill>
                  </a:tcPr>
                </a:tc>
                <a:tc>
                  <a:txBody>
                    <a:bodyPr/>
                    <a:lstStyle/>
                    <a:p>
                      <a:r>
                        <a:rPr sz="1700" b="0">
                          <a:solidFill>
                            <a:srgbClr val="222222"/>
                          </a:solidFill>
                          <a:latin typeface="맑은 고딕"/>
                        </a:rPr>
                        <a:t>LIMIT 20 OFFSET 40</a:t>
                      </a:r>
                    </a:p>
                  </a:txBody>
                  <a:tcPr marT="43200" marB="43200">
                    <a:solidFill>
                      <a:srgbClr val="FFFFFF"/>
                    </a:solidFill>
                  </a:tcPr>
                </a:tc>
                <a:tc>
                  <a:txBody>
                    <a:bodyPr/>
                    <a:lstStyle/>
                    <a:p>
                      <a:r>
                        <a:rPr sz="1700" b="0">
                          <a:solidFill>
                            <a:srgbClr val="222222"/>
                          </a:solidFill>
                          <a:latin typeface="맑은 고딕"/>
                        </a:rPr>
                        <a:t>WHERE id &lt; 981 LIMIT 20</a:t>
                      </a:r>
                    </a:p>
                  </a:txBody>
                  <a:tcPr marT="43200" marB="43200">
                    <a:solidFill>
                      <a:srgbClr val="FFFFFF"/>
                    </a:solidFill>
                  </a:tcPr>
                </a:tc>
              </a:tr>
              <a:tr h="396000">
                <a:tc>
                  <a:txBody>
                    <a:bodyPr/>
                    <a:lstStyle/>
                    <a:p>
                      <a:r>
                        <a:rPr sz="1700" b="0">
                          <a:solidFill>
                            <a:srgbClr val="222222"/>
                          </a:solidFill>
                          <a:latin typeface="맑은 고딕"/>
                        </a:rPr>
                        <a:t>장점</a:t>
                      </a:r>
                    </a:p>
                  </a:txBody>
                  <a:tcPr marT="43200" marB="43200">
                    <a:solidFill>
                      <a:srgbClr val="FFFFFF"/>
                    </a:solidFill>
                  </a:tcPr>
                </a:tc>
                <a:tc>
                  <a:txBody>
                    <a:bodyPr/>
                    <a:lstStyle/>
                    <a:p>
                      <a:r>
                        <a:rPr sz="1700" b="0">
                          <a:solidFill>
                            <a:srgbClr val="222222"/>
                          </a:solidFill>
                          <a:latin typeface="맑은 고딕"/>
                        </a:rPr>
                        <a:t>쪽 번호로 바로 이동, 전체 쪽 수</a:t>
                      </a:r>
                    </a:p>
                  </a:txBody>
                  <a:tcPr marT="43200" marB="43200">
                    <a:solidFill>
                      <a:srgbClr val="FFFFFF"/>
                    </a:solidFill>
                  </a:tcPr>
                </a:tc>
                <a:tc>
                  <a:txBody>
                    <a:bodyPr/>
                    <a:lstStyle/>
                    <a:p>
                      <a:r>
                        <a:rPr sz="1700" b="0">
                          <a:solidFill>
                            <a:srgbClr val="222222"/>
                          </a:solidFill>
                          <a:latin typeface="맑은 고딕"/>
                        </a:rPr>
                        <a:t>뒤로 가도 속도 일정, 중복 없음</a:t>
                      </a:r>
                    </a:p>
                  </a:txBody>
                  <a:tcPr marT="43200" marB="43200">
                    <a:solidFill>
                      <a:srgbClr val="FFFFFF"/>
                    </a:solidFill>
                  </a:tcPr>
                </a:tc>
              </a:tr>
              <a:tr h="396000">
                <a:tc>
                  <a:txBody>
                    <a:bodyPr/>
                    <a:lstStyle/>
                    <a:p>
                      <a:r>
                        <a:rPr sz="1700" b="0">
                          <a:solidFill>
                            <a:srgbClr val="222222"/>
                          </a:solidFill>
                          <a:latin typeface="맑은 고딕"/>
                        </a:rPr>
                        <a:t>단점</a:t>
                      </a:r>
                    </a:p>
                  </a:txBody>
                  <a:tcPr marT="43200" marB="43200">
                    <a:solidFill>
                      <a:srgbClr val="FFFFFF"/>
                    </a:solidFill>
                  </a:tcPr>
                </a:tc>
                <a:tc>
                  <a:txBody>
                    <a:bodyPr/>
                    <a:lstStyle/>
                    <a:p>
                      <a:r>
                        <a:rPr sz="1700" b="0">
                          <a:solidFill>
                            <a:srgbClr val="222222"/>
                          </a:solidFill>
                          <a:latin typeface="맑은 고딕"/>
                        </a:rPr>
                        <a:t>뒤 페이지일수록 느림, 중간 추가 시 중복·누락</a:t>
                      </a:r>
                    </a:p>
                  </a:txBody>
                  <a:tcPr marT="43200" marB="43200">
                    <a:solidFill>
                      <a:srgbClr val="FFFFFF"/>
                    </a:solidFill>
                  </a:tcPr>
                </a:tc>
                <a:tc>
                  <a:txBody>
                    <a:bodyPr/>
                    <a:lstStyle/>
                    <a:p>
                      <a:r>
                        <a:rPr sz="1700" b="0">
                          <a:solidFill>
                            <a:srgbClr val="222222"/>
                          </a:solidFill>
                          <a:latin typeface="맑은 고딕"/>
                        </a:rPr>
                        <a:t>특정 쪽으로 바로 못 감</a:t>
                      </a:r>
                    </a:p>
                  </a:txBody>
                  <a:tcPr marT="43200" marB="43200">
                    <a:solidFill>
                      <a:srgbClr val="FFFFFF"/>
                    </a:solidFill>
                  </a:tcPr>
                </a:tc>
              </a:tr>
              <a:tr h="396000">
                <a:tc>
                  <a:txBody>
                    <a:bodyPr/>
                    <a:lstStyle/>
                    <a:p>
                      <a:r>
                        <a:rPr sz="1700" b="0">
                          <a:solidFill>
                            <a:srgbClr val="222222"/>
                          </a:solidFill>
                          <a:latin typeface="맑은 고딕"/>
                        </a:rPr>
                        <a:t>어울리는 곳</a:t>
                      </a:r>
                    </a:p>
                  </a:txBody>
                  <a:tcPr marT="43200" marB="43200">
                    <a:solidFill>
                      <a:srgbClr val="FFFFFF"/>
                    </a:solidFill>
                  </a:tcPr>
                </a:tc>
                <a:tc>
                  <a:txBody>
                    <a:bodyPr/>
                    <a:lstStyle/>
                    <a:p>
                      <a:r>
                        <a:rPr sz="1700" b="0">
                          <a:solidFill>
                            <a:srgbClr val="222222"/>
                          </a:solidFill>
                          <a:latin typeface="맑은 고딕"/>
                        </a:rPr>
                        <a:t>게시판 (쪽 번호)</a:t>
                      </a:r>
                    </a:p>
                  </a:txBody>
                  <a:tcPr marT="43200" marB="43200">
                    <a:solidFill>
                      <a:srgbClr val="FFFFFF"/>
                    </a:solidFill>
                  </a:tcPr>
                </a:tc>
                <a:tc>
                  <a:txBody>
                    <a:bodyPr/>
                    <a:lstStyle/>
                    <a:p>
                      <a:r>
                        <a:rPr sz="1700" b="0">
                          <a:solidFill>
                            <a:srgbClr val="222222"/>
                          </a:solidFill>
                          <a:latin typeface="맑은 고딕"/>
                        </a:rPr>
                        <a:t>피드 · 무한 스크롤</a:t>
                      </a:r>
                    </a:p>
                  </a:txBody>
                  <a:tcPr marT="43200" marB="43200">
                    <a:solidFill>
                      <a:srgbClr val="FFFFFF"/>
                    </a:solidFill>
                  </a:tcPr>
                </a:tc>
              </a:tr>
            </a:tbl>
          </a:graphicData>
        </a:graphic>
      </p:graphicFrame>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API 문서: Swagger와 REST Docs</a:t>
            </a:r>
          </a:p>
        </p:txBody>
      </p:sp>
      <p:graphicFrame>
        <p:nvGraphicFramePr>
          <p:cNvPr id="3" name="Table 2"/>
          <p:cNvGraphicFramePr>
            <a:graphicFrameLocks noGrp="1"/>
          </p:cNvGraphicFramePr>
          <p:nvPr/>
        </p:nvGraphicFramePr>
        <p:xfrm>
          <a:off x="576000" y="1368000"/>
          <a:ext cx="11016000" cy="2376000"/>
        </p:xfrm>
        <a:graphic>
          <a:graphicData uri="http://schemas.openxmlformats.org/drawingml/2006/table">
            <a:tbl>
              <a:tblPr firstRow="1" bandRow="1">
                <a:tableStyleId>{5C22544A-7EE6-4342-B048-85BDC9FD1C3A}</a:tableStyleId>
              </a:tblPr>
              <a:tblGrid>
                <a:gridCol w="2304000"/>
                <a:gridCol w="4392000"/>
                <a:gridCol w="4320000"/>
              </a:tblGrid>
              <a:tr h="396000">
                <a:tc>
                  <a:txBody>
                    <a:bodyPr/>
                    <a:lstStyle/>
                    <a:p>
                      <a:r>
                        <a:rPr sz="1600" b="1">
                          <a:solidFill>
                            <a:srgbClr val="222222"/>
                          </a:solidFill>
                          <a:latin typeface="맑은 고딕"/>
                        </a:rPr>
                        <a:t> </a:t>
                      </a:r>
                    </a:p>
                  </a:txBody>
                  <a:tcPr marT="43200" marB="43200">
                    <a:solidFill>
                      <a:srgbClr val="ECECEC"/>
                    </a:solidFill>
                  </a:tcPr>
                </a:tc>
                <a:tc>
                  <a:txBody>
                    <a:bodyPr/>
                    <a:lstStyle/>
                    <a:p>
                      <a:r>
                        <a:rPr sz="1600" b="1">
                          <a:solidFill>
                            <a:srgbClr val="222222"/>
                          </a:solidFill>
                          <a:latin typeface="맑은 고딕"/>
                        </a:rPr>
                        <a:t>Swagger (springdoc)</a:t>
                      </a:r>
                    </a:p>
                  </a:txBody>
                  <a:tcPr marT="43200" marB="43200">
                    <a:solidFill>
                      <a:srgbClr val="ECECEC"/>
                    </a:solidFill>
                  </a:tcPr>
                </a:tc>
                <a:tc>
                  <a:txBody>
                    <a:bodyPr/>
                    <a:lstStyle/>
                    <a:p>
                      <a:r>
                        <a:rPr sz="1600" b="1">
                          <a:solidFill>
                            <a:srgbClr val="222222"/>
                          </a:solidFill>
                          <a:latin typeface="맑은 고딕"/>
                        </a:rPr>
                        <a:t>Spring REST Docs</a:t>
                      </a:r>
                    </a:p>
                  </a:txBody>
                  <a:tcPr marT="43200" marB="43200">
                    <a:solidFill>
                      <a:srgbClr val="ECECEC"/>
                    </a:solidFill>
                  </a:tcPr>
                </a:tc>
              </a:tr>
              <a:tr h="396000">
                <a:tc>
                  <a:txBody>
                    <a:bodyPr/>
                    <a:lstStyle/>
                    <a:p>
                      <a:r>
                        <a:rPr sz="1600" b="0">
                          <a:solidFill>
                            <a:srgbClr val="222222"/>
                          </a:solidFill>
                          <a:latin typeface="맑은 고딕"/>
                        </a:rPr>
                        <a:t>만드는 법</a:t>
                      </a:r>
                    </a:p>
                  </a:txBody>
                  <a:tcPr marT="43200" marB="43200">
                    <a:solidFill>
                      <a:srgbClr val="FFFFFF"/>
                    </a:solidFill>
                  </a:tcPr>
                </a:tc>
                <a:tc>
                  <a:txBody>
                    <a:bodyPr/>
                    <a:lstStyle/>
                    <a:p>
                      <a:r>
                        <a:rPr sz="1600" b="0">
                          <a:solidFill>
                            <a:srgbClr val="222222"/>
                          </a:solidFill>
                          <a:latin typeface="맑은 고딕"/>
                        </a:rPr>
                        <a:t>의존성 추가 → 컨트롤러를 읽어 자동 생성</a:t>
                      </a:r>
                    </a:p>
                  </a:txBody>
                  <a:tcPr marT="43200" marB="43200">
                    <a:solidFill>
                      <a:srgbClr val="FFFFFF"/>
                    </a:solidFill>
                  </a:tcPr>
                </a:tc>
                <a:tc>
                  <a:txBody>
                    <a:bodyPr/>
                    <a:lstStyle/>
                    <a:p>
                      <a:r>
                        <a:rPr sz="1600" b="0">
                          <a:solidFill>
                            <a:srgbClr val="222222"/>
                          </a:solidFill>
                          <a:latin typeface="맑은 고딕"/>
                        </a:rPr>
                        <a:t>API마다 테스트 작성 → 통과하면 생성</a:t>
                      </a:r>
                    </a:p>
                  </a:txBody>
                  <a:tcPr marT="43200" marB="43200">
                    <a:solidFill>
                      <a:srgbClr val="FFFFFF"/>
                    </a:solidFill>
                  </a:tcPr>
                </a:tc>
              </a:tr>
              <a:tr h="396000">
                <a:tc>
                  <a:txBody>
                    <a:bodyPr/>
                    <a:lstStyle/>
                    <a:p>
                      <a:r>
                        <a:rPr sz="1600" b="0">
                          <a:solidFill>
                            <a:srgbClr val="222222"/>
                          </a:solidFill>
                          <a:latin typeface="맑은 고딕"/>
                        </a:rPr>
                        <a:t>정확도</a:t>
                      </a:r>
                    </a:p>
                  </a:txBody>
                  <a:tcPr marT="43200" marB="43200">
                    <a:solidFill>
                      <a:srgbClr val="FFFFFF"/>
                    </a:solidFill>
                  </a:tcPr>
                </a:tc>
                <a:tc>
                  <a:txBody>
                    <a:bodyPr/>
                    <a:lstStyle/>
                    <a:p>
                      <a:r>
                        <a:rPr sz="1600" b="0">
                          <a:solidFill>
                            <a:srgbClr val="222222"/>
                          </a:solidFill>
                          <a:latin typeface="맑은 고딕"/>
                        </a:rPr>
                        <a:t>코드 기준. 설명 문구는 사람이 관리</a:t>
                      </a:r>
                    </a:p>
                  </a:txBody>
                  <a:tcPr marT="43200" marB="43200">
                    <a:solidFill>
                      <a:srgbClr val="FFFFFF"/>
                    </a:solidFill>
                  </a:tcPr>
                </a:tc>
                <a:tc>
                  <a:txBody>
                    <a:bodyPr/>
                    <a:lstStyle/>
                    <a:p>
                      <a:r>
                        <a:rPr sz="1600" b="0">
                          <a:solidFill>
                            <a:srgbClr val="222222"/>
                          </a:solidFill>
                          <a:latin typeface="맑은 고딕"/>
                        </a:rPr>
                        <a:t>테스트가 실제로 주고받은 값</a:t>
                      </a:r>
                    </a:p>
                  </a:txBody>
                  <a:tcPr marT="43200" marB="43200">
                    <a:solidFill>
                      <a:srgbClr val="FFFFFF"/>
                    </a:solidFill>
                  </a:tcPr>
                </a:tc>
              </a:tr>
              <a:tr h="396000">
                <a:tc>
                  <a:txBody>
                    <a:bodyPr/>
                    <a:lstStyle/>
                    <a:p>
                      <a:r>
                        <a:rPr sz="1600" b="0">
                          <a:solidFill>
                            <a:srgbClr val="222222"/>
                          </a:solidFill>
                          <a:latin typeface="맑은 고딕"/>
                        </a:rPr>
                        <a:t>운영 코드</a:t>
                      </a:r>
                    </a:p>
                  </a:txBody>
                  <a:tcPr marT="43200" marB="43200">
                    <a:solidFill>
                      <a:srgbClr val="FFFFFF"/>
                    </a:solidFill>
                  </a:tcPr>
                </a:tc>
                <a:tc>
                  <a:txBody>
                    <a:bodyPr/>
                    <a:lstStyle/>
                    <a:p>
                      <a:r>
                        <a:rPr sz="1600" b="0">
                          <a:solidFill>
                            <a:srgbClr val="222222"/>
                          </a:solidFill>
                          <a:latin typeface="맑은 고딕"/>
                        </a:rPr>
                        <a:t>@Operation 같은 어노테이션이 붙음</a:t>
                      </a:r>
                    </a:p>
                  </a:txBody>
                  <a:tcPr marT="43200" marB="43200">
                    <a:solidFill>
                      <a:srgbClr val="FFFFFF"/>
                    </a:solidFill>
                  </a:tcPr>
                </a:tc>
                <a:tc>
                  <a:txBody>
                    <a:bodyPr/>
                    <a:lstStyle/>
                    <a:p>
                      <a:r>
                        <a:rPr sz="1600" b="0">
                          <a:solidFill>
                            <a:srgbClr val="222222"/>
                          </a:solidFill>
                          <a:latin typeface="맑은 고딕"/>
                        </a:rPr>
                        <a:t>건드리지 않음</a:t>
                      </a:r>
                    </a:p>
                  </a:txBody>
                  <a:tcPr marT="43200" marB="43200">
                    <a:solidFill>
                      <a:srgbClr val="FFFFFF"/>
                    </a:solidFill>
                  </a:tcPr>
                </a:tc>
              </a:tr>
              <a:tr h="396000">
                <a:tc>
                  <a:txBody>
                    <a:bodyPr/>
                    <a:lstStyle/>
                    <a:p>
                      <a:r>
                        <a:rPr sz="1600" b="0">
                          <a:solidFill>
                            <a:srgbClr val="222222"/>
                          </a:solidFill>
                          <a:latin typeface="맑은 고딕"/>
                        </a:rPr>
                        <a:t>화면에서 호출</a:t>
                      </a:r>
                    </a:p>
                  </a:txBody>
                  <a:tcPr marT="43200" marB="43200">
                    <a:solidFill>
                      <a:srgbClr val="FFFFFF"/>
                    </a:solidFill>
                  </a:tcPr>
                </a:tc>
                <a:tc>
                  <a:txBody>
                    <a:bodyPr/>
                    <a:lstStyle/>
                    <a:p>
                      <a:r>
                        <a:rPr sz="1600" b="0">
                          <a:solidFill>
                            <a:srgbClr val="222222"/>
                          </a:solidFill>
                          <a:latin typeface="맑은 고딕"/>
                        </a:rPr>
                        <a:t>Try it out</a:t>
                      </a:r>
                    </a:p>
                  </a:txBody>
                  <a:tcPr marT="43200" marB="43200">
                    <a:solidFill>
                      <a:srgbClr val="FFFFFF"/>
                    </a:solidFill>
                  </a:tcPr>
                </a:tc>
                <a:tc>
                  <a:txBody>
                    <a:bodyPr/>
                    <a:lstStyle/>
                    <a:p>
                      <a:r>
                        <a:rPr sz="1600" b="0">
                          <a:solidFill>
                            <a:srgbClr val="222222"/>
                          </a:solidFill>
                          <a:latin typeface="맑은 고딕"/>
                        </a:rPr>
                        <a:t>기본은 없음 (정적 HTML)</a:t>
                      </a:r>
                    </a:p>
                  </a:txBody>
                  <a:tcPr marT="43200" marB="43200">
                    <a:solidFill>
                      <a:srgbClr val="FFFFFF"/>
                    </a:solidFill>
                  </a:tcPr>
                </a:tc>
              </a:tr>
              <a:tr h="396000">
                <a:tc>
                  <a:txBody>
                    <a:bodyPr/>
                    <a:lstStyle/>
                    <a:p>
                      <a:r>
                        <a:rPr sz="1600" b="0">
                          <a:solidFill>
                            <a:srgbClr val="222222"/>
                          </a:solidFill>
                          <a:latin typeface="맑은 고딕"/>
                        </a:rPr>
                        <a:t>비용</a:t>
                      </a:r>
                    </a:p>
                  </a:txBody>
                  <a:tcPr marT="43200" marB="43200">
                    <a:solidFill>
                      <a:srgbClr val="FFFFFF"/>
                    </a:solidFill>
                  </a:tcPr>
                </a:tc>
                <a:tc>
                  <a:txBody>
                    <a:bodyPr/>
                    <a:lstStyle/>
                    <a:p>
                      <a:r>
                        <a:rPr sz="1600" b="0">
                          <a:solidFill>
                            <a:srgbClr val="222222"/>
                          </a:solidFill>
                          <a:latin typeface="맑은 고딕"/>
                        </a:rPr>
                        <a:t>시작이 쉽다</a:t>
                      </a:r>
                    </a:p>
                  </a:txBody>
                  <a:tcPr marT="43200" marB="43200">
                    <a:solidFill>
                      <a:srgbClr val="FFFFFF"/>
                    </a:solidFill>
                  </a:tcPr>
                </a:tc>
                <a:tc>
                  <a:txBody>
                    <a:bodyPr/>
                    <a:lstStyle/>
                    <a:p>
                      <a:r>
                        <a:rPr sz="1600" b="0">
                          <a:solidFill>
                            <a:srgbClr val="222222"/>
                          </a:solidFill>
                          <a:latin typeface="맑은 고딕"/>
                        </a:rPr>
                        <a:t>테스트 작성 비용</a:t>
                      </a:r>
                    </a:p>
                  </a:txBody>
                  <a:tcPr marT="43200" marB="43200">
                    <a:solidFill>
                      <a:srgbClr val="FFFFFF"/>
                    </a:solidFill>
                  </a:tcPr>
                </a:tc>
              </a:tr>
            </a:tbl>
          </a:graphicData>
        </a:graphic>
      </p:graphicFrame>
      <p:sp>
        <p:nvSpPr>
          <p:cNvPr id="4" name="TextBox 3"/>
          <p:cNvSpPr txBox="1"/>
          <p:nvPr/>
        </p:nvSpPr>
        <p:spPr>
          <a:xfrm>
            <a:off x="576000" y="4608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혼합: </a:t>
            </a:r>
            <a:r>
              <a:rPr sz="1800" b="0">
                <a:solidFill>
                  <a:srgbClr val="222222"/>
                </a:solidFill>
                <a:latin typeface="맑은 고딕"/>
              </a:rPr>
              <a:t>REST Docs 테스트 → OpenAPI 명세 (restdocs-api-spec) → Swagger UI</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Swagger</a:t>
            </a:r>
          </a:p>
        </p:txBody>
      </p:sp>
      <p:pic>
        <p:nvPicPr>
          <p:cNvPr id="3" name="Picture 2" descr="Swagger-1-목록.png"/>
          <p:cNvPicPr>
            <a:picLocks noChangeAspect="1"/>
          </p:cNvPicPr>
          <p:nvPr/>
        </p:nvPicPr>
        <p:blipFill>
          <a:blip r:embed="rId2"/>
          <a:stretch>
            <a:fillRect/>
          </a:stretch>
        </p:blipFill>
        <p:spPr>
          <a:xfrm>
            <a:off x="2196000" y="1224000"/>
            <a:ext cx="7775999" cy="5400000"/>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Swagger에서 API 하나 펼치기</a:t>
            </a:r>
          </a:p>
        </p:txBody>
      </p:sp>
      <p:pic>
        <p:nvPicPr>
          <p:cNvPr id="3" name="Picture 2" descr="tmp7n5l604n.png"/>
          <p:cNvPicPr>
            <a:picLocks noChangeAspect="1"/>
          </p:cNvPicPr>
          <p:nvPr/>
        </p:nvPicPr>
        <p:blipFill>
          <a:blip r:embed="rId2"/>
          <a:stretch>
            <a:fillRect/>
          </a:stretch>
        </p:blipFill>
        <p:spPr>
          <a:xfrm>
            <a:off x="576000" y="1152000"/>
            <a:ext cx="5399999" cy="4639390"/>
          </a:xfrm>
          <a:prstGeom prst="rect">
            <a:avLst/>
          </a:prstGeom>
        </p:spPr>
      </p:pic>
      <p:pic>
        <p:nvPicPr>
          <p:cNvPr id="4" name="Picture 3" descr="tmpd1zblpbn.png"/>
          <p:cNvPicPr>
            <a:picLocks noChangeAspect="1"/>
          </p:cNvPicPr>
          <p:nvPr/>
        </p:nvPicPr>
        <p:blipFill>
          <a:blip r:embed="rId3"/>
          <a:stretch>
            <a:fillRect/>
          </a:stretch>
        </p:blipFill>
        <p:spPr>
          <a:xfrm>
            <a:off x="6192000" y="1152000"/>
            <a:ext cx="5399999" cy="4639390"/>
          </a:xfrm>
          <a:prstGeom prst="rect">
            <a:avLst/>
          </a:prstGeom>
        </p:spPr>
      </p:pic>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REST Docs</a:t>
            </a:r>
          </a:p>
        </p:txBody>
      </p:sp>
      <p:pic>
        <p:nvPicPr>
          <p:cNvPr id="3" name="Picture 2" descr="REST-Docs-00-첫-화면.png"/>
          <p:cNvPicPr>
            <a:picLocks noChangeAspect="1"/>
          </p:cNvPicPr>
          <p:nvPr/>
        </p:nvPicPr>
        <p:blipFill>
          <a:blip r:embed="rId2"/>
          <a:stretch>
            <a:fillRect/>
          </a:stretch>
        </p:blipFill>
        <p:spPr>
          <a:xfrm>
            <a:off x="1648800" y="1152000"/>
            <a:ext cx="8870400" cy="5544000"/>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에러 응답</a:t>
            </a:r>
          </a:p>
        </p:txBody>
      </p:sp>
      <p:pic>
        <p:nvPicPr>
          <p:cNvPr id="3" name="Picture 2" descr="REST-Docs-02-오류-응답.png"/>
          <p:cNvPicPr>
            <a:picLocks noChangeAspect="1"/>
          </p:cNvPicPr>
          <p:nvPr/>
        </p:nvPicPr>
        <p:blipFill>
          <a:blip r:embed="rId2"/>
          <a:stretch>
            <a:fillRect/>
          </a:stretch>
        </p:blipFill>
        <p:spPr>
          <a:xfrm>
            <a:off x="576000" y="1224000"/>
            <a:ext cx="11016000" cy="3869370"/>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정리</a:t>
            </a:r>
          </a:p>
        </p:txBody>
      </p:sp>
      <p:sp>
        <p:nvSpPr>
          <p:cNvPr id="3" name="TextBox 2"/>
          <p:cNvSpPr txBox="1"/>
          <p:nvPr/>
        </p:nvSpPr>
        <p:spPr>
          <a:xfrm>
            <a:off x="576000" y="140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URL</a:t>
            </a:r>
          </a:p>
        </p:txBody>
      </p:sp>
      <p:sp>
        <p:nvSpPr>
          <p:cNvPr id="4" name="TextBox 3"/>
          <p:cNvSpPr txBox="1"/>
          <p:nvPr/>
        </p:nvSpPr>
        <p:spPr>
          <a:xfrm>
            <a:off x="2736000" y="140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자원만 · 복수 · 소문자 · 두 단계 · 행위는 드러나게</a:t>
            </a:r>
          </a:p>
        </p:txBody>
      </p:sp>
      <p:sp>
        <p:nvSpPr>
          <p:cNvPr id="5" name="TextBox 4"/>
          <p:cNvSpPr txBox="1"/>
          <p:nvPr/>
        </p:nvSpPr>
        <p:spPr>
          <a:xfrm>
            <a:off x="576000" y="203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메서드</a:t>
            </a:r>
          </a:p>
        </p:txBody>
      </p:sp>
      <p:sp>
        <p:nvSpPr>
          <p:cNvPr id="6" name="TextBox 5"/>
          <p:cNvSpPr txBox="1"/>
          <p:nvPr/>
        </p:nvSpPr>
        <p:spPr>
          <a:xfrm>
            <a:off x="2736000" y="203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안전성 · 멱등성으로 고른다 · POST 중복은 키로 막는다</a:t>
            </a:r>
          </a:p>
        </p:txBody>
      </p:sp>
      <p:sp>
        <p:nvSpPr>
          <p:cNvPr id="7" name="TextBox 6"/>
          <p:cNvSpPr txBox="1"/>
          <p:nvPr/>
        </p:nvSpPr>
        <p:spPr>
          <a:xfrm>
            <a:off x="576000" y="266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상태 코드</a:t>
            </a:r>
          </a:p>
        </p:txBody>
      </p:sp>
      <p:sp>
        <p:nvSpPr>
          <p:cNvPr id="8" name="TextBox 7"/>
          <p:cNvSpPr txBox="1"/>
          <p:nvPr/>
        </p:nvSpPr>
        <p:spPr>
          <a:xfrm>
            <a:off x="2736000" y="266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실패는 4xx · 5xx, 200에 실패를 담지 않는다</a:t>
            </a:r>
          </a:p>
        </p:txBody>
      </p:sp>
      <p:sp>
        <p:nvSpPr>
          <p:cNvPr id="9" name="TextBox 8"/>
          <p:cNvSpPr txBox="1"/>
          <p:nvPr/>
        </p:nvSpPr>
        <p:spPr>
          <a:xfrm>
            <a:off x="576000" y="329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에러</a:t>
            </a:r>
          </a:p>
        </p:txBody>
      </p:sp>
      <p:sp>
        <p:nvSpPr>
          <p:cNvPr id="10" name="TextBox 9"/>
          <p:cNvSpPr txBox="1"/>
          <p:nvPr/>
        </p:nvSpPr>
        <p:spPr>
          <a:xfrm>
            <a:off x="2736000" y="329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한 모양 + code · 내부 정보는 로그와 traceId로</a:t>
            </a:r>
          </a:p>
        </p:txBody>
      </p:sp>
      <p:sp>
        <p:nvSpPr>
          <p:cNvPr id="11" name="TextBox 10"/>
          <p:cNvSpPr txBox="1"/>
          <p:nvPr/>
        </p:nvSpPr>
        <p:spPr>
          <a:xfrm>
            <a:off x="576000" y="392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예외 처리</a:t>
            </a:r>
          </a:p>
        </p:txBody>
      </p:sp>
      <p:sp>
        <p:nvSpPr>
          <p:cNvPr id="12" name="TextBox 11"/>
          <p:cNvSpPr txBox="1"/>
          <p:nvPr/>
        </p:nvSpPr>
        <p:spPr>
          <a:xfrm>
            <a:off x="2736000" y="392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검증은 DTO와 서비스, 변환은 한 곳에서</a:t>
            </a:r>
          </a:p>
        </p:txBody>
      </p:sp>
      <p:sp>
        <p:nvSpPr>
          <p:cNvPr id="13" name="TextBox 12"/>
          <p:cNvSpPr txBox="1"/>
          <p:nvPr/>
        </p:nvSpPr>
        <p:spPr>
          <a:xfrm>
            <a:off x="576000" y="455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목록</a:t>
            </a:r>
          </a:p>
        </p:txBody>
      </p:sp>
      <p:sp>
        <p:nvSpPr>
          <p:cNvPr id="14" name="TextBox 13"/>
          <p:cNvSpPr txBox="1"/>
          <p:nvPr/>
        </p:nvSpPr>
        <p:spPr>
          <a:xfrm>
            <a:off x="2736000" y="455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쿼리로 받고 한도를 정한다 · 게시판은 오프셋, 피드는 커서</a:t>
            </a:r>
          </a:p>
        </p:txBody>
      </p:sp>
      <p:sp>
        <p:nvSpPr>
          <p:cNvPr id="15" name="TextBox 14"/>
          <p:cNvSpPr txBox="1"/>
          <p:nvPr/>
        </p:nvSpPr>
        <p:spPr>
          <a:xfrm>
            <a:off x="576000" y="518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문서</a:t>
            </a:r>
          </a:p>
        </p:txBody>
      </p:sp>
      <p:sp>
        <p:nvSpPr>
          <p:cNvPr id="16" name="TextBox 15"/>
          <p:cNvSpPr txBox="1"/>
          <p:nvPr/>
        </p:nvSpPr>
        <p:spPr>
          <a:xfrm>
            <a:off x="2736000" y="518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코드에서 만든다 · Swagger와 REST Docs</a:t>
            </a:r>
          </a:p>
        </p:txBody>
      </p:sp>
      <p:sp>
        <p:nvSpPr>
          <p:cNvPr id="17" name="TextBox 16"/>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버전: /api/v1</a:t>
            </a:r>
          </a:p>
        </p:txBody>
      </p:sp>
      <p:graphicFrame>
        <p:nvGraphicFramePr>
          <p:cNvPr id="3" name="Table 2"/>
          <p:cNvGraphicFramePr>
            <a:graphicFrameLocks noGrp="1"/>
          </p:cNvGraphicFramePr>
          <p:nvPr/>
        </p:nvGraphicFramePr>
        <p:xfrm>
          <a:off x="576000" y="1368000"/>
          <a:ext cx="11016000" cy="1980000"/>
        </p:xfrm>
        <a:graphic>
          <a:graphicData uri="http://schemas.openxmlformats.org/drawingml/2006/table">
            <a:tbl>
              <a:tblPr firstRow="1" bandRow="1">
                <a:tableStyleId>{5C22544A-7EE6-4342-B048-85BDC9FD1C3A}</a:tableStyleId>
              </a:tblPr>
              <a:tblGrid>
                <a:gridCol w="3960000"/>
                <a:gridCol w="3456000"/>
                <a:gridCol w="3600000"/>
              </a:tblGrid>
              <a:tr h="396000">
                <a:tc>
                  <a:txBody>
                    <a:bodyPr/>
                    <a:lstStyle/>
                    <a:p>
                      <a:r>
                        <a:rPr sz="1700" b="1">
                          <a:solidFill>
                            <a:srgbClr val="222222"/>
                          </a:solidFill>
                          <a:latin typeface="맑은 고딕"/>
                        </a:rPr>
                        <a:t>변경</a:t>
                      </a:r>
                    </a:p>
                  </a:txBody>
                  <a:tcPr marT="43200" marB="43200">
                    <a:solidFill>
                      <a:srgbClr val="ECECEC"/>
                    </a:solidFill>
                  </a:tcPr>
                </a:tc>
                <a:tc>
                  <a:txBody>
                    <a:bodyPr/>
                    <a:lstStyle/>
                    <a:p>
                      <a:r>
                        <a:rPr sz="1700" b="1">
                          <a:solidFill>
                            <a:srgbClr val="222222"/>
                          </a:solidFill>
                          <a:latin typeface="맑은 고딕"/>
                        </a:rPr>
                        <a:t>예전 클라이언트</a:t>
                      </a:r>
                    </a:p>
                  </a:txBody>
                  <a:tcPr marT="43200" marB="43200">
                    <a:solidFill>
                      <a:srgbClr val="ECECEC"/>
                    </a:solidFill>
                  </a:tcPr>
                </a:tc>
                <a:tc>
                  <a:txBody>
                    <a:bodyPr/>
                    <a:lstStyle/>
                    <a:p>
                      <a:r>
                        <a:rPr sz="1700" b="1">
                          <a:solidFill>
                            <a:srgbClr val="222222"/>
                          </a:solidFill>
                          <a:latin typeface="맑은 고딕"/>
                        </a:rPr>
                        <a:t>v2 필요?</a:t>
                      </a:r>
                    </a:p>
                  </a:txBody>
                  <a:tcPr marT="43200" marB="43200">
                    <a:solidFill>
                      <a:srgbClr val="ECECEC"/>
                    </a:solidFill>
                  </a:tcPr>
                </a:tc>
              </a:tr>
              <a:tr h="396000">
                <a:tc>
                  <a:txBody>
                    <a:bodyPr/>
                    <a:lstStyle/>
                    <a:p>
                      <a:r>
                        <a:rPr sz="1700" b="0">
                          <a:solidFill>
                            <a:srgbClr val="222222"/>
                          </a:solidFill>
                          <a:latin typeface="맑은 고딕"/>
                        </a:rPr>
                        <a:t>칸 추가</a:t>
                      </a:r>
                    </a:p>
                  </a:txBody>
                  <a:tcPr marT="43200" marB="43200">
                    <a:solidFill>
                      <a:srgbClr val="FFFFFF"/>
                    </a:solidFill>
                  </a:tcPr>
                </a:tc>
                <a:tc>
                  <a:txBody>
                    <a:bodyPr/>
                    <a:lstStyle/>
                    <a:p>
                      <a:r>
                        <a:rPr sz="1700" b="0">
                          <a:solidFill>
                            <a:srgbClr val="222222"/>
                          </a:solidFill>
                          <a:latin typeface="맑은 고딕"/>
                        </a:rPr>
                        <a:t>모르는 칸은 무시</a:t>
                      </a:r>
                    </a:p>
                  </a:txBody>
                  <a:tcPr marT="43200" marB="43200">
                    <a:solidFill>
                      <a:srgbClr val="FFFFFF"/>
                    </a:solidFill>
                  </a:tcPr>
                </a:tc>
                <a:tc>
                  <a:txBody>
                    <a:bodyPr/>
                    <a:lstStyle/>
                    <a:p>
                      <a:r>
                        <a:rPr sz="1700" b="0">
                          <a:solidFill>
                            <a:srgbClr val="222222"/>
                          </a:solidFill>
                          <a:latin typeface="맑은 고딕"/>
                        </a:rPr>
                        <a:t>필요 없음</a:t>
                      </a:r>
                    </a:p>
                  </a:txBody>
                  <a:tcPr marT="43200" marB="43200">
                    <a:solidFill>
                      <a:srgbClr val="FFFFFF"/>
                    </a:solidFill>
                  </a:tcPr>
                </a:tc>
              </a:tr>
              <a:tr h="396000">
                <a:tc>
                  <a:txBody>
                    <a:bodyPr/>
                    <a:lstStyle/>
                    <a:p>
                      <a:r>
                        <a:rPr sz="1700" b="0">
                          <a:solidFill>
                            <a:srgbClr val="222222"/>
                          </a:solidFill>
                          <a:latin typeface="맑은 고딕"/>
                        </a:rPr>
                        <a:t>칸 삭제</a:t>
                      </a:r>
                    </a:p>
                  </a:txBody>
                  <a:tcPr marT="43200" marB="43200">
                    <a:solidFill>
                      <a:srgbClr val="FFFFFF"/>
                    </a:solidFill>
                  </a:tcPr>
                </a:tc>
                <a:tc>
                  <a:txBody>
                    <a:bodyPr/>
                    <a:lstStyle/>
                    <a:p>
                      <a:r>
                        <a:rPr sz="1700" b="0">
                          <a:solidFill>
                            <a:srgbClr val="222222"/>
                          </a:solidFill>
                          <a:latin typeface="맑은 고딕"/>
                        </a:rPr>
                        <a:t>읽으려던 값이 없음</a:t>
                      </a:r>
                    </a:p>
                  </a:txBody>
                  <a:tcPr marT="43200" marB="43200">
                    <a:solidFill>
                      <a:srgbClr val="FFFFFF"/>
                    </a:solidFill>
                  </a:tcPr>
                </a:tc>
                <a:tc>
                  <a:txBody>
                    <a:bodyPr/>
                    <a:lstStyle/>
                    <a:p>
                      <a:r>
                        <a:rPr sz="1700" b="0">
                          <a:solidFill>
                            <a:srgbClr val="222222"/>
                          </a:solidFill>
                          <a:latin typeface="맑은 고딕"/>
                        </a:rPr>
                        <a:t>필요</a:t>
                      </a:r>
                    </a:p>
                  </a:txBody>
                  <a:tcPr marT="43200" marB="43200">
                    <a:solidFill>
                      <a:srgbClr val="FFFFFF"/>
                    </a:solidFill>
                  </a:tcPr>
                </a:tc>
              </a:tr>
              <a:tr h="396000">
                <a:tc>
                  <a:txBody>
                    <a:bodyPr/>
                    <a:lstStyle/>
                    <a:p>
                      <a:r>
                        <a:rPr sz="1700" b="0">
                          <a:solidFill>
                            <a:srgbClr val="222222"/>
                          </a:solidFill>
                          <a:latin typeface="맑은 고딕"/>
                        </a:rPr>
                        <a:t>이름 변경 (writer → author)</a:t>
                      </a:r>
                    </a:p>
                  </a:txBody>
                  <a:tcPr marT="43200" marB="43200">
                    <a:solidFill>
                      <a:srgbClr val="FFFFFF"/>
                    </a:solidFill>
                  </a:tcPr>
                </a:tc>
                <a:tc>
                  <a:txBody>
                    <a:bodyPr/>
                    <a:lstStyle/>
                    <a:p>
                      <a:r>
                        <a:rPr sz="1700" b="0">
                          <a:solidFill>
                            <a:srgbClr val="222222"/>
                          </a:solidFill>
                          <a:latin typeface="맑은 고딕"/>
                        </a:rPr>
                        <a:t>못 찾음</a:t>
                      </a:r>
                    </a:p>
                  </a:txBody>
                  <a:tcPr marT="43200" marB="43200">
                    <a:solidFill>
                      <a:srgbClr val="FFFFFF"/>
                    </a:solidFill>
                  </a:tcPr>
                </a:tc>
                <a:tc>
                  <a:txBody>
                    <a:bodyPr/>
                    <a:lstStyle/>
                    <a:p>
                      <a:r>
                        <a:rPr sz="1700" b="0">
                          <a:solidFill>
                            <a:srgbClr val="222222"/>
                          </a:solidFill>
                          <a:latin typeface="맑은 고딕"/>
                        </a:rPr>
                        <a:t>필요</a:t>
                      </a:r>
                    </a:p>
                  </a:txBody>
                  <a:tcPr marT="43200" marB="43200">
                    <a:solidFill>
                      <a:srgbClr val="FFFFFF"/>
                    </a:solidFill>
                  </a:tcPr>
                </a:tc>
              </a:tr>
              <a:tr h="396000">
                <a:tc>
                  <a:txBody>
                    <a:bodyPr/>
                    <a:lstStyle/>
                    <a:p>
                      <a:r>
                        <a:rPr sz="1700" b="0">
                          <a:solidFill>
                            <a:srgbClr val="222222"/>
                          </a:solidFill>
                          <a:latin typeface="맑은 고딕"/>
                        </a:rPr>
                        <a:t>타입 변경 (글자 → 객체)</a:t>
                      </a:r>
                    </a:p>
                  </a:txBody>
                  <a:tcPr marT="43200" marB="43200">
                    <a:solidFill>
                      <a:srgbClr val="FFFFFF"/>
                    </a:solidFill>
                  </a:tcPr>
                </a:tc>
                <a:tc>
                  <a:txBody>
                    <a:bodyPr/>
                    <a:lstStyle/>
                    <a:p>
                      <a:r>
                        <a:rPr sz="1700" b="0">
                          <a:solidFill>
                            <a:srgbClr val="222222"/>
                          </a:solidFill>
                          <a:latin typeface="맑은 고딕"/>
                        </a:rPr>
                        <a:t>읽다가 실패</a:t>
                      </a:r>
                    </a:p>
                  </a:txBody>
                  <a:tcPr marT="43200" marB="43200">
                    <a:solidFill>
                      <a:srgbClr val="FFFFFF"/>
                    </a:solidFill>
                  </a:tcPr>
                </a:tc>
                <a:tc>
                  <a:txBody>
                    <a:bodyPr/>
                    <a:lstStyle/>
                    <a:p>
                      <a:r>
                        <a:rPr sz="1700" b="0">
                          <a:solidFill>
                            <a:srgbClr val="222222"/>
                          </a:solidFill>
                          <a:latin typeface="맑은 고딕"/>
                        </a:rPr>
                        <a:t>필요</a:t>
                      </a:r>
                    </a:p>
                  </a:txBody>
                  <a:tcPr marT="43200" marB="43200">
                    <a:solidFill>
                      <a:srgbClr val="FFFFFF"/>
                    </a:solidFill>
                  </a:tcPr>
                </a:tc>
              </a:tr>
            </a:tbl>
          </a:graphicData>
        </a:graphic>
      </p:graphicFrame>
      <p:sp>
        <p:nvSpPr>
          <p:cNvPr id="4" name="TextBox 3"/>
          <p:cNvSpPr txBox="1"/>
          <p:nvPr/>
        </p:nvSpPr>
        <p:spPr>
          <a:xfrm>
            <a:off x="576000" y="4104000"/>
            <a:ext cx="11160000" cy="720000"/>
          </a:xfrm>
          <a:prstGeom prst="rect">
            <a:avLst/>
          </a:prstGeom>
          <a:noFill/>
        </p:spPr>
        <p:txBody>
          <a:bodyPr wrap="square">
            <a:spAutoFit/>
          </a:bodyPr>
          <a:lstStyle/>
          <a:p>
            <a:pPr algn="l">
              <a:spcAft>
                <a:spcPts val="1000"/>
              </a:spcAft>
            </a:pPr>
            <a:r>
              <a:rPr sz="1800" b="0">
                <a:solidFill>
                  <a:srgbClr val="222222"/>
                </a:solidFill>
                <a:latin typeface="맑은 고딕"/>
              </a:rPr>
              <a:t>v1과 v2를 같이 운영 → v1 요청이 거의 없어지면 닫는다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글결이 쓰는 상태 코드</a:t>
            </a:r>
          </a:p>
        </p:txBody>
      </p:sp>
      <p:pic>
        <p:nvPicPr>
          <p:cNvPr id="3" name="Picture 2" descr="REST-Docs-01-오류-상태-코드.png"/>
          <p:cNvPicPr>
            <a:picLocks noChangeAspect="1"/>
          </p:cNvPicPr>
          <p:nvPr/>
        </p:nvPicPr>
        <p:blipFill>
          <a:blip r:embed="rId2"/>
          <a:stretch>
            <a:fillRect/>
          </a:stretch>
        </p:blipFill>
        <p:spPr>
          <a:xfrm>
            <a:off x="576000" y="1224000"/>
            <a:ext cx="11016000" cy="4586253"/>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REST Docs에 API 하나가 적힌 모양</a:t>
            </a:r>
          </a:p>
        </p:txBody>
      </p:sp>
      <p:pic>
        <p:nvPicPr>
          <p:cNvPr id="3" name="Picture 2" descr="tmpvb24r2jr.png"/>
          <p:cNvPicPr>
            <a:picLocks noChangeAspect="1"/>
          </p:cNvPicPr>
          <p:nvPr/>
        </p:nvPicPr>
        <p:blipFill>
          <a:blip r:embed="rId2"/>
          <a:stretch>
            <a:fillRect/>
          </a:stretch>
        </p:blipFill>
        <p:spPr>
          <a:xfrm>
            <a:off x="576000" y="1152000"/>
            <a:ext cx="3528000" cy="3060912"/>
          </a:xfrm>
          <a:prstGeom prst="rect">
            <a:avLst/>
          </a:prstGeom>
        </p:spPr>
      </p:pic>
      <p:pic>
        <p:nvPicPr>
          <p:cNvPr id="4" name="Picture 3" descr="tmp99gaybl6.png"/>
          <p:cNvPicPr>
            <a:picLocks noChangeAspect="1"/>
          </p:cNvPicPr>
          <p:nvPr/>
        </p:nvPicPr>
        <p:blipFill>
          <a:blip r:embed="rId3"/>
          <a:stretch>
            <a:fillRect/>
          </a:stretch>
        </p:blipFill>
        <p:spPr>
          <a:xfrm>
            <a:off x="4320000" y="1152000"/>
            <a:ext cx="3528000" cy="2891966"/>
          </a:xfrm>
          <a:prstGeom prst="rect">
            <a:avLst/>
          </a:prstGeom>
        </p:spPr>
      </p:pic>
      <p:pic>
        <p:nvPicPr>
          <p:cNvPr id="5" name="Picture 4" descr="tmp1hyqyeu7.png"/>
          <p:cNvPicPr>
            <a:picLocks noChangeAspect="1"/>
          </p:cNvPicPr>
          <p:nvPr/>
        </p:nvPicPr>
        <p:blipFill>
          <a:blip r:embed="rId4"/>
          <a:stretch>
            <a:fillRect/>
          </a:stretch>
        </p:blipFill>
        <p:spPr>
          <a:xfrm>
            <a:off x="8064000" y="1152000"/>
            <a:ext cx="3528000" cy="2554073"/>
          </a:xfrm>
          <a:prstGeom prst="rect">
            <a:avLst/>
          </a:prstGeom>
        </p:spPr>
      </p:pic>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MSA에서 보는 502 · 503 · 504</a:t>
            </a:r>
          </a:p>
        </p:txBody>
      </p:sp>
      <p:graphicFrame>
        <p:nvGraphicFramePr>
          <p:cNvPr id="3" name="Table 2"/>
          <p:cNvGraphicFramePr>
            <a:graphicFrameLocks noGrp="1"/>
          </p:cNvGraphicFramePr>
          <p:nvPr/>
        </p:nvGraphicFramePr>
        <p:xfrm>
          <a:off x="576000" y="1368000"/>
          <a:ext cx="11016000" cy="1584000"/>
        </p:xfrm>
        <a:graphic>
          <a:graphicData uri="http://schemas.openxmlformats.org/drawingml/2006/table">
            <a:tbl>
              <a:tblPr firstRow="1" bandRow="1">
                <a:tableStyleId>{5C22544A-7EE6-4342-B048-85BDC9FD1C3A}</a:tableStyleId>
              </a:tblPr>
              <a:tblGrid>
                <a:gridCol w="1440000"/>
                <a:gridCol w="3456000"/>
                <a:gridCol w="6120000"/>
              </a:tblGrid>
              <a:tr h="396000">
                <a:tc>
                  <a:txBody>
                    <a:bodyPr/>
                    <a:lstStyle/>
                    <a:p>
                      <a:r>
                        <a:rPr sz="1700" b="1">
                          <a:solidFill>
                            <a:srgbClr val="222222"/>
                          </a:solidFill>
                          <a:latin typeface="맑은 고딕"/>
                        </a:rPr>
                        <a:t>코드</a:t>
                      </a:r>
                    </a:p>
                  </a:txBody>
                  <a:tcPr marT="43200" marB="43200">
                    <a:solidFill>
                      <a:srgbClr val="ECECEC"/>
                    </a:solidFill>
                  </a:tcPr>
                </a:tc>
                <a:tc>
                  <a:txBody>
                    <a:bodyPr/>
                    <a:lstStyle/>
                    <a:p>
                      <a:r>
                        <a:rPr sz="1700" b="1">
                          <a:solidFill>
                            <a:srgbClr val="222222"/>
                          </a:solidFill>
                          <a:latin typeface="맑은 고딕"/>
                        </a:rPr>
                        <a:t>이름</a:t>
                      </a:r>
                    </a:p>
                  </a:txBody>
                  <a:tcPr marT="43200" marB="43200">
                    <a:solidFill>
                      <a:srgbClr val="ECECEC"/>
                    </a:solidFill>
                  </a:tcPr>
                </a:tc>
                <a:tc>
                  <a:txBody>
                    <a:bodyPr/>
                    <a:lstStyle/>
                    <a:p>
                      <a:r>
                        <a:rPr sz="1700" b="1">
                          <a:solidFill>
                            <a:srgbClr val="222222"/>
                          </a:solidFill>
                          <a:latin typeface="맑은 고딕"/>
                        </a:rPr>
                        <a:t>언제</a:t>
                      </a:r>
                    </a:p>
                  </a:txBody>
                  <a:tcPr marT="43200" marB="43200">
                    <a:solidFill>
                      <a:srgbClr val="ECECEC"/>
                    </a:solidFill>
                  </a:tcPr>
                </a:tc>
              </a:tr>
              <a:tr h="396000">
                <a:tc>
                  <a:txBody>
                    <a:bodyPr/>
                    <a:lstStyle/>
                    <a:p>
                      <a:r>
                        <a:rPr sz="1700" b="0">
                          <a:solidFill>
                            <a:srgbClr val="C62828"/>
                          </a:solidFill>
                          <a:latin typeface="Consolas"/>
                        </a:rPr>
                        <a:t>502</a:t>
                      </a:r>
                    </a:p>
                  </a:txBody>
                  <a:tcPr marT="43200" marB="43200">
                    <a:solidFill>
                      <a:srgbClr val="FFFFFF"/>
                    </a:solidFill>
                  </a:tcPr>
                </a:tc>
                <a:tc>
                  <a:txBody>
                    <a:bodyPr/>
                    <a:lstStyle/>
                    <a:p>
                      <a:r>
                        <a:rPr sz="1700" b="0">
                          <a:solidFill>
                            <a:srgbClr val="222222"/>
                          </a:solidFill>
                          <a:latin typeface="Consolas"/>
                        </a:rPr>
                        <a:t>Bad Gateway</a:t>
                      </a:r>
                    </a:p>
                  </a:txBody>
                  <a:tcPr marT="43200" marB="43200">
                    <a:solidFill>
                      <a:srgbClr val="FFFFFF"/>
                    </a:solidFill>
                  </a:tcPr>
                </a:tc>
                <a:tc>
                  <a:txBody>
                    <a:bodyPr/>
                    <a:lstStyle/>
                    <a:p>
                      <a:r>
                        <a:rPr sz="1700" b="0">
                          <a:solidFill>
                            <a:srgbClr val="222222"/>
                          </a:solidFill>
                          <a:latin typeface="맑은 고딕"/>
                        </a:rPr>
                        <a:t>뒤쪽 서비스가 잘못된 응답을 줌</a:t>
                      </a:r>
                    </a:p>
                  </a:txBody>
                  <a:tcPr marT="43200" marB="43200">
                    <a:solidFill>
                      <a:srgbClr val="FFFFFF"/>
                    </a:solidFill>
                  </a:tcPr>
                </a:tc>
              </a:tr>
              <a:tr h="396000">
                <a:tc>
                  <a:txBody>
                    <a:bodyPr/>
                    <a:lstStyle/>
                    <a:p>
                      <a:r>
                        <a:rPr sz="1700" b="0">
                          <a:solidFill>
                            <a:srgbClr val="C62828"/>
                          </a:solidFill>
                          <a:latin typeface="Consolas"/>
                        </a:rPr>
                        <a:t>503</a:t>
                      </a:r>
                    </a:p>
                  </a:txBody>
                  <a:tcPr marT="43200" marB="43200">
                    <a:solidFill>
                      <a:srgbClr val="FFFFFF"/>
                    </a:solidFill>
                  </a:tcPr>
                </a:tc>
                <a:tc>
                  <a:txBody>
                    <a:bodyPr/>
                    <a:lstStyle/>
                    <a:p>
                      <a:r>
                        <a:rPr sz="1700" b="0">
                          <a:solidFill>
                            <a:srgbClr val="222222"/>
                          </a:solidFill>
                          <a:latin typeface="Consolas"/>
                        </a:rPr>
                        <a:t>Service Unavailable</a:t>
                      </a:r>
                    </a:p>
                  </a:txBody>
                  <a:tcPr marT="43200" marB="43200">
                    <a:solidFill>
                      <a:srgbClr val="FFFFFF"/>
                    </a:solidFill>
                  </a:tcPr>
                </a:tc>
                <a:tc>
                  <a:txBody>
                    <a:bodyPr/>
                    <a:lstStyle/>
                    <a:p>
                      <a:r>
                        <a:rPr sz="1700" b="0">
                          <a:solidFill>
                            <a:srgbClr val="222222"/>
                          </a:solidFill>
                          <a:latin typeface="맑은 고딕"/>
                        </a:rPr>
                        <a:t>과부하 · 점검 · 배포 중</a:t>
                      </a:r>
                    </a:p>
                  </a:txBody>
                  <a:tcPr marT="43200" marB="43200">
                    <a:solidFill>
                      <a:srgbClr val="FFFFFF"/>
                    </a:solidFill>
                  </a:tcPr>
                </a:tc>
              </a:tr>
              <a:tr h="396000">
                <a:tc>
                  <a:txBody>
                    <a:bodyPr/>
                    <a:lstStyle/>
                    <a:p>
                      <a:r>
                        <a:rPr sz="1700" b="0">
                          <a:solidFill>
                            <a:srgbClr val="C62828"/>
                          </a:solidFill>
                          <a:latin typeface="Consolas"/>
                        </a:rPr>
                        <a:t>504</a:t>
                      </a:r>
                    </a:p>
                  </a:txBody>
                  <a:tcPr marT="43200" marB="43200">
                    <a:solidFill>
                      <a:srgbClr val="FFFFFF"/>
                    </a:solidFill>
                  </a:tcPr>
                </a:tc>
                <a:tc>
                  <a:txBody>
                    <a:bodyPr/>
                    <a:lstStyle/>
                    <a:p>
                      <a:r>
                        <a:rPr sz="1700" b="0">
                          <a:solidFill>
                            <a:srgbClr val="222222"/>
                          </a:solidFill>
                          <a:latin typeface="Consolas"/>
                        </a:rPr>
                        <a:t>Gateway Timeout</a:t>
                      </a:r>
                    </a:p>
                  </a:txBody>
                  <a:tcPr marT="43200" marB="43200">
                    <a:solidFill>
                      <a:srgbClr val="FFFFFF"/>
                    </a:solidFill>
                  </a:tcPr>
                </a:tc>
                <a:tc>
                  <a:txBody>
                    <a:bodyPr/>
                    <a:lstStyle/>
                    <a:p>
                      <a:r>
                        <a:rPr sz="1700" b="0">
                          <a:solidFill>
                            <a:srgbClr val="222222"/>
                          </a:solidFill>
                          <a:latin typeface="맑은 고딕"/>
                        </a:rPr>
                        <a:t>제한 시간 안에 응답이 없음</a:t>
                      </a:r>
                    </a:p>
                  </a:txBody>
                  <a:tcPr marT="43200" marB="43200">
                    <a:solidFill>
                      <a:srgbClr val="FFFFFF"/>
                    </a:solidFill>
                  </a:tcPr>
                </a:tc>
              </a:tr>
            </a:tbl>
          </a:graphicData>
        </a:graphic>
      </p:graphicFrame>
      <p:sp>
        <p:nvSpPr>
          <p:cNvPr id="4" name="TextBox 3"/>
          <p:cNvSpPr txBox="1"/>
          <p:nvPr/>
        </p:nvSpPr>
        <p:spPr>
          <a:xfrm>
            <a:off x="576000" y="3384000"/>
            <a:ext cx="11160000" cy="720000"/>
          </a:xfrm>
          <a:prstGeom prst="rect">
            <a:avLst/>
          </a:prstGeom>
          <a:noFill/>
        </p:spPr>
        <p:txBody>
          <a:bodyPr wrap="square">
            <a:spAutoFit/>
          </a:bodyPr>
          <a:lstStyle/>
          <a:p>
            <a:pPr algn="l">
              <a:spcAft>
                <a:spcPts val="1000"/>
              </a:spcAft>
            </a:pPr>
            <a:r>
              <a:rPr sz="1800" b="0">
                <a:solidFill>
                  <a:srgbClr val="222222"/>
                </a:solidFill>
                <a:latin typeface="맑은 고딕"/>
              </a:rPr>
              <a:t>다른 서비스의 에러는 그대로 넘기지 않고 내 API의 에러 형식으로 바꾼다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