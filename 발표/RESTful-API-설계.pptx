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 id="{a69b3c41-a3e8-9a06-0a3b-0e7f56eee222}">
          <p14:sldIdLst>
            <p14:sldId id="256"/>
            <p14:sldId id="257"/>
            <p14:sldId id="258"/>
            <p14:sldId id="259"/>
            <p14:sldId id="260"/>
          </p14:sldIdLst>
        </p14:section>
        <p14:section name="01 자원 중심 URL" id="{df121def-56c8-e578-ac3d-5131ce9b8df4}">
          <p14:sldIdLst>
            <p14:sldId id="261"/>
            <p14:sldId id="262"/>
            <p14:sldId id="263"/>
          </p14:sldIdLst>
        </p14:section>
        <p14:section name="02 HTTP 메서드와 상태 코드" id="{57725d79-5026-43d5-bd4b-2f9007c5b9a0}">
          <p14:sldIdLst>
            <p14:sldId id="264"/>
            <p14:sldId id="265"/>
            <p14:sldId id="266"/>
          </p14:sldIdLst>
        </p14:section>
        <p14:section name="03 공통 응답과 에러 형식" id="{d4a309c2-9997-45f5-7b4b-053bc7c70e3a}">
          <p14:sldIdLst>
            <p14:sldId id="267"/>
          </p14:sldIdLst>
        </p14:section>
        <p14:section name="04 전역 예외 처리와 입력 검증" id="{821d7c47-8639-5af4-565e-df4936579e34}">
          <p14:sldIdLst>
            <p14:sldId id="268"/>
            <p14:sldId id="269"/>
          </p14:sldIdLst>
        </p14:section>
        <p14:section name="05 페이징 · 검색 · 정렬" id="{fe4cd253-1ae4-4292-e9df-013835cc86b1}">
          <p14:sldIdLst>
            <p14:sldId id="270"/>
            <p14:sldId id="271"/>
            <p14:sldId id="272"/>
            <p14:sldId id="273"/>
            <p14:sldId id="274"/>
          </p14:sldIdLst>
        </p14:section>
        <p14:section name="06 API 문서" id="{34373cc7-84da-0781-cf56-6d3fa8fec063}">
          <p14:sldIdLst>
            <p14:sldId id="275"/>
            <p14:sldId id="276"/>
            <p14:sldId id="277"/>
            <p14:sldId id="278"/>
          </p14:sldIdLst>
        </p14:section>
        <p14:section name="정리" id="{e13b9443-642b-1ad9-ca30-ab34a983b838}">
          <p14:sldIdLst>
            <p14:sldId id="279"/>
          </p14:sldIdLst>
        </p14:section>
        <p14:section name="예비 (질문이 나오면)" id="{b0434beb-412f-5efc-ba0e-47bd0c9b4bc2}">
          <p14:sldIdLst>
            <p14:sldId id="280"/>
            <p14:sldId id="281"/>
            <p14:sldId id="282"/>
            <p14:sldId id="283"/>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이재웅입니다. 오늘은 RESTful API를 어떻게 설계하는지 이야기하고, 마지막에 제가 만든 프로젝트의 실제 API 문서와 에러 형식을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API는 프로그램끼리 요청과 응답을 주고받는 방법입니다. 우리가 만드는 API는 웹, 모바일 앱, 관리자 페이지, 다른 서비스가 모두 같이 씁니다. 그런데 API는 형식이 정해져 있지 않아서, 같은 "42번 글 삭제"도 만든 사람마다 왼쪽처럼 제각각일 수 있습니다. 그러면 쓰는 쪽은 API마다 문서를 찾거나 물어봐야 합니다. 그래서 REST라는 원칙으로 형식을 통일합니다. 자원은 URL로, 행동은 HTTP 메서드로, 결과는 상태 코드로 표현합니다. 이렇게 만든 API가 RESTful API입니다. DELETE /api/v1/posts/42 한 줄만 봐도 42번 글을 삭제한다는 걸 알 수 있습니다. 그럼 먼저, 이런 요청을 왜 보내는지부터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웹이나 앱 화면에 보이는 글, 댓글, 회원 정보는 사용자 기기가 아니라 서버의 DB에 있습니다. 그래서 화면은 데이터가 필요할 때마다 서버에 요청을 보냅니다. 첫 화면을 열면 글 목록을 조회하는 GET이, 저장 버튼을 누르면 글을 만드는 POST가 나갑니다. 사용자의 동작 하나가 HTTP 요청 하나입니다.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구조로 보면 클라이언트가 요청을 보내고, 서버가 DB를 조회하거나 저장한 뒤 응답합니다. 클라이언트는 DB에 직접 접근하지 않고 항상 API를 거칩니다. 요청에는 메서드, 주소, 헤더, 바디가 들어 있고, 응답으로는 상태 코드, 헤더, 바디가 돌아옵니다.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 한 줄을 REST로 읽으면 이렇습니다. DELETE는 행동, /api/v1/posts/42는 자원, 204는 결과입니다. 이제 이 세 부분을 URL, 메서드, 상태 코드 순서로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URL입니다. URL에 동사를 넣으면 두 가지 문제가 생깁니다. 첫째, 같은 42번 글인데도 getPost, updatePost, deletePost처럼 기능마다 주소가 하나씩 늘어납니다. 그러면 쓰는 쪽은 찾아야 할 주소가 계속 늘고, 만드는 쪽은 같은 검증과 권한 확인을 주소마다 따로 걸어야 해서 하나만 빠뜨려도 버그나 보안 구멍이 됩니다. 둘째, 이름이 사람마다 다릅니다. 같은 조회를 누구는 getPost, 누구는 fetchComment, 누구는 selectMember.do라고 짓고, 파라미터 이름도 id, no, mid로 제각각입니다. 그래서 행동은 메서드에 맡기고 URL은 명사로 자원만 가리킵니다. 그러면 /posts/42 하나에 메서드만 바꿔 조회, 수정, 삭제를 하고, 댓글은 /comments/7, 회원은 /members/3처럼 누가 만들어도 같은 모양이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자주 쓰는 기능을 바꿔 보면 이렇습니다. 동사는 빠지고, 같은 주소에 메서드만 달라집니다. 특히 삭제를 GET으로 만들면 안 됩니다. GET은 데이터를 바꾸지 않는 요청으로 정의되어 있어서, 검색 엔진 크롤러나 메신저의 링크 미리보기는 사용자가 누르지 않아도 GET을 보냅니다. 삭제 URL을 메신저로 보내기만 해도 글이 지워질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명사 URL은 계층으로 짭니다. 글 목록은 /posts, 42번 글은 /posts/42, 그 글의 댓글은 /posts/42/comments, 그중 7번 댓글은 /posts/42/comments/7입니다. 중첩은 이렇게 글과 댓글, 자원 두 개까지를 기본으로 합니다. /members/{memberId}/posts/{postId}/comments/{commentId}처럼 더 이어지면 회원, 글, 댓글 id 세 개를 모두 알아야 해서 피합니다. 어떤 자원인지는 경로에, 정렬이나 개수처럼 보여 주는 방식은 물음표 뒤 쿼리에 둡니다. URL은 소문자와 하이픈으로 쓰고, 앞의 /api/v1은 버전입니다. 응답 구조를 크게 바꿔야 할 때 예전 앱이 깨지지 않도록 /api/v2를 따로 열기 위해 붙여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메서드입니다. 같은 42번 글에 메서드만 바꿔 보내면 결과가 이렇게 달라집니다. GET은 조회, POST는 생성, DELETE는 삭제입니다. 헷갈리는 건 PUT과 PATCH입니다. 둘 다 제목만 보냈는데, PUT은 자원 전체를 교체해서 안 보낸 본문이 비워질 수 있고, PATCH는 보낸 필드만 바꿉니다. 그래서 일부 수정에는 PATCH를 씁니다. 하나 더, PUT과 DELETE는 여러 번 보내도 결과가 같지만, POST는 보낼 때마다 글이 하나씩 생깁니다. 그래서 글쓰기 버튼은 한 번 누르면 막아 두고, 결제처럼 중요한 POST는 중복 요청을 막는 처리를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결과는 상태 코드로 알립니다. 첫 자리로 종류가 나뉩니다. 2xx는 성공, 3xx는 리다이렉트, 4xx는 요청한 쪽 문제, 5xx는 서버 문제입니다. API에서는 주로 2xx, 4xx, 5xx를 씁니다. 하지 말아야 할 게 하나 있습니다. 실패했는데 200 OK에 success: false를 담아 보내는 방식입니다. 모니터링, 프론트엔드의 에러 처리, 자동 재시도, 캐시는 바디를 읽지 않고 상태 코드만 봅니다. 그래서 실패를 200으로 주면 장애가 나도 알림이 오지 않고, 화면에는 저장 완료가 뜹니다. 세밀한 구분이 필요하면 상태 코드는 그대로 두고, 바디에 에러 코드를 따로 담습니다. 이건 바로 다음에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실무에서 에러가 나면 대부분 이 아홉 개 중 하나입니다. 가장 자주 보는 건 400, 401, 404, 500입니다. 400은 값이 빠졌거나 형식이 틀린 경우, 404는 자원이 없거나 URL이 틀린 경우, 500은 서버가 처리하지 못한 예외라 서버 로그를 봐야 합니다. 헷갈리는 401과 403은 실패한 단계가 다릅니다. 401은 JWT나 세션이 없거나 만료되어 누구인지 모르는 경우, 403은 누구인지는 알지만 권한이 없는 경우입니다. 502, 503, 504는 게이트웨이 뒤의 서버에 문제가 있을 때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응답도 형식을 하나로 맞춥니다. 성공 응답은 단건이면 자원을 그대로, 목록이면 content와 page로 감싸서 주고, 필드 이름은 camelCase, 날짜는 ISO-8601로 통일합니다. 그럼 에러는 어떻게 보낼까요. 왼쪽처럼 API마다 에러 모양이 다르면, 프론트엔드는 API마다 에러를 꺼내는 코드를 따로 짜야 하고, 문장으로 분기했다가 백엔드가 문구를 고치면 깨집니다. 그래서 오른쪽처럼 모든 API가 같은 형식으로 보냅니다. RFC 9457 표준의 type, title, status, detail에 우리 팀 에러 코드 code를 붙입니다. 프론트엔드는 에러 처리를 한 곳에만 쓰고, code로 분기하고, detail 문장은 화면에 보여 주기만 합니다. 스택 트레이스나 SQL 같은 내부 정보는 응답에 넣지 않고 서버 로그에만 남깁니다.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형식을 모든 API가 지키게 하는 방법이 전역 예외 처리입니다. 요청은 입력 검증, 컨트롤러, 서비스, DB 순서로 처리되고, 성공하면 바로 응답이 나갑니다. 실패는 두 종류입니다. 제목이 비었다처럼 값만 보면 아는 건 맨 앞의 입력 검증에서 400으로 돌려보냅니다. 글이 없다, 제목이 중복이다처럼 DB를 봐야 아는 건 서비스에서 예외를 던집니다. 던진 예외는 호출한 쪽으로 거꾸로 올라가서, 결국 전역 예외 처리기 한 곳에 모입니다. 여기서 상태 코드와 앞에서 본 공통 에러 형식으로 바꿔 응답합니다. 예상 못 한 예외는 로그를 남기고 500으로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코드로 보면 두 장면입니다. 위는 요청 DTO에 검증 규칙을 적은 것이고, 아래가 전역 예외 처리기입니다. 예외 종류마다 어떤 응답을 줄지 한 곳에 적어 두니, 컨트롤러마다 try-catch를 쓸 필요가 없고 에러 형식도 항상 같습니다. 화면에서 이미 검사했더라도 서버 검증은 생략하지 않습니다. API는 curl이나 Postman으로 화면 없이도 호출할 수 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 목록 API는 어떤 글을, 어떤 순서로, 몇 개씩 줄지를 정해야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검색 조건은 topic, keyword로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정렬은 sort=필드,방향으로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페이징은 page와 size로 받습니다. 앞에서 말했듯 보여 주는 방식이니 모두 쿼리에 붙이고, 안 보내면 최신순 20개가 기본입니다.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응답에는 글 목록과 함께 전체 개수, 전체 페이지 수 같은 페이지 정보를 줘야 화면이 페이지 번호를 그릴 수 있습니다. 결과가 없으면 404가 아니라 200과 빈 배열입니다. 대신 서버는 size 최댓값, 정렬 가능한 필드, 기본 정렬을 정해 둡니다. size=1000000 요청 하나로 서버가 멈추면 안 되니까요.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마지막은 문서입니다. 문서를 따로 쓰면 코드만 바뀌고 문서는 그대로 남기 쉽습니다. 그래서 코드에서 자동으로 만듭니다. 제가 만든 멀티 블로그 서비스 글결의 문서로 보여 드리겠습니다. 첫째는 Swagger입니다. springdoc이 서버의 컨트롤러를 읽어 API 목록을 자동으로 만들고, 로그인, 블로그, 글처럼 묶음별로 보여 줍니다. 메서드가 색으로 구분되어 주소와 함께 한눈에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하나를 펼치면 필요한 머리글, 요청 바디 예시, 응답 코드별 예시가 나옵니다. 글 쓰기는 성공하면 201, 제목을 비우면 400과 공통 에러 형식이 옵니다. Try it out을 누르면 여기서 바로 호출해 볼 수 있어서, 프론트엔드 개발자가 묻지 않고 확인할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둘째는 Spring REST Docs입니다. 여기 있는 요청과 응답은 테스트가 실제로 보내고 받은 것이라, 응답에 문서에 없는 칸이 생기거나 적은 칸이 사라지면 테스트가 실패합니다. 그래서 문서가 코드와 어긋나지 않습니다. 만드는 방법은 간단합니다. Swagger는 springdoc 의존성을 추가하면 컨트롤러를 읽어 자동으로 만들어지고, REST Docs는 API마다 테스트에 칸 설명을 적으면 테스트를 돌릴 때 문서 조각이 생겨 이 HTML로 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글결의 공통 에러 형식입니다. 글결은 code, message, fieldErrors 세 칸으로 팀 형식을 정했고, 모든 API가 이 모양으로 답합니다. 화면은 code로 분기하고 message는 보여 주기만 합니다. 입력값 오류면 fieldErrors에 칸마다 까닭이 와서 제목 칸 옆에 바로 문구를 띄웁니다. 오른쪽 404도 같은 모양입니다.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내용을 요청 하나의 순서로 정리하면 이렇습니다. 자원은 URL로, 행동은 메서드로 표현하고, 입력은 서버에서 검증하고, 예외는 한곳에서 처리하고, 결과는 상태 코드와 같은 형식의 응답으로 돌려줍니다. 목록은 쿼리로 나눠서 주고, 이 모든 규칙은 문서로 공개합니다. 이 규칙을 지키면 처음 보는 사람도 주소만 보고 API를 읽을 수 있습니다.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요청에는 메서드와 주소, 헤더, 바디가 들어 있고, 응답에는 상태 코드, 헤더, 바디가 돌아옵니다. 오른쪽은 예제 서버에 실제로 글을 만든 응답이라, 201과 함께 새 글의 주소가 Location 헤더에 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댓글은 번호가 전체에서 하나라서, 7번 댓글을 찾으면 그 줄에 글 번호 42도 들어 있습니다. 그래서 /comments/7만으로 충분합니다. GitHub 이슈는 번호가 저장소마다 1부터 다시 매겨져서, 12번 이슈가 여러 개입니다. 그래서 저장소를 주소에 꼭 넣어야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멱등은 여러 번 보내도 서버 상태가 한 번 보낸 것과 같다는 뜻입니다. DELETE는 두 번째부터 404가 오지만 42번 글이 없는 상태는 같아서 멱등입니다. POST는 보낼 때마다 글이 하나씩 생겨서 멱등이 아니고, 그래서 중복을 막아야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401과 403은 실패한 단계가 다릅니다. 먼저 로그인했는지 확인하는 인증에서 실패하면 401, 로그인은 했지만 이 글을 지울 권한이 없으면 403입니다. 401은 누구인지 모르는 것, 403은 누구인지 알지만 권한이 없는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오프셋은 쪽 번호로 앞의 글을 세면서 건너뛰어서, 원하는 쪽으로 바로 갈 수 있지만 뒤로 갈수록 느려집니다. 커서는 마지막으로 본 글 번호 다음부터 가져와서 데이터가 많아도 빠르지만, 특정 쪽으로 바로 가기는 어렵습니다. 그래서 게시판은 오프셋, 무한 스크롤은 커서를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글결은 400, 401, 403, 404, 409, 429를 씁니다. 남의 비공개 글은 403이 아니라 404로 답해서, 그 글이 있다는 사실도 드러나지 않게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댓글 쓰기 하나에 요청 머리글, 주소 안의 값, 요청 본문 칸, 실제 요청, 실제 응답, 응답 칸이 차례로 적혀 있습니다. 모두 테스트가 실제로 주고받은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Boot 애플리케이션 하나에서는 인증 필터, URL 매핑, 컨트롤러, 서비스, DB 순서로 처리됩니다. 댓글 서비스가 글이 있는지 확인할 때도 같은 프로세스 안의 메서드 호출이라 빠릅니다. 대신 일부 기능만 따로 배포하거나 늘리기는 어렵습니다.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MSA에서는 API Gateway가 먼저 인증하고, 주소를 보고 맞는 서비스로 보냅니다. 댓글 서비스가 글이 있는지 확인할 때는 글 서비스에 HTTP로 물어봐야 합니다. 그래도 클라이언트가 보내는 요청은 단일 서버와 똑같습니다.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에러 형식이 모든 서비스에서 같으면, 글 서비스의 404와 POST_NOT_FOUND가 그대로 클라이언트까지 전달됩니다. 글 서비스가 꺼져 있으면 503, 제한 시간 안에 답이 없으면 504처럼 원인에 맞는 코드로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표지">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9224" y="2148840"/>
            <a:ext cx="5760720" cy="1737360"/>
          </a:xfrm>
          <a:prstGeom prst="rect">
            <a:avLst/>
          </a:prstGeom>
          <a:noFill/>
          <a:ln/>
        </p:spPr>
        <p:txBody>
          <a:bodyPr wrap="square" rtlCol="0"/>
          <a:lstStyle>
            <a:lvl1pPr algn="l" indent="0" marL="0">
              <a:buNone/>
              <a:defRPr lang="en-US" sz="5400"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649224" y="4069080"/>
            <a:ext cx="5760720" cy="822960"/>
          </a:xfrm>
          <a:prstGeom prst="rect">
            <a:avLst/>
          </a:prstGeom>
          <a:noFill/>
          <a:ln/>
        </p:spPr>
        <p:txBody>
          <a:bodyPr wrap="square" rtlCol="0"/>
          <a:lstStyle>
            <a:lvl1pPr algn="l" indent="0" marL="0">
              <a:buNone/>
              <a:defRPr lang="en-US" sz="2000" dirty="0">
                <a:solidFill>
                  <a:schemeClr val="accent3"/>
                </a:solidFill>
              </a:defRPr>
            </a:lvl1pPr>
          </a:lstStyle>
          <a:p>
            <a:pPr algn="l" indent="0" marL="0">
              <a:buNone/>
            </a:pPr>
            <a:endParaRPr lang="en-US" sz="2000" dirty="0"/>
          </a:p>
        </p:txBody>
      </p:sp>
      <p:sp>
        <p:nvSpPr>
          <p:cNvPr id="4" name="Text 0"/>
          <p:cNvSpPr/>
          <p:nvPr>
            <p:ph idx="102" type="body" hasCustomPrompt="1"/>
          </p:nvPr>
        </p:nvSpPr>
        <p:spPr>
          <a:xfrm>
            <a:off x="649224" y="5806440"/>
            <a:ext cx="5760720" cy="365760"/>
          </a:xfrm>
          <a:prstGeom prst="rect">
            <a:avLst/>
          </a:prstGeom>
          <a:noFill/>
          <a:ln/>
        </p:spPr>
        <p:txBody>
          <a:bodyPr wrap="square" rtlCol="0"/>
          <a:lstStyle>
            <a:lvl1pPr algn="l" indent="0" marL="0">
              <a:buNone/>
              <a:defRPr lang="en-US" sz="1400" dirty="0">
                <a:solidFill>
                  <a:schemeClr val="accent3"/>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표지-넓게">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9224" y="2011680"/>
            <a:ext cx="10890504" cy="1828800"/>
          </a:xfrm>
          <a:prstGeom prst="rect">
            <a:avLst/>
          </a:prstGeom>
          <a:noFill/>
          <a:ln/>
        </p:spPr>
        <p:txBody>
          <a:bodyPr wrap="square" rtlCol="0"/>
          <a:lstStyle>
            <a:lvl1pPr algn="l" indent="0" marL="0">
              <a:buNone/>
              <a:defRPr lang="en-US" sz="5400"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649224" y="4023360"/>
            <a:ext cx="10890504" cy="822960"/>
          </a:xfrm>
          <a:prstGeom prst="rect">
            <a:avLst/>
          </a:prstGeom>
          <a:noFill/>
          <a:ln/>
        </p:spPr>
        <p:txBody>
          <a:bodyPr wrap="square" rtlCol="0"/>
          <a:lstStyle>
            <a:lvl1pPr algn="l" indent="0" marL="0">
              <a:buNone/>
              <a:defRPr lang="en-US" sz="2000" dirty="0">
                <a:solidFill>
                  <a:schemeClr val="accent3"/>
                </a:solidFill>
              </a:defRPr>
            </a:lvl1pPr>
          </a:lstStyle>
          <a:p>
            <a:pPr algn="l" indent="0" marL="0">
              <a:buNone/>
            </a:pPr>
            <a:endParaRPr lang="en-US" sz="2000" dirty="0"/>
          </a:p>
        </p:txBody>
      </p:sp>
      <p:sp>
        <p:nvSpPr>
          <p:cNvPr id="4" name="Text 0"/>
          <p:cNvSpPr/>
          <p:nvPr>
            <p:ph idx="102" type="body" hasCustomPrompt="1"/>
          </p:nvPr>
        </p:nvSpPr>
        <p:spPr>
          <a:xfrm>
            <a:off x="649224" y="5806440"/>
            <a:ext cx="10890504" cy="365760"/>
          </a:xfrm>
          <a:prstGeom prst="rect">
            <a:avLst/>
          </a:prstGeom>
          <a:noFill/>
          <a:ln/>
        </p:spPr>
        <p:txBody>
          <a:bodyPr wrap="square" rtlCol="0"/>
          <a:lstStyle>
            <a:lvl1pPr algn="l" indent="0" marL="0">
              <a:buNone/>
              <a:defRPr lang="en-US" sz="1400" dirty="0">
                <a:solidFill>
                  <a:schemeClr val="accent3"/>
                </a:solidFill>
              </a:defRPr>
            </a:lvl1pPr>
          </a:lstStyle>
          <a:p>
            <a:pPr algn="l"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섹션">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rtlCol="0"/>
          <a:lstStyle>
            <a:lvl1pPr algn="l" indent="0" marL="0">
              <a:buNone/>
              <a:defRPr lang="en-US" sz="6000" dirty="0">
                <a:solidFill>
                  <a:schemeClr val="accent1"/>
                </a:solidFill>
                <a:latin typeface="+mj-lt" pitchFamily="34" charset="0"/>
                <a:ea typeface="+mj-lt" pitchFamily="34" charset="-122"/>
                <a:cs typeface="+mj-lt" pitchFamily="34" charset="-120"/>
              </a:defRPr>
            </a:lvl1pPr>
          </a:lstStyle>
          <a:p>
            <a:pPr algn="l" indent="0" marL="0">
              <a:buNone/>
            </a:pP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rtlCol="0"/>
          <a:lstStyle>
            <a:lvl1pPr algn="l" indent="0" marL="0">
              <a:buNone/>
              <a:defRPr lang="en-US" sz="4000"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rtlCol="0"/>
          <a:lstStyle>
            <a:lvl1pPr algn="l" indent="0" marL="0">
              <a:buNone/>
              <a:defRPr lang="en-US" sz="2000" dirty="0">
                <a:solidFill>
                  <a:srgbClr val="A09D96"/>
                </a:solidFill>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본문">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rtlCol="0"/>
          <a:lstStyle>
            <a:lvl1pPr algn="l" indent="0" marL="0">
              <a:buNone/>
              <a:defRPr lang="en-US" sz="1200" spc="150" kern="0" dirty="0">
                <a:solidFill>
                  <a:schemeClr val="accent3"/>
                </a:solidFill>
              </a:defRPr>
            </a:lvl1pPr>
          </a:lstStyle>
          <a:p>
            <a:pPr algn="l" indent="0" marL="0">
              <a:buNone/>
            </a:pP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마무리">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9224" y="676656"/>
            <a:ext cx="10890504" cy="731520"/>
          </a:xfrm>
          <a:prstGeom prst="rect">
            <a:avLst/>
          </a:prstGeom>
          <a:noFill/>
          <a:ln/>
        </p:spPr>
        <p:txBody>
          <a:bodyPr wrap="square" rtlCol="0"/>
          <a:lstStyle>
            <a:lvl1pPr algn="l" indent="0" marL="0">
              <a:buNone/>
              <a:defRPr lang="en-US" sz="3200"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5.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5.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5.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5.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9224" y="2011680"/>
            <a:ext cx="10890504" cy="1828800"/>
          </a:xfrm>
          <a:prstGeom prst="rect">
            <a:avLst/>
          </a:prstGeom>
          <a:noFill/>
          <a:ln/>
        </p:spPr>
        <p:txBody>
          <a:bodyPr wrap="square" lIns="0" tIns="0" rIns="0" bIns="0" rtlCol="0" anchor="b"/>
          <a:lstStyle/>
          <a:p>
            <a:pPr algn="l" indent="0" marL="0">
              <a:buNone/>
            </a:pPr>
            <a:r>
              <a:rPr lang="en-US" sz="5400" dirty="0">
                <a:solidFill>
                  <a:schemeClr val="tx1"/>
                </a:solidFill>
              </a:rPr>
              <a:t>RESTful API 설계</a:t>
            </a:r>
            <a:endParaRPr lang="en-US" sz="5400" dirty="0"/>
          </a:p>
        </p:txBody>
      </p:sp>
      <p:sp>
        <p:nvSpPr>
          <p:cNvPr id="3" name="Text 0"/>
          <p:cNvSpPr/>
          <p:nvPr>
            <p:ph idx="101" type="body" hasCustomPrompt="1"/>
          </p:nvPr>
        </p:nvSpPr>
        <p:spPr>
          <a:xfrm>
            <a:off x="649224" y="4023360"/>
            <a:ext cx="10890504" cy="822960"/>
          </a:xfrm>
          <a:prstGeom prst="rect">
            <a:avLst/>
          </a:prstGeom>
          <a:noFill/>
          <a:ln/>
        </p:spPr>
        <p:txBody>
          <a:bodyPr wrap="square" lIns="0" tIns="0" rIns="0" bIns="0" rtlCol="0" anchor="t"/>
          <a:lstStyle/>
          <a:p>
            <a:pPr algn="l" indent="0" marL="0">
              <a:buNone/>
            </a:pPr>
            <a:r>
              <a:rPr lang="en-US" sz="2000" dirty="0">
                <a:solidFill>
                  <a:schemeClr val="accent3"/>
                </a:solidFill>
              </a:rPr>
              <a:t>주소만 봐도 무슨 일인지 아는 API 만들기</a:t>
            </a:r>
            <a:endParaRPr lang="en-US" sz="2000" dirty="0"/>
          </a:p>
        </p:txBody>
      </p:sp>
      <p:sp>
        <p:nvSpPr>
          <p:cNvPr id="4" name="Text 0"/>
          <p:cNvSpPr/>
          <p:nvPr>
            <p:ph idx="102" type="body" hasCustomPrompt="1"/>
          </p:nvPr>
        </p:nvSpPr>
        <p:spPr>
          <a:xfrm>
            <a:off x="649224" y="5806440"/>
            <a:ext cx="10890504" cy="365760"/>
          </a:xfrm>
          <a:prstGeom prst="rect">
            <a:avLst/>
          </a:prstGeom>
          <a:noFill/>
          <a:ln/>
        </p:spPr>
        <p:txBody>
          <a:bodyPr wrap="square" lIns="0" tIns="0" rIns="0" bIns="0" rtlCol="0" anchor="t"/>
          <a:lstStyle/>
          <a:p>
            <a:pPr algn="l" indent="0" marL="0">
              <a:buNone/>
            </a:pPr>
            <a:r>
              <a:rPr lang="en-US" sz="1400" dirty="0">
                <a:solidFill>
                  <a:schemeClr val="accent3"/>
                </a:solidFill>
              </a:rPr>
              <a:t>이재웅 · 2026.10.16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API와 RESTful API</a:t>
            </a:r>
            <a:endParaRPr lang="en-US" sz="3200" dirty="0"/>
          </a:p>
        </p:txBody>
      </p:sp>
      <p:sp>
        <p:nvSpPr>
          <p:cNvPr id="4" name="text"/>
          <p:cNvSpPr txBox="1"/>
          <p:nvPr/>
        </p:nvSpPr>
        <p:spPr>
          <a:xfrm>
            <a:off x="649224" y="1581912"/>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dirty="0">
                <a:solidFill>
                  <a:schemeClr val="accent3"/>
                </a:solidFill>
              </a:rPr>
              <a:t>같은 API를 쓰는 쪽   </a:t>
            </a:r>
            <a:pPr algn="l" indent="0" marL="0">
              <a:lnSpc>
                <a:spcPct val="115000"/>
              </a:lnSpc>
              <a:spcAft>
                <a:spcPts val="600"/>
              </a:spcAft>
              <a:buNone/>
            </a:pPr>
            <a:r>
              <a:rPr lang="en-US" sz="1800" dirty="0">
                <a:solidFill>
                  <a:schemeClr val="tx1"/>
                </a:solidFill>
              </a:rPr>
              <a:t>웹 브라우저 · 모바일 앱 · 관리자 페이지 · 다른 서비스</a:t>
            </a:r>
            <a:endParaRPr lang="en-US" sz="1800" dirty="0"/>
          </a:p>
        </p:txBody>
      </p:sp>
      <p:sp>
        <p:nvSpPr>
          <p:cNvPr id="5" name="code-window"/>
          <p:cNvSpPr/>
          <p:nvPr/>
        </p:nvSpPr>
        <p:spPr>
          <a:xfrm>
            <a:off x="649224" y="2153412"/>
            <a:ext cx="5330952" cy="1922145"/>
          </a:xfrm>
          <a:prstGeom prst="roundRect">
            <a:avLst>
              <a:gd name="adj" fmla="val 5709"/>
            </a:avLst>
          </a:prstGeom>
          <a:solidFill>
            <a:schemeClr val="tx2"/>
          </a:solidFill>
          <a:ln/>
        </p:spPr>
      </p:sp>
      <p:sp>
        <p:nvSpPr>
          <p:cNvPr id="6" name="code-window-dot"/>
          <p:cNvSpPr/>
          <p:nvPr/>
        </p:nvSpPr>
        <p:spPr>
          <a:xfrm>
            <a:off x="850392" y="2299716"/>
            <a:ext cx="100584" cy="100584"/>
          </a:xfrm>
          <a:prstGeom prst="ellipse">
            <a:avLst/>
          </a:prstGeom>
          <a:solidFill>
            <a:srgbClr val="4A4844"/>
          </a:solidFill>
          <a:ln/>
        </p:spPr>
      </p:sp>
      <p:sp>
        <p:nvSpPr>
          <p:cNvPr id="7" name="code-window-dot"/>
          <p:cNvSpPr/>
          <p:nvPr/>
        </p:nvSpPr>
        <p:spPr>
          <a:xfrm>
            <a:off x="1024128" y="2299716"/>
            <a:ext cx="100584" cy="100584"/>
          </a:xfrm>
          <a:prstGeom prst="ellipse">
            <a:avLst/>
          </a:prstGeom>
          <a:solidFill>
            <a:srgbClr val="4A4844"/>
          </a:solidFill>
          <a:ln/>
        </p:spPr>
      </p:sp>
      <p:sp>
        <p:nvSpPr>
          <p:cNvPr id="8" name="code-window-dot"/>
          <p:cNvSpPr/>
          <p:nvPr/>
        </p:nvSpPr>
        <p:spPr>
          <a:xfrm>
            <a:off x="1197864" y="2299716"/>
            <a:ext cx="100584" cy="100584"/>
          </a:xfrm>
          <a:prstGeom prst="ellipse">
            <a:avLst/>
          </a:prstGeom>
          <a:solidFill>
            <a:srgbClr val="4A4844"/>
          </a:solidFill>
          <a:ln/>
        </p:spPr>
      </p:sp>
      <p:sp>
        <p:nvSpPr>
          <p:cNvPr id="9" name="code-window-label"/>
          <p:cNvSpPr txBox="1"/>
          <p:nvPr/>
        </p:nvSpPr>
        <p:spPr>
          <a:xfrm>
            <a:off x="1472184" y="22448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API: 형식이 자유라 같은 '42번 글 삭제'도 제각각</a:t>
            </a:r>
            <a:endParaRPr lang="en-US" sz="1100" dirty="0"/>
          </a:p>
        </p:txBody>
      </p:sp>
      <p:sp>
        <p:nvSpPr>
          <p:cNvPr id="10" name="code-window-text"/>
          <p:cNvSpPr txBox="1"/>
          <p:nvPr/>
        </p:nvSpPr>
        <p:spPr>
          <a:xfrm>
            <a:off x="905256" y="2592324"/>
            <a:ext cx="4873752" cy="1373505"/>
          </a:xfrm>
          <a:prstGeom prst="rect">
            <a:avLst/>
          </a:prstGeom>
          <a:noFill/>
          <a:ln/>
        </p:spPr>
        <p:txBody>
          <a:bodyPr wrap="square" lIns="0" tIns="0" rIns="0" bIns="0" rtlCol="0" anchor="t"/>
          <a:lstStyle/>
          <a:p>
            <a:pPr algn="l" indent="0" marL="0">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POST /deletePost.do?no=42</a:t>
            </a:r>
            <a:endParaRPr lang="en-US" sz="1500" dirty="0"/>
          </a:p>
          <a:p>
            <a:pPr algn="l" indent="0" marL="0">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GET  /post/remove?id=42</a:t>
            </a:r>
            <a:endParaRPr lang="en-US" sz="1500" dirty="0"/>
          </a:p>
          <a:p>
            <a:pPr algn="l" indent="0" marL="0">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POST /api  {"action":"delete","id":42}</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 쓰는 쪽은 API마다 문서를 찾거나 물어봐야 한다</a:t>
            </a:r>
            <a:endParaRPr lang="en-US" sz="1500" dirty="0"/>
          </a:p>
        </p:txBody>
      </p:sp>
      <p:sp>
        <p:nvSpPr>
          <p:cNvPr id="11" name="code-window"/>
          <p:cNvSpPr/>
          <p:nvPr/>
        </p:nvSpPr>
        <p:spPr>
          <a:xfrm>
            <a:off x="6208776" y="2153412"/>
            <a:ext cx="5330952" cy="1922145"/>
          </a:xfrm>
          <a:prstGeom prst="roundRect">
            <a:avLst>
              <a:gd name="adj" fmla="val 5709"/>
            </a:avLst>
          </a:prstGeom>
          <a:solidFill>
            <a:schemeClr val="tx2"/>
          </a:solidFill>
          <a:ln/>
        </p:spPr>
      </p:sp>
      <p:sp>
        <p:nvSpPr>
          <p:cNvPr id="12" name="code-window-dot"/>
          <p:cNvSpPr/>
          <p:nvPr/>
        </p:nvSpPr>
        <p:spPr>
          <a:xfrm>
            <a:off x="6409944" y="2299716"/>
            <a:ext cx="100584" cy="100584"/>
          </a:xfrm>
          <a:prstGeom prst="ellipse">
            <a:avLst/>
          </a:prstGeom>
          <a:solidFill>
            <a:srgbClr val="4A4844"/>
          </a:solidFill>
          <a:ln/>
        </p:spPr>
      </p:sp>
      <p:sp>
        <p:nvSpPr>
          <p:cNvPr id="13" name="code-window-dot"/>
          <p:cNvSpPr/>
          <p:nvPr/>
        </p:nvSpPr>
        <p:spPr>
          <a:xfrm>
            <a:off x="6583680" y="2299716"/>
            <a:ext cx="100584" cy="100584"/>
          </a:xfrm>
          <a:prstGeom prst="ellipse">
            <a:avLst/>
          </a:prstGeom>
          <a:solidFill>
            <a:srgbClr val="4A4844"/>
          </a:solidFill>
          <a:ln/>
        </p:spPr>
      </p:sp>
      <p:sp>
        <p:nvSpPr>
          <p:cNvPr id="14" name="code-window-dot"/>
          <p:cNvSpPr/>
          <p:nvPr/>
        </p:nvSpPr>
        <p:spPr>
          <a:xfrm>
            <a:off x="6757416" y="2299716"/>
            <a:ext cx="100584" cy="100584"/>
          </a:xfrm>
          <a:prstGeom prst="ellipse">
            <a:avLst/>
          </a:prstGeom>
          <a:solidFill>
            <a:srgbClr val="4A4844"/>
          </a:solidFill>
          <a:ln/>
        </p:spPr>
      </p:sp>
      <p:sp>
        <p:nvSpPr>
          <p:cNvPr id="15" name="code-window-label"/>
          <p:cNvSpPr txBox="1"/>
          <p:nvPr/>
        </p:nvSpPr>
        <p:spPr>
          <a:xfrm>
            <a:off x="7031736" y="22448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RESTful API: REST 원칙으로 형식을 통일</a:t>
            </a:r>
            <a:endParaRPr lang="en-US" sz="1100" dirty="0"/>
          </a:p>
        </p:txBody>
      </p:sp>
      <p:sp>
        <p:nvSpPr>
          <p:cNvPr id="16" name="code-window-text"/>
          <p:cNvSpPr txBox="1"/>
          <p:nvPr/>
        </p:nvSpPr>
        <p:spPr>
          <a:xfrm>
            <a:off x="6464808" y="2592324"/>
            <a:ext cx="4873752" cy="1373505"/>
          </a:xfrm>
          <a:prstGeom prst="rect">
            <a:avLst/>
          </a:prstGeom>
          <a:noFill/>
          <a:ln/>
        </p:spPr>
        <p:txBody>
          <a:bodyPr wrap="square" lIns="0" tIns="0" rIns="0" bIns="0" rtlCol="0" anchor="t"/>
          <a:lstStyle/>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DELETE /api/v1/posts/42</a:t>
            </a:r>
            <a:endParaRPr lang="en-US" sz="1500" dirty="0"/>
          </a:p>
          <a:p>
            <a:pPr algn="l" indent="0" marL="0">
              <a:lnSpc>
                <a:spcPct val="105000"/>
              </a:lnSpc>
              <a:buNone/>
            </a:pPr>
            <a:r>
              <a:rPr lang="en-US" sz="1500" dirty="0">
                <a:solidFill>
                  <a:srgbClr val="5DB872"/>
                </a:solidFill>
                <a:latin typeface="JetBrains Mono" pitchFamily="34" charset="0"/>
                <a:ea typeface="JetBrains Mono" pitchFamily="34" charset="-122"/>
                <a:cs typeface="JetBrains Mono" pitchFamily="34" charset="-120"/>
              </a:rPr>
              <a:t>→ 204 No Content</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 주소만 보고도 무슨 일인지 알 수 있다</a:t>
            </a:r>
            <a:endParaRPr lang="en-US" sz="1500" dirty="0"/>
          </a:p>
        </p:txBody>
      </p:sp>
      <p:sp>
        <p:nvSpPr>
          <p:cNvPr id="17" name="text"/>
          <p:cNvSpPr txBox="1"/>
          <p:nvPr/>
        </p:nvSpPr>
        <p:spPr>
          <a:xfrm>
            <a:off x="649224" y="4304157"/>
            <a:ext cx="10890504" cy="408940"/>
          </a:xfrm>
          <a:prstGeom prst="rect">
            <a:avLst/>
          </a:prstGeom>
          <a:noFill/>
          <a:ln/>
        </p:spPr>
        <p:txBody>
          <a:bodyPr wrap="square" lIns="0" tIns="0" rIns="0" bIns="0" rtlCol="0" anchor="t"/>
          <a:lstStyle/>
          <a:p>
            <a:pPr algn="l" indent="0" marL="0">
              <a:lnSpc>
                <a:spcPct val="115000"/>
              </a:lnSpc>
              <a:spcAft>
                <a:spcPts val="600"/>
              </a:spcAft>
              <a:buNone/>
            </a:pPr>
            <a:r>
              <a:rPr lang="en-US" sz="2200" b="1" dirty="0">
                <a:solidFill>
                  <a:schemeClr val="tx1"/>
                </a:solidFill>
              </a:rPr>
              <a:t>자원 → URL   ·   행동 → HTTP 메서드   ·   결과 → 상태 코드</a:t>
            </a:r>
            <a:endParaRPr lang="en-US" sz="22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왜 요청을 보내나</a:t>
            </a:r>
            <a:endParaRPr lang="en-US" sz="32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2745505"/>
                <a:gridCol w="3111573"/>
                <a:gridCol w="2745505"/>
                <a:gridCol w="2287921"/>
              </a:tblGrid>
              <a:tr h="566928">
                <a:tc>
                  <a:txBody>
                    <a:bodyPr/>
                    <a:lstStyle/>
                    <a:p>
                      <a:pPr indent="0" marL="0">
                        <a:buNone/>
                      </a:pPr>
                      <a:r>
                        <a:rPr lang="en-US" sz="1400" dirty="0">
                          <a:solidFill>
                            <a:schemeClr val="accent3"/>
                          </a:solidFill>
                        </a:rPr>
                        <a:t>사용자가 화면에서 하는 일</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클라이언트가 보내는 요청</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서버가 하는 일</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응답</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566928">
                <a:tc>
                  <a:txBody>
                    <a:bodyPr/>
                    <a:lstStyle/>
                    <a:p>
                      <a:pPr indent="0" marL="0">
                        <a:buNone/>
                      </a:pPr>
                      <a:r>
                        <a:rPr lang="en-US" sz="1700" dirty="0">
                          <a:solidFill>
                            <a:schemeClr val="tx1"/>
                          </a:solidFill>
                        </a:rPr>
                        <a:t>블로그 첫 화면을 연다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GET /api/v1/posts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DB에서 글 목록 조회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200 + 글 목록</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42번 글을 누른다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GET /api/v1/posts/42</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42번 글 조회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200 + 글 내용</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글을 쓰고 저장한다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POST /api/v1/posts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DB에 새 글 저장</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201 + 새 글 주소</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내 글을 삭제한다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DELETE /api/v1/posts/42</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DB에서 42번 글 삭제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204</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code-inline"/>
          <p:cNvSpPr/>
          <p:nvPr/>
        </p:nvSpPr>
        <p:spPr>
          <a:xfrm>
            <a:off x="649224" y="4690872"/>
            <a:ext cx="10890504" cy="612648"/>
          </a:xfrm>
          <a:prstGeom prst="roundRect">
            <a:avLst>
              <a:gd name="adj" fmla="val 17910"/>
            </a:avLst>
          </a:prstGeom>
          <a:solidFill>
            <a:schemeClr val="bg2"/>
          </a:solidFill>
          <a:ln/>
        </p:spPr>
      </p:sp>
      <p:sp>
        <p:nvSpPr>
          <p:cNvPr id="6" name="text"/>
          <p:cNvSpPr txBox="1"/>
          <p:nvPr/>
        </p:nvSpPr>
        <p:spPr>
          <a:xfrm>
            <a:off x="877824" y="4690872"/>
            <a:ext cx="10433304" cy="612648"/>
          </a:xfrm>
          <a:prstGeom prst="rect">
            <a:avLst/>
          </a:prstGeom>
          <a:noFill/>
          <a:ln/>
        </p:spPr>
        <p:txBody>
          <a:bodyPr wrap="square" lIns="0" tIns="0" rIns="0" bIns="0" rtlCol="0" anchor="ctr"/>
          <a:lstStyle/>
          <a:p>
            <a:pPr algn="l" indent="0" marL="0">
              <a:lnSpc>
                <a:spcPct val="100000"/>
              </a:lnSpc>
              <a:buNone/>
            </a:pPr>
            <a:r>
              <a:rPr lang="en-US" sz="1800" dirty="0">
                <a:solidFill>
                  <a:schemeClr val="tx1"/>
                </a:solidFill>
              </a:rPr>
              <a:t>화면에 보이는 글 · 댓글 · 회원 정보는 사용자 기기가 아니라 서버의 DB에 있다</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클라이언트와 서버</a:t>
            </a:r>
            <a:endParaRPr lang="en-US" sz="3200" dirty="0"/>
          </a:p>
        </p:txBody>
      </p:sp>
      <p:sp>
        <p:nvSpPr>
          <p:cNvPr id="4" name="card"/>
          <p:cNvSpPr/>
          <p:nvPr/>
        </p:nvSpPr>
        <p:spPr>
          <a:xfrm>
            <a:off x="649224" y="1581912"/>
            <a:ext cx="3477768" cy="2011680"/>
          </a:xfrm>
          <a:prstGeom prst="roundRect">
            <a:avLst>
              <a:gd name="adj" fmla="val 5455"/>
            </a:avLst>
          </a:prstGeom>
          <a:solidFill>
            <a:schemeClr val="bg2"/>
          </a:solidFill>
          <a:ln/>
        </p:spPr>
      </p:sp>
      <p:sp>
        <p:nvSpPr>
          <p:cNvPr id="5" name="text"/>
          <p:cNvSpPr txBox="1"/>
          <p:nvPr/>
        </p:nvSpPr>
        <p:spPr>
          <a:xfrm>
            <a:off x="923544" y="1810512"/>
            <a:ext cx="2929128" cy="16459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① 요청을 보낸다  ·  ④ 응답을 받는다</a:t>
            </a:r>
            <a:endParaRPr lang="en-US" sz="1500" dirty="0"/>
          </a:p>
          <a:p>
            <a:pPr algn="l" indent="0" marL="0">
              <a:lnSpc>
                <a:spcPct val="115000"/>
              </a:lnSpc>
              <a:spcAft>
                <a:spcPts val="500"/>
              </a:spcAft>
              <a:buNone/>
            </a:pPr>
            <a:r>
              <a:rPr lang="en-US" sz="2200" b="1" dirty="0">
                <a:solidFill>
                  <a:schemeClr val="tx1"/>
                </a:solidFill>
              </a:rPr>
              <a:t>클라이언트</a:t>
            </a:r>
            <a:endParaRPr lang="en-US" sz="1500" dirty="0"/>
          </a:p>
          <a:p>
            <a:pPr algn="l" indent="0" marL="0">
              <a:lnSpc>
                <a:spcPct val="115000"/>
              </a:lnSpc>
              <a:spcAft>
                <a:spcPts val="500"/>
              </a:spcAft>
              <a:buNone/>
            </a:pPr>
            <a:r>
              <a:rPr lang="en-US" sz="1500" dirty="0">
                <a:solidFill>
                  <a:srgbClr val="3D3D3A"/>
                </a:solidFill>
              </a:rPr>
              <a:t>브라우저 · 앱</a:t>
            </a:r>
            <a:endParaRPr lang="en-US" sz="1500" dirty="0"/>
          </a:p>
        </p:txBody>
      </p:sp>
      <p:sp>
        <p:nvSpPr>
          <p:cNvPr id="6" name="card"/>
          <p:cNvSpPr/>
          <p:nvPr/>
        </p:nvSpPr>
        <p:spPr>
          <a:xfrm>
            <a:off x="4355592" y="1581912"/>
            <a:ext cx="3477768" cy="2011680"/>
          </a:xfrm>
          <a:prstGeom prst="roundRect">
            <a:avLst>
              <a:gd name="adj" fmla="val 5455"/>
            </a:avLst>
          </a:prstGeom>
          <a:solidFill>
            <a:schemeClr val="tx2"/>
          </a:solidFill>
          <a:ln/>
        </p:spPr>
      </p:sp>
      <p:sp>
        <p:nvSpPr>
          <p:cNvPr id="7" name="text"/>
          <p:cNvSpPr txBox="1"/>
          <p:nvPr/>
        </p:nvSpPr>
        <p:spPr>
          <a:xfrm>
            <a:off x="4629912" y="1810512"/>
            <a:ext cx="2929128" cy="16459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rgbClr val="A09D96"/>
                </a:solidFill>
              </a:rPr>
              <a:t>API</a:t>
            </a:r>
            <a:endParaRPr lang="en-US" sz="1500" dirty="0"/>
          </a:p>
          <a:p>
            <a:pPr algn="l" indent="0" marL="0">
              <a:lnSpc>
                <a:spcPct val="115000"/>
              </a:lnSpc>
              <a:spcAft>
                <a:spcPts val="500"/>
              </a:spcAft>
              <a:buNone/>
            </a:pPr>
            <a:r>
              <a:rPr lang="en-US" sz="2200" b="1" dirty="0">
                <a:solidFill>
                  <a:srgbClr val="FAF9F5"/>
                </a:solidFill>
              </a:rPr>
              <a:t>서버</a:t>
            </a:r>
            <a:endParaRPr lang="en-US" sz="1500" dirty="0"/>
          </a:p>
          <a:p>
            <a:pPr algn="l" indent="0" marL="0">
              <a:lnSpc>
                <a:spcPct val="115000"/>
              </a:lnSpc>
              <a:spcAft>
                <a:spcPts val="500"/>
              </a:spcAft>
              <a:buNone/>
            </a:pPr>
            <a:r>
              <a:rPr lang="en-US" sz="1500" dirty="0">
                <a:solidFill>
                  <a:srgbClr val="A09D96"/>
                </a:solidFill>
              </a:rPr>
              <a:t>Spring Boot</a:t>
            </a:r>
            <a:endParaRPr lang="en-US" sz="1500" dirty="0"/>
          </a:p>
          <a:p>
            <a:pPr algn="l" indent="0" marL="0">
              <a:lnSpc>
                <a:spcPct val="115000"/>
              </a:lnSpc>
              <a:spcAft>
                <a:spcPts val="500"/>
              </a:spcAft>
              <a:buNone/>
            </a:pPr>
            <a:r>
              <a:rPr lang="en-US" sz="1500" dirty="0">
                <a:solidFill>
                  <a:srgbClr val="A09D96"/>
                </a:solidFill>
              </a:rPr>
              <a:t>요청을 처리한다</a:t>
            </a:r>
            <a:endParaRPr lang="en-US" sz="1500" dirty="0"/>
          </a:p>
        </p:txBody>
      </p:sp>
      <p:sp>
        <p:nvSpPr>
          <p:cNvPr id="8" name="card"/>
          <p:cNvSpPr/>
          <p:nvPr/>
        </p:nvSpPr>
        <p:spPr>
          <a:xfrm>
            <a:off x="8061960" y="1581912"/>
            <a:ext cx="3477768" cy="2011680"/>
          </a:xfrm>
          <a:prstGeom prst="roundRect">
            <a:avLst>
              <a:gd name="adj" fmla="val 5455"/>
            </a:avLst>
          </a:prstGeom>
          <a:solidFill>
            <a:schemeClr val="bg2"/>
          </a:solidFill>
          <a:ln/>
        </p:spPr>
      </p:sp>
      <p:sp>
        <p:nvSpPr>
          <p:cNvPr id="9" name="text"/>
          <p:cNvSpPr txBox="1"/>
          <p:nvPr/>
        </p:nvSpPr>
        <p:spPr>
          <a:xfrm>
            <a:off x="8336280" y="1810512"/>
            <a:ext cx="2929128" cy="16459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② 조회 · 저장  ·  ③ 결과</a:t>
            </a:r>
            <a:endParaRPr lang="en-US" sz="1500" dirty="0"/>
          </a:p>
          <a:p>
            <a:pPr algn="l" indent="0" marL="0">
              <a:lnSpc>
                <a:spcPct val="115000"/>
              </a:lnSpc>
              <a:spcAft>
                <a:spcPts val="500"/>
              </a:spcAft>
              <a:buNone/>
            </a:pPr>
            <a:r>
              <a:rPr lang="en-US" sz="2200" b="1" dirty="0">
                <a:solidFill>
                  <a:schemeClr val="tx1"/>
                </a:solidFill>
              </a:rPr>
              <a:t>데이터베이스</a:t>
            </a:r>
            <a:endParaRPr lang="en-US" sz="1500" dirty="0"/>
          </a:p>
          <a:p>
            <a:pPr algn="l" indent="0" marL="0">
              <a:lnSpc>
                <a:spcPct val="115000"/>
              </a:lnSpc>
              <a:spcAft>
                <a:spcPts val="500"/>
              </a:spcAft>
              <a:buNone/>
            </a:pPr>
            <a:r>
              <a:rPr lang="en-US" sz="1500" dirty="0">
                <a:solidFill>
                  <a:srgbClr val="3D3D3A"/>
                </a:solidFill>
              </a:rPr>
              <a:t>글 · 댓글 · 회원</a:t>
            </a:r>
            <a:endParaRPr lang="en-US" sz="1500" dirty="0"/>
          </a:p>
          <a:p>
            <a:pPr algn="l" indent="0" marL="0">
              <a:lnSpc>
                <a:spcPct val="115000"/>
              </a:lnSpc>
              <a:spcAft>
                <a:spcPts val="500"/>
              </a:spcAft>
              <a:buNone/>
            </a:pPr>
            <a:r>
              <a:rPr lang="en-US" sz="1500" dirty="0">
                <a:solidFill>
                  <a:srgbClr val="3D3D3A"/>
                </a:solidFill>
              </a:rPr>
              <a:t>데이터를 저장한다</a:t>
            </a:r>
            <a:endParaRPr lang="en-US" sz="1500" dirty="0"/>
          </a:p>
        </p:txBody>
      </p:sp>
      <p:sp>
        <p:nvSpPr>
          <p:cNvPr id="10" name="text"/>
          <p:cNvSpPr txBox="1"/>
          <p:nvPr/>
        </p:nvSpPr>
        <p:spPr>
          <a:xfrm>
            <a:off x="649224" y="3822192"/>
            <a:ext cx="10890504" cy="71628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rPr>
              <a:t>요청  </a:t>
            </a:r>
            <a:pPr algn="l" indent="0" marL="0">
              <a:lnSpc>
                <a:spcPct val="115000"/>
              </a:lnSpc>
              <a:spcAft>
                <a:spcPts val="600"/>
              </a:spcAft>
              <a:buNone/>
            </a:pPr>
            <a:r>
              <a:rPr lang="en-US" sz="1800" dirty="0">
                <a:solidFill>
                  <a:srgbClr val="3D3D3A"/>
                </a:solidFill>
              </a:rPr>
              <a:t>메서드 + 주소 + 헤더 + 바디</a:t>
            </a:r>
            <a:endParaRPr lang="en-US" sz="1800" dirty="0"/>
          </a:p>
          <a:p>
            <a:pPr algn="l" indent="0" marL="0">
              <a:lnSpc>
                <a:spcPct val="115000"/>
              </a:lnSpc>
              <a:spcAft>
                <a:spcPts val="600"/>
              </a:spcAft>
              <a:buNone/>
            </a:pPr>
            <a:r>
              <a:rPr lang="en-US" sz="1800" b="1" dirty="0">
                <a:solidFill>
                  <a:srgbClr val="3D3D3A"/>
                </a:solidFill>
              </a:rPr>
              <a:t>응답  </a:t>
            </a:r>
            <a:pPr algn="l" indent="0" marL="0">
              <a:lnSpc>
                <a:spcPct val="115000"/>
              </a:lnSpc>
              <a:spcAft>
                <a:spcPts val="600"/>
              </a:spcAft>
              <a:buNone/>
            </a:pPr>
            <a:r>
              <a:rPr lang="en-US" sz="1800" dirty="0">
                <a:solidFill>
                  <a:srgbClr val="3D3D3A"/>
                </a:solidFill>
              </a:rPr>
              <a:t>상태 코드 + 헤더 + 바디</a:t>
            </a:r>
            <a:endParaRPr lang="en-US" sz="1800" dirty="0"/>
          </a:p>
        </p:txBody>
      </p:sp>
      <p:sp>
        <p:nvSpPr>
          <p:cNvPr id="11" name="callout-coral"/>
          <p:cNvSpPr/>
          <p:nvPr/>
        </p:nvSpPr>
        <p:spPr>
          <a:xfrm>
            <a:off x="649224" y="4767072"/>
            <a:ext cx="10890504" cy="868680"/>
          </a:xfrm>
          <a:prstGeom prst="roundRect">
            <a:avLst>
              <a:gd name="adj" fmla="val 12632"/>
            </a:avLst>
          </a:prstGeom>
          <a:solidFill>
            <a:schemeClr val="accent1"/>
          </a:solidFill>
          <a:ln/>
        </p:spPr>
      </p:sp>
      <p:sp>
        <p:nvSpPr>
          <p:cNvPr id="12" name="text"/>
          <p:cNvSpPr txBox="1"/>
          <p:nvPr/>
        </p:nvSpPr>
        <p:spPr>
          <a:xfrm>
            <a:off x="1014984" y="4767072"/>
            <a:ext cx="10158984" cy="868680"/>
          </a:xfrm>
          <a:prstGeom prst="rect">
            <a:avLst/>
          </a:prstGeom>
          <a:noFill/>
          <a:ln/>
        </p:spPr>
        <p:txBody>
          <a:bodyPr wrap="square" lIns="0" tIns="0" rIns="0" bIns="0" rtlCol="0" anchor="ctr"/>
          <a:lstStyle/>
          <a:p>
            <a:pPr algn="l" indent="0" marL="0">
              <a:lnSpc>
                <a:spcPct val="115000"/>
              </a:lnSpc>
              <a:spcAft>
                <a:spcPts val="600"/>
              </a:spcAft>
              <a:buNone/>
            </a:pPr>
            <a:r>
              <a:rPr lang="en-US" sz="2200" b="1" dirty="0">
                <a:solidFill>
                  <a:schemeClr val="tx1"/>
                </a:solidFill>
              </a:rPr>
              <a:t>클라이언트는 DB를 직접 열지 않고, 항상 API를 거친다</a:t>
            </a:r>
            <a:endParaRPr lang="en-US" sz="22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REST 세 줄 약속</a:t>
            </a:r>
            <a:endParaRPr lang="en-US" sz="3200" dirty="0"/>
          </a:p>
        </p:txBody>
      </p:sp>
      <p:sp>
        <p:nvSpPr>
          <p:cNvPr id="4" name="card"/>
          <p:cNvSpPr/>
          <p:nvPr/>
        </p:nvSpPr>
        <p:spPr>
          <a:xfrm>
            <a:off x="649224" y="1581912"/>
            <a:ext cx="3477768" cy="2560320"/>
          </a:xfrm>
          <a:prstGeom prst="roundRect">
            <a:avLst>
              <a:gd name="adj" fmla="val 4286"/>
            </a:avLst>
          </a:prstGeom>
          <a:solidFill>
            <a:schemeClr val="bg2"/>
          </a:solidFill>
          <a:ln/>
        </p:spPr>
      </p:sp>
      <p:sp>
        <p:nvSpPr>
          <p:cNvPr id="5" name="text"/>
          <p:cNvSpPr txBox="1"/>
          <p:nvPr/>
        </p:nvSpPr>
        <p:spPr>
          <a:xfrm>
            <a:off x="923544" y="1810512"/>
            <a:ext cx="2929128" cy="219456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어떻게 (행동)</a:t>
            </a:r>
            <a:endParaRPr lang="en-US" sz="1500" dirty="0"/>
          </a:p>
          <a:p>
            <a:pPr algn="l" indent="0" marL="0">
              <a:lnSpc>
                <a:spcPct val="115000"/>
              </a:lnSpc>
              <a:spcAft>
                <a:spcPts val="500"/>
              </a:spcAft>
              <a:buNone/>
            </a:pPr>
            <a:r>
              <a:rPr lang="en-US" sz="3200" dirty="0">
                <a:solidFill>
                  <a:schemeClr val="accent2"/>
                </a:solidFill>
                <a:latin typeface="JetBrains Mono" pitchFamily="34" charset="0"/>
                <a:ea typeface="JetBrains Mono" pitchFamily="34" charset="-122"/>
                <a:cs typeface="JetBrains Mono" pitchFamily="34" charset="-120"/>
              </a:rPr>
              <a:t>DELETE</a:t>
            </a:r>
            <a:endParaRPr lang="en-US" sz="1500" dirty="0"/>
          </a:p>
          <a:p>
            <a:pPr algn="l" indent="0" marL="0">
              <a:lnSpc>
                <a:spcPct val="115000"/>
              </a:lnSpc>
              <a:spcAft>
                <a:spcPts val="500"/>
              </a:spcAft>
              <a:buNone/>
            </a:pPr>
            <a:r>
              <a:rPr lang="en-US" sz="1800" dirty="0">
                <a:solidFill>
                  <a:srgbClr val="3D3D3A"/>
                </a:solidFill>
              </a:rPr>
              <a:t>HTTP 메서드</a:t>
            </a:r>
            <a:endParaRPr lang="en-US" sz="1500" dirty="0"/>
          </a:p>
        </p:txBody>
      </p:sp>
      <p:sp>
        <p:nvSpPr>
          <p:cNvPr id="6" name="card"/>
          <p:cNvSpPr/>
          <p:nvPr/>
        </p:nvSpPr>
        <p:spPr>
          <a:xfrm>
            <a:off x="4355592" y="1581912"/>
            <a:ext cx="3477768" cy="2560320"/>
          </a:xfrm>
          <a:prstGeom prst="roundRect">
            <a:avLst>
              <a:gd name="adj" fmla="val 4286"/>
            </a:avLst>
          </a:prstGeom>
          <a:solidFill>
            <a:schemeClr val="bg2"/>
          </a:solidFill>
          <a:ln/>
        </p:spPr>
      </p:sp>
      <p:sp>
        <p:nvSpPr>
          <p:cNvPr id="7" name="text"/>
          <p:cNvSpPr txBox="1"/>
          <p:nvPr/>
        </p:nvSpPr>
        <p:spPr>
          <a:xfrm>
            <a:off x="4629912" y="1810512"/>
            <a:ext cx="2929128" cy="219456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무엇 (자원)</a:t>
            </a:r>
            <a:endParaRPr lang="en-US" sz="1500" dirty="0"/>
          </a:p>
          <a:p>
            <a:pPr algn="l" indent="0" marL="0">
              <a:lnSpc>
                <a:spcPct val="115000"/>
              </a:lnSpc>
              <a:spcAft>
                <a:spcPts val="500"/>
              </a:spcAft>
              <a:buNone/>
            </a:pPr>
            <a:r>
              <a:rPr lang="en-US" sz="2400" dirty="0">
                <a:solidFill>
                  <a:schemeClr val="accent2"/>
                </a:solidFill>
                <a:latin typeface="JetBrains Mono" pitchFamily="34" charset="0"/>
                <a:ea typeface="JetBrains Mono" pitchFamily="34" charset="-122"/>
                <a:cs typeface="JetBrains Mono" pitchFamily="34" charset="-120"/>
              </a:rPr>
              <a:t>/api/v1/posts/42</a:t>
            </a:r>
            <a:endParaRPr lang="en-US" sz="1500" dirty="0"/>
          </a:p>
          <a:p>
            <a:pPr algn="l" indent="0" marL="0">
              <a:lnSpc>
                <a:spcPct val="115000"/>
              </a:lnSpc>
              <a:spcAft>
                <a:spcPts val="500"/>
              </a:spcAft>
              <a:buNone/>
            </a:pPr>
            <a:r>
              <a:rPr lang="en-US" sz="1800" dirty="0">
                <a:solidFill>
                  <a:srgbClr val="3D3D3A"/>
                </a:solidFill>
              </a:rPr>
              <a:t>URL</a:t>
            </a:r>
            <a:endParaRPr lang="en-US" sz="1500" dirty="0"/>
          </a:p>
        </p:txBody>
      </p:sp>
      <p:sp>
        <p:nvSpPr>
          <p:cNvPr id="8" name="card"/>
          <p:cNvSpPr/>
          <p:nvPr/>
        </p:nvSpPr>
        <p:spPr>
          <a:xfrm>
            <a:off x="8061960" y="1581912"/>
            <a:ext cx="3477768" cy="2560320"/>
          </a:xfrm>
          <a:prstGeom prst="roundRect">
            <a:avLst>
              <a:gd name="adj" fmla="val 4286"/>
            </a:avLst>
          </a:prstGeom>
          <a:solidFill>
            <a:schemeClr val="bg2"/>
          </a:solidFill>
          <a:ln/>
        </p:spPr>
      </p:sp>
      <p:sp>
        <p:nvSpPr>
          <p:cNvPr id="9" name="text"/>
          <p:cNvSpPr txBox="1"/>
          <p:nvPr/>
        </p:nvSpPr>
        <p:spPr>
          <a:xfrm>
            <a:off x="8336280" y="1810512"/>
            <a:ext cx="2929128" cy="219456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결과</a:t>
            </a:r>
            <a:endParaRPr lang="en-US" sz="1500" dirty="0"/>
          </a:p>
          <a:p>
            <a:pPr algn="l" indent="0" marL="0">
              <a:lnSpc>
                <a:spcPct val="115000"/>
              </a:lnSpc>
              <a:spcAft>
                <a:spcPts val="500"/>
              </a:spcAft>
              <a:buNone/>
            </a:pPr>
            <a:r>
              <a:rPr lang="en-US" sz="2400" dirty="0">
                <a:solidFill>
                  <a:schemeClr val="accent2"/>
                </a:solidFill>
                <a:latin typeface="JetBrains Mono" pitchFamily="34" charset="0"/>
                <a:ea typeface="JetBrains Mono" pitchFamily="34" charset="-122"/>
                <a:cs typeface="JetBrains Mono" pitchFamily="34" charset="-120"/>
              </a:rPr>
              <a:t>204 No Content</a:t>
            </a:r>
            <a:endParaRPr lang="en-US" sz="1500" dirty="0"/>
          </a:p>
          <a:p>
            <a:pPr algn="l" indent="0" marL="0">
              <a:lnSpc>
                <a:spcPct val="115000"/>
              </a:lnSpc>
              <a:spcAft>
                <a:spcPts val="500"/>
              </a:spcAft>
              <a:buNone/>
            </a:pPr>
            <a:r>
              <a:rPr lang="en-US" sz="1800" dirty="0">
                <a:solidFill>
                  <a:srgbClr val="3D3D3A"/>
                </a:solidFill>
              </a:rPr>
              <a:t>상태 코드</a:t>
            </a:r>
            <a:endParaRPr lang="en-US" sz="1500" dirty="0"/>
          </a:p>
        </p:txBody>
      </p:sp>
      <p:sp>
        <p:nvSpPr>
          <p:cNvPr id="10" name="code-inline"/>
          <p:cNvSpPr/>
          <p:nvPr/>
        </p:nvSpPr>
        <p:spPr>
          <a:xfrm>
            <a:off x="649224" y="4370832"/>
            <a:ext cx="10890504" cy="683768"/>
          </a:xfrm>
          <a:prstGeom prst="roundRect">
            <a:avLst>
              <a:gd name="adj" fmla="val 16048"/>
            </a:avLst>
          </a:prstGeom>
          <a:solidFill>
            <a:schemeClr val="bg2"/>
          </a:solidFill>
          <a:ln/>
        </p:spPr>
      </p:sp>
      <p:sp>
        <p:nvSpPr>
          <p:cNvPr id="11" name="text"/>
          <p:cNvSpPr txBox="1"/>
          <p:nvPr/>
        </p:nvSpPr>
        <p:spPr>
          <a:xfrm>
            <a:off x="877824" y="4370832"/>
            <a:ext cx="10433304" cy="683768"/>
          </a:xfrm>
          <a:prstGeom prst="rect">
            <a:avLst/>
          </a:prstGeom>
          <a:noFill/>
          <a:ln/>
        </p:spPr>
        <p:txBody>
          <a:bodyPr wrap="square" lIns="0" tIns="0" rIns="0" bIns="0" rtlCol="0" anchor="ctr"/>
          <a:lstStyle/>
          <a:p>
            <a:pPr algn="l" indent="0" marL="0">
              <a:lnSpc>
                <a:spcPct val="100000"/>
              </a:lnSpc>
              <a:buNone/>
            </a:pPr>
            <a:r>
              <a:rPr lang="en-US" sz="2200" dirty="0">
                <a:solidFill>
                  <a:schemeClr val="tx1"/>
                </a:solidFill>
              </a:rPr>
              <a:t>읽는 법: “42번 글을 지웠고, 잘 끝났다”</a:t>
            </a:r>
            <a:endParaRPr lang="en-US" sz="22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01 · URL</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URL에 동사를 넣으면 생기는 두 가지 문제</a:t>
            </a:r>
            <a:endParaRPr lang="en-US" sz="3200" dirty="0"/>
          </a:p>
        </p:txBody>
      </p:sp>
      <p:sp>
        <p:nvSpPr>
          <p:cNvPr id="4" name="code-window"/>
          <p:cNvSpPr/>
          <p:nvPr/>
        </p:nvSpPr>
        <p:spPr>
          <a:xfrm>
            <a:off x="649224" y="1581912"/>
            <a:ext cx="5330952" cy="3160395"/>
          </a:xfrm>
          <a:prstGeom prst="roundRect">
            <a:avLst>
              <a:gd name="adj" fmla="val 3472"/>
            </a:avLst>
          </a:prstGeom>
          <a:solidFill>
            <a:schemeClr val="tx2"/>
          </a:solidFill>
          <a:ln/>
        </p:spPr>
      </p:sp>
      <p:sp>
        <p:nvSpPr>
          <p:cNvPr id="5" name="code-window-dot"/>
          <p:cNvSpPr/>
          <p:nvPr/>
        </p:nvSpPr>
        <p:spPr>
          <a:xfrm>
            <a:off x="850392" y="1728216"/>
            <a:ext cx="100584" cy="100584"/>
          </a:xfrm>
          <a:prstGeom prst="ellipse">
            <a:avLst/>
          </a:prstGeom>
          <a:solidFill>
            <a:srgbClr val="4A4844"/>
          </a:solidFill>
          <a:ln/>
        </p:spPr>
      </p:sp>
      <p:sp>
        <p:nvSpPr>
          <p:cNvPr id="6" name="code-window-dot"/>
          <p:cNvSpPr/>
          <p:nvPr/>
        </p:nvSpPr>
        <p:spPr>
          <a:xfrm>
            <a:off x="1024128" y="1728216"/>
            <a:ext cx="100584" cy="100584"/>
          </a:xfrm>
          <a:prstGeom prst="ellipse">
            <a:avLst/>
          </a:prstGeom>
          <a:solidFill>
            <a:srgbClr val="4A4844"/>
          </a:solidFill>
          <a:ln/>
        </p:spPr>
      </p:sp>
      <p:sp>
        <p:nvSpPr>
          <p:cNvPr id="7" name="code-window-dot"/>
          <p:cNvSpPr/>
          <p:nvPr/>
        </p:nvSpPr>
        <p:spPr>
          <a:xfrm>
            <a:off x="1197864" y="1728216"/>
            <a:ext cx="100584" cy="100584"/>
          </a:xfrm>
          <a:prstGeom prst="ellipse">
            <a:avLst/>
          </a:prstGeom>
          <a:solidFill>
            <a:srgbClr val="4A4844"/>
          </a:solidFill>
          <a:ln/>
        </p:spPr>
      </p:sp>
      <p:sp>
        <p:nvSpPr>
          <p:cNvPr id="8" name="code-window-label"/>
          <p:cNvSpPr txBox="1"/>
          <p:nvPr/>
        </p:nvSpPr>
        <p:spPr>
          <a:xfrm>
            <a:off x="1472184"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1. 기능마다 주소가 늘어난다 (42번 글 하나)</a:t>
            </a:r>
            <a:endParaRPr lang="en-US" sz="1100" dirty="0"/>
          </a:p>
        </p:txBody>
      </p:sp>
      <p:sp>
        <p:nvSpPr>
          <p:cNvPr id="9" name="code-window-text"/>
          <p:cNvSpPr txBox="1"/>
          <p:nvPr/>
        </p:nvSpPr>
        <p:spPr>
          <a:xfrm>
            <a:off x="905256" y="2020824"/>
            <a:ext cx="4873752" cy="2611755"/>
          </a:xfrm>
          <a:prstGeom prst="rect">
            <a:avLst/>
          </a:prstGeom>
          <a:noFill/>
          <a:ln/>
        </p:spPr>
        <p:txBody>
          <a:bodyPr wrap="square" lIns="0" tIns="0" rIns="0" bIns="0" rtlCol="0" anchor="t"/>
          <a:lstStyle/>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GET  /getPost?id=42</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POST /updatePost?id=42</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POST /deletePost?id=42</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POST /updatePostTitle?id=42</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algn="l" indent="0" marL="0">
              <a:lnSpc>
                <a:spcPct val="105000"/>
              </a:lnSpc>
              <a:buNone/>
            </a:pPr>
            <a:r>
              <a:rPr lang="en-US" sz="1700" dirty="0">
                <a:solidFill>
                  <a:srgbClr val="A09D96"/>
                </a:solidFill>
                <a:latin typeface="JetBrains Mono" pitchFamily="34" charset="0"/>
                <a:ea typeface="JetBrains Mono" pitchFamily="34" charset="-122"/>
                <a:cs typeface="JetBrains Mono" pitchFamily="34" charset="-120"/>
              </a:rPr>
              <a:t>REST: 주소는 하나, 메서드만 바뀜</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/posts/42</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PATCH  /posts/42</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DELETE /posts/42</a:t>
            </a:r>
            <a:endParaRPr lang="en-US" sz="1700" dirty="0"/>
          </a:p>
        </p:txBody>
      </p:sp>
      <p:sp>
        <p:nvSpPr>
          <p:cNvPr id="10" name="code-window"/>
          <p:cNvSpPr/>
          <p:nvPr/>
        </p:nvSpPr>
        <p:spPr>
          <a:xfrm>
            <a:off x="6208776" y="1581912"/>
            <a:ext cx="5330952" cy="3160395"/>
          </a:xfrm>
          <a:prstGeom prst="roundRect">
            <a:avLst>
              <a:gd name="adj" fmla="val 3472"/>
            </a:avLst>
          </a:prstGeom>
          <a:solidFill>
            <a:schemeClr val="tx2"/>
          </a:solidFill>
          <a:ln/>
        </p:spPr>
      </p:sp>
      <p:sp>
        <p:nvSpPr>
          <p:cNvPr id="11" name="code-window-dot"/>
          <p:cNvSpPr/>
          <p:nvPr/>
        </p:nvSpPr>
        <p:spPr>
          <a:xfrm>
            <a:off x="6409944" y="1728216"/>
            <a:ext cx="100584" cy="100584"/>
          </a:xfrm>
          <a:prstGeom prst="ellipse">
            <a:avLst/>
          </a:prstGeom>
          <a:solidFill>
            <a:srgbClr val="4A4844"/>
          </a:solidFill>
          <a:ln/>
        </p:spPr>
      </p:sp>
      <p:sp>
        <p:nvSpPr>
          <p:cNvPr id="12" name="code-window-dot"/>
          <p:cNvSpPr/>
          <p:nvPr/>
        </p:nvSpPr>
        <p:spPr>
          <a:xfrm>
            <a:off x="6583680" y="1728216"/>
            <a:ext cx="100584" cy="100584"/>
          </a:xfrm>
          <a:prstGeom prst="ellipse">
            <a:avLst/>
          </a:prstGeom>
          <a:solidFill>
            <a:srgbClr val="4A4844"/>
          </a:solidFill>
          <a:ln/>
        </p:spPr>
      </p:sp>
      <p:sp>
        <p:nvSpPr>
          <p:cNvPr id="13" name="code-window-dot"/>
          <p:cNvSpPr/>
          <p:nvPr/>
        </p:nvSpPr>
        <p:spPr>
          <a:xfrm>
            <a:off x="6757416" y="1728216"/>
            <a:ext cx="100584" cy="100584"/>
          </a:xfrm>
          <a:prstGeom prst="ellipse">
            <a:avLst/>
          </a:prstGeom>
          <a:solidFill>
            <a:srgbClr val="4A4844"/>
          </a:solidFill>
          <a:ln/>
        </p:spPr>
      </p:sp>
      <p:sp>
        <p:nvSpPr>
          <p:cNvPr id="14" name="code-window-label"/>
          <p:cNvSpPr txBox="1"/>
          <p:nvPr/>
        </p:nvSpPr>
        <p:spPr>
          <a:xfrm>
            <a:off x="7031736"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2. 이름이 사람마다 다르다 (같은 '하나 조회')</a:t>
            </a:r>
            <a:endParaRPr lang="en-US" sz="1100" dirty="0"/>
          </a:p>
        </p:txBody>
      </p:sp>
      <p:sp>
        <p:nvSpPr>
          <p:cNvPr id="15" name="code-window-text"/>
          <p:cNvSpPr txBox="1"/>
          <p:nvPr/>
        </p:nvSpPr>
        <p:spPr>
          <a:xfrm>
            <a:off x="6464808" y="2020824"/>
            <a:ext cx="4873752" cy="2611755"/>
          </a:xfrm>
          <a:prstGeom prst="rect">
            <a:avLst/>
          </a:prstGeom>
          <a:noFill/>
          <a:ln/>
        </p:spPr>
        <p:txBody>
          <a:bodyPr wrap="square" lIns="0" tIns="0" rIns="0" bIns="0" rtlCol="0" anchor="t"/>
          <a:lstStyle/>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A  /getPost?id=42</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B  /fetchComment?no=7</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C  /selectMember.do?mid=3</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algn="l" indent="0" marL="0">
              <a:lnSpc>
                <a:spcPct val="105000"/>
              </a:lnSpc>
              <a:buNone/>
            </a:pPr>
            <a:r>
              <a:rPr lang="en-US" sz="1700" dirty="0">
                <a:solidFill>
                  <a:srgbClr val="A09D96"/>
                </a:solidFill>
                <a:latin typeface="JetBrains Mono" pitchFamily="34" charset="0"/>
                <a:ea typeface="JetBrains Mono" pitchFamily="34" charset="-122"/>
                <a:cs typeface="JetBrains Mono" pitchFamily="34" charset="-120"/>
              </a:rPr>
              <a:t>REST: 누가 만들어도 같은 모양</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/posts/42</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/comments/7</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/members/3</a:t>
            </a:r>
            <a:endParaRPr lang="en-US" sz="1700" dirty="0"/>
          </a:p>
        </p:txBody>
      </p:sp>
      <p:sp>
        <p:nvSpPr>
          <p:cNvPr id="16" name="callout-coral"/>
          <p:cNvSpPr/>
          <p:nvPr/>
        </p:nvSpPr>
        <p:spPr>
          <a:xfrm>
            <a:off x="649224" y="4970907"/>
            <a:ext cx="10890504" cy="868680"/>
          </a:xfrm>
          <a:prstGeom prst="roundRect">
            <a:avLst>
              <a:gd name="adj" fmla="val 12632"/>
            </a:avLst>
          </a:prstGeom>
          <a:solidFill>
            <a:schemeClr val="accent1"/>
          </a:solidFill>
          <a:ln/>
        </p:spPr>
      </p:sp>
      <p:sp>
        <p:nvSpPr>
          <p:cNvPr id="17" name="text"/>
          <p:cNvSpPr txBox="1"/>
          <p:nvPr/>
        </p:nvSpPr>
        <p:spPr>
          <a:xfrm>
            <a:off x="1014984" y="4970907"/>
            <a:ext cx="10158984" cy="868680"/>
          </a:xfrm>
          <a:prstGeom prst="rect">
            <a:avLst/>
          </a:prstGeom>
          <a:noFill/>
          <a:ln/>
        </p:spPr>
        <p:txBody>
          <a:bodyPr wrap="square" lIns="0" tIns="0" rIns="0" bIns="0" rtlCol="0" anchor="ctr"/>
          <a:lstStyle/>
          <a:p>
            <a:pPr algn="l" indent="0" marL="0">
              <a:lnSpc>
                <a:spcPct val="115000"/>
              </a:lnSpc>
              <a:spcAft>
                <a:spcPts val="600"/>
              </a:spcAft>
              <a:buNone/>
            </a:pPr>
            <a:r>
              <a:rPr lang="en-US" sz="2200" b="1" dirty="0">
                <a:solidFill>
                  <a:schemeClr val="tx1"/>
                </a:solidFill>
              </a:rPr>
              <a:t>행동은 HTTP 메서드가 맡고, URL은 명사로 자원만 가리킨다</a:t>
            </a:r>
            <a:endParaRPr lang="en-US" sz="22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01 · URL</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동사 URL을 메서드 + 명사 URL로</a:t>
            </a:r>
            <a:endParaRPr lang="en-US" sz="32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2104887"/>
                <a:gridCol w="5124943"/>
                <a:gridCol w="3660674"/>
              </a:tblGrid>
              <a:tr h="475488">
                <a:tc>
                  <a:txBody>
                    <a:bodyPr/>
                    <a:lstStyle/>
                    <a:p>
                      <a:pPr indent="0" marL="0">
                        <a:buNone/>
                      </a:pPr>
                      <a:r>
                        <a:rPr lang="en-US" sz="1200" dirty="0">
                          <a:solidFill>
                            <a:schemeClr val="accent3"/>
                          </a:solidFill>
                        </a:rPr>
                        <a:t>하는 일</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동사가 들어간 URL</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메서드 + 명사 URL</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500" dirty="0">
                          <a:solidFill>
                            <a:schemeClr val="tx1"/>
                          </a:solidFill>
                        </a:rPr>
                        <a:t>글 목록 조회</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GET  /getPosts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GET    /posts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글 작성</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POST /createPost</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POST   /posts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42번 글 조회</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GET  /getPost?id=42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GET    /posts/42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42번 글 수정</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POST /updatePost?id=42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PATCH  /posts/42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42번 글 삭제</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GET  /deletePost?id=42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DELETE /posts/42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42번 글의 댓글 조회</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GET  /getCommentsByPostId?postId=42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GET    /posts/42/comments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text"/>
          <p:cNvSpPr txBox="1"/>
          <p:nvPr/>
        </p:nvSpPr>
        <p:spPr>
          <a:xfrm>
            <a:off x="649224" y="5184648"/>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rPr>
              <a:t>GET으로 삭제하면 안 된다  </a:t>
            </a:r>
            <a:pPr algn="l" indent="0" marL="0">
              <a:lnSpc>
                <a:spcPct val="115000"/>
              </a:lnSpc>
              <a:spcAft>
                <a:spcPts val="600"/>
              </a:spcAft>
              <a:buNone/>
            </a:pPr>
            <a:r>
              <a:rPr lang="en-US" sz="1800" dirty="0">
                <a:solidFill>
                  <a:srgbClr val="3D3D3A"/>
                </a:solidFill>
              </a:rPr>
              <a:t>크롤러 · 링크 미리보기는 사용자가 누르지 않아도 GET을 보낸다 → 공유만 해도 지워질 수 있다</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01 · URL</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명사 URL은 계층으로, 보여 주는 방식은 쿼리로</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5674044"/>
                <a:gridCol w="5216460"/>
              </a:tblGrid>
              <a:tr h="411480">
                <a:tc>
                  <a:txBody>
                    <a:bodyPr/>
                    <a:lstStyle/>
                    <a:p>
                      <a:pPr indent="0" marL="0">
                        <a:buNone/>
                      </a:pPr>
                      <a:r>
                        <a:rPr lang="en-US" sz="1300" dirty="0">
                          <a:solidFill>
                            <a:schemeClr val="accent3"/>
                          </a:solidFill>
                        </a:rPr>
                        <a:t>주소</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뜻</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/api/v1/posts</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글 목록 (복수형 명사)</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/api/v1/posts/42</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42번 글 하나</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/api/v1/posts/42/comments</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42번 글의 댓글 목록</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/api/v1/posts/42/comments/7</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그중 7번 댓글 (관계는 자원 두 개까지)</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/api/v1/members/me</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나 (로그인한 회원)</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card"/>
          <p:cNvSpPr/>
          <p:nvPr/>
        </p:nvSpPr>
        <p:spPr>
          <a:xfrm>
            <a:off x="649224" y="4325112"/>
            <a:ext cx="5330952" cy="1143000"/>
          </a:xfrm>
          <a:prstGeom prst="roundRect">
            <a:avLst>
              <a:gd name="adj" fmla="val 9600"/>
            </a:avLst>
          </a:prstGeom>
          <a:solidFill>
            <a:schemeClr val="bg2"/>
          </a:solidFill>
          <a:ln/>
        </p:spPr>
      </p:sp>
      <p:sp>
        <p:nvSpPr>
          <p:cNvPr id="6" name="text"/>
          <p:cNvSpPr txBox="1"/>
          <p:nvPr/>
        </p:nvSpPr>
        <p:spPr>
          <a:xfrm>
            <a:off x="923544" y="4553712"/>
            <a:ext cx="4782312" cy="77724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누구냐 → 경로</a:t>
            </a:r>
            <a:endParaRPr lang="en-US" sz="1500" dirty="0"/>
          </a:p>
          <a:p>
            <a:pPr algn="l" indent="0" marL="0">
              <a:lnSpc>
                <a:spcPct val="115000"/>
              </a:lnSpc>
              <a:spcAft>
                <a:spcPts val="500"/>
              </a:spcAft>
              <a:buNone/>
            </a:pPr>
            <a:r>
              <a:rPr lang="en-US" sz="1700" dirty="0">
                <a:solidFill>
                  <a:schemeClr val="accent2"/>
                </a:solidFill>
                <a:latin typeface="JetBrains Mono" pitchFamily="34" charset="0"/>
                <a:ea typeface="JetBrains Mono" pitchFamily="34" charset="-122"/>
                <a:cs typeface="JetBrains Mono" pitchFamily="34" charset="-120"/>
              </a:rPr>
              <a:t>/api/v1/posts/42</a:t>
            </a:r>
            <a:endParaRPr lang="en-US" sz="1500" dirty="0"/>
          </a:p>
        </p:txBody>
      </p:sp>
      <p:sp>
        <p:nvSpPr>
          <p:cNvPr id="7" name="card"/>
          <p:cNvSpPr/>
          <p:nvPr/>
        </p:nvSpPr>
        <p:spPr>
          <a:xfrm>
            <a:off x="6208776" y="4325112"/>
            <a:ext cx="5330952" cy="1143000"/>
          </a:xfrm>
          <a:prstGeom prst="roundRect">
            <a:avLst>
              <a:gd name="adj" fmla="val 9600"/>
            </a:avLst>
          </a:prstGeom>
          <a:solidFill>
            <a:schemeClr val="bg2"/>
          </a:solidFill>
          <a:ln/>
        </p:spPr>
      </p:sp>
      <p:sp>
        <p:nvSpPr>
          <p:cNvPr id="8" name="text"/>
          <p:cNvSpPr txBox="1"/>
          <p:nvPr/>
        </p:nvSpPr>
        <p:spPr>
          <a:xfrm>
            <a:off x="6483096" y="4553712"/>
            <a:ext cx="4782312" cy="77724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어떻게 보여 줄까 → 쿼리 (? 뒤)</a:t>
            </a:r>
            <a:endParaRPr lang="en-US" sz="1500" dirty="0"/>
          </a:p>
          <a:p>
            <a:pPr algn="l" indent="0" marL="0">
              <a:lnSpc>
                <a:spcPct val="115000"/>
              </a:lnSpc>
              <a:spcAft>
                <a:spcPts val="500"/>
              </a:spcAft>
              <a:buNone/>
            </a:pPr>
            <a:r>
              <a:rPr lang="en-US" sz="1400" dirty="0">
                <a:solidFill>
                  <a:schemeClr val="accent2"/>
                </a:solidFill>
                <a:latin typeface="JetBrains Mono" pitchFamily="34" charset="0"/>
                <a:ea typeface="JetBrains Mono" pitchFamily="34" charset="-122"/>
                <a:cs typeface="JetBrains Mono" pitchFamily="34" charset="-120"/>
              </a:rPr>
              <a:t>/api/v1/posts?sort=createdAt,desc&amp;size=20</a:t>
            </a:r>
            <a:endParaRPr lang="en-US" sz="1500" dirty="0"/>
          </a:p>
        </p:txBody>
      </p:sp>
      <p:sp>
        <p:nvSpPr>
          <p:cNvPr id="9" name="text"/>
          <p:cNvSpPr txBox="1"/>
          <p:nvPr/>
        </p:nvSpPr>
        <p:spPr>
          <a:xfrm>
            <a:off x="649224" y="5696712"/>
            <a:ext cx="10890504" cy="624840"/>
          </a:xfrm>
          <a:prstGeom prst="rect">
            <a:avLst/>
          </a:prstGeom>
          <a:noFill/>
          <a:ln/>
        </p:spPr>
        <p:txBody>
          <a:bodyPr wrap="square" lIns="0" tIns="0" rIns="0" bIns="0" rtlCol="0" anchor="t"/>
          <a:lstStyle/>
          <a:p>
            <a:pPr algn="l" indent="0" marL="0">
              <a:lnSpc>
                <a:spcPct val="115000"/>
              </a:lnSpc>
              <a:spcAft>
                <a:spcPts val="400"/>
              </a:spcAft>
              <a:buNone/>
            </a:pPr>
            <a:r>
              <a:rPr lang="en-US" sz="1600" b="1" dirty="0">
                <a:solidFill>
                  <a:srgbClr val="3D3D3A"/>
                </a:solidFill>
              </a:rPr>
              <a:t>피하기  </a:t>
            </a:r>
            <a:pPr algn="l" indent="0" marL="0">
              <a:lnSpc>
                <a:spcPct val="115000"/>
              </a:lnSpc>
              <a:spcAft>
                <a:spcPts val="400"/>
              </a:spcAft>
              <a:buNone/>
            </a:pPr>
            <a:r>
              <a:rPr lang="en-US" sz="1600" dirty="0">
                <a:solidFill>
                  <a:schemeClr val="accent6"/>
                </a:solidFill>
                <a:latin typeface="JetBrains Mono" pitchFamily="34" charset="0"/>
                <a:ea typeface="JetBrains Mono" pitchFamily="34" charset="-122"/>
                <a:cs typeface="JetBrains Mono" pitchFamily="34" charset="-120"/>
              </a:rPr>
              <a:t>/members/{memberId}/posts/{postId}/comments/{commentId}</a:t>
            </a:r>
            <a:pPr algn="l" indent="0" marL="0">
              <a:lnSpc>
                <a:spcPct val="115000"/>
              </a:lnSpc>
              <a:spcAft>
                <a:spcPts val="400"/>
              </a:spcAft>
              <a:buNone/>
            </a:pPr>
            <a:r>
              <a:rPr lang="en-US" sz="1600" dirty="0">
                <a:solidFill>
                  <a:srgbClr val="3D3D3A"/>
                </a:solidFill>
              </a:rPr>
              <a:t>  id 세 개를 모두 알아야 호출</a:t>
            </a:r>
            <a:endParaRPr lang="en-US" sz="1600" dirty="0"/>
          </a:p>
          <a:p>
            <a:pPr algn="l" indent="0" marL="0">
              <a:lnSpc>
                <a:spcPct val="115000"/>
              </a:lnSpc>
              <a:spcAft>
                <a:spcPts val="400"/>
              </a:spcAft>
              <a:buNone/>
            </a:pPr>
            <a:r>
              <a:rPr lang="en-US" sz="1600" b="1" dirty="0">
                <a:solidFill>
                  <a:srgbClr val="3D3D3A"/>
                </a:solidFill>
              </a:rPr>
              <a:t>소문자 + 하이픈  </a:t>
            </a:r>
            <a:pPr algn="l" indent="0" marL="0">
              <a:lnSpc>
                <a:spcPct val="115000"/>
              </a:lnSpc>
              <a:spcAft>
                <a:spcPts val="400"/>
              </a:spcAft>
              <a:buNone/>
            </a:pPr>
            <a:r>
              <a:rPr lang="en-US" sz="1600" dirty="0">
                <a:solidFill>
                  <a:srgbClr val="3D3D3A"/>
                </a:solidFill>
                <a:latin typeface="JetBrains Mono" pitchFamily="34" charset="0"/>
                <a:ea typeface="JetBrains Mono" pitchFamily="34" charset="-122"/>
                <a:cs typeface="JetBrains Mono" pitchFamily="34" charset="-120"/>
              </a:rPr>
              <a:t>/blog-categories</a:t>
            </a:r>
            <a:pPr algn="l" indent="0" marL="0">
              <a:lnSpc>
                <a:spcPct val="115000"/>
              </a:lnSpc>
              <a:spcAft>
                <a:spcPts val="400"/>
              </a:spcAft>
              <a:buNone/>
            </a:pPr>
            <a:r>
              <a:rPr lang="en-US" sz="1600" dirty="0">
                <a:solidFill>
                  <a:srgbClr val="3D3D3A"/>
                </a:solidFill>
              </a:rPr>
              <a:t>   ·   </a:t>
            </a:r>
            <a:pPr algn="l" indent="0" marL="0">
              <a:lnSpc>
                <a:spcPct val="115000"/>
              </a:lnSpc>
              <a:spcAft>
                <a:spcPts val="400"/>
              </a:spcAft>
              <a:buNone/>
            </a:pPr>
            <a:r>
              <a:rPr lang="en-US" sz="1600" dirty="0">
                <a:solidFill>
                  <a:srgbClr val="3D3D3A"/>
                </a:solidFill>
                <a:latin typeface="JetBrains Mono" pitchFamily="34" charset="0"/>
                <a:ea typeface="JetBrains Mono" pitchFamily="34" charset="-122"/>
                <a:cs typeface="JetBrains Mono" pitchFamily="34" charset="-120"/>
              </a:rPr>
              <a:t>/api/v1</a:t>
            </a:r>
            <a:pPr algn="l" indent="0" marL="0">
              <a:lnSpc>
                <a:spcPct val="115000"/>
              </a:lnSpc>
              <a:spcAft>
                <a:spcPts val="400"/>
              </a:spcAft>
              <a:buNone/>
            </a:pPr>
            <a:r>
              <a:rPr lang="en-US" sz="1600" dirty="0">
                <a:solidFill>
                  <a:srgbClr val="3D3D3A"/>
                </a:solidFill>
              </a:rPr>
              <a:t> = 버전 (구조가 바뀌면 /api/v2를 따로 연다)</a:t>
            </a:r>
            <a:endParaRPr lang="en-US" sz="16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METHOD</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같은 42번 글에 메서드만 바꾸면</a:t>
            </a:r>
            <a:endParaRPr lang="en-US" sz="32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1098202"/>
                <a:gridCol w="4941909"/>
                <a:gridCol w="1921854"/>
                <a:gridCol w="2928539"/>
              </a:tblGrid>
              <a:tr h="603504">
                <a:tc>
                  <a:txBody>
                    <a:bodyPr/>
                    <a:lstStyle/>
                    <a:p>
                      <a:pPr indent="0" marL="0">
                        <a:buNone/>
                      </a:pPr>
                      <a:r>
                        <a:rPr lang="en-US" sz="1100" dirty="0">
                          <a:solidFill>
                            <a:schemeClr val="accent3"/>
                          </a:solidFill>
                        </a:rPr>
                        <a:t>메서드</a:t>
                      </a:r>
                      <a:endParaRPr lang="en-US" sz="11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100" dirty="0">
                          <a:solidFill>
                            <a:schemeClr val="accent3"/>
                          </a:solidFill>
                        </a:rPr>
                        <a:t>요청</a:t>
                      </a:r>
                      <a:endParaRPr lang="en-US" sz="11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100" dirty="0">
                          <a:solidFill>
                            <a:schemeClr val="accent3"/>
                          </a:solidFill>
                        </a:rPr>
                        <a:t>결과</a:t>
                      </a:r>
                      <a:endParaRPr lang="en-US" sz="11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100" dirty="0">
                          <a:solidFill>
                            <a:schemeClr val="accent3"/>
                          </a:solidFill>
                        </a:rPr>
                        <a:t>전 → 후</a:t>
                      </a:r>
                      <a:endParaRPr lang="en-US" sz="11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603504">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GET</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GET /posts/42</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읽기만 한다</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데이터는 그대로</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603504">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POST</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POST /posts  {"title": "부산 맛집"}</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새로 만든다</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41, 42 → 41, 42, 43 (201 + 새 글 주소)</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603504">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PUT</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PUT /posts/42  {"title": "제주 여행 후기"}</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통째로 교체한다</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제목 바뀜, 본문은 비어 있음</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603504">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PATCH</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PATCH /posts/42  {"title": "제주 여행 후기"}</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보낸 칸만 고친다</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제목만 바뀜, 본문은 그대로</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603504">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DELETE</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DELETE /posts/42</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지운다</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42번 글 없음 (204 No Content)</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text"/>
          <p:cNvSpPr txBox="1"/>
          <p:nvPr/>
        </p:nvSpPr>
        <p:spPr>
          <a:xfrm>
            <a:off x="649224" y="5477256"/>
            <a:ext cx="10890504" cy="71628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rPr>
              <a:t>멱등  </a:t>
            </a:r>
            <a:pPr algn="l" indent="0" marL="0">
              <a:lnSpc>
                <a:spcPct val="115000"/>
              </a:lnSpc>
              <a:spcAft>
                <a:spcPts val="600"/>
              </a:spcAft>
              <a:buNone/>
            </a:pPr>
            <a:r>
              <a:rPr lang="en-US" sz="1800" dirty="0">
                <a:solidFill>
                  <a:srgbClr val="3D3D3A"/>
                </a:solidFill>
              </a:rPr>
              <a:t>GET · PUT · DELETE는 여러 번 보내도 결과가 같고, POST는 보낼 때마다 하나씩 생긴다</a:t>
            </a:r>
            <a:endParaRPr lang="en-US" sz="1800" dirty="0"/>
          </a:p>
          <a:p>
            <a:pPr algn="l" indent="0" marL="0">
              <a:lnSpc>
                <a:spcPct val="115000"/>
              </a:lnSpc>
              <a:spcAft>
                <a:spcPts val="600"/>
              </a:spcAft>
              <a:buNone/>
            </a:pPr>
            <a:r>
              <a:rPr lang="en-US" sz="1800" b="1" dirty="0">
                <a:solidFill>
                  <a:srgbClr val="3D3D3A"/>
                </a:solidFill>
              </a:rPr>
              <a:t>그래서  </a:t>
            </a:r>
            <a:pPr algn="l" indent="0" marL="0">
              <a:lnSpc>
                <a:spcPct val="115000"/>
              </a:lnSpc>
              <a:spcAft>
                <a:spcPts val="600"/>
              </a:spcAft>
              <a:buNone/>
            </a:pPr>
            <a:r>
              <a:rPr lang="en-US" sz="1800" dirty="0">
                <a:solidFill>
                  <a:srgbClr val="3D3D3A"/>
                </a:solidFill>
              </a:rPr>
              <a:t>글쓰기 버튼은 한 번 누르면 막아 두고, 결제처럼 중요한 POST는 중복 요청을 막는다</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STATUS CODE</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결과는 상태 코드로</a:t>
            </a:r>
            <a:endParaRPr lang="en-US" sz="3200" dirty="0"/>
          </a:p>
        </p:txBody>
      </p:sp>
      <p:sp>
        <p:nvSpPr>
          <p:cNvPr id="4" name="card"/>
          <p:cNvSpPr/>
          <p:nvPr/>
        </p:nvSpPr>
        <p:spPr>
          <a:xfrm>
            <a:off x="649224" y="1581912"/>
            <a:ext cx="2551176" cy="2468880"/>
          </a:xfrm>
          <a:prstGeom prst="roundRect">
            <a:avLst>
              <a:gd name="adj" fmla="val 4444"/>
            </a:avLst>
          </a:prstGeom>
          <a:solidFill>
            <a:schemeClr val="bg2"/>
          </a:solidFill>
          <a:ln/>
        </p:spPr>
      </p:sp>
      <p:sp>
        <p:nvSpPr>
          <p:cNvPr id="5" name="text"/>
          <p:cNvSpPr txBox="1"/>
          <p:nvPr/>
        </p:nvSpPr>
        <p:spPr>
          <a:xfrm>
            <a:off x="923544" y="1810512"/>
            <a:ext cx="2002536" cy="21031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성공</a:t>
            </a:r>
            <a:endParaRPr lang="en-US" sz="1500" dirty="0"/>
          </a:p>
          <a:p>
            <a:pPr algn="l" indent="0" marL="0">
              <a:lnSpc>
                <a:spcPct val="115000"/>
              </a:lnSpc>
              <a:spcAft>
                <a:spcPts val="500"/>
              </a:spcAft>
              <a:buNone/>
            </a:pPr>
            <a:r>
              <a:rPr lang="en-US" sz="2800" b="1" dirty="0">
                <a:solidFill>
                  <a:schemeClr val="tx1"/>
                </a:solidFill>
              </a:rPr>
              <a:t>2xx</a:t>
            </a:r>
            <a:endParaRPr lang="en-US" sz="1500" dirty="0"/>
          </a:p>
          <a:p>
            <a:pPr algn="l" indent="0" marL="0">
              <a:lnSpc>
                <a:spcPct val="115000"/>
              </a:lnSpc>
              <a:spcAft>
                <a:spcPts val="500"/>
              </a:spcAft>
              <a:buNone/>
            </a:pPr>
            <a:r>
              <a:rPr lang="en-US" sz="1300" dirty="0">
                <a:solidFill>
                  <a:schemeClr val="accent2"/>
                </a:solidFill>
                <a:latin typeface="JetBrains Mono" pitchFamily="34" charset="0"/>
                <a:ea typeface="JetBrains Mono" pitchFamily="34" charset="-122"/>
                <a:cs typeface="JetBrains Mono" pitchFamily="34" charset="-120"/>
              </a:rPr>
              <a:t>200 · 201 · 204</a:t>
            </a:r>
            <a:endParaRPr lang="en-US" sz="1500" dirty="0"/>
          </a:p>
          <a:p>
            <a:pPr algn="l" indent="0" marL="0">
              <a:lnSpc>
                <a:spcPct val="115000"/>
              </a:lnSpc>
              <a:spcAft>
                <a:spcPts val="500"/>
              </a:spcAft>
              <a:buNone/>
            </a:pPr>
            <a:r>
              <a:rPr lang="en-US" sz="1500" dirty="0">
                <a:solidFill>
                  <a:srgbClr val="3D3D3A"/>
                </a:solidFill>
              </a:rPr>
              <a:t>요청한 작업이 처리됨</a:t>
            </a:r>
            <a:endParaRPr lang="en-US" sz="1500" dirty="0"/>
          </a:p>
        </p:txBody>
      </p:sp>
      <p:sp>
        <p:nvSpPr>
          <p:cNvPr id="6" name="card"/>
          <p:cNvSpPr/>
          <p:nvPr/>
        </p:nvSpPr>
        <p:spPr>
          <a:xfrm>
            <a:off x="3429000" y="1581912"/>
            <a:ext cx="2551176" cy="2468880"/>
          </a:xfrm>
          <a:prstGeom prst="roundRect">
            <a:avLst>
              <a:gd name="adj" fmla="val 4444"/>
            </a:avLst>
          </a:prstGeom>
          <a:solidFill>
            <a:schemeClr val="bg2"/>
          </a:solidFill>
          <a:ln/>
        </p:spPr>
      </p:sp>
      <p:sp>
        <p:nvSpPr>
          <p:cNvPr id="7" name="text"/>
          <p:cNvSpPr txBox="1"/>
          <p:nvPr/>
        </p:nvSpPr>
        <p:spPr>
          <a:xfrm>
            <a:off x="3703320" y="1810512"/>
            <a:ext cx="2002536" cy="21031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리다이렉트</a:t>
            </a:r>
            <a:endParaRPr lang="en-US" sz="1500" dirty="0"/>
          </a:p>
          <a:p>
            <a:pPr algn="l" indent="0" marL="0">
              <a:lnSpc>
                <a:spcPct val="115000"/>
              </a:lnSpc>
              <a:spcAft>
                <a:spcPts val="500"/>
              </a:spcAft>
              <a:buNone/>
            </a:pPr>
            <a:r>
              <a:rPr lang="en-US" sz="2800" b="1" dirty="0">
                <a:solidFill>
                  <a:schemeClr val="tx1"/>
                </a:solidFill>
              </a:rPr>
              <a:t>3xx</a:t>
            </a:r>
            <a:endParaRPr lang="en-US" sz="1500" dirty="0"/>
          </a:p>
          <a:p>
            <a:pPr algn="l" indent="0" marL="0">
              <a:lnSpc>
                <a:spcPct val="115000"/>
              </a:lnSpc>
              <a:spcAft>
                <a:spcPts val="500"/>
              </a:spcAft>
              <a:buNone/>
            </a:pPr>
            <a:r>
              <a:rPr lang="en-US" sz="1300" dirty="0">
                <a:solidFill>
                  <a:schemeClr val="accent2"/>
                </a:solidFill>
                <a:latin typeface="JetBrains Mono" pitchFamily="34" charset="0"/>
                <a:ea typeface="JetBrains Mono" pitchFamily="34" charset="-122"/>
                <a:cs typeface="JetBrains Mono" pitchFamily="34" charset="-120"/>
              </a:rPr>
              <a:t>301 · 302 · 304</a:t>
            </a:r>
            <a:endParaRPr lang="en-US" sz="1500" dirty="0"/>
          </a:p>
          <a:p>
            <a:pPr algn="l" indent="0" marL="0">
              <a:lnSpc>
                <a:spcPct val="115000"/>
              </a:lnSpc>
              <a:spcAft>
                <a:spcPts val="500"/>
              </a:spcAft>
              <a:buNone/>
            </a:pPr>
            <a:r>
              <a:rPr lang="en-US" sz="1500" dirty="0">
                <a:solidFill>
                  <a:srgbClr val="3D3D3A"/>
                </a:solidFill>
              </a:rPr>
              <a:t>다른 주소로 이동 (API에선 드묾)</a:t>
            </a:r>
            <a:endParaRPr lang="en-US" sz="1500" dirty="0"/>
          </a:p>
        </p:txBody>
      </p:sp>
      <p:sp>
        <p:nvSpPr>
          <p:cNvPr id="8" name="card"/>
          <p:cNvSpPr/>
          <p:nvPr/>
        </p:nvSpPr>
        <p:spPr>
          <a:xfrm>
            <a:off x="6208776" y="1581912"/>
            <a:ext cx="2551176" cy="2468880"/>
          </a:xfrm>
          <a:prstGeom prst="roundRect">
            <a:avLst>
              <a:gd name="adj" fmla="val 4444"/>
            </a:avLst>
          </a:prstGeom>
          <a:solidFill>
            <a:schemeClr val="bg2"/>
          </a:solidFill>
          <a:ln/>
        </p:spPr>
      </p:sp>
      <p:sp>
        <p:nvSpPr>
          <p:cNvPr id="9" name="text"/>
          <p:cNvSpPr txBox="1"/>
          <p:nvPr/>
        </p:nvSpPr>
        <p:spPr>
          <a:xfrm>
            <a:off x="6483096" y="1810512"/>
            <a:ext cx="2002536" cy="21031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클라이언트 오류</a:t>
            </a:r>
            <a:endParaRPr lang="en-US" sz="1500" dirty="0"/>
          </a:p>
          <a:p>
            <a:pPr algn="l" indent="0" marL="0">
              <a:lnSpc>
                <a:spcPct val="115000"/>
              </a:lnSpc>
              <a:spcAft>
                <a:spcPts val="500"/>
              </a:spcAft>
              <a:buNone/>
            </a:pPr>
            <a:r>
              <a:rPr lang="en-US" sz="2800" b="1" dirty="0">
                <a:solidFill>
                  <a:schemeClr val="tx1"/>
                </a:solidFill>
              </a:rPr>
              <a:t>4xx</a:t>
            </a:r>
            <a:endParaRPr lang="en-US" sz="1500" dirty="0"/>
          </a:p>
          <a:p>
            <a:pPr algn="l" indent="0" marL="0">
              <a:lnSpc>
                <a:spcPct val="115000"/>
              </a:lnSpc>
              <a:spcAft>
                <a:spcPts val="500"/>
              </a:spcAft>
              <a:buNone/>
            </a:pPr>
            <a:r>
              <a:rPr lang="en-US" sz="1300" dirty="0">
                <a:solidFill>
                  <a:schemeClr val="accent2"/>
                </a:solidFill>
                <a:latin typeface="JetBrains Mono" pitchFamily="34" charset="0"/>
                <a:ea typeface="JetBrains Mono" pitchFamily="34" charset="-122"/>
                <a:cs typeface="JetBrains Mono" pitchFamily="34" charset="-120"/>
              </a:rPr>
              <a:t>400 · 401 · 403 · 404 · 409</a:t>
            </a:r>
            <a:endParaRPr lang="en-US" sz="1500" dirty="0"/>
          </a:p>
          <a:p>
            <a:pPr algn="l" indent="0" marL="0">
              <a:lnSpc>
                <a:spcPct val="115000"/>
              </a:lnSpc>
              <a:spcAft>
                <a:spcPts val="500"/>
              </a:spcAft>
              <a:buNone/>
            </a:pPr>
            <a:r>
              <a:rPr lang="en-US" sz="1500" dirty="0">
                <a:solidFill>
                  <a:srgbClr val="3D3D3A"/>
                </a:solidFill>
              </a:rPr>
              <a:t>요청을 고쳐서 다시 보내야 함</a:t>
            </a:r>
            <a:endParaRPr lang="en-US" sz="1500" dirty="0"/>
          </a:p>
        </p:txBody>
      </p:sp>
      <p:sp>
        <p:nvSpPr>
          <p:cNvPr id="10" name="card"/>
          <p:cNvSpPr/>
          <p:nvPr/>
        </p:nvSpPr>
        <p:spPr>
          <a:xfrm>
            <a:off x="8988552" y="1581912"/>
            <a:ext cx="2551176" cy="2468880"/>
          </a:xfrm>
          <a:prstGeom prst="roundRect">
            <a:avLst>
              <a:gd name="adj" fmla="val 4444"/>
            </a:avLst>
          </a:prstGeom>
          <a:solidFill>
            <a:schemeClr val="bg2"/>
          </a:solidFill>
          <a:ln/>
        </p:spPr>
      </p:sp>
      <p:sp>
        <p:nvSpPr>
          <p:cNvPr id="11" name="text"/>
          <p:cNvSpPr txBox="1"/>
          <p:nvPr/>
        </p:nvSpPr>
        <p:spPr>
          <a:xfrm>
            <a:off x="9262872" y="1810512"/>
            <a:ext cx="2002536" cy="21031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서버 오류</a:t>
            </a:r>
            <a:endParaRPr lang="en-US" sz="1500" dirty="0"/>
          </a:p>
          <a:p>
            <a:pPr algn="l" indent="0" marL="0">
              <a:lnSpc>
                <a:spcPct val="115000"/>
              </a:lnSpc>
              <a:spcAft>
                <a:spcPts val="500"/>
              </a:spcAft>
              <a:buNone/>
            </a:pPr>
            <a:r>
              <a:rPr lang="en-US" sz="2800" b="1" dirty="0">
                <a:solidFill>
                  <a:schemeClr val="tx1"/>
                </a:solidFill>
              </a:rPr>
              <a:t>5xx</a:t>
            </a:r>
            <a:endParaRPr lang="en-US" sz="1500" dirty="0"/>
          </a:p>
          <a:p>
            <a:pPr algn="l" indent="0" marL="0">
              <a:lnSpc>
                <a:spcPct val="115000"/>
              </a:lnSpc>
              <a:spcAft>
                <a:spcPts val="500"/>
              </a:spcAft>
              <a:buNone/>
            </a:pPr>
            <a:r>
              <a:rPr lang="en-US" sz="1300" dirty="0">
                <a:solidFill>
                  <a:schemeClr val="accent2"/>
                </a:solidFill>
                <a:latin typeface="JetBrains Mono" pitchFamily="34" charset="0"/>
                <a:ea typeface="JetBrains Mono" pitchFamily="34" charset="-122"/>
                <a:cs typeface="JetBrains Mono" pitchFamily="34" charset="-120"/>
              </a:rPr>
              <a:t>500 · 502 · 503 · 504</a:t>
            </a:r>
            <a:endParaRPr lang="en-US" sz="1500" dirty="0"/>
          </a:p>
          <a:p>
            <a:pPr algn="l" indent="0" marL="0">
              <a:lnSpc>
                <a:spcPct val="115000"/>
              </a:lnSpc>
              <a:spcAft>
                <a:spcPts val="500"/>
              </a:spcAft>
              <a:buNone/>
            </a:pPr>
            <a:r>
              <a:rPr lang="en-US" sz="1500" dirty="0">
                <a:solidFill>
                  <a:srgbClr val="3D3D3A"/>
                </a:solidFill>
              </a:rPr>
              <a:t>서버 쪽 문제, 잠시 후 재시도</a:t>
            </a:r>
            <a:endParaRPr lang="en-US" sz="1500" dirty="0"/>
          </a:p>
        </p:txBody>
      </p:sp>
      <p:sp>
        <p:nvSpPr>
          <p:cNvPr id="12" name="code-window"/>
          <p:cNvSpPr/>
          <p:nvPr/>
        </p:nvSpPr>
        <p:spPr>
          <a:xfrm>
            <a:off x="649224" y="4279392"/>
            <a:ext cx="10890504" cy="1811020"/>
          </a:xfrm>
          <a:prstGeom prst="roundRect">
            <a:avLst>
              <a:gd name="adj" fmla="val 6059"/>
            </a:avLst>
          </a:prstGeom>
          <a:solidFill>
            <a:schemeClr val="tx2"/>
          </a:solidFill>
          <a:ln/>
        </p:spPr>
      </p:sp>
      <p:sp>
        <p:nvSpPr>
          <p:cNvPr id="13" name="code-window-dot"/>
          <p:cNvSpPr/>
          <p:nvPr/>
        </p:nvSpPr>
        <p:spPr>
          <a:xfrm>
            <a:off x="850392" y="4425696"/>
            <a:ext cx="100584" cy="100584"/>
          </a:xfrm>
          <a:prstGeom prst="ellipse">
            <a:avLst/>
          </a:prstGeom>
          <a:solidFill>
            <a:srgbClr val="4A4844"/>
          </a:solidFill>
          <a:ln/>
        </p:spPr>
      </p:sp>
      <p:sp>
        <p:nvSpPr>
          <p:cNvPr id="14" name="code-window-dot"/>
          <p:cNvSpPr/>
          <p:nvPr/>
        </p:nvSpPr>
        <p:spPr>
          <a:xfrm>
            <a:off x="1024128" y="4425696"/>
            <a:ext cx="100584" cy="100584"/>
          </a:xfrm>
          <a:prstGeom prst="ellipse">
            <a:avLst/>
          </a:prstGeom>
          <a:solidFill>
            <a:srgbClr val="4A4844"/>
          </a:solidFill>
          <a:ln/>
        </p:spPr>
      </p:sp>
      <p:sp>
        <p:nvSpPr>
          <p:cNvPr id="15" name="code-window-dot"/>
          <p:cNvSpPr/>
          <p:nvPr/>
        </p:nvSpPr>
        <p:spPr>
          <a:xfrm>
            <a:off x="1197864" y="4425696"/>
            <a:ext cx="100584" cy="100584"/>
          </a:xfrm>
          <a:prstGeom prst="ellipse">
            <a:avLst/>
          </a:prstGeom>
          <a:solidFill>
            <a:srgbClr val="4A4844"/>
          </a:solidFill>
          <a:ln/>
        </p:spPr>
      </p:sp>
      <p:sp>
        <p:nvSpPr>
          <p:cNvPr id="16" name="code-window-label"/>
          <p:cNvSpPr txBox="1"/>
          <p:nvPr/>
        </p:nvSpPr>
        <p:spPr>
          <a:xfrm>
            <a:off x="1472184" y="4370832"/>
            <a:ext cx="9884664"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하지 말 것: 실패인데 200</a:t>
            </a:r>
            <a:endParaRPr lang="en-US" sz="1100" dirty="0"/>
          </a:p>
        </p:txBody>
      </p:sp>
      <p:sp>
        <p:nvSpPr>
          <p:cNvPr id="17" name="code-window-text"/>
          <p:cNvSpPr txBox="1"/>
          <p:nvPr/>
        </p:nvSpPr>
        <p:spPr>
          <a:xfrm>
            <a:off x="905256" y="4718304"/>
            <a:ext cx="10433304" cy="1262380"/>
          </a:xfrm>
          <a:prstGeom prst="rect">
            <a:avLst/>
          </a:prstGeom>
          <a:noFill/>
          <a:ln/>
        </p:spPr>
        <p:txBody>
          <a:bodyPr wrap="square" lIns="0" tIns="0" rIns="0" bIns="0" rtlCol="0" anchor="t"/>
          <a:lstStyle/>
          <a:p>
            <a:pPr algn="l" indent="0" marL="0">
              <a:lnSpc>
                <a:spcPct val="105000"/>
              </a:lnSpc>
              <a:buNone/>
            </a:pPr>
            <a:r>
              <a:rPr lang="en-US" sz="1700" dirty="0">
                <a:solidFill>
                  <a:srgbClr val="5DB872"/>
                </a:solidFill>
                <a:latin typeface="JetBrains Mono" pitchFamily="34" charset="0"/>
                <a:ea typeface="JetBrains Mono" pitchFamily="34" charset="-122"/>
                <a:cs typeface="JetBrains Mono" pitchFamily="34" charset="-120"/>
              </a:rPr>
              <a:t>HTTP/1.1 200 OK</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"success": false, "message": "글이 없습니다" }</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 모니터링 · 재시도 · 캐시는 상태 코드만 보고 성공으로 처리한다</a:t>
            </a:r>
            <a:endParaRPr lang="en-US" sz="17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STATUS CODE</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자주 만나는 에러 코드</a:t>
            </a:r>
            <a:endParaRPr lang="en-US" sz="32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1372753"/>
                <a:gridCol w="2745505"/>
                <a:gridCol w="3935224"/>
                <a:gridCol w="2837022"/>
              </a:tblGrid>
              <a:tr h="384048">
                <a:tc>
                  <a:txBody>
                    <a:bodyPr/>
                    <a:lstStyle/>
                    <a:p>
                      <a:pPr indent="0" marL="0">
                        <a:buNone/>
                      </a:pPr>
                      <a:r>
                        <a:rPr lang="en-US" sz="1100" dirty="0">
                          <a:solidFill>
                            <a:schemeClr val="accent3"/>
                          </a:solidFill>
                        </a:rPr>
                        <a:t>코드</a:t>
                      </a:r>
                      <a:endParaRPr lang="en-US" sz="11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100" dirty="0">
                          <a:solidFill>
                            <a:schemeClr val="accent3"/>
                          </a:solidFill>
                        </a:rPr>
                        <a:t>이름</a:t>
                      </a:r>
                      <a:endParaRPr lang="en-US" sz="11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100" dirty="0">
                          <a:solidFill>
                            <a:schemeClr val="accent3"/>
                          </a:solidFill>
                        </a:rPr>
                        <a:t>언제 나오나 (블로그 API 예)</a:t>
                      </a:r>
                      <a:endParaRPr lang="en-US" sz="11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100" dirty="0">
                          <a:solidFill>
                            <a:schemeClr val="accent3"/>
                          </a:solidFill>
                        </a:rPr>
                        <a:t>먼저 확인할 것</a:t>
                      </a:r>
                      <a:endParaRPr lang="en-US" sz="11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384048">
                <a:tc>
                  <a:txBody>
                    <a:bodyPr/>
                    <a:lstStyle/>
                    <a:p>
                      <a:pPr indent="0" marL="0">
                        <a:buNone/>
                      </a:pPr>
                      <a:r>
                        <a:rPr lang="en-US" sz="1400" dirty="0">
                          <a:solidFill>
                            <a:schemeClr val="accent6"/>
                          </a:solidFill>
                        </a:rPr>
                        <a:t>400  자주</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Bad Request</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필수 값 누락, 형식 오류 (빈 제목, 깨진 JSON)</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응답의 errors: 어느 필드가 틀렸나</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384048">
                <a:tc>
                  <a:txBody>
                    <a:bodyPr/>
                    <a:lstStyle/>
                    <a:p>
                      <a:pPr indent="0" marL="0">
                        <a:buNone/>
                      </a:pPr>
                      <a:r>
                        <a:rPr lang="en-US" sz="1400" dirty="0">
                          <a:solidFill>
                            <a:schemeClr val="accent6"/>
                          </a:solidFill>
                        </a:rPr>
                        <a:t>401  자주</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Unauthorized</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인증 정보(JWT · 세션)가 없거나 만료됨</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Authorization 헤더 · 쿠키, 만료 시간</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384048">
                <a:tc>
                  <a:txBody>
                    <a:bodyPr/>
                    <a:lstStyle/>
                    <a:p>
                      <a:pPr indent="0" marL="0">
                        <a:buNone/>
                      </a:pPr>
                      <a:r>
                        <a:rPr lang="en-US" sz="1400" dirty="0">
                          <a:solidFill>
                            <a:schemeClr val="accent6"/>
                          </a:solidFill>
                        </a:rPr>
                        <a:t>403</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Forbidden</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로그인했지만 권한 없음 (남의 글 삭제)</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사용자 역할, 자원 소유자</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384048">
                <a:tc>
                  <a:txBody>
                    <a:bodyPr/>
                    <a:lstStyle/>
                    <a:p>
                      <a:pPr indent="0" marL="0">
                        <a:buNone/>
                      </a:pPr>
                      <a:r>
                        <a:rPr lang="en-US" sz="1400" dirty="0">
                          <a:solidFill>
                            <a:schemeClr val="accent6"/>
                          </a:solidFill>
                        </a:rPr>
                        <a:t>404  자주</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Not Found</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없는 자원 (/posts/99999), URL 오타</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URL 경로와 id, 삭제된 데이터인지</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384048">
                <a:tc>
                  <a:txBody>
                    <a:bodyPr/>
                    <a:lstStyle/>
                    <a:p>
                      <a:pPr indent="0" marL="0">
                        <a:buNone/>
                      </a:pPr>
                      <a:r>
                        <a:rPr lang="en-US" sz="1400" dirty="0">
                          <a:solidFill>
                            <a:schemeClr val="accent6"/>
                          </a:solidFill>
                        </a:rPr>
                        <a:t>409</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Conflict</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중복 (같은 이메일로 가입), 동시 수정</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유니크 값, 버전 필드</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384048">
                <a:tc>
                  <a:txBody>
                    <a:bodyPr/>
                    <a:lstStyle/>
                    <a:p>
                      <a:pPr indent="0" marL="0">
                        <a:buNone/>
                      </a:pPr>
                      <a:r>
                        <a:rPr lang="en-US" sz="1400" dirty="0">
                          <a:solidFill>
                            <a:schemeClr val="accent6"/>
                          </a:solidFill>
                        </a:rPr>
                        <a:t>500  자주</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Internal Server Error</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처리하지 못한 예외 (NullPointerException 등)</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서버 로그의 스택 트레이스</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384048">
                <a:tc>
                  <a:txBody>
                    <a:bodyPr/>
                    <a:lstStyle/>
                    <a:p>
                      <a:pPr indent="0" marL="0">
                        <a:buNone/>
                      </a:pPr>
                      <a:r>
                        <a:rPr lang="en-US" sz="1400" dirty="0">
                          <a:solidFill>
                            <a:schemeClr val="accent6"/>
                          </a:solidFill>
                        </a:rPr>
                        <a:t>502</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Bad Gateway</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게이트웨이가 뒤쪽 서버에서 잘못된 응답을 받음</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뒤쪽 서비스가 떠 있나, 주소 · 포트</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384048">
                <a:tc>
                  <a:txBody>
                    <a:bodyPr/>
                    <a:lstStyle/>
                    <a:p>
                      <a:pPr indent="0" marL="0">
                        <a:buNone/>
                      </a:pPr>
                      <a:r>
                        <a:rPr lang="en-US" sz="1400" dirty="0">
                          <a:solidFill>
                            <a:schemeClr val="accent6"/>
                          </a:solidFill>
                        </a:rPr>
                        <a:t>503</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Service Unavailable</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과부하, 점검, 배포 중이라 처리 불가</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서버 상태, 배포 · 재시작 중인지</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384048">
                <a:tc>
                  <a:txBody>
                    <a:bodyPr/>
                    <a:lstStyle/>
                    <a:p>
                      <a:pPr indent="0" marL="0">
                        <a:buNone/>
                      </a:pPr>
                      <a:r>
                        <a:rPr lang="en-US" sz="1400" dirty="0">
                          <a:solidFill>
                            <a:schemeClr val="accent6"/>
                          </a:solidFill>
                        </a:rPr>
                        <a:t>504</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Gateway Timeout</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뒤쪽 서버가 제한 시간 안에 응답 안 함</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느린 쿼리, 타임아웃 설정</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text"/>
          <p:cNvSpPr txBox="1"/>
          <p:nvPr/>
        </p:nvSpPr>
        <p:spPr>
          <a:xfrm>
            <a:off x="649224" y="5696712"/>
            <a:ext cx="10890504" cy="276860"/>
          </a:xfrm>
          <a:prstGeom prst="rect">
            <a:avLst/>
          </a:prstGeom>
          <a:noFill/>
          <a:ln/>
        </p:spPr>
        <p:txBody>
          <a:bodyPr wrap="square" lIns="0" tIns="0" rIns="0" bIns="0" rtlCol="0" anchor="t"/>
          <a:lstStyle/>
          <a:p>
            <a:pPr algn="l" indent="0" marL="0">
              <a:lnSpc>
                <a:spcPct val="115000"/>
              </a:lnSpc>
              <a:spcAft>
                <a:spcPts val="600"/>
              </a:spcAft>
              <a:buNone/>
            </a:pPr>
            <a:r>
              <a:rPr lang="en-US" sz="1400" dirty="0">
                <a:solidFill>
                  <a:schemeClr val="accent3"/>
                </a:solidFill>
              </a:rPr>
              <a:t>그 밖에: 405 Method Not Allowed (메서드 틀림) · 415 Unsupported Media Type (Content-Type 틀림) · 429 Too Many Requests (요청 과다)</a:t>
            </a:r>
            <a:endParaRPr lang="en-US" sz="14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03 · RESPONSE · ERROR</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응답과 에러 형식을 하나로</a:t>
            </a:r>
            <a:endParaRPr lang="en-US" sz="3200" dirty="0"/>
          </a:p>
        </p:txBody>
      </p:sp>
      <p:sp>
        <p:nvSpPr>
          <p:cNvPr id="4" name="code-window"/>
          <p:cNvSpPr/>
          <p:nvPr/>
        </p:nvSpPr>
        <p:spPr>
          <a:xfrm>
            <a:off x="649224" y="1581912"/>
            <a:ext cx="5330952" cy="3208020"/>
          </a:xfrm>
          <a:prstGeom prst="roundRect">
            <a:avLst>
              <a:gd name="adj" fmla="val 3420"/>
            </a:avLst>
          </a:prstGeom>
          <a:solidFill>
            <a:schemeClr val="tx2"/>
          </a:solidFill>
          <a:ln/>
        </p:spPr>
      </p:sp>
      <p:sp>
        <p:nvSpPr>
          <p:cNvPr id="5" name="code-window-dot"/>
          <p:cNvSpPr/>
          <p:nvPr/>
        </p:nvSpPr>
        <p:spPr>
          <a:xfrm>
            <a:off x="850392" y="1728216"/>
            <a:ext cx="100584" cy="100584"/>
          </a:xfrm>
          <a:prstGeom prst="ellipse">
            <a:avLst/>
          </a:prstGeom>
          <a:solidFill>
            <a:srgbClr val="4A4844"/>
          </a:solidFill>
          <a:ln/>
        </p:spPr>
      </p:sp>
      <p:sp>
        <p:nvSpPr>
          <p:cNvPr id="6" name="code-window-dot"/>
          <p:cNvSpPr/>
          <p:nvPr/>
        </p:nvSpPr>
        <p:spPr>
          <a:xfrm>
            <a:off x="1024128" y="1728216"/>
            <a:ext cx="100584" cy="100584"/>
          </a:xfrm>
          <a:prstGeom prst="ellipse">
            <a:avLst/>
          </a:prstGeom>
          <a:solidFill>
            <a:srgbClr val="4A4844"/>
          </a:solidFill>
          <a:ln/>
        </p:spPr>
      </p:sp>
      <p:sp>
        <p:nvSpPr>
          <p:cNvPr id="7" name="code-window-dot"/>
          <p:cNvSpPr/>
          <p:nvPr/>
        </p:nvSpPr>
        <p:spPr>
          <a:xfrm>
            <a:off x="1197864" y="1728216"/>
            <a:ext cx="100584" cy="100584"/>
          </a:xfrm>
          <a:prstGeom prst="ellipse">
            <a:avLst/>
          </a:prstGeom>
          <a:solidFill>
            <a:srgbClr val="4A4844"/>
          </a:solidFill>
          <a:ln/>
        </p:spPr>
      </p:sp>
      <p:sp>
        <p:nvSpPr>
          <p:cNvPr id="8" name="code-window-label"/>
          <p:cNvSpPr txBox="1"/>
          <p:nvPr/>
        </p:nvSpPr>
        <p:spPr>
          <a:xfrm>
            <a:off x="1472184"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통일 전: API마다 에러 모양이 다르다</a:t>
            </a:r>
            <a:endParaRPr lang="en-US" sz="1100" dirty="0"/>
          </a:p>
        </p:txBody>
      </p:sp>
      <p:sp>
        <p:nvSpPr>
          <p:cNvPr id="9" name="code-window-text"/>
          <p:cNvSpPr txBox="1"/>
          <p:nvPr/>
        </p:nvSpPr>
        <p:spPr>
          <a:xfrm>
            <a:off x="905256" y="2020824"/>
            <a:ext cx="4873752" cy="2659380"/>
          </a:xfrm>
          <a:prstGeom prst="rect">
            <a:avLst/>
          </a:prstGeom>
          <a:noFill/>
          <a:ln/>
        </p:spPr>
        <p:txBody>
          <a:bodyPr wrap="square" lIns="0" tIns="0" rIns="0" bIns="0" rtlCol="0" anchor="t"/>
          <a:lstStyle/>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글 API    404  { "error": "not found"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댓글 API  400  { "result": false, "msg": "실패" }</a:t>
            </a:r>
            <a:endParaRPr lang="en-US" sz="1300" dirty="0"/>
          </a:p>
          <a:p>
            <a:pPr algn="l" indent="0" marL="0">
              <a:lnSpc>
                <a:spcPct val="105000"/>
              </a:lnSpc>
              <a:buNone/>
            </a:pPr>
            <a:r>
              <a:rPr lang="en-US" sz="1300" dirty="0">
                <a:solidFill>
                  <a:srgbClr val="E5806F"/>
                </a:solidFill>
                <a:latin typeface="JetBrains Mono" pitchFamily="34" charset="0"/>
                <a:ea typeface="JetBrains Mono" pitchFamily="34" charset="-122"/>
                <a:cs typeface="JetBrains Mono" pitchFamily="34" charset="-120"/>
              </a:rPr>
              <a:t>회원 API  200  "FAIL"          ← 실패인데 200</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 화면 개발자가 에러 모양 3가지를 따로 처리</a:t>
            </a:r>
            <a:endParaRPr lang="en-US" sz="1300" dirty="0"/>
          </a:p>
        </p:txBody>
      </p:sp>
      <p:sp>
        <p:nvSpPr>
          <p:cNvPr id="10" name="code-window"/>
          <p:cNvSpPr/>
          <p:nvPr/>
        </p:nvSpPr>
        <p:spPr>
          <a:xfrm>
            <a:off x="6208776" y="1581912"/>
            <a:ext cx="5330952" cy="3208020"/>
          </a:xfrm>
          <a:prstGeom prst="roundRect">
            <a:avLst>
              <a:gd name="adj" fmla="val 3420"/>
            </a:avLst>
          </a:prstGeom>
          <a:solidFill>
            <a:schemeClr val="tx2"/>
          </a:solidFill>
          <a:ln/>
        </p:spPr>
      </p:sp>
      <p:sp>
        <p:nvSpPr>
          <p:cNvPr id="11" name="code-window-dot"/>
          <p:cNvSpPr/>
          <p:nvPr/>
        </p:nvSpPr>
        <p:spPr>
          <a:xfrm>
            <a:off x="6409944" y="1728216"/>
            <a:ext cx="100584" cy="100584"/>
          </a:xfrm>
          <a:prstGeom prst="ellipse">
            <a:avLst/>
          </a:prstGeom>
          <a:solidFill>
            <a:srgbClr val="4A4844"/>
          </a:solidFill>
          <a:ln/>
        </p:spPr>
      </p:sp>
      <p:sp>
        <p:nvSpPr>
          <p:cNvPr id="12" name="code-window-dot"/>
          <p:cNvSpPr/>
          <p:nvPr/>
        </p:nvSpPr>
        <p:spPr>
          <a:xfrm>
            <a:off x="6583680" y="1728216"/>
            <a:ext cx="100584" cy="100584"/>
          </a:xfrm>
          <a:prstGeom prst="ellipse">
            <a:avLst/>
          </a:prstGeom>
          <a:solidFill>
            <a:srgbClr val="4A4844"/>
          </a:solidFill>
          <a:ln/>
        </p:spPr>
      </p:sp>
      <p:sp>
        <p:nvSpPr>
          <p:cNvPr id="13" name="code-window-dot"/>
          <p:cNvSpPr/>
          <p:nvPr/>
        </p:nvSpPr>
        <p:spPr>
          <a:xfrm>
            <a:off x="6757416" y="1728216"/>
            <a:ext cx="100584" cy="100584"/>
          </a:xfrm>
          <a:prstGeom prst="ellipse">
            <a:avLst/>
          </a:prstGeom>
          <a:solidFill>
            <a:srgbClr val="4A4844"/>
          </a:solidFill>
          <a:ln/>
        </p:spPr>
      </p:sp>
      <p:sp>
        <p:nvSpPr>
          <p:cNvPr id="14" name="code-window-label"/>
          <p:cNvSpPr txBox="1"/>
          <p:nvPr/>
        </p:nvSpPr>
        <p:spPr>
          <a:xfrm>
            <a:off x="7031736"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통일 후: 예제 서버 실제 응답</a:t>
            </a:r>
            <a:endParaRPr lang="en-US" sz="1100" dirty="0"/>
          </a:p>
        </p:txBody>
      </p:sp>
      <p:sp>
        <p:nvSpPr>
          <p:cNvPr id="15" name="code-window-text"/>
          <p:cNvSpPr txBox="1"/>
          <p:nvPr/>
        </p:nvSpPr>
        <p:spPr>
          <a:xfrm>
            <a:off x="6464808" y="2020824"/>
            <a:ext cx="4873752" cy="2659380"/>
          </a:xfrm>
          <a:prstGeom prst="rect">
            <a:avLst/>
          </a:prstGeom>
          <a:noFill/>
          <a:ln/>
        </p:spPr>
        <p:txBody>
          <a:bodyPr wrap="square" lIns="0" tIns="0" rIns="0" bIns="0" rtlCol="0" anchor="t"/>
          <a:lstStyle/>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curl -i localhost:8080/api/v1/posts/99999</a:t>
            </a:r>
            <a:endParaRPr lang="en-US" sz="1300" dirty="0"/>
          </a:p>
          <a:p>
            <a:pPr algn="l" indent="0" marL="0">
              <a:lnSpc>
                <a:spcPct val="105000"/>
              </a:lnSpc>
              <a:buNone/>
            </a:pPr>
            <a:r>
              <a:rPr lang="en-US" sz="1300" dirty="0">
                <a:solidFill>
                  <a:srgbClr val="E5806F"/>
                </a:solidFill>
                <a:latin typeface="JetBrains Mono" pitchFamily="34" charset="0"/>
                <a:ea typeface="JetBrains Mono" pitchFamily="34" charset="-122"/>
                <a:cs typeface="JetBrains Mono" pitchFamily="34" charset="-120"/>
              </a:rPr>
              <a:t>HTTP/1.1 404</a:t>
            </a:r>
            <a:endParaRPr lang="en-US" sz="1300" dirty="0"/>
          </a:p>
          <a:p>
            <a:pPr algn="l" indent="0" marL="0">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Content-Type: application/problem+json</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"type": "about:blank",</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"title": "글을 찾을 수 없습니다",</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"status": 404,</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"detail": "99999번 글이 없습니다.",</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"instance": "/api/v1/posts/99999",</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"code": "POST_NOT_FOUND"</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sp>
        <p:nvSpPr>
          <p:cNvPr id="16" name="text"/>
          <p:cNvSpPr txBox="1"/>
          <p:nvPr/>
        </p:nvSpPr>
        <p:spPr>
          <a:xfrm>
            <a:off x="649224" y="5018532"/>
            <a:ext cx="10890504" cy="683260"/>
          </a:xfrm>
          <a:prstGeom prst="rect">
            <a:avLst/>
          </a:prstGeom>
          <a:noFill/>
          <a:ln/>
        </p:spPr>
        <p:txBody>
          <a:bodyPr wrap="square" lIns="0" tIns="0" rIns="0" bIns="0" rtlCol="0" anchor="t"/>
          <a:lstStyle/>
          <a:p>
            <a:pPr algn="l" indent="0" marL="0">
              <a:lnSpc>
                <a:spcPct val="115000"/>
              </a:lnSpc>
              <a:spcAft>
                <a:spcPts val="600"/>
              </a:spcAft>
              <a:buNone/>
            </a:pPr>
            <a:r>
              <a:rPr lang="en-US" sz="1700" b="1" dirty="0">
                <a:solidFill>
                  <a:srgbClr val="3D3D3A"/>
                </a:solidFill>
              </a:rPr>
              <a:t>성공 응답  </a:t>
            </a:r>
            <a:pPr algn="l" indent="0" marL="0">
              <a:lnSpc>
                <a:spcPct val="115000"/>
              </a:lnSpc>
              <a:spcAft>
                <a:spcPts val="600"/>
              </a:spcAft>
              <a:buNone/>
            </a:pPr>
            <a:r>
              <a:rPr lang="en-US" sz="1700" dirty="0">
                <a:solidFill>
                  <a:srgbClr val="3D3D3A"/>
                </a:solidFill>
              </a:rPr>
              <a:t>단건은 자원 그대로 · 목록은 content + page · 필드는 camelCase · 날짜는 ISO-8601</a:t>
            </a:r>
            <a:endParaRPr lang="en-US" sz="1700" dirty="0"/>
          </a:p>
          <a:p>
            <a:pPr algn="l" indent="0" marL="0">
              <a:lnSpc>
                <a:spcPct val="115000"/>
              </a:lnSpc>
              <a:spcAft>
                <a:spcPts val="600"/>
              </a:spcAft>
              <a:buNone/>
            </a:pPr>
            <a:r>
              <a:rPr lang="en-US" sz="1700" b="1" dirty="0">
                <a:solidFill>
                  <a:srgbClr val="3D3D3A"/>
                </a:solidFill>
              </a:rPr>
              <a:t>에러 응답  </a:t>
            </a:r>
            <a:pPr algn="l" indent="0" marL="0">
              <a:lnSpc>
                <a:spcPct val="115000"/>
              </a:lnSpc>
              <a:spcAft>
                <a:spcPts val="600"/>
              </a:spcAft>
              <a:buNone/>
            </a:pPr>
            <a:r>
              <a:rPr lang="en-US" sz="1700" dirty="0">
                <a:solidFill>
                  <a:srgbClr val="3D3D3A"/>
                </a:solidFill>
              </a:rPr>
              <a:t>표준(RFC 9457) type · title · status · detail + 팀 에러 코드 code → 화면은 code 하나만 보고 처리</a:t>
            </a:r>
            <a:endParaRPr lang="en-US" sz="17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04 · EXCEPTION · VALIDATION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전역 예외 처리와 입력 검증</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3020056"/>
                <a:gridCol w="3935224"/>
                <a:gridCol w="3935224"/>
              </a:tblGrid>
              <a:tr h="548640">
                <a:tc>
                  <a:txBody>
                    <a:bodyPr/>
                    <a:lstStyle/>
                    <a:p>
                      <a:pPr indent="0" marL="0">
                        <a:buNone/>
                      </a:pPr>
                      <a:r>
                        <a:rPr lang="en-US" sz="1300" dirty="0">
                          <a:solidFill>
                            <a:schemeClr val="accent3"/>
                          </a:solidFill>
                        </a:rPr>
                        <a:t>요청이 지나가는 순서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하는 일</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실패하면</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548640">
                <a:tc>
                  <a:txBody>
                    <a:bodyPr/>
                    <a:lstStyle/>
                    <a:p>
                      <a:pPr indent="0" marL="0">
                        <a:buNone/>
                      </a:pPr>
                      <a:r>
                        <a:rPr lang="en-US" sz="1600" dirty="0">
                          <a:solidFill>
                            <a:schemeClr val="tx1"/>
                          </a:solidFill>
                        </a:rPr>
                        <a:t>① 입력 검증 (@Valid)</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요청 DTO의 형식 검사</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accent6"/>
                          </a:solidFill>
                        </a:rPr>
                        <a:t>형식 오류 (빈 제목) → 400</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48640">
                <a:tc>
                  <a:txBody>
                    <a:bodyPr/>
                    <a:lstStyle/>
                    <a:p>
                      <a:pPr indent="0" marL="0">
                        <a:buNone/>
                      </a:pPr>
                      <a:r>
                        <a:rPr lang="en-US" sz="1600" dirty="0">
                          <a:solidFill>
                            <a:schemeClr val="tx1"/>
                          </a:solidFill>
                        </a:rPr>
                        <a:t>② 컨트롤러</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요청 받고 넘기기 (try-catch 없음)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accent6"/>
                          </a:solidFill>
                        </a:rPr>
                        <a:t>—</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48640">
                <a:tc>
                  <a:txBody>
                    <a:bodyPr/>
                    <a:lstStyle/>
                    <a:p>
                      <a:pPr indent="0" marL="0">
                        <a:buNone/>
                      </a:pPr>
                      <a:r>
                        <a:rPr lang="en-US" sz="1600" dirty="0">
                          <a:solidFill>
                            <a:schemeClr val="tx1"/>
                          </a:solidFill>
                        </a:rPr>
                        <a:t>③ 서비스</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업무 규칙 검사</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accent6"/>
                          </a:solidFill>
                        </a:rPr>
                        <a:t>글 없음 404 · 중복 제목 409 · 권한 없음 403</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48640">
                <a:tc>
                  <a:txBody>
                    <a:bodyPr/>
                    <a:lstStyle/>
                    <a:p>
                      <a:pPr indent="0" marL="0">
                        <a:buNone/>
                      </a:pPr>
                      <a:r>
                        <a:rPr lang="en-US" sz="1600" dirty="0">
                          <a:solidFill>
                            <a:schemeClr val="tx1"/>
                          </a:solidFill>
                        </a:rPr>
                        <a:t>④ DB</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읽기 · 쓰기</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accent6"/>
                          </a:solidFill>
                        </a:rPr>
                        <a:t>예상 못 한 오류 → 500 + 로그</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text"/>
          <p:cNvSpPr txBox="1"/>
          <p:nvPr/>
        </p:nvSpPr>
        <p:spPr>
          <a:xfrm>
            <a:off x="649224" y="4599432"/>
            <a:ext cx="10890504" cy="326390"/>
          </a:xfrm>
          <a:prstGeom prst="rect">
            <a:avLst/>
          </a:prstGeom>
          <a:noFill/>
          <a:ln/>
        </p:spPr>
        <p:txBody>
          <a:bodyPr wrap="square" lIns="0" tIns="0" rIns="0" bIns="0" rtlCol="0" anchor="t"/>
          <a:lstStyle/>
          <a:p>
            <a:pPr algn="l" indent="0" marL="0">
              <a:lnSpc>
                <a:spcPct val="115000"/>
              </a:lnSpc>
              <a:spcAft>
                <a:spcPts val="600"/>
              </a:spcAft>
              <a:buNone/>
            </a:pPr>
            <a:r>
              <a:rPr lang="en-US" sz="1700" dirty="0">
                <a:solidFill>
                  <a:srgbClr val="3D3D3A"/>
                </a:solidFill>
              </a:rPr>
              <a:t>성공하면 200 · 201 · 204로 응답하고, 실패는 어디서 났든 예외로 던진다</a:t>
            </a:r>
            <a:endParaRPr lang="en-US" sz="1700" dirty="0"/>
          </a:p>
        </p:txBody>
      </p:sp>
      <p:sp>
        <p:nvSpPr>
          <p:cNvPr id="6" name="callout-coral"/>
          <p:cNvSpPr/>
          <p:nvPr/>
        </p:nvSpPr>
        <p:spPr>
          <a:xfrm>
            <a:off x="649224" y="5154422"/>
            <a:ext cx="10890504" cy="868680"/>
          </a:xfrm>
          <a:prstGeom prst="roundRect">
            <a:avLst>
              <a:gd name="adj" fmla="val 12632"/>
            </a:avLst>
          </a:prstGeom>
          <a:solidFill>
            <a:schemeClr val="accent1"/>
          </a:solidFill>
          <a:ln/>
        </p:spPr>
      </p:sp>
      <p:sp>
        <p:nvSpPr>
          <p:cNvPr id="7" name="text"/>
          <p:cNvSpPr txBox="1"/>
          <p:nvPr/>
        </p:nvSpPr>
        <p:spPr>
          <a:xfrm>
            <a:off x="1014984" y="5154422"/>
            <a:ext cx="10158984" cy="868680"/>
          </a:xfrm>
          <a:prstGeom prst="rect">
            <a:avLst/>
          </a:prstGeom>
          <a:noFill/>
          <a:ln/>
        </p:spPr>
        <p:txBody>
          <a:bodyPr wrap="square" lIns="0" tIns="0" rIns="0" bIns="0" rtlCol="0" anchor="ctr"/>
          <a:lstStyle/>
          <a:p>
            <a:pPr algn="l" indent="0" marL="0">
              <a:lnSpc>
                <a:spcPct val="115000"/>
              </a:lnSpc>
              <a:spcAft>
                <a:spcPts val="600"/>
              </a:spcAft>
              <a:buNone/>
            </a:pPr>
            <a:r>
              <a:rPr lang="en-US" sz="2000" b="1" dirty="0">
                <a:solidFill>
                  <a:schemeClr val="tx1"/>
                </a:solidFill>
              </a:rPr>
              <a:t>던진 예외는 @RestControllerAdvice 한곳에 모여 같은 형식으로 응답한다</a:t>
            </a:r>
            <a:endParaRPr lang="en-US" sz="20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04 · EXCEPTION · VALIDATION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코드로 보면</a:t>
            </a:r>
            <a:endParaRPr lang="en-US" sz="3200" dirty="0"/>
          </a:p>
        </p:txBody>
      </p:sp>
      <p:sp>
        <p:nvSpPr>
          <p:cNvPr id="4" name="code-window"/>
          <p:cNvSpPr/>
          <p:nvPr/>
        </p:nvSpPr>
        <p:spPr>
          <a:xfrm>
            <a:off x="649224" y="1581912"/>
            <a:ext cx="10890504" cy="1398270"/>
          </a:xfrm>
          <a:prstGeom prst="roundRect">
            <a:avLst>
              <a:gd name="adj" fmla="val 7847"/>
            </a:avLst>
          </a:prstGeom>
          <a:solidFill>
            <a:schemeClr val="tx2"/>
          </a:solidFill>
          <a:ln/>
        </p:spPr>
      </p:sp>
      <p:sp>
        <p:nvSpPr>
          <p:cNvPr id="5" name="code-window-dot"/>
          <p:cNvSpPr/>
          <p:nvPr/>
        </p:nvSpPr>
        <p:spPr>
          <a:xfrm>
            <a:off x="850392" y="1728216"/>
            <a:ext cx="100584" cy="100584"/>
          </a:xfrm>
          <a:prstGeom prst="ellipse">
            <a:avLst/>
          </a:prstGeom>
          <a:solidFill>
            <a:srgbClr val="4A4844"/>
          </a:solidFill>
          <a:ln/>
        </p:spPr>
      </p:sp>
      <p:sp>
        <p:nvSpPr>
          <p:cNvPr id="6" name="code-window-dot"/>
          <p:cNvSpPr/>
          <p:nvPr/>
        </p:nvSpPr>
        <p:spPr>
          <a:xfrm>
            <a:off x="1024128" y="1728216"/>
            <a:ext cx="100584" cy="100584"/>
          </a:xfrm>
          <a:prstGeom prst="ellipse">
            <a:avLst/>
          </a:prstGeom>
          <a:solidFill>
            <a:srgbClr val="4A4844"/>
          </a:solidFill>
          <a:ln/>
        </p:spPr>
      </p:sp>
      <p:sp>
        <p:nvSpPr>
          <p:cNvPr id="7" name="code-window-dot"/>
          <p:cNvSpPr/>
          <p:nvPr/>
        </p:nvSpPr>
        <p:spPr>
          <a:xfrm>
            <a:off x="1197864" y="1728216"/>
            <a:ext cx="100584" cy="100584"/>
          </a:xfrm>
          <a:prstGeom prst="ellipse">
            <a:avLst/>
          </a:prstGeom>
          <a:solidFill>
            <a:srgbClr val="4A4844"/>
          </a:solidFill>
          <a:ln/>
        </p:spPr>
      </p:sp>
      <p:sp>
        <p:nvSpPr>
          <p:cNvPr id="8" name="code-window-label"/>
          <p:cNvSpPr txBox="1"/>
          <p:nvPr/>
        </p:nvSpPr>
        <p:spPr>
          <a:xfrm>
            <a:off x="1472184" y="1673352"/>
            <a:ext cx="9884664"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요청 DTO: 규칙을 적어 두면 컨트롤러에 들어오기 전에 검사 (실패하면 400)</a:t>
            </a:r>
            <a:endParaRPr lang="en-US" sz="1100" dirty="0"/>
          </a:p>
        </p:txBody>
      </p:sp>
      <p:sp>
        <p:nvSpPr>
          <p:cNvPr id="9" name="code-window-text"/>
          <p:cNvSpPr txBox="1"/>
          <p:nvPr/>
        </p:nvSpPr>
        <p:spPr>
          <a:xfrm>
            <a:off x="905256" y="2020824"/>
            <a:ext cx="10433304" cy="849630"/>
          </a:xfrm>
          <a:prstGeom prst="rect">
            <a:avLst/>
          </a:prstGeom>
          <a:noFill/>
          <a:ln/>
        </p:spPr>
        <p:txBody>
          <a:bodyPr wrap="square" lIns="0" tIns="0" rIns="0" bIns="0" rtlCol="0" anchor="t"/>
          <a:lstStyle/>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public record CreatePostRequest(</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@NotBlank @Size(max = 100) String title,</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@NotBlank String content) {}</a:t>
            </a:r>
            <a:endParaRPr lang="en-US" sz="1400" dirty="0"/>
          </a:p>
        </p:txBody>
      </p:sp>
      <p:sp>
        <p:nvSpPr>
          <p:cNvPr id="10" name="code-window"/>
          <p:cNvSpPr/>
          <p:nvPr/>
        </p:nvSpPr>
        <p:spPr>
          <a:xfrm>
            <a:off x="649224" y="3208782"/>
            <a:ext cx="10890504" cy="2731770"/>
          </a:xfrm>
          <a:prstGeom prst="roundRect">
            <a:avLst>
              <a:gd name="adj" fmla="val 4017"/>
            </a:avLst>
          </a:prstGeom>
          <a:solidFill>
            <a:schemeClr val="tx2"/>
          </a:solidFill>
          <a:ln/>
        </p:spPr>
      </p:sp>
      <p:sp>
        <p:nvSpPr>
          <p:cNvPr id="11" name="code-window-dot"/>
          <p:cNvSpPr/>
          <p:nvPr/>
        </p:nvSpPr>
        <p:spPr>
          <a:xfrm>
            <a:off x="850392" y="3355086"/>
            <a:ext cx="100584" cy="100584"/>
          </a:xfrm>
          <a:prstGeom prst="ellipse">
            <a:avLst/>
          </a:prstGeom>
          <a:solidFill>
            <a:srgbClr val="4A4844"/>
          </a:solidFill>
          <a:ln/>
        </p:spPr>
      </p:sp>
      <p:sp>
        <p:nvSpPr>
          <p:cNvPr id="12" name="code-window-dot"/>
          <p:cNvSpPr/>
          <p:nvPr/>
        </p:nvSpPr>
        <p:spPr>
          <a:xfrm>
            <a:off x="1024128" y="3355086"/>
            <a:ext cx="100584" cy="100584"/>
          </a:xfrm>
          <a:prstGeom prst="ellipse">
            <a:avLst/>
          </a:prstGeom>
          <a:solidFill>
            <a:srgbClr val="4A4844"/>
          </a:solidFill>
          <a:ln/>
        </p:spPr>
      </p:sp>
      <p:sp>
        <p:nvSpPr>
          <p:cNvPr id="13" name="code-window-dot"/>
          <p:cNvSpPr/>
          <p:nvPr/>
        </p:nvSpPr>
        <p:spPr>
          <a:xfrm>
            <a:off x="1197864" y="3355086"/>
            <a:ext cx="100584" cy="100584"/>
          </a:xfrm>
          <a:prstGeom prst="ellipse">
            <a:avLst/>
          </a:prstGeom>
          <a:solidFill>
            <a:srgbClr val="4A4844"/>
          </a:solidFill>
          <a:ln/>
        </p:spPr>
      </p:sp>
      <p:sp>
        <p:nvSpPr>
          <p:cNvPr id="14" name="code-window-label"/>
          <p:cNvSpPr txBox="1"/>
          <p:nvPr/>
        </p:nvSpPr>
        <p:spPr>
          <a:xfrm>
            <a:off x="1472184" y="3300222"/>
            <a:ext cx="9884664"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전역 예외 처리기 (요약): 모든 예외를 한 곳에서 상태 코드 + 공통 에러 형식으로</a:t>
            </a:r>
            <a:endParaRPr lang="en-US" sz="1100" dirty="0"/>
          </a:p>
        </p:txBody>
      </p:sp>
      <p:sp>
        <p:nvSpPr>
          <p:cNvPr id="15" name="code-window-text"/>
          <p:cNvSpPr txBox="1"/>
          <p:nvPr/>
        </p:nvSpPr>
        <p:spPr>
          <a:xfrm>
            <a:off x="905256" y="3647694"/>
            <a:ext cx="10433304" cy="2183130"/>
          </a:xfrm>
          <a:prstGeom prst="rect">
            <a:avLst/>
          </a:prstGeom>
          <a:noFill/>
          <a:ln/>
        </p:spPr>
        <p:txBody>
          <a:bodyPr wrap="square" lIns="0" tIns="0" rIns="0" bIns="0" rtlCol="0" anchor="t"/>
          <a:lstStyle/>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@RestControllerAdvice</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class GlobalExceptionHandler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@ExceptionHandler(ApiException.class)                    // 업무 예외 → 404, 409, 403</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ProblemDetail handle(ApiException e) { ...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@ExceptionHandler(MethodArgumentNotValidException.class) // @Valid 실패 → 400 + 틀린 필드</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ProblemDetail handleInvalid(...) { ...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@ExceptionHandler(Exception.class)                       // 예상 못 한 예외 → 로그 + 500</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ProblemDetail handleUnknown(Exception e) { ...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a:t>
            </a:r>
            <a:endParaRPr lang="en-US" sz="14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sp>
      <p:sp>
        <p:nvSpPr>
          <p:cNvPr id="5" name="badge-text"/>
          <p:cNvSpPr txBox="1"/>
          <p:nvPr/>
        </p:nvSpPr>
        <p:spPr>
          <a:xfrm>
            <a:off x="10853928" y="384048"/>
            <a:ext cx="685800" cy="310896"/>
          </a:xfrm>
          <a:prstGeom prst="rect">
            <a:avLst/>
          </a:prstGeom>
          <a:noFill/>
          <a:ln/>
        </p:spPr>
        <p:txBody>
          <a:bodyPr wrap="square" lIns="0" tIns="0" rIns="0" bIns="0" rtlCol="0" anchor="ctr"/>
          <a:lstStyle/>
          <a:p>
            <a:pPr algn="ctr" indent="0" marL="0">
              <a:buNone/>
            </a:pPr>
            <a:r>
              <a:rPr lang="en-US" sz="1200" dirty="0">
                <a:solidFill>
                  <a:schemeClr val="accent3"/>
                </a:solidFill>
              </a:rPr>
              <a:t>1 / 4</a:t>
            </a:r>
            <a:endParaRPr lang="en-US" sz="1200" dirty="0"/>
          </a:p>
        </p:txBody>
      </p:sp>
      <p:sp>
        <p:nvSpPr>
          <p:cNvPr id="6" name="code-inline"/>
          <p:cNvSpPr/>
          <p:nvPr/>
        </p:nvSpPr>
        <p:spPr>
          <a:xfrm>
            <a:off x="649224" y="1581912"/>
            <a:ext cx="10890504" cy="594868"/>
          </a:xfrm>
          <a:prstGeom prst="roundRect">
            <a:avLst>
              <a:gd name="adj" fmla="val 18446"/>
            </a:avLst>
          </a:prstGeom>
          <a:solidFill>
            <a:schemeClr val="bg2"/>
          </a:solidFill>
          <a:ln/>
        </p:spPr>
      </p:sp>
      <p:sp>
        <p:nvSpPr>
          <p:cNvPr id="7" name="text"/>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a:t>
            </a:r>
            <a:endParaRPr lang="en-US" sz="17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2013370"/>
                <a:gridCol w="4758876"/>
                <a:gridCol w="4118258"/>
              </a:tblGrid>
              <a:tr h="475488">
                <a:tc>
                  <a:txBody>
                    <a:bodyPr/>
                    <a:lstStyle/>
                    <a:p>
                      <a:pPr indent="0" marL="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sp>
      <p:sp>
        <p:nvSpPr>
          <p:cNvPr id="5" name="badge-text"/>
          <p:cNvSpPr txBox="1"/>
          <p:nvPr/>
        </p:nvSpPr>
        <p:spPr>
          <a:xfrm>
            <a:off x="10853928" y="384048"/>
            <a:ext cx="685800" cy="310896"/>
          </a:xfrm>
          <a:prstGeom prst="rect">
            <a:avLst/>
          </a:prstGeom>
          <a:noFill/>
          <a:ln/>
        </p:spPr>
        <p:txBody>
          <a:bodyPr wrap="square" lIns="0" tIns="0" rIns="0" bIns="0" rtlCol="0" anchor="ctr"/>
          <a:lstStyle/>
          <a:p>
            <a:pPr algn="ctr" indent="0" marL="0">
              <a:buNone/>
            </a:pPr>
            <a:r>
              <a:rPr lang="en-US" sz="1200" dirty="0">
                <a:solidFill>
                  <a:schemeClr val="accent3"/>
                </a:solidFill>
              </a:rPr>
              <a:t>2 / 4</a:t>
            </a:r>
            <a:endParaRPr lang="en-US" sz="1200" dirty="0"/>
          </a:p>
        </p:txBody>
      </p:sp>
      <p:sp>
        <p:nvSpPr>
          <p:cNvPr id="6" name="code-inline"/>
          <p:cNvSpPr/>
          <p:nvPr/>
        </p:nvSpPr>
        <p:spPr>
          <a:xfrm>
            <a:off x="649224" y="1581912"/>
            <a:ext cx="10890504" cy="594868"/>
          </a:xfrm>
          <a:prstGeom prst="roundRect">
            <a:avLst>
              <a:gd name="adj" fmla="val 18446"/>
            </a:avLst>
          </a:prstGeom>
          <a:solidFill>
            <a:schemeClr val="bg2"/>
          </a:solidFill>
          <a:ln/>
        </p:spPr>
      </p:sp>
      <p:sp>
        <p:nvSpPr>
          <p:cNvPr id="7" name="text"/>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/api/v1/posts?topic=TRAVEL&amp;keyword=제주</a:t>
            </a:r>
            <a:endParaRPr lang="en-US" sz="17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2013370"/>
                <a:gridCol w="4758876"/>
                <a:gridCol w="4118258"/>
              </a:tblGrid>
              <a:tr h="475488">
                <a:tc>
                  <a:txBody>
                    <a:bodyPr/>
                    <a:lstStyle/>
                    <a:p>
                      <a:pPr indent="0" marL="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검색</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topic=TRAVEL&amp;keyword=제주</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글만?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sp>
      <p:sp>
        <p:nvSpPr>
          <p:cNvPr id="5" name="badge-text"/>
          <p:cNvSpPr txBox="1"/>
          <p:nvPr/>
        </p:nvSpPr>
        <p:spPr>
          <a:xfrm>
            <a:off x="10853928" y="384048"/>
            <a:ext cx="685800" cy="310896"/>
          </a:xfrm>
          <a:prstGeom prst="rect">
            <a:avLst/>
          </a:prstGeom>
          <a:noFill/>
          <a:ln/>
        </p:spPr>
        <p:txBody>
          <a:bodyPr wrap="square" lIns="0" tIns="0" rIns="0" bIns="0" rtlCol="0" anchor="ctr"/>
          <a:lstStyle/>
          <a:p>
            <a:pPr algn="ctr" indent="0" marL="0">
              <a:buNone/>
            </a:pPr>
            <a:r>
              <a:rPr lang="en-US" sz="1200" dirty="0">
                <a:solidFill>
                  <a:schemeClr val="accent3"/>
                </a:solidFill>
              </a:rPr>
              <a:t>3 / 4</a:t>
            </a:r>
            <a:endParaRPr lang="en-US" sz="1200" dirty="0"/>
          </a:p>
        </p:txBody>
      </p:sp>
      <p:sp>
        <p:nvSpPr>
          <p:cNvPr id="6" name="code-inline"/>
          <p:cNvSpPr/>
          <p:nvPr/>
        </p:nvSpPr>
        <p:spPr>
          <a:xfrm>
            <a:off x="649224" y="1581912"/>
            <a:ext cx="10890504" cy="594868"/>
          </a:xfrm>
          <a:prstGeom prst="roundRect">
            <a:avLst>
              <a:gd name="adj" fmla="val 18446"/>
            </a:avLst>
          </a:prstGeom>
          <a:solidFill>
            <a:schemeClr val="bg2"/>
          </a:solidFill>
          <a:ln/>
        </p:spPr>
      </p:sp>
      <p:sp>
        <p:nvSpPr>
          <p:cNvPr id="7" name="text"/>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/api/v1/posts?topic=TRAVEL&amp;keyword=제주&amp;sort=createdAt,desc</a:t>
            </a:r>
            <a:endParaRPr lang="en-US" sz="17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2013370"/>
                <a:gridCol w="4758876"/>
                <a:gridCol w="4118258"/>
              </a:tblGrid>
              <a:tr h="475488">
                <a:tc>
                  <a:txBody>
                    <a:bodyPr/>
                    <a:lstStyle/>
                    <a:p>
                      <a:pPr indent="0" marL="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검색</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topic=TRAVEL&amp;keyword=제주</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글만?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정렬</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sort=createdAt,desc</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순서로?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sp>
      <p:sp>
        <p:nvSpPr>
          <p:cNvPr id="5" name="badge-text"/>
          <p:cNvSpPr txBox="1"/>
          <p:nvPr/>
        </p:nvSpPr>
        <p:spPr>
          <a:xfrm>
            <a:off x="10853928" y="384048"/>
            <a:ext cx="685800" cy="310896"/>
          </a:xfrm>
          <a:prstGeom prst="rect">
            <a:avLst/>
          </a:prstGeom>
          <a:noFill/>
          <a:ln/>
        </p:spPr>
        <p:txBody>
          <a:bodyPr wrap="square" lIns="0" tIns="0" rIns="0" bIns="0" rtlCol="0" anchor="ctr"/>
          <a:lstStyle/>
          <a:p>
            <a:pPr algn="ctr" indent="0" marL="0">
              <a:buNone/>
            </a:pPr>
            <a:r>
              <a:rPr lang="en-US" sz="1200" dirty="0">
                <a:solidFill>
                  <a:schemeClr val="accent3"/>
                </a:solidFill>
              </a:rPr>
              <a:t>4 / 4</a:t>
            </a:r>
            <a:endParaRPr lang="en-US" sz="1200" dirty="0"/>
          </a:p>
        </p:txBody>
      </p:sp>
      <p:sp>
        <p:nvSpPr>
          <p:cNvPr id="6" name="code-inline"/>
          <p:cNvSpPr/>
          <p:nvPr/>
        </p:nvSpPr>
        <p:spPr>
          <a:xfrm>
            <a:off x="649224" y="1581912"/>
            <a:ext cx="10890504" cy="594868"/>
          </a:xfrm>
          <a:prstGeom prst="roundRect">
            <a:avLst>
              <a:gd name="adj" fmla="val 18446"/>
            </a:avLst>
          </a:prstGeom>
          <a:solidFill>
            <a:schemeClr val="bg2"/>
          </a:solidFill>
          <a:ln/>
        </p:spPr>
      </p:sp>
      <p:sp>
        <p:nvSpPr>
          <p:cNvPr id="7" name="text"/>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/api/v1/posts?topic=TRAVEL&amp;keyword=제주&amp;sort=createdAt,desc&amp;page=0&amp;size=20</a:t>
            </a:r>
            <a:endParaRPr lang="en-US" sz="17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2013370"/>
                <a:gridCol w="4758876"/>
                <a:gridCol w="4118258"/>
              </a:tblGrid>
              <a:tr h="475488">
                <a:tc>
                  <a:txBody>
                    <a:bodyPr/>
                    <a:lstStyle/>
                    <a:p>
                      <a:pPr indent="0" marL="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검색</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topic=TRAVEL&amp;keyword=제주</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글만?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정렬</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sort=createdAt,desc</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순서로?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페이징</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page=0&amp;size=20</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몇 개씩, 몇 번째 묶음?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9" name="text"/>
          <p:cNvSpPr txBox="1"/>
          <p:nvPr/>
        </p:nvSpPr>
        <p:spPr>
          <a:xfrm>
            <a:off x="649224" y="5057140"/>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dirty="0">
                <a:solidFill>
                  <a:srgbClr val="3D3D3A"/>
                </a:solidFill>
              </a:rPr>
              <a:t>조건은 모두 물음표(?) 뒤에 이름=값으로 · 안 보내면 기본값 (최신순, 20개)</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목록 응답에는 페이지 정보를 같이</a:t>
            </a:r>
            <a:endParaRPr lang="en-US" sz="3200" dirty="0"/>
          </a:p>
        </p:txBody>
      </p:sp>
      <p:sp>
        <p:nvSpPr>
          <p:cNvPr id="4" name="code-window"/>
          <p:cNvSpPr/>
          <p:nvPr/>
        </p:nvSpPr>
        <p:spPr>
          <a:xfrm>
            <a:off x="649224" y="1581912"/>
            <a:ext cx="5584807" cy="3414395"/>
          </a:xfrm>
          <a:prstGeom prst="roundRect">
            <a:avLst>
              <a:gd name="adj" fmla="val 3214"/>
            </a:avLst>
          </a:prstGeom>
          <a:solidFill>
            <a:schemeClr val="tx2"/>
          </a:solidFill>
          <a:ln/>
        </p:spPr>
      </p:sp>
      <p:sp>
        <p:nvSpPr>
          <p:cNvPr id="5" name="code-window-dot"/>
          <p:cNvSpPr/>
          <p:nvPr/>
        </p:nvSpPr>
        <p:spPr>
          <a:xfrm>
            <a:off x="850392" y="1728216"/>
            <a:ext cx="100584" cy="100584"/>
          </a:xfrm>
          <a:prstGeom prst="ellipse">
            <a:avLst/>
          </a:prstGeom>
          <a:solidFill>
            <a:srgbClr val="4A4844"/>
          </a:solidFill>
          <a:ln/>
        </p:spPr>
      </p:sp>
      <p:sp>
        <p:nvSpPr>
          <p:cNvPr id="6" name="code-window-dot"/>
          <p:cNvSpPr/>
          <p:nvPr/>
        </p:nvSpPr>
        <p:spPr>
          <a:xfrm>
            <a:off x="1024128" y="1728216"/>
            <a:ext cx="100584" cy="100584"/>
          </a:xfrm>
          <a:prstGeom prst="ellipse">
            <a:avLst/>
          </a:prstGeom>
          <a:solidFill>
            <a:srgbClr val="4A4844"/>
          </a:solidFill>
          <a:ln/>
        </p:spPr>
      </p:sp>
      <p:sp>
        <p:nvSpPr>
          <p:cNvPr id="7" name="code-window-dot"/>
          <p:cNvSpPr/>
          <p:nvPr/>
        </p:nvSpPr>
        <p:spPr>
          <a:xfrm>
            <a:off x="1197864" y="1728216"/>
            <a:ext cx="100584" cy="100584"/>
          </a:xfrm>
          <a:prstGeom prst="ellipse">
            <a:avLst/>
          </a:prstGeom>
          <a:solidFill>
            <a:srgbClr val="4A4844"/>
          </a:solidFill>
          <a:ln/>
        </p:spPr>
      </p:sp>
      <p:sp>
        <p:nvSpPr>
          <p:cNvPr id="8" name="code-window-label"/>
          <p:cNvSpPr txBox="1"/>
          <p:nvPr/>
        </p:nvSpPr>
        <p:spPr>
          <a:xfrm>
            <a:off x="1472184" y="1673352"/>
            <a:ext cx="4578967"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GET /api/v1/posts?page=1&amp;size=20</a:t>
            </a:r>
            <a:endParaRPr lang="en-US" sz="1100" dirty="0"/>
          </a:p>
        </p:txBody>
      </p:sp>
      <p:sp>
        <p:nvSpPr>
          <p:cNvPr id="9" name="code-window-text"/>
          <p:cNvSpPr txBox="1"/>
          <p:nvPr/>
        </p:nvSpPr>
        <p:spPr>
          <a:xfrm>
            <a:off x="905256" y="2020824"/>
            <a:ext cx="5127607" cy="2865755"/>
          </a:xfrm>
          <a:prstGeom prst="rect">
            <a:avLst/>
          </a:prstGeom>
          <a:noFill/>
          <a:ln/>
        </p:spPr>
        <p:txBody>
          <a:bodyPr wrap="square" lIns="0" tIns="0" rIns="0" bIns="0" rtlCol="0" anchor="t"/>
          <a:lstStyle/>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"content":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 "id": 37, "title": "부산 맛집", ...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 "id": 36, "title": "제주 여행", ... },</a:t>
            </a:r>
            <a:endParaRPr lang="en-US" sz="1300" dirty="0"/>
          </a:p>
          <a:p>
            <a:pPr algn="l" indent="0" marL="0">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    ... 모두 20개</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"page":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"number": 1,</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"size": 20,</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"totalElements": 57,</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"totalPages": 3</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62631" y="1581912"/>
          <a:ext cx="5077097" cy="914400"/>
        </p:xfrm>
        <a:graphic>
          <a:graphicData uri="http://schemas.openxmlformats.org/drawingml/2006/table">
            <a:tbl>
              <a:tblPr/>
              <a:tblGrid>
                <a:gridCol w="1659820"/>
                <a:gridCol w="3417277"/>
              </a:tblGrid>
              <a:tr h="502920">
                <a:tc>
                  <a:txBody>
                    <a:bodyPr/>
                    <a:lstStyle/>
                    <a:p>
                      <a:pPr indent="0" marL="0">
                        <a:buNone/>
                      </a:pPr>
                      <a:r>
                        <a:rPr lang="en-US" sz="1200" dirty="0">
                          <a:solidFill>
                            <a:schemeClr val="accent3"/>
                          </a:solidFill>
                        </a:rPr>
                        <a:t>칸</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뜻</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content</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이번 묶음의 글 목록 (없으면 빈 배열 [])</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number</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지금 몇 번째 묶음 (0부터 → 화면엔 2쪽)</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size</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한 묶음에 몇 개</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totalElements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전체 글 수</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totalPages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전체 묶음 수 → 마지막 쪽 번호</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11" name="code-inline"/>
          <p:cNvSpPr/>
          <p:nvPr/>
        </p:nvSpPr>
        <p:spPr>
          <a:xfrm>
            <a:off x="649224" y="5224907"/>
            <a:ext cx="10890504" cy="594868"/>
          </a:xfrm>
          <a:prstGeom prst="roundRect">
            <a:avLst>
              <a:gd name="adj" fmla="val 18446"/>
            </a:avLst>
          </a:prstGeom>
          <a:solidFill>
            <a:schemeClr val="bg2"/>
          </a:solidFill>
          <a:ln/>
        </p:spPr>
      </p:sp>
      <p:sp>
        <p:nvSpPr>
          <p:cNvPr id="12" name="text"/>
          <p:cNvSpPr txBox="1"/>
          <p:nvPr/>
        </p:nvSpPr>
        <p:spPr>
          <a:xfrm>
            <a:off x="877824" y="5224907"/>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rPr>
              <a:t>서버가 제한할 것: size 최대 100 · 정렬은 정해 둔 필드만 · 정렬 조건이 없으면 최신순</a:t>
            </a:r>
            <a:endParaRPr lang="en-US" sz="17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API 문서: Swagger</a:t>
            </a:r>
            <a:endParaRPr lang="en-US" sz="3200" dirty="0"/>
          </a:p>
        </p:txBody>
      </p:sp>
      <p:sp>
        <p:nvSpPr>
          <p:cNvPr id="4" name="badge"/>
          <p:cNvSpPr/>
          <p:nvPr/>
        </p:nvSpPr>
        <p:spPr>
          <a:xfrm>
            <a:off x="10954512" y="384048"/>
            <a:ext cx="585216" cy="310896"/>
          </a:xfrm>
          <a:prstGeom prst="roundRect">
            <a:avLst>
              <a:gd name="adj" fmla="val 50000"/>
            </a:avLst>
          </a:prstGeom>
          <a:solidFill>
            <a:srgbClr val="E8E0D2"/>
          </a:solidFill>
          <a:ln/>
        </p:spPr>
      </p:sp>
      <p:sp>
        <p:nvSpPr>
          <p:cNvPr id="5" name="badge-text"/>
          <p:cNvSpPr txBox="1"/>
          <p:nvPr/>
        </p:nvSpPr>
        <p:spPr>
          <a:xfrm>
            <a:off x="10954512" y="384048"/>
            <a:ext cx="585216"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a:t>
            </a:r>
            <a:endParaRPr lang="en-US" sz="1200" dirty="0"/>
          </a:p>
        </p:txBody>
      </p:sp>
      <p:pic>
        <p:nvPicPr>
          <p:cNvPr id="6" name="screenshot" descr="/tmp/ccp-384-1ak2j7qu2q4.png">    </p:cNvPr>
          <p:cNvPicPr>
            <a:picLocks noChangeAspect="1"/>
          </p:cNvPicPr>
          <p:nvPr/>
        </p:nvPicPr>
        <p:blipFill>
          <a:blip r:embed="rId1"/>
          <a:stretch>
            <a:fillRect/>
          </a:stretch>
        </p:blipFill>
        <p:spPr>
          <a:xfrm>
            <a:off x="2624877" y="1581912"/>
            <a:ext cx="6939199" cy="4818888"/>
          </a:xfrm>
          <a:prstGeom prst="rect">
            <a:avLst/>
          </a:prstGeom>
        </p:spPr>
      </p:pic>
      <p:sp>
        <p:nvSpPr>
          <p:cNvPr id="7" name="screenshot-frame"/>
          <p:cNvSpPr/>
          <p:nvPr/>
        </p:nvSpPr>
        <p:spPr>
          <a:xfrm>
            <a:off x="2624877" y="1581912"/>
            <a:ext cx="6939199" cy="4818888"/>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Swagger에서 API 하나 펼치기</a:t>
            </a:r>
            <a:endParaRPr lang="en-US" sz="3200" dirty="0"/>
          </a:p>
        </p:txBody>
      </p:sp>
      <p:sp>
        <p:nvSpPr>
          <p:cNvPr id="4" name="badge"/>
          <p:cNvSpPr/>
          <p:nvPr/>
        </p:nvSpPr>
        <p:spPr>
          <a:xfrm>
            <a:off x="10954512" y="384048"/>
            <a:ext cx="585216" cy="310896"/>
          </a:xfrm>
          <a:prstGeom prst="roundRect">
            <a:avLst>
              <a:gd name="adj" fmla="val 50000"/>
            </a:avLst>
          </a:prstGeom>
          <a:solidFill>
            <a:srgbClr val="E8E0D2"/>
          </a:solidFill>
          <a:ln/>
        </p:spPr>
      </p:sp>
      <p:sp>
        <p:nvSpPr>
          <p:cNvPr id="5" name="badge-text"/>
          <p:cNvSpPr txBox="1"/>
          <p:nvPr/>
        </p:nvSpPr>
        <p:spPr>
          <a:xfrm>
            <a:off x="10954512" y="384048"/>
            <a:ext cx="585216"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a:t>
            </a:r>
            <a:endParaRPr lang="en-US" sz="1200" dirty="0"/>
          </a:p>
        </p:txBody>
      </p:sp>
      <p:pic>
        <p:nvPicPr>
          <p:cNvPr id="6" name="screenshot" descr="/tmp/ccp-384-j7rgb43fup9.png">    </p:cNvPr>
          <p:cNvPicPr>
            <a:picLocks noChangeAspect="1"/>
          </p:cNvPicPr>
          <p:nvPr/>
        </p:nvPicPr>
        <p:blipFill>
          <a:blip r:embed="rId1"/>
          <a:stretch>
            <a:fillRect/>
          </a:stretch>
        </p:blipFill>
        <p:spPr>
          <a:xfrm>
            <a:off x="649224" y="1581912"/>
            <a:ext cx="5330952" cy="4580068"/>
          </a:xfrm>
          <a:prstGeom prst="rect">
            <a:avLst/>
          </a:prstGeom>
        </p:spPr>
      </p:pic>
      <p:sp>
        <p:nvSpPr>
          <p:cNvPr id="7" name="screenshot-frame"/>
          <p:cNvSpPr/>
          <p:nvPr/>
        </p:nvSpPr>
        <p:spPr>
          <a:xfrm>
            <a:off x="649224" y="1581912"/>
            <a:ext cx="5330952" cy="4580068"/>
          </a:xfrm>
          <a:prstGeom prst="rect">
            <a:avLst/>
          </a:prstGeom>
          <a:ln w="9525">
            <a:solidFill>
              <a:srgbClr val="E6DFD8"/>
            </a:solidFill>
            <a:prstDash val="solid"/>
          </a:ln>
        </p:spPr>
      </p:sp>
      <p:pic>
        <p:nvPicPr>
          <p:cNvPr id="8" name="screenshot" descr="/tmp/ccp-384-igxtrha3u6d.png">    </p:cNvPr>
          <p:cNvPicPr>
            <a:picLocks noChangeAspect="1"/>
          </p:cNvPicPr>
          <p:nvPr/>
        </p:nvPicPr>
        <p:blipFill>
          <a:blip r:embed="rId2"/>
          <a:stretch>
            <a:fillRect/>
          </a:stretch>
        </p:blipFill>
        <p:spPr>
          <a:xfrm>
            <a:off x="6208776" y="1581912"/>
            <a:ext cx="5330952" cy="4580068"/>
          </a:xfrm>
          <a:prstGeom prst="rect">
            <a:avLst/>
          </a:prstGeom>
        </p:spPr>
      </p:pic>
      <p:sp>
        <p:nvSpPr>
          <p:cNvPr id="9" name="screenshot-frame"/>
          <p:cNvSpPr/>
          <p:nvPr/>
        </p:nvSpPr>
        <p:spPr>
          <a:xfrm>
            <a:off x="6208776" y="1581912"/>
            <a:ext cx="5330952" cy="4580068"/>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API 문서: Spring REST Docs</a:t>
            </a:r>
            <a:endParaRPr lang="en-US" sz="3200" dirty="0"/>
          </a:p>
        </p:txBody>
      </p:sp>
      <p:sp>
        <p:nvSpPr>
          <p:cNvPr id="4" name="badge"/>
          <p:cNvSpPr/>
          <p:nvPr/>
        </p:nvSpPr>
        <p:spPr>
          <a:xfrm>
            <a:off x="10954512" y="384048"/>
            <a:ext cx="585216" cy="310896"/>
          </a:xfrm>
          <a:prstGeom prst="roundRect">
            <a:avLst>
              <a:gd name="adj" fmla="val 50000"/>
            </a:avLst>
          </a:prstGeom>
          <a:solidFill>
            <a:srgbClr val="E8E0D2"/>
          </a:solidFill>
          <a:ln/>
        </p:spPr>
      </p:sp>
      <p:sp>
        <p:nvSpPr>
          <p:cNvPr id="5" name="badge-text"/>
          <p:cNvSpPr txBox="1"/>
          <p:nvPr/>
        </p:nvSpPr>
        <p:spPr>
          <a:xfrm>
            <a:off x="10954512" y="384048"/>
            <a:ext cx="585216"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a:t>
            </a:r>
            <a:endParaRPr lang="en-US" sz="1200" dirty="0"/>
          </a:p>
        </p:txBody>
      </p:sp>
      <p:pic>
        <p:nvPicPr>
          <p:cNvPr id="6" name="screenshot" descr="/tmp/ccp-384-nb7g88h57n.png">    </p:cNvPr>
          <p:cNvPicPr>
            <a:picLocks noChangeAspect="1"/>
          </p:cNvPicPr>
          <p:nvPr/>
        </p:nvPicPr>
        <p:blipFill>
          <a:blip r:embed="rId1"/>
          <a:stretch>
            <a:fillRect/>
          </a:stretch>
        </p:blipFill>
        <p:spPr>
          <a:xfrm>
            <a:off x="2239366" y="1581912"/>
            <a:ext cx="7710221" cy="4818888"/>
          </a:xfrm>
          <a:prstGeom prst="rect">
            <a:avLst/>
          </a:prstGeom>
        </p:spPr>
      </p:pic>
      <p:sp>
        <p:nvSpPr>
          <p:cNvPr id="7" name="screenshot-frame"/>
          <p:cNvSpPr/>
          <p:nvPr/>
        </p:nvSpPr>
        <p:spPr>
          <a:xfrm>
            <a:off x="2239366" y="1581912"/>
            <a:ext cx="7710221" cy="4818888"/>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공통 에러 형식: 글결 실제 응답</a:t>
            </a:r>
            <a:endParaRPr lang="en-US" sz="3200" dirty="0"/>
          </a:p>
        </p:txBody>
      </p:sp>
      <p:sp>
        <p:nvSpPr>
          <p:cNvPr id="4" name="badge"/>
          <p:cNvSpPr/>
          <p:nvPr/>
        </p:nvSpPr>
        <p:spPr>
          <a:xfrm>
            <a:off x="10954512" y="384048"/>
            <a:ext cx="585216" cy="310896"/>
          </a:xfrm>
          <a:prstGeom prst="roundRect">
            <a:avLst>
              <a:gd name="adj" fmla="val 50000"/>
            </a:avLst>
          </a:prstGeom>
          <a:solidFill>
            <a:srgbClr val="E8E0D2"/>
          </a:solidFill>
          <a:ln/>
        </p:spPr>
      </p:sp>
      <p:sp>
        <p:nvSpPr>
          <p:cNvPr id="5" name="badge-text"/>
          <p:cNvSpPr txBox="1"/>
          <p:nvPr/>
        </p:nvSpPr>
        <p:spPr>
          <a:xfrm>
            <a:off x="10954512" y="384048"/>
            <a:ext cx="585216"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a:t>
            </a:r>
            <a:endParaRPr lang="en-US" sz="1200" dirty="0"/>
          </a:p>
        </p:txBody>
      </p:sp>
      <p:pic>
        <p:nvPicPr>
          <p:cNvPr id="6" name="screenshot" descr="/tmp/ccp-384-acijlp2sh1v.png">    </p:cNvPr>
          <p:cNvPicPr>
            <a:picLocks noChangeAspect="1"/>
          </p:cNvPicPr>
          <p:nvPr/>
        </p:nvPicPr>
        <p:blipFill>
          <a:blip r:embed="rId1"/>
          <a:stretch>
            <a:fillRect/>
          </a:stretch>
        </p:blipFill>
        <p:spPr>
          <a:xfrm>
            <a:off x="649224" y="1581912"/>
            <a:ext cx="10890504" cy="3825290"/>
          </a:xfrm>
          <a:prstGeom prst="rect">
            <a:avLst/>
          </a:prstGeom>
        </p:spPr>
      </p:pic>
      <p:sp>
        <p:nvSpPr>
          <p:cNvPr id="7" name="screenshot-frame"/>
          <p:cNvSpPr/>
          <p:nvPr/>
        </p:nvSpPr>
        <p:spPr>
          <a:xfrm>
            <a:off x="649224" y="1581912"/>
            <a:ext cx="10890504" cy="3825290"/>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bg1"/>
                </a:solidFill>
              </a:rPr>
              <a:t>한 장 요약</a:t>
            </a:r>
            <a:endParaRPr lang="en-US" sz="3200" dirty="0"/>
          </a:p>
        </p:txBody>
      </p:sp>
      <p:sp>
        <p:nvSpPr>
          <p:cNvPr id="3" name="text"/>
          <p:cNvSpPr txBox="1"/>
          <p:nvPr/>
        </p:nvSpPr>
        <p:spPr>
          <a:xfrm>
            <a:off x="649224" y="1581912"/>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무엇</a:t>
            </a:r>
            <a:endParaRPr lang="en-US" sz="2000" dirty="0"/>
          </a:p>
        </p:txBody>
      </p:sp>
      <p:sp>
        <p:nvSpPr>
          <p:cNvPr id="4" name="text"/>
          <p:cNvSpPr txBox="1"/>
          <p:nvPr/>
        </p:nvSpPr>
        <p:spPr>
          <a:xfrm>
            <a:off x="2935224" y="1581912"/>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URL = 명사 · 복수형  /posts/42</a:t>
            </a:r>
            <a:endParaRPr lang="en-US" sz="2000" dirty="0"/>
          </a:p>
        </p:txBody>
      </p:sp>
      <p:sp>
        <p:nvSpPr>
          <p:cNvPr id="5" name="text"/>
          <p:cNvSpPr txBox="1"/>
          <p:nvPr/>
        </p:nvSpPr>
        <p:spPr>
          <a:xfrm>
            <a:off x="649224" y="2203704"/>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어떻게</a:t>
            </a:r>
            <a:endParaRPr lang="en-US" sz="2000" dirty="0"/>
          </a:p>
        </p:txBody>
      </p:sp>
      <p:sp>
        <p:nvSpPr>
          <p:cNvPr id="6" name="text"/>
          <p:cNvSpPr txBox="1"/>
          <p:nvPr/>
        </p:nvSpPr>
        <p:spPr>
          <a:xfrm>
            <a:off x="2935224" y="2203704"/>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메서드 = 조회 · 생성 · 수정 · 삭제</a:t>
            </a:r>
            <a:endParaRPr lang="en-US" sz="2000" dirty="0"/>
          </a:p>
        </p:txBody>
      </p:sp>
      <p:sp>
        <p:nvSpPr>
          <p:cNvPr id="7" name="text"/>
          <p:cNvSpPr txBox="1"/>
          <p:nvPr/>
        </p:nvSpPr>
        <p:spPr>
          <a:xfrm>
            <a:off x="649224" y="2825496"/>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입력 검증</a:t>
            </a:r>
            <a:endParaRPr lang="en-US" sz="2000" dirty="0"/>
          </a:p>
        </p:txBody>
      </p:sp>
      <p:sp>
        <p:nvSpPr>
          <p:cNvPr id="8" name="text"/>
          <p:cNvSpPr txBox="1"/>
          <p:nvPr/>
        </p:nvSpPr>
        <p:spPr>
          <a:xfrm>
            <a:off x="2935224" y="2825496"/>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@Valid · 서버가 반드시 다시</a:t>
            </a:r>
            <a:endParaRPr lang="en-US" sz="2000" dirty="0"/>
          </a:p>
        </p:txBody>
      </p:sp>
      <p:sp>
        <p:nvSpPr>
          <p:cNvPr id="9" name="text"/>
          <p:cNvSpPr txBox="1"/>
          <p:nvPr/>
        </p:nvSpPr>
        <p:spPr>
          <a:xfrm>
            <a:off x="649224" y="3447288"/>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예외</a:t>
            </a:r>
            <a:endParaRPr lang="en-US" sz="2000" dirty="0"/>
          </a:p>
        </p:txBody>
      </p:sp>
      <p:sp>
        <p:nvSpPr>
          <p:cNvPr id="10" name="text"/>
          <p:cNvSpPr txBox="1"/>
          <p:nvPr/>
        </p:nvSpPr>
        <p:spPr>
          <a:xfrm>
            <a:off x="2935224" y="3447288"/>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@RestControllerAdvice 한곳에서 같은 에러 형식</a:t>
            </a:r>
            <a:endParaRPr lang="en-US" sz="2000" dirty="0"/>
          </a:p>
        </p:txBody>
      </p:sp>
      <p:sp>
        <p:nvSpPr>
          <p:cNvPr id="11" name="text"/>
          <p:cNvSpPr txBox="1"/>
          <p:nvPr/>
        </p:nvSpPr>
        <p:spPr>
          <a:xfrm>
            <a:off x="649224" y="4069080"/>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결과</a:t>
            </a:r>
            <a:endParaRPr lang="en-US" sz="2000" dirty="0"/>
          </a:p>
        </p:txBody>
      </p:sp>
      <p:sp>
        <p:nvSpPr>
          <p:cNvPr id="12" name="text"/>
          <p:cNvSpPr txBox="1"/>
          <p:nvPr/>
        </p:nvSpPr>
        <p:spPr>
          <a:xfrm>
            <a:off x="2935224" y="4069080"/>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상태 코드 + 하나의 응답 모양</a:t>
            </a:r>
            <a:endParaRPr lang="en-US" sz="2000" dirty="0"/>
          </a:p>
        </p:txBody>
      </p:sp>
      <p:sp>
        <p:nvSpPr>
          <p:cNvPr id="13" name="text"/>
          <p:cNvSpPr txBox="1"/>
          <p:nvPr/>
        </p:nvSpPr>
        <p:spPr>
          <a:xfrm>
            <a:off x="649224" y="4690872"/>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목록</a:t>
            </a:r>
            <a:endParaRPr lang="en-US" sz="2000" dirty="0"/>
          </a:p>
        </p:txBody>
      </p:sp>
      <p:sp>
        <p:nvSpPr>
          <p:cNvPr id="14" name="text"/>
          <p:cNvSpPr txBox="1"/>
          <p:nvPr/>
        </p:nvSpPr>
        <p:spPr>
          <a:xfrm>
            <a:off x="2935224" y="4690872"/>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?page=0&amp;size=20&amp;sort=createdAt,desc 처럼 쿼리로</a:t>
            </a:r>
            <a:endParaRPr lang="en-US" sz="2000" dirty="0"/>
          </a:p>
        </p:txBody>
      </p:sp>
      <p:sp>
        <p:nvSpPr>
          <p:cNvPr id="15" name="text"/>
          <p:cNvSpPr txBox="1"/>
          <p:nvPr/>
        </p:nvSpPr>
        <p:spPr>
          <a:xfrm>
            <a:off x="649224" y="5312664"/>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문서</a:t>
            </a:r>
            <a:endParaRPr lang="en-US" sz="2000" dirty="0"/>
          </a:p>
        </p:txBody>
      </p:sp>
      <p:sp>
        <p:nvSpPr>
          <p:cNvPr id="16" name="text"/>
          <p:cNvSpPr txBox="1"/>
          <p:nvPr/>
        </p:nvSpPr>
        <p:spPr>
          <a:xfrm>
            <a:off x="2935224" y="5312664"/>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이 규칙을 모두 미리 적어 둔다</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요청과 응답의 구조</a:t>
            </a:r>
            <a:endParaRPr lang="en-US" sz="3200" dirty="0"/>
          </a:p>
        </p:txBody>
      </p:sp>
      <p:sp>
        <p:nvSpPr>
          <p:cNvPr id="4" name="code-window"/>
          <p:cNvSpPr/>
          <p:nvPr/>
        </p:nvSpPr>
        <p:spPr>
          <a:xfrm>
            <a:off x="649224" y="1581912"/>
            <a:ext cx="5330952" cy="3176270"/>
          </a:xfrm>
          <a:prstGeom prst="roundRect">
            <a:avLst>
              <a:gd name="adj" fmla="val 3455"/>
            </a:avLst>
          </a:prstGeom>
          <a:solidFill>
            <a:schemeClr val="tx2"/>
          </a:solidFill>
          <a:ln/>
        </p:spPr>
      </p:sp>
      <p:sp>
        <p:nvSpPr>
          <p:cNvPr id="5" name="code-window-dot"/>
          <p:cNvSpPr/>
          <p:nvPr/>
        </p:nvSpPr>
        <p:spPr>
          <a:xfrm>
            <a:off x="850392" y="1728216"/>
            <a:ext cx="100584" cy="100584"/>
          </a:xfrm>
          <a:prstGeom prst="ellipse">
            <a:avLst/>
          </a:prstGeom>
          <a:solidFill>
            <a:srgbClr val="4A4844"/>
          </a:solidFill>
          <a:ln/>
        </p:spPr>
      </p:sp>
      <p:sp>
        <p:nvSpPr>
          <p:cNvPr id="6" name="code-window-dot"/>
          <p:cNvSpPr/>
          <p:nvPr/>
        </p:nvSpPr>
        <p:spPr>
          <a:xfrm>
            <a:off x="1024128" y="1728216"/>
            <a:ext cx="100584" cy="100584"/>
          </a:xfrm>
          <a:prstGeom prst="ellipse">
            <a:avLst/>
          </a:prstGeom>
          <a:solidFill>
            <a:srgbClr val="4A4844"/>
          </a:solidFill>
          <a:ln/>
        </p:spPr>
      </p:sp>
      <p:sp>
        <p:nvSpPr>
          <p:cNvPr id="7" name="code-window-dot"/>
          <p:cNvSpPr/>
          <p:nvPr/>
        </p:nvSpPr>
        <p:spPr>
          <a:xfrm>
            <a:off x="1197864" y="1728216"/>
            <a:ext cx="100584" cy="100584"/>
          </a:xfrm>
          <a:prstGeom prst="ellipse">
            <a:avLst/>
          </a:prstGeom>
          <a:solidFill>
            <a:srgbClr val="4A4844"/>
          </a:solidFill>
          <a:ln/>
        </p:spPr>
      </p:sp>
      <p:sp>
        <p:nvSpPr>
          <p:cNvPr id="8" name="code-window-label"/>
          <p:cNvSpPr txBox="1"/>
          <p:nvPr/>
        </p:nvSpPr>
        <p:spPr>
          <a:xfrm>
            <a:off x="1472184"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요청: 클라이언트 → 서버</a:t>
            </a:r>
            <a:endParaRPr lang="en-US" sz="1100" dirty="0"/>
          </a:p>
        </p:txBody>
      </p:sp>
      <p:sp>
        <p:nvSpPr>
          <p:cNvPr id="9" name="code-window-text"/>
          <p:cNvSpPr txBox="1"/>
          <p:nvPr/>
        </p:nvSpPr>
        <p:spPr>
          <a:xfrm>
            <a:off x="905256" y="2020824"/>
            <a:ext cx="4873752" cy="2627630"/>
          </a:xfrm>
          <a:prstGeom prst="rect">
            <a:avLst/>
          </a:prstGeom>
          <a:noFill/>
          <a:ln/>
        </p:spPr>
        <p:txBody>
          <a:bodyPr wrap="square" lIns="0" tIns="0" rIns="0" bIns="0" rtlCol="0" anchor="t"/>
          <a:lstStyle/>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POST /api/v1/posts</a:t>
            </a:r>
            <a:endParaRPr lang="en-US" sz="1400" dirty="0"/>
          </a:p>
          <a:p>
            <a:pPr algn="l" indent="0" marL="0">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Content-Type: application/json</a:t>
            </a:r>
            <a:endParaRPr lang="en-US" sz="1400" dirty="0"/>
          </a:p>
          <a:p>
            <a:pPr algn="l" indent="0" marL="0">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Authorization: Bearer eyJhb…</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"title": "부산 맛집",</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"content": "돼지국밥"</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a:t>
            </a:r>
            <a:endParaRPr lang="en-US" sz="1400" dirty="0"/>
          </a:p>
        </p:txBody>
      </p:sp>
      <p:sp>
        <p:nvSpPr>
          <p:cNvPr id="10" name="code-window"/>
          <p:cNvSpPr/>
          <p:nvPr/>
        </p:nvSpPr>
        <p:spPr>
          <a:xfrm>
            <a:off x="6208776" y="1581912"/>
            <a:ext cx="5330952" cy="3176270"/>
          </a:xfrm>
          <a:prstGeom prst="roundRect">
            <a:avLst>
              <a:gd name="adj" fmla="val 3455"/>
            </a:avLst>
          </a:prstGeom>
          <a:solidFill>
            <a:schemeClr val="tx2"/>
          </a:solidFill>
          <a:ln/>
        </p:spPr>
      </p:sp>
      <p:sp>
        <p:nvSpPr>
          <p:cNvPr id="11" name="code-window-dot"/>
          <p:cNvSpPr/>
          <p:nvPr/>
        </p:nvSpPr>
        <p:spPr>
          <a:xfrm>
            <a:off x="6409944" y="1728216"/>
            <a:ext cx="100584" cy="100584"/>
          </a:xfrm>
          <a:prstGeom prst="ellipse">
            <a:avLst/>
          </a:prstGeom>
          <a:solidFill>
            <a:srgbClr val="4A4844"/>
          </a:solidFill>
          <a:ln/>
        </p:spPr>
      </p:sp>
      <p:sp>
        <p:nvSpPr>
          <p:cNvPr id="12" name="code-window-dot"/>
          <p:cNvSpPr/>
          <p:nvPr/>
        </p:nvSpPr>
        <p:spPr>
          <a:xfrm>
            <a:off x="6583680" y="1728216"/>
            <a:ext cx="100584" cy="100584"/>
          </a:xfrm>
          <a:prstGeom prst="ellipse">
            <a:avLst/>
          </a:prstGeom>
          <a:solidFill>
            <a:srgbClr val="4A4844"/>
          </a:solidFill>
          <a:ln/>
        </p:spPr>
      </p:sp>
      <p:sp>
        <p:nvSpPr>
          <p:cNvPr id="13" name="code-window-dot"/>
          <p:cNvSpPr/>
          <p:nvPr/>
        </p:nvSpPr>
        <p:spPr>
          <a:xfrm>
            <a:off x="6757416" y="1728216"/>
            <a:ext cx="100584" cy="100584"/>
          </a:xfrm>
          <a:prstGeom prst="ellipse">
            <a:avLst/>
          </a:prstGeom>
          <a:solidFill>
            <a:srgbClr val="4A4844"/>
          </a:solidFill>
          <a:ln/>
        </p:spPr>
      </p:sp>
      <p:sp>
        <p:nvSpPr>
          <p:cNvPr id="14" name="code-window-label"/>
          <p:cNvSpPr txBox="1"/>
          <p:nvPr/>
        </p:nvSpPr>
        <p:spPr>
          <a:xfrm>
            <a:off x="7031736"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응답: 서버 → 클라이언트 (예제 서버 실제 응답)</a:t>
            </a:r>
            <a:endParaRPr lang="en-US" sz="1100" dirty="0"/>
          </a:p>
        </p:txBody>
      </p:sp>
      <p:sp>
        <p:nvSpPr>
          <p:cNvPr id="15" name="code-window-text"/>
          <p:cNvSpPr txBox="1"/>
          <p:nvPr/>
        </p:nvSpPr>
        <p:spPr>
          <a:xfrm>
            <a:off x="6464808" y="2020824"/>
            <a:ext cx="4873752" cy="2627630"/>
          </a:xfrm>
          <a:prstGeom prst="rect">
            <a:avLst/>
          </a:prstGeom>
          <a:noFill/>
          <a:ln/>
        </p:spPr>
        <p:txBody>
          <a:bodyPr wrap="square" lIns="0" tIns="0" rIns="0" bIns="0" rtlCol="0" anchor="t"/>
          <a:lstStyle/>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curl -i -X POST …/api/v1/posts</a:t>
            </a:r>
            <a:endParaRPr lang="en-US" sz="1400" dirty="0"/>
          </a:p>
          <a:p>
            <a:pPr algn="l" indent="0" marL="0">
              <a:lnSpc>
                <a:spcPct val="105000"/>
              </a:lnSpc>
              <a:buNone/>
            </a:pPr>
            <a:r>
              <a:rPr lang="en-US" sz="1400" dirty="0">
                <a:solidFill>
                  <a:srgbClr val="5DB872"/>
                </a:solidFill>
                <a:latin typeface="JetBrains Mono" pitchFamily="34" charset="0"/>
                <a:ea typeface="JetBrains Mono" pitchFamily="34" charset="-122"/>
                <a:cs typeface="JetBrains Mono" pitchFamily="34" charset="-120"/>
              </a:rPr>
              <a:t>HTTP/1.1 201</a:t>
            </a:r>
            <a:endParaRPr lang="en-US" sz="1400" dirty="0"/>
          </a:p>
          <a:p>
            <a:pPr algn="l" indent="0" marL="0">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Location: /api/v1/posts/43</a:t>
            </a:r>
            <a:endParaRPr lang="en-US" sz="1400" dirty="0"/>
          </a:p>
          <a:p>
            <a:pPr algn="l" indent="0" marL="0">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Content-Type: application/json</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"id": 43,</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"title": "부산 맛집",</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"content": "돼지국밥",</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"createdAt": "2026-10-16T13:30:00"</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a:t>
            </a:r>
            <a:endParaRPr lang="en-US" sz="1400" dirty="0"/>
          </a:p>
        </p:txBody>
      </p:sp>
      <p:sp>
        <p:nvSpPr>
          <p:cNvPr id="16" name="text"/>
          <p:cNvSpPr txBox="1"/>
          <p:nvPr/>
        </p:nvSpPr>
        <p:spPr>
          <a:xfrm>
            <a:off x="649224" y="4986782"/>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rPr>
              <a:t>요청  </a:t>
            </a:r>
            <a:pPr algn="l" indent="0" marL="0">
              <a:lnSpc>
                <a:spcPct val="115000"/>
              </a:lnSpc>
              <a:spcAft>
                <a:spcPts val="600"/>
              </a:spcAft>
              <a:buNone/>
            </a:pPr>
            <a:r>
              <a:rPr lang="en-US" sz="1800" dirty="0">
                <a:solidFill>
                  <a:srgbClr val="3D3D3A"/>
                </a:solidFill>
              </a:rPr>
              <a:t>메서드 + 주소 + 헤더 + 바디      </a:t>
            </a:r>
            <a:pPr algn="l" indent="0" marL="0">
              <a:lnSpc>
                <a:spcPct val="115000"/>
              </a:lnSpc>
              <a:spcAft>
                <a:spcPts val="600"/>
              </a:spcAft>
              <a:buNone/>
            </a:pPr>
            <a:r>
              <a:rPr lang="en-US" sz="1800" b="1" dirty="0">
                <a:solidFill>
                  <a:srgbClr val="3D3D3A"/>
                </a:solidFill>
              </a:rPr>
              <a:t>응답  </a:t>
            </a:r>
            <a:pPr algn="l" indent="0" marL="0">
              <a:lnSpc>
                <a:spcPct val="115000"/>
              </a:lnSpc>
              <a:spcAft>
                <a:spcPts val="600"/>
              </a:spcAft>
              <a:buNone/>
            </a:pPr>
            <a:r>
              <a:rPr lang="en-US" sz="1800" dirty="0">
                <a:solidFill>
                  <a:srgbClr val="3D3D3A"/>
                </a:solidFill>
              </a:rPr>
              <a:t>상태 코드 + 헤더 + 바디</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위 id를 빼도 되는 경우</a:t>
            </a:r>
            <a:endParaRPr lang="en-US" sz="3200" dirty="0"/>
          </a:p>
        </p:txBody>
      </p:sp>
      <p:sp>
        <p:nvSpPr>
          <p:cNvPr id="4" name="code-window"/>
          <p:cNvSpPr/>
          <p:nvPr/>
        </p:nvSpPr>
        <p:spPr>
          <a:xfrm>
            <a:off x="649224" y="1581912"/>
            <a:ext cx="5330952" cy="2287270"/>
          </a:xfrm>
          <a:prstGeom prst="roundRect">
            <a:avLst>
              <a:gd name="adj" fmla="val 4797"/>
            </a:avLst>
          </a:prstGeom>
          <a:solidFill>
            <a:schemeClr val="tx2"/>
          </a:solidFill>
          <a:ln/>
        </p:spPr>
      </p:sp>
      <p:sp>
        <p:nvSpPr>
          <p:cNvPr id="5" name="code-window-dot"/>
          <p:cNvSpPr/>
          <p:nvPr/>
        </p:nvSpPr>
        <p:spPr>
          <a:xfrm>
            <a:off x="850392" y="1728216"/>
            <a:ext cx="100584" cy="100584"/>
          </a:xfrm>
          <a:prstGeom prst="ellipse">
            <a:avLst/>
          </a:prstGeom>
          <a:solidFill>
            <a:srgbClr val="4A4844"/>
          </a:solidFill>
          <a:ln/>
        </p:spPr>
      </p:sp>
      <p:sp>
        <p:nvSpPr>
          <p:cNvPr id="6" name="code-window-dot"/>
          <p:cNvSpPr/>
          <p:nvPr/>
        </p:nvSpPr>
        <p:spPr>
          <a:xfrm>
            <a:off x="1024128" y="1728216"/>
            <a:ext cx="100584" cy="100584"/>
          </a:xfrm>
          <a:prstGeom prst="ellipse">
            <a:avLst/>
          </a:prstGeom>
          <a:solidFill>
            <a:srgbClr val="4A4844"/>
          </a:solidFill>
          <a:ln/>
        </p:spPr>
      </p:sp>
      <p:sp>
        <p:nvSpPr>
          <p:cNvPr id="7" name="code-window-dot"/>
          <p:cNvSpPr/>
          <p:nvPr/>
        </p:nvSpPr>
        <p:spPr>
          <a:xfrm>
            <a:off x="1197864" y="1728216"/>
            <a:ext cx="100584" cy="100584"/>
          </a:xfrm>
          <a:prstGeom prst="ellipse">
            <a:avLst/>
          </a:prstGeom>
          <a:solidFill>
            <a:srgbClr val="4A4844"/>
          </a:solidFill>
          <a:ln/>
        </p:spPr>
      </p:sp>
      <p:sp>
        <p:nvSpPr>
          <p:cNvPr id="8" name="code-window-label"/>
          <p:cNvSpPr txBox="1"/>
          <p:nvPr/>
        </p:nvSpPr>
        <p:spPr>
          <a:xfrm>
            <a:off x="1472184"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블로그 댓글: GET /comments/7</a:t>
            </a:r>
            <a:endParaRPr lang="en-US" sz="1100" dirty="0"/>
          </a:p>
        </p:txBody>
      </p:sp>
      <p:sp>
        <p:nvSpPr>
          <p:cNvPr id="9" name="code-window-text"/>
          <p:cNvSpPr txBox="1"/>
          <p:nvPr/>
        </p:nvSpPr>
        <p:spPr>
          <a:xfrm>
            <a:off x="905256" y="2020824"/>
            <a:ext cx="4873752" cy="1738630"/>
          </a:xfrm>
          <a:prstGeom prst="rect">
            <a:avLst/>
          </a:prstGeom>
          <a:noFill/>
          <a:ln/>
        </p:spPr>
        <p:txBody>
          <a:bodyPr wrap="square" lIns="0" tIns="0" rIns="0" bIns="0" rtlCol="0" anchor="t"/>
          <a:lstStyle/>
          <a:p>
            <a:pPr algn="l" indent="0" marL="0">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id   post_id   content</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6    99        잘 봤습니다</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7    42        감사합니다</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8    99        궁금한 점이…</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SELECT * FROM comments WHERE id = 7</a:t>
            </a:r>
            <a:endParaRPr lang="en-US" sz="1400" dirty="0"/>
          </a:p>
          <a:p>
            <a:pPr algn="l" indent="0" marL="0">
              <a:lnSpc>
                <a:spcPct val="105000"/>
              </a:lnSpc>
              <a:buNone/>
            </a:pPr>
            <a:r>
              <a:rPr lang="en-US" sz="1400" dirty="0">
                <a:solidFill>
                  <a:srgbClr val="5DB872"/>
                </a:solidFill>
                <a:latin typeface="JetBrains Mono" pitchFamily="34" charset="0"/>
                <a:ea typeface="JetBrains Mono" pitchFamily="34" charset="-122"/>
                <a:cs typeface="JetBrains Mono" pitchFamily="34" charset="-120"/>
              </a:rPr>
              <a:t>→ 한 줄. 그 줄에 post_id = 42도 있음</a:t>
            </a:r>
            <a:endParaRPr lang="en-US" sz="1400" dirty="0"/>
          </a:p>
        </p:txBody>
      </p:sp>
      <p:sp>
        <p:nvSpPr>
          <p:cNvPr id="10" name="code-window"/>
          <p:cNvSpPr/>
          <p:nvPr/>
        </p:nvSpPr>
        <p:spPr>
          <a:xfrm>
            <a:off x="6208776" y="1581912"/>
            <a:ext cx="5330952" cy="2287270"/>
          </a:xfrm>
          <a:prstGeom prst="roundRect">
            <a:avLst>
              <a:gd name="adj" fmla="val 4797"/>
            </a:avLst>
          </a:prstGeom>
          <a:solidFill>
            <a:schemeClr val="tx2"/>
          </a:solidFill>
          <a:ln/>
        </p:spPr>
      </p:sp>
      <p:sp>
        <p:nvSpPr>
          <p:cNvPr id="11" name="code-window-dot"/>
          <p:cNvSpPr/>
          <p:nvPr/>
        </p:nvSpPr>
        <p:spPr>
          <a:xfrm>
            <a:off x="6409944" y="1728216"/>
            <a:ext cx="100584" cy="100584"/>
          </a:xfrm>
          <a:prstGeom prst="ellipse">
            <a:avLst/>
          </a:prstGeom>
          <a:solidFill>
            <a:srgbClr val="4A4844"/>
          </a:solidFill>
          <a:ln/>
        </p:spPr>
      </p:sp>
      <p:sp>
        <p:nvSpPr>
          <p:cNvPr id="12" name="code-window-dot"/>
          <p:cNvSpPr/>
          <p:nvPr/>
        </p:nvSpPr>
        <p:spPr>
          <a:xfrm>
            <a:off x="6583680" y="1728216"/>
            <a:ext cx="100584" cy="100584"/>
          </a:xfrm>
          <a:prstGeom prst="ellipse">
            <a:avLst/>
          </a:prstGeom>
          <a:solidFill>
            <a:srgbClr val="4A4844"/>
          </a:solidFill>
          <a:ln/>
        </p:spPr>
      </p:sp>
      <p:sp>
        <p:nvSpPr>
          <p:cNvPr id="13" name="code-window-dot"/>
          <p:cNvSpPr/>
          <p:nvPr/>
        </p:nvSpPr>
        <p:spPr>
          <a:xfrm>
            <a:off x="6757416" y="1728216"/>
            <a:ext cx="100584" cy="100584"/>
          </a:xfrm>
          <a:prstGeom prst="ellipse">
            <a:avLst/>
          </a:prstGeom>
          <a:solidFill>
            <a:srgbClr val="4A4844"/>
          </a:solidFill>
          <a:ln/>
        </p:spPr>
      </p:sp>
      <p:sp>
        <p:nvSpPr>
          <p:cNvPr id="14" name="code-window-label"/>
          <p:cNvSpPr txBox="1"/>
          <p:nvPr/>
        </p:nvSpPr>
        <p:spPr>
          <a:xfrm>
            <a:off x="7031736"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GitHub 이슈: GET /repos/react/issues/12</a:t>
            </a:r>
            <a:endParaRPr lang="en-US" sz="1100" dirty="0"/>
          </a:p>
        </p:txBody>
      </p:sp>
      <p:sp>
        <p:nvSpPr>
          <p:cNvPr id="15" name="code-window-text"/>
          <p:cNvSpPr txBox="1"/>
          <p:nvPr/>
        </p:nvSpPr>
        <p:spPr>
          <a:xfrm>
            <a:off x="6464808" y="2020824"/>
            <a:ext cx="4873752" cy="1738630"/>
          </a:xfrm>
          <a:prstGeom prst="rect">
            <a:avLst/>
          </a:prstGeom>
          <a:noFill/>
          <a:ln/>
        </p:spPr>
        <p:txBody>
          <a:bodyPr wrap="square" lIns="0" tIns="0" rIns="0" bIns="0" rtlCol="0" anchor="t"/>
          <a:lstStyle/>
          <a:p>
            <a:pPr algn="l" indent="0" marL="0">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repo          number   title</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spring-boot   1        첫 이슈</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spring-boot   12       로그인 오류</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react         12       화면 깨짐</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SELECT * FROM issues WHERE number = 12</a:t>
            </a:r>
            <a:endParaRPr lang="en-US" sz="1400" dirty="0"/>
          </a:p>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 두 줄. 어느 것인지 모름</a:t>
            </a:r>
            <a:endParaRPr lang="en-US" sz="1400" dirty="0"/>
          </a:p>
        </p:txBody>
      </p:sp>
      <p:sp>
        <p:nvSpPr>
          <p:cNvPr id="16" name="code-inline"/>
          <p:cNvSpPr/>
          <p:nvPr/>
        </p:nvSpPr>
        <p:spPr>
          <a:xfrm>
            <a:off x="649224" y="4097782"/>
            <a:ext cx="10890504" cy="612648"/>
          </a:xfrm>
          <a:prstGeom prst="roundRect">
            <a:avLst>
              <a:gd name="adj" fmla="val 17910"/>
            </a:avLst>
          </a:prstGeom>
          <a:solidFill>
            <a:schemeClr val="bg2"/>
          </a:solidFill>
          <a:ln/>
        </p:spPr>
      </p:sp>
      <p:sp>
        <p:nvSpPr>
          <p:cNvPr id="17" name="text"/>
          <p:cNvSpPr txBox="1"/>
          <p:nvPr/>
        </p:nvSpPr>
        <p:spPr>
          <a:xfrm>
            <a:off x="877824" y="4097782"/>
            <a:ext cx="10433304" cy="612648"/>
          </a:xfrm>
          <a:prstGeom prst="rect">
            <a:avLst/>
          </a:prstGeom>
          <a:noFill/>
          <a:ln/>
        </p:spPr>
        <p:txBody>
          <a:bodyPr wrap="square" lIns="0" tIns="0" rIns="0" bIns="0" rtlCol="0" anchor="ctr"/>
          <a:lstStyle/>
          <a:p>
            <a:pPr algn="l" indent="0" marL="0">
              <a:lnSpc>
                <a:spcPct val="100000"/>
              </a:lnSpc>
              <a:buNone/>
            </a:pPr>
            <a:r>
              <a:rPr lang="en-US" sz="1800" dirty="0">
                <a:solidFill>
                  <a:schemeClr val="tx1"/>
                </a:solidFill>
              </a:rPr>
              <a:t>위 id를 서버가 스스로 알아낼 수 있으면 빼도 되고, 알아낼 수 없으면 주소에 넣는다</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멱등성</a:t>
            </a:r>
            <a:endParaRPr lang="en-US" sz="3200" dirty="0"/>
          </a:p>
        </p:txBody>
      </p:sp>
      <p:sp>
        <p:nvSpPr>
          <p:cNvPr id="4" name="code-window"/>
          <p:cNvSpPr/>
          <p:nvPr/>
        </p:nvSpPr>
        <p:spPr>
          <a:xfrm>
            <a:off x="649224" y="1581912"/>
            <a:ext cx="5330952" cy="2160270"/>
          </a:xfrm>
          <a:prstGeom prst="roundRect">
            <a:avLst>
              <a:gd name="adj" fmla="val 5079"/>
            </a:avLst>
          </a:prstGeom>
          <a:solidFill>
            <a:schemeClr val="tx2"/>
          </a:solidFill>
          <a:ln/>
        </p:spPr>
      </p:sp>
      <p:sp>
        <p:nvSpPr>
          <p:cNvPr id="5" name="code-window-dot"/>
          <p:cNvSpPr/>
          <p:nvPr/>
        </p:nvSpPr>
        <p:spPr>
          <a:xfrm>
            <a:off x="850392" y="1728216"/>
            <a:ext cx="100584" cy="100584"/>
          </a:xfrm>
          <a:prstGeom prst="ellipse">
            <a:avLst/>
          </a:prstGeom>
          <a:solidFill>
            <a:srgbClr val="4A4844"/>
          </a:solidFill>
          <a:ln/>
        </p:spPr>
      </p:sp>
      <p:sp>
        <p:nvSpPr>
          <p:cNvPr id="6" name="code-window-dot"/>
          <p:cNvSpPr/>
          <p:nvPr/>
        </p:nvSpPr>
        <p:spPr>
          <a:xfrm>
            <a:off x="1024128" y="1728216"/>
            <a:ext cx="100584" cy="100584"/>
          </a:xfrm>
          <a:prstGeom prst="ellipse">
            <a:avLst/>
          </a:prstGeom>
          <a:solidFill>
            <a:srgbClr val="4A4844"/>
          </a:solidFill>
          <a:ln/>
        </p:spPr>
      </p:sp>
      <p:sp>
        <p:nvSpPr>
          <p:cNvPr id="7" name="code-window-dot"/>
          <p:cNvSpPr/>
          <p:nvPr/>
        </p:nvSpPr>
        <p:spPr>
          <a:xfrm>
            <a:off x="1197864" y="1728216"/>
            <a:ext cx="100584" cy="100584"/>
          </a:xfrm>
          <a:prstGeom prst="ellipse">
            <a:avLst/>
          </a:prstGeom>
          <a:solidFill>
            <a:srgbClr val="4A4844"/>
          </a:solidFill>
          <a:ln/>
        </p:spPr>
      </p:sp>
      <p:sp>
        <p:nvSpPr>
          <p:cNvPr id="8" name="code-window-label"/>
          <p:cNvSpPr txBox="1"/>
          <p:nvPr/>
        </p:nvSpPr>
        <p:spPr>
          <a:xfrm>
            <a:off x="1472184"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POST /posts 를 3번 보내면</a:t>
            </a:r>
            <a:endParaRPr lang="en-US" sz="1100" dirty="0"/>
          </a:p>
        </p:txBody>
      </p:sp>
      <p:sp>
        <p:nvSpPr>
          <p:cNvPr id="9" name="code-window-text"/>
          <p:cNvSpPr txBox="1"/>
          <p:nvPr/>
        </p:nvSpPr>
        <p:spPr>
          <a:xfrm>
            <a:off x="905256" y="2020824"/>
            <a:ext cx="4873752" cy="1611630"/>
          </a:xfrm>
          <a:prstGeom prst="rect">
            <a:avLst/>
          </a:prstGeom>
          <a:noFill/>
          <a:ln/>
        </p:spPr>
        <p:txBody>
          <a:bodyPr wrap="square" lIns="0" tIns="0" rIns="0" bIns="0" rtlCol="0" anchor="t"/>
          <a:lstStyle/>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1번째 → 201 · 43번 글 생성</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2번째 → 201 · 44번 글 생성</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3번째 → 201 · 45번 글 생성</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결과: 같은 글이 3개 생김</a:t>
            </a:r>
            <a:endParaRPr lang="en-US" sz="1500" dirty="0"/>
          </a:p>
          <a:p>
            <a:pPr algn="l" indent="0" marL="0">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멱등 아님 → 중복을 막아야 한다</a:t>
            </a:r>
            <a:endParaRPr lang="en-US" sz="1500" dirty="0"/>
          </a:p>
        </p:txBody>
      </p:sp>
      <p:sp>
        <p:nvSpPr>
          <p:cNvPr id="10" name="code-window"/>
          <p:cNvSpPr/>
          <p:nvPr/>
        </p:nvSpPr>
        <p:spPr>
          <a:xfrm>
            <a:off x="6208776" y="1581912"/>
            <a:ext cx="5330952" cy="2160270"/>
          </a:xfrm>
          <a:prstGeom prst="roundRect">
            <a:avLst>
              <a:gd name="adj" fmla="val 5079"/>
            </a:avLst>
          </a:prstGeom>
          <a:solidFill>
            <a:schemeClr val="tx2"/>
          </a:solidFill>
          <a:ln/>
        </p:spPr>
      </p:sp>
      <p:sp>
        <p:nvSpPr>
          <p:cNvPr id="11" name="code-window-dot"/>
          <p:cNvSpPr/>
          <p:nvPr/>
        </p:nvSpPr>
        <p:spPr>
          <a:xfrm>
            <a:off x="6409944" y="1728216"/>
            <a:ext cx="100584" cy="100584"/>
          </a:xfrm>
          <a:prstGeom prst="ellipse">
            <a:avLst/>
          </a:prstGeom>
          <a:solidFill>
            <a:srgbClr val="4A4844"/>
          </a:solidFill>
          <a:ln/>
        </p:spPr>
      </p:sp>
      <p:sp>
        <p:nvSpPr>
          <p:cNvPr id="12" name="code-window-dot"/>
          <p:cNvSpPr/>
          <p:nvPr/>
        </p:nvSpPr>
        <p:spPr>
          <a:xfrm>
            <a:off x="6583680" y="1728216"/>
            <a:ext cx="100584" cy="100584"/>
          </a:xfrm>
          <a:prstGeom prst="ellipse">
            <a:avLst/>
          </a:prstGeom>
          <a:solidFill>
            <a:srgbClr val="4A4844"/>
          </a:solidFill>
          <a:ln/>
        </p:spPr>
      </p:sp>
      <p:sp>
        <p:nvSpPr>
          <p:cNvPr id="13" name="code-window-dot"/>
          <p:cNvSpPr/>
          <p:nvPr/>
        </p:nvSpPr>
        <p:spPr>
          <a:xfrm>
            <a:off x="6757416" y="1728216"/>
            <a:ext cx="100584" cy="100584"/>
          </a:xfrm>
          <a:prstGeom prst="ellipse">
            <a:avLst/>
          </a:prstGeom>
          <a:solidFill>
            <a:srgbClr val="4A4844"/>
          </a:solidFill>
          <a:ln/>
        </p:spPr>
      </p:sp>
      <p:sp>
        <p:nvSpPr>
          <p:cNvPr id="14" name="code-window-label"/>
          <p:cNvSpPr txBox="1"/>
          <p:nvPr/>
        </p:nvSpPr>
        <p:spPr>
          <a:xfrm>
            <a:off x="7031736"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DELETE /posts/42 를 3번 보내면</a:t>
            </a:r>
            <a:endParaRPr lang="en-US" sz="1100" dirty="0"/>
          </a:p>
        </p:txBody>
      </p:sp>
      <p:sp>
        <p:nvSpPr>
          <p:cNvPr id="15" name="code-window-text"/>
          <p:cNvSpPr txBox="1"/>
          <p:nvPr/>
        </p:nvSpPr>
        <p:spPr>
          <a:xfrm>
            <a:off x="6464808" y="2020824"/>
            <a:ext cx="4873752" cy="1611630"/>
          </a:xfrm>
          <a:prstGeom prst="rect">
            <a:avLst/>
          </a:prstGeom>
          <a:noFill/>
          <a:ln/>
        </p:spPr>
        <p:txBody>
          <a:bodyPr wrap="square" lIns="0" tIns="0" rIns="0" bIns="0" rtlCol="0" anchor="t"/>
          <a:lstStyle/>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1번째 → 204 · 42번 글 삭제</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2번째 → 404 · 이미 없음</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3번째 → 404 · 이미 없음</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rgbClr val="5DB872"/>
                </a:solidFill>
                <a:latin typeface="JetBrains Mono" pitchFamily="34" charset="0"/>
                <a:ea typeface="JetBrains Mono" pitchFamily="34" charset="-122"/>
                <a:cs typeface="JetBrains Mono" pitchFamily="34" charset="-120"/>
              </a:rPr>
              <a:t>결과: 42번 글 없음</a:t>
            </a:r>
            <a:endParaRPr lang="en-US" sz="1500" dirty="0"/>
          </a:p>
          <a:p>
            <a:pPr algn="l" indent="0" marL="0">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1번 보낸 것과 상태가 같다 → 멱등</a:t>
            </a:r>
            <a:endParaRPr lang="en-US" sz="1500" dirty="0"/>
          </a:p>
        </p:txBody>
      </p:sp>
      <p:sp>
        <p:nvSpPr>
          <p:cNvPr id="16" name="text"/>
          <p:cNvSpPr txBox="1"/>
          <p:nvPr/>
        </p:nvSpPr>
        <p:spPr>
          <a:xfrm>
            <a:off x="649224" y="3970782"/>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rPr>
              <a:t>멱등 O  </a:t>
            </a:r>
            <a:pPr algn="l" indent="0" marL="0">
              <a:lnSpc>
                <a:spcPct val="115000"/>
              </a:lnSpc>
              <a:spcAft>
                <a:spcPts val="600"/>
              </a:spcAft>
              <a:buNone/>
            </a:pPr>
            <a:r>
              <a:rPr lang="en-US" sz="1800" dirty="0">
                <a:solidFill>
                  <a:srgbClr val="3D3D3A"/>
                </a:solidFill>
              </a:rPr>
              <a:t>GET · PUT · DELETE      </a:t>
            </a:r>
            <a:pPr algn="l" indent="0" marL="0">
              <a:lnSpc>
                <a:spcPct val="115000"/>
              </a:lnSpc>
              <a:spcAft>
                <a:spcPts val="600"/>
              </a:spcAft>
              <a:buNone/>
            </a:pPr>
            <a:r>
              <a:rPr lang="en-US" sz="1800" b="1" dirty="0">
                <a:solidFill>
                  <a:srgbClr val="3D3D3A"/>
                </a:solidFill>
              </a:rPr>
              <a:t>멱등 X  </a:t>
            </a:r>
            <a:pPr algn="l" indent="0" marL="0">
              <a:lnSpc>
                <a:spcPct val="115000"/>
              </a:lnSpc>
              <a:spcAft>
                <a:spcPts val="600"/>
              </a:spcAft>
              <a:buNone/>
            </a:pPr>
            <a:r>
              <a:rPr lang="en-US" sz="1800" dirty="0">
                <a:solidFill>
                  <a:srgbClr val="3D3D3A"/>
                </a:solidFill>
              </a:rPr>
              <a:t>POST → 글쓰기 버튼은 한 번 누르면 막아 둔다</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401과 403</a:t>
            </a:r>
            <a:endParaRPr lang="en-US" sz="3200" dirty="0"/>
          </a:p>
        </p:txBody>
      </p:sp>
      <p:sp>
        <p:nvSpPr>
          <p:cNvPr id="4" name="code-inline"/>
          <p:cNvSpPr/>
          <p:nvPr/>
        </p:nvSpPr>
        <p:spPr>
          <a:xfrm>
            <a:off x="649224" y="1581912"/>
            <a:ext cx="10890504" cy="594868"/>
          </a:xfrm>
          <a:prstGeom prst="roundRect">
            <a:avLst>
              <a:gd name="adj" fmla="val 18446"/>
            </a:avLst>
          </a:prstGeom>
          <a:solidFill>
            <a:schemeClr val="bg2"/>
          </a:solidFill>
          <a:ln/>
        </p:spPr>
      </p:sp>
      <p:sp>
        <p:nvSpPr>
          <p:cNvPr id="5" name="text"/>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DELETE /api/v1/posts/42   (글 삭제 요청)</a:t>
            </a:r>
            <a:endParaRPr lang="en-US" sz="17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2928539"/>
                <a:gridCol w="4026741"/>
                <a:gridCol w="3935224"/>
              </a:tblGrid>
              <a:tr h="566928">
                <a:tc>
                  <a:txBody>
                    <a:bodyPr/>
                    <a:lstStyle/>
                    <a:p>
                      <a:pPr indent="0" marL="0">
                        <a:buNone/>
                      </a:pPr>
                      <a:r>
                        <a:rPr lang="en-US" sz="1400" dirty="0">
                          <a:solidFill>
                            <a:schemeClr val="accent3"/>
                          </a:solidFill>
                        </a:rPr>
                        <a:t>단계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확인하는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실패하면</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566928">
                <a:tc>
                  <a:txBody>
                    <a:bodyPr/>
                    <a:lstStyle/>
                    <a:p>
                      <a:pPr indent="0" marL="0">
                        <a:buNone/>
                      </a:pPr>
                      <a:r>
                        <a:rPr lang="en-US" sz="1700" dirty="0">
                          <a:solidFill>
                            <a:schemeClr val="tx1"/>
                          </a:solidFill>
                        </a:rPr>
                        <a:t>① 인증 (Authentication)</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로그인했나? (JWT · 세션)</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accent6"/>
                          </a:solidFill>
                        </a:rPr>
                        <a:t>401 Unauthorized: 누구인지 모름</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② 인가 (Authorization)</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이 글을 지울 권한이 있나? (글쓴이 · 관리자)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accent6"/>
                          </a:solidFill>
                        </a:rPr>
                        <a:t>403 Forbidden: 누구인지 알지만 권한 없음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둘 다 통과</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accent6"/>
                          </a:solidFill>
                        </a:rPr>
                        <a:t>204 No Content: 42번 글 삭제 완료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오프셋과 커서</a:t>
            </a:r>
            <a:endParaRPr lang="en-US" sz="3200" dirty="0"/>
          </a:p>
        </p:txBody>
      </p:sp>
      <p:sp>
        <p:nvSpPr>
          <p:cNvPr id="4" name="card"/>
          <p:cNvSpPr/>
          <p:nvPr/>
        </p:nvSpPr>
        <p:spPr>
          <a:xfrm>
            <a:off x="649224" y="1581912"/>
            <a:ext cx="5330952" cy="2651760"/>
          </a:xfrm>
          <a:prstGeom prst="roundRect">
            <a:avLst>
              <a:gd name="adj" fmla="val 4138"/>
            </a:avLst>
          </a:prstGeom>
          <a:solidFill>
            <a:schemeClr val="bg2"/>
          </a:solidFill>
          <a:ln/>
        </p:spPr>
      </p:sp>
      <p:sp>
        <p:nvSpPr>
          <p:cNvPr id="5" name="text"/>
          <p:cNvSpPr txBox="1"/>
          <p:nvPr/>
        </p:nvSpPr>
        <p:spPr>
          <a:xfrm>
            <a:off x="923544" y="1810512"/>
            <a:ext cx="4782312" cy="228600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오프셋 (쪽 번호)</a:t>
            </a:r>
            <a:endParaRPr lang="en-US" sz="1500" dirty="0"/>
          </a:p>
          <a:p>
            <a:pPr algn="l" indent="0" marL="0">
              <a:lnSpc>
                <a:spcPct val="115000"/>
              </a:lnSpc>
              <a:spcAft>
                <a:spcPts val="500"/>
              </a:spcAft>
              <a:buNone/>
            </a:pPr>
            <a:r>
              <a:rPr lang="en-US" sz="1500" dirty="0">
                <a:solidFill>
                  <a:schemeClr val="accent2"/>
                </a:solidFill>
                <a:latin typeface="JetBrains Mono" pitchFamily="34" charset="0"/>
                <a:ea typeface="JetBrains Mono" pitchFamily="34" charset="-122"/>
                <a:cs typeface="JetBrains Mono" pitchFamily="34" charset="-120"/>
              </a:rPr>
              <a:t>GET /posts?page=2&amp;size=20</a:t>
            </a:r>
            <a:endParaRPr lang="en-US" sz="1500" dirty="0"/>
          </a:p>
          <a:p>
            <a:pPr algn="l" indent="0" marL="0">
              <a:lnSpc>
                <a:spcPct val="115000"/>
              </a:lnSpc>
              <a:spcAft>
                <a:spcPts val="500"/>
              </a:spcAft>
              <a:buNone/>
            </a:pPr>
            <a:r>
              <a:rPr lang="en-US" sz="1500" dirty="0">
                <a:solidFill>
                  <a:srgbClr val="3D3D3A"/>
                </a:solidFill>
              </a:rPr>
              <a:t>앞의 40개를 세면서 건너뛰고 41~60번째를 가져온다</a:t>
            </a:r>
            <a:endParaRPr lang="en-US" sz="1500" dirty="0"/>
          </a:p>
          <a:p>
            <a:pPr algn="l" indent="0" marL="0">
              <a:lnSpc>
                <a:spcPct val="115000"/>
              </a:lnSpc>
              <a:spcAft>
                <a:spcPts val="500"/>
              </a:spcAft>
              <a:buNone/>
            </a:pPr>
            <a:r>
              <a:rPr lang="en-US" sz="1500" dirty="0">
                <a:solidFill>
                  <a:srgbClr val="3D3D3A"/>
                </a:solidFill>
              </a:rPr>
              <a:t>장점: 원하는 쪽으로 바로 이동 (게시판)</a:t>
            </a:r>
            <a:endParaRPr lang="en-US" sz="1500" dirty="0"/>
          </a:p>
          <a:p>
            <a:pPr algn="l" indent="0" marL="0">
              <a:lnSpc>
                <a:spcPct val="115000"/>
              </a:lnSpc>
              <a:spcAft>
                <a:spcPts val="500"/>
              </a:spcAft>
              <a:buNone/>
            </a:pPr>
            <a:r>
              <a:rPr lang="en-US" sz="1500" dirty="0">
                <a:solidFill>
                  <a:srgbClr val="3D3D3A"/>
                </a:solidFill>
              </a:rPr>
              <a:t>단점: 뒤쪽일수록 느리고, 새 글이 오면 겹칠 수 있다</a:t>
            </a:r>
            <a:endParaRPr lang="en-US" sz="1500" dirty="0"/>
          </a:p>
        </p:txBody>
      </p:sp>
      <p:sp>
        <p:nvSpPr>
          <p:cNvPr id="6" name="card"/>
          <p:cNvSpPr/>
          <p:nvPr/>
        </p:nvSpPr>
        <p:spPr>
          <a:xfrm>
            <a:off x="6208776" y="1581912"/>
            <a:ext cx="5330952" cy="2651760"/>
          </a:xfrm>
          <a:prstGeom prst="roundRect">
            <a:avLst>
              <a:gd name="adj" fmla="val 4138"/>
            </a:avLst>
          </a:prstGeom>
          <a:solidFill>
            <a:schemeClr val="bg2"/>
          </a:solidFill>
          <a:ln/>
        </p:spPr>
      </p:sp>
      <p:sp>
        <p:nvSpPr>
          <p:cNvPr id="7" name="text"/>
          <p:cNvSpPr txBox="1"/>
          <p:nvPr/>
        </p:nvSpPr>
        <p:spPr>
          <a:xfrm>
            <a:off x="6483096" y="1810512"/>
            <a:ext cx="4782312" cy="228600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커서 (마지막으로 본 위치)</a:t>
            </a:r>
            <a:endParaRPr lang="en-US" sz="1500" dirty="0"/>
          </a:p>
          <a:p>
            <a:pPr algn="l" indent="0" marL="0">
              <a:lnSpc>
                <a:spcPct val="115000"/>
              </a:lnSpc>
              <a:spcAft>
                <a:spcPts val="500"/>
              </a:spcAft>
              <a:buNone/>
            </a:pPr>
            <a:r>
              <a:rPr lang="en-US" sz="1500" dirty="0">
                <a:solidFill>
                  <a:schemeClr val="accent2"/>
                </a:solidFill>
                <a:latin typeface="JetBrains Mono" pitchFamily="34" charset="0"/>
                <a:ea typeface="JetBrains Mono" pitchFamily="34" charset="-122"/>
                <a:cs typeface="JetBrains Mono" pitchFamily="34" charset="-120"/>
              </a:rPr>
              <a:t>GET /posts?cursor=981&amp;size=20</a:t>
            </a:r>
            <a:endParaRPr lang="en-US" sz="1500" dirty="0"/>
          </a:p>
          <a:p>
            <a:pPr algn="l" indent="0" marL="0">
              <a:lnSpc>
                <a:spcPct val="115000"/>
              </a:lnSpc>
              <a:spcAft>
                <a:spcPts val="500"/>
              </a:spcAft>
              <a:buNone/>
            </a:pPr>
            <a:r>
              <a:rPr lang="en-US" sz="1500" dirty="0">
                <a:solidFill>
                  <a:srgbClr val="3D3D3A"/>
                </a:solidFill>
              </a:rPr>
              <a:t>세지 않고 981번 바로 다음부터 20개 (980번 ~ 961번)</a:t>
            </a:r>
            <a:endParaRPr lang="en-US" sz="1500" dirty="0"/>
          </a:p>
          <a:p>
            <a:pPr algn="l" indent="0" marL="0">
              <a:lnSpc>
                <a:spcPct val="115000"/>
              </a:lnSpc>
              <a:spcAft>
                <a:spcPts val="500"/>
              </a:spcAft>
              <a:buNone/>
            </a:pPr>
            <a:r>
              <a:rPr lang="en-US" sz="1500" dirty="0">
                <a:solidFill>
                  <a:srgbClr val="3D3D3A"/>
                </a:solidFill>
              </a:rPr>
              <a:t>장점: 데이터가 많아도 빠르다 (무한 스크롤)</a:t>
            </a:r>
            <a:endParaRPr lang="en-US" sz="1500" dirty="0"/>
          </a:p>
          <a:p>
            <a:pPr algn="l" indent="0" marL="0">
              <a:lnSpc>
                <a:spcPct val="115000"/>
              </a:lnSpc>
              <a:spcAft>
                <a:spcPts val="500"/>
              </a:spcAft>
              <a:buNone/>
            </a:pPr>
            <a:r>
              <a:rPr lang="en-US" sz="1500" dirty="0">
                <a:solidFill>
                  <a:srgbClr val="3D3D3A"/>
                </a:solidFill>
              </a:rPr>
              <a:t>단점: 5쪽으로 바로 가기는 어렵다</a:t>
            </a:r>
            <a:endParaRPr lang="en-US" sz="1500" dirty="0"/>
          </a:p>
        </p:txBody>
      </p:sp>
      <p:sp>
        <p:nvSpPr>
          <p:cNvPr id="8" name="text"/>
          <p:cNvSpPr txBox="1"/>
          <p:nvPr/>
        </p:nvSpPr>
        <p:spPr>
          <a:xfrm>
            <a:off x="649224" y="4462272"/>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rPr>
              <a:t>안전장치  </a:t>
            </a:r>
            <a:pPr algn="l" indent="0" marL="0">
              <a:lnSpc>
                <a:spcPct val="115000"/>
              </a:lnSpc>
              <a:spcAft>
                <a:spcPts val="600"/>
              </a:spcAft>
              <a:buNone/>
            </a:pPr>
            <a:r>
              <a:rPr lang="en-US" sz="1800" dirty="0">
                <a:solidFill>
                  <a:srgbClr val="3D3D3A"/>
                </a:solidFill>
              </a:rPr>
              <a:t>size 최댓값 (예: 100) · 기본 정렬 · 정렬할 수 있는 칸 제한</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글결이 쓰는 상태 코드</a:t>
            </a:r>
            <a:endParaRPr lang="en-US" sz="3200" dirty="0"/>
          </a:p>
        </p:txBody>
      </p:sp>
      <p:sp>
        <p:nvSpPr>
          <p:cNvPr id="4" name="badge"/>
          <p:cNvSpPr/>
          <p:nvPr/>
        </p:nvSpPr>
        <p:spPr>
          <a:xfrm>
            <a:off x="10954512" y="384048"/>
            <a:ext cx="585216" cy="310896"/>
          </a:xfrm>
          <a:prstGeom prst="roundRect">
            <a:avLst>
              <a:gd name="adj" fmla="val 50000"/>
            </a:avLst>
          </a:prstGeom>
          <a:solidFill>
            <a:srgbClr val="E8E0D2"/>
          </a:solidFill>
          <a:ln/>
        </p:spPr>
      </p:sp>
      <p:sp>
        <p:nvSpPr>
          <p:cNvPr id="5" name="badge-text"/>
          <p:cNvSpPr txBox="1"/>
          <p:nvPr/>
        </p:nvSpPr>
        <p:spPr>
          <a:xfrm>
            <a:off x="10954512" y="384048"/>
            <a:ext cx="585216"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a:t>
            </a:r>
            <a:endParaRPr lang="en-US" sz="1200" dirty="0"/>
          </a:p>
        </p:txBody>
      </p:sp>
      <p:pic>
        <p:nvPicPr>
          <p:cNvPr id="6" name="screenshot" descr="/tmp/ccp-384-97fadz176g.png">    </p:cNvPr>
          <p:cNvPicPr>
            <a:picLocks noChangeAspect="1"/>
          </p:cNvPicPr>
          <p:nvPr/>
        </p:nvPicPr>
        <p:blipFill>
          <a:blip r:embed="rId1"/>
          <a:stretch>
            <a:fillRect/>
          </a:stretch>
        </p:blipFill>
        <p:spPr>
          <a:xfrm>
            <a:off x="649224" y="1581912"/>
            <a:ext cx="10890504" cy="4534006"/>
          </a:xfrm>
          <a:prstGeom prst="rect">
            <a:avLst/>
          </a:prstGeom>
        </p:spPr>
      </p:pic>
      <p:sp>
        <p:nvSpPr>
          <p:cNvPr id="7" name="screenshot-frame"/>
          <p:cNvSpPr/>
          <p:nvPr/>
        </p:nvSpPr>
        <p:spPr>
          <a:xfrm>
            <a:off x="649224" y="1581912"/>
            <a:ext cx="10890504" cy="4534006"/>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REST Docs에 API 하나가 적힌 모양</a:t>
            </a:r>
            <a:endParaRPr lang="en-US" sz="3200" dirty="0"/>
          </a:p>
        </p:txBody>
      </p:sp>
      <p:sp>
        <p:nvSpPr>
          <p:cNvPr id="4" name="badge"/>
          <p:cNvSpPr/>
          <p:nvPr/>
        </p:nvSpPr>
        <p:spPr>
          <a:xfrm>
            <a:off x="10954512" y="384048"/>
            <a:ext cx="585216" cy="310896"/>
          </a:xfrm>
          <a:prstGeom prst="roundRect">
            <a:avLst>
              <a:gd name="adj" fmla="val 50000"/>
            </a:avLst>
          </a:prstGeom>
          <a:solidFill>
            <a:srgbClr val="E8E0D2"/>
          </a:solidFill>
          <a:ln/>
        </p:spPr>
      </p:sp>
      <p:sp>
        <p:nvSpPr>
          <p:cNvPr id="5" name="badge-text"/>
          <p:cNvSpPr txBox="1"/>
          <p:nvPr/>
        </p:nvSpPr>
        <p:spPr>
          <a:xfrm>
            <a:off x="10954512" y="384048"/>
            <a:ext cx="585216"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a:t>
            </a:r>
            <a:endParaRPr lang="en-US" sz="1200" dirty="0"/>
          </a:p>
        </p:txBody>
      </p:sp>
      <p:pic>
        <p:nvPicPr>
          <p:cNvPr id="6" name="screenshot" descr="/tmp/ccp-384-fbuexd8xyhd.png">    </p:cNvPr>
          <p:cNvPicPr>
            <a:picLocks noChangeAspect="1"/>
          </p:cNvPicPr>
          <p:nvPr/>
        </p:nvPicPr>
        <p:blipFill>
          <a:blip r:embed="rId1"/>
          <a:stretch>
            <a:fillRect/>
          </a:stretch>
        </p:blipFill>
        <p:spPr>
          <a:xfrm>
            <a:off x="649224" y="1581912"/>
            <a:ext cx="3477768" cy="3019780"/>
          </a:xfrm>
          <a:prstGeom prst="rect">
            <a:avLst/>
          </a:prstGeom>
        </p:spPr>
      </p:pic>
      <p:sp>
        <p:nvSpPr>
          <p:cNvPr id="7" name="screenshot-frame"/>
          <p:cNvSpPr/>
          <p:nvPr/>
        </p:nvSpPr>
        <p:spPr>
          <a:xfrm>
            <a:off x="649224" y="1581912"/>
            <a:ext cx="3477768" cy="3019780"/>
          </a:xfrm>
          <a:prstGeom prst="rect">
            <a:avLst/>
          </a:prstGeom>
          <a:ln w="9525">
            <a:solidFill>
              <a:srgbClr val="E6DFD8"/>
            </a:solidFill>
            <a:prstDash val="solid"/>
          </a:ln>
        </p:spPr>
      </p:sp>
      <p:pic>
        <p:nvPicPr>
          <p:cNvPr id="8" name="screenshot" descr="/tmp/ccp-384-1k88meavo1y.png">    </p:cNvPr>
          <p:cNvPicPr>
            <a:picLocks noChangeAspect="1"/>
          </p:cNvPicPr>
          <p:nvPr/>
        </p:nvPicPr>
        <p:blipFill>
          <a:blip r:embed="rId2"/>
          <a:stretch>
            <a:fillRect/>
          </a:stretch>
        </p:blipFill>
        <p:spPr>
          <a:xfrm>
            <a:off x="4355592" y="1581912"/>
            <a:ext cx="3477768" cy="2850790"/>
          </a:xfrm>
          <a:prstGeom prst="rect">
            <a:avLst/>
          </a:prstGeom>
        </p:spPr>
      </p:pic>
      <p:sp>
        <p:nvSpPr>
          <p:cNvPr id="9" name="screenshot-frame"/>
          <p:cNvSpPr/>
          <p:nvPr/>
        </p:nvSpPr>
        <p:spPr>
          <a:xfrm>
            <a:off x="4355592" y="1581912"/>
            <a:ext cx="3477768" cy="2850790"/>
          </a:xfrm>
          <a:prstGeom prst="rect">
            <a:avLst/>
          </a:prstGeom>
          <a:ln w="9525">
            <a:solidFill>
              <a:srgbClr val="E6DFD8"/>
            </a:solidFill>
            <a:prstDash val="solid"/>
          </a:ln>
        </p:spPr>
      </p:sp>
      <p:pic>
        <p:nvPicPr>
          <p:cNvPr id="10" name="screenshot" descr="/tmp/ccp-384-ltxm0p15p5a.png">    </p:cNvPr>
          <p:cNvPicPr>
            <a:picLocks noChangeAspect="1"/>
          </p:cNvPicPr>
          <p:nvPr/>
        </p:nvPicPr>
        <p:blipFill>
          <a:blip r:embed="rId3"/>
          <a:stretch>
            <a:fillRect/>
          </a:stretch>
        </p:blipFill>
        <p:spPr>
          <a:xfrm>
            <a:off x="8061960" y="1581912"/>
            <a:ext cx="3477768" cy="2515259"/>
          </a:xfrm>
          <a:prstGeom prst="rect">
            <a:avLst/>
          </a:prstGeom>
        </p:spPr>
      </p:pic>
      <p:sp>
        <p:nvSpPr>
          <p:cNvPr id="11" name="screenshot-frame"/>
          <p:cNvSpPr/>
          <p:nvPr/>
        </p:nvSpPr>
        <p:spPr>
          <a:xfrm>
            <a:off x="8061960" y="1581912"/>
            <a:ext cx="3477768" cy="2515259"/>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단일 서버의 요청 흐름</a:t>
            </a:r>
            <a:endParaRPr lang="en-US" sz="3200" dirty="0"/>
          </a:p>
        </p:txBody>
      </p:sp>
      <p:sp>
        <p:nvSpPr>
          <p:cNvPr id="4" name="code-inline"/>
          <p:cNvSpPr/>
          <p:nvPr/>
        </p:nvSpPr>
        <p:spPr>
          <a:xfrm>
            <a:off x="649224" y="1581912"/>
            <a:ext cx="10890504" cy="594868"/>
          </a:xfrm>
          <a:prstGeom prst="roundRect">
            <a:avLst>
              <a:gd name="adj" fmla="val 18446"/>
            </a:avLst>
          </a:prstGeom>
          <a:solidFill>
            <a:schemeClr val="bg2"/>
          </a:solidFill>
          <a:ln/>
        </p:spPr>
      </p:sp>
      <p:sp>
        <p:nvSpPr>
          <p:cNvPr id="5" name="text"/>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POST /api/v1/posts/42/comments   (42번 글에 댓글 작성)</a:t>
            </a:r>
            <a:endParaRPr lang="en-US" sz="17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823652"/>
                <a:gridCol w="2745505"/>
                <a:gridCol w="7321347"/>
              </a:tblGrid>
              <a:tr h="475488">
                <a:tc>
                  <a:txBody>
                    <a:bodyPr/>
                    <a:lstStyle/>
                    <a:p>
                      <a:pPr indent="0" marL="0">
                        <a:buNone/>
                      </a:pPr>
                      <a:r>
                        <a:rPr lang="en-US" sz="1300" dirty="0">
                          <a:solidFill>
                            <a:schemeClr val="accent3"/>
                          </a:solidFill>
                        </a:rPr>
                        <a:t>순서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어디서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하는 일</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600" dirty="0">
                          <a:solidFill>
                            <a:schemeClr val="tx1"/>
                          </a:solidFill>
                        </a:rPr>
                        <a:t>①</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인증 필터</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JWT · 세션 확인, 실패하면 401</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②</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URL 매핑</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경로와 메서드로 CommentController 선택</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③</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CommentService</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postService.exists(42): 같은 프로세스 안의 메서드 호출 (네트워크 없음)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④</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DB 1개</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comments 테이블에 INSERT</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⑤</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응답</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201 Created 또는 4xx · 5xx</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7" name="text"/>
          <p:cNvSpPr txBox="1"/>
          <p:nvPr/>
        </p:nvSpPr>
        <p:spPr>
          <a:xfrm>
            <a:off x="649224" y="5532628"/>
            <a:ext cx="10890504" cy="326390"/>
          </a:xfrm>
          <a:prstGeom prst="rect">
            <a:avLst/>
          </a:prstGeom>
          <a:noFill/>
          <a:ln/>
        </p:spPr>
        <p:txBody>
          <a:bodyPr wrap="square" lIns="0" tIns="0" rIns="0" bIns="0" rtlCol="0" anchor="t"/>
          <a:lstStyle/>
          <a:p>
            <a:pPr algn="l" indent="0" marL="0">
              <a:lnSpc>
                <a:spcPct val="115000"/>
              </a:lnSpc>
              <a:spcAft>
                <a:spcPts val="600"/>
              </a:spcAft>
              <a:buNone/>
            </a:pPr>
            <a:r>
              <a:rPr lang="en-US" sz="1700" b="1" dirty="0">
                <a:solidFill>
                  <a:srgbClr val="3D3D3A"/>
                </a:solidFill>
              </a:rPr>
              <a:t>장점  </a:t>
            </a:r>
            <a:pPr algn="l" indent="0" marL="0">
              <a:lnSpc>
                <a:spcPct val="115000"/>
              </a:lnSpc>
              <a:spcAft>
                <a:spcPts val="600"/>
              </a:spcAft>
              <a:buNone/>
            </a:pPr>
            <a:r>
              <a:rPr lang="en-US" sz="1700" dirty="0">
                <a:solidFill>
                  <a:srgbClr val="3D3D3A"/>
                </a:solidFill>
              </a:rPr>
              <a:t>구조가 단순하고 내부 호출이 빠르다      </a:t>
            </a:r>
            <a:pPr algn="l" indent="0" marL="0">
              <a:lnSpc>
                <a:spcPct val="115000"/>
              </a:lnSpc>
              <a:spcAft>
                <a:spcPts val="600"/>
              </a:spcAft>
              <a:buNone/>
            </a:pPr>
            <a:r>
              <a:rPr lang="en-US" sz="1700" b="1" dirty="0">
                <a:solidFill>
                  <a:srgbClr val="3D3D3A"/>
                </a:solidFill>
              </a:rPr>
              <a:t>단점  </a:t>
            </a:r>
            <a:pPr algn="l" indent="0" marL="0">
              <a:lnSpc>
                <a:spcPct val="115000"/>
              </a:lnSpc>
              <a:spcAft>
                <a:spcPts val="600"/>
              </a:spcAft>
              <a:buNone/>
            </a:pPr>
            <a:r>
              <a:rPr lang="en-US" sz="1700" dirty="0">
                <a:solidFill>
                  <a:srgbClr val="3D3D3A"/>
                </a:solidFill>
              </a:rPr>
              <a:t>일부 기능만 따로 배포하거나 확장하기 어렵다</a:t>
            </a:r>
            <a:endParaRPr lang="en-US" sz="17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MSA의 요청 흐름</a:t>
            </a:r>
            <a:endParaRPr lang="en-US" sz="3200" dirty="0"/>
          </a:p>
        </p:txBody>
      </p:sp>
      <p:sp>
        <p:nvSpPr>
          <p:cNvPr id="4" name="code-inline"/>
          <p:cNvSpPr/>
          <p:nvPr/>
        </p:nvSpPr>
        <p:spPr>
          <a:xfrm>
            <a:off x="649224" y="1581912"/>
            <a:ext cx="10890504" cy="594868"/>
          </a:xfrm>
          <a:prstGeom prst="roundRect">
            <a:avLst>
              <a:gd name="adj" fmla="val 18446"/>
            </a:avLst>
          </a:prstGeom>
          <a:solidFill>
            <a:schemeClr val="bg2"/>
          </a:solidFill>
          <a:ln/>
        </p:spPr>
      </p:sp>
      <p:sp>
        <p:nvSpPr>
          <p:cNvPr id="5" name="text"/>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POST /api/v1/posts/42/comments   (42번 글에 댓글 작성)</a:t>
            </a:r>
            <a:endParaRPr lang="en-US" sz="17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823652"/>
                <a:gridCol w="2745505"/>
                <a:gridCol w="7321347"/>
              </a:tblGrid>
              <a:tr h="420624">
                <a:tc>
                  <a:txBody>
                    <a:bodyPr/>
                    <a:lstStyle/>
                    <a:p>
                      <a:pPr indent="0" marL="0">
                        <a:buNone/>
                      </a:pPr>
                      <a:r>
                        <a:rPr lang="en-US" sz="1200" dirty="0">
                          <a:solidFill>
                            <a:schemeClr val="accent3"/>
                          </a:solidFill>
                        </a:rPr>
                        <a:t>순서</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어디서</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하는 일</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20624">
                <a:tc>
                  <a:txBody>
                    <a:bodyPr/>
                    <a:lstStyle/>
                    <a:p>
                      <a:pPr indent="0" marL="0">
                        <a:buNone/>
                      </a:pPr>
                      <a:r>
                        <a:rPr lang="en-US" sz="1500" dirty="0">
                          <a:solidFill>
                            <a:schemeClr val="tx1"/>
                          </a:solidFill>
                        </a:rPr>
                        <a:t>①</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API Gateway</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인증: JWT 확인, 실패하면 401</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②</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API Gateway</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라우팅: /posts/*/comments → comment-service</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③</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comment-service</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요청을 받는다</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④</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 post-service</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GET /api/v1/posts/42: 네트워크 HTTP 호출 → 200 또는 404</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⑤</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comment DB</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INSERT (서비스마다 DB가 따로)</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⑥</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응답</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201 Created 또는 4xx · 5xx</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7" name="text"/>
          <p:cNvSpPr txBox="1"/>
          <p:nvPr/>
        </p:nvSpPr>
        <p:spPr>
          <a:xfrm>
            <a:off x="649224" y="5624068"/>
            <a:ext cx="10890504" cy="650240"/>
          </a:xfrm>
          <a:prstGeom prst="rect">
            <a:avLst/>
          </a:prstGeom>
          <a:noFill/>
          <a:ln/>
        </p:spPr>
        <p:txBody>
          <a:bodyPr wrap="square" lIns="0" tIns="0" rIns="0" bIns="0" rtlCol="0" anchor="t"/>
          <a:lstStyle/>
          <a:p>
            <a:pPr algn="l" indent="0" marL="0">
              <a:lnSpc>
                <a:spcPct val="115000"/>
              </a:lnSpc>
              <a:spcAft>
                <a:spcPts val="600"/>
              </a:spcAft>
              <a:buNone/>
            </a:pPr>
            <a:r>
              <a:rPr lang="en-US" sz="1600" b="1" dirty="0">
                <a:solidFill>
                  <a:srgbClr val="3D3D3A"/>
                </a:solidFill>
              </a:rPr>
              <a:t>장점  </a:t>
            </a:r>
            <a:pPr algn="l" indent="0" marL="0">
              <a:lnSpc>
                <a:spcPct val="115000"/>
              </a:lnSpc>
              <a:spcAft>
                <a:spcPts val="600"/>
              </a:spcAft>
              <a:buNone/>
            </a:pPr>
            <a:r>
              <a:rPr lang="en-US" sz="1600" dirty="0">
                <a:solidFill>
                  <a:srgbClr val="3D3D3A"/>
                </a:solidFill>
              </a:rPr>
              <a:t>서비스마다 따로 배포 · 확장      </a:t>
            </a:r>
            <a:pPr algn="l" indent="0" marL="0">
              <a:lnSpc>
                <a:spcPct val="115000"/>
              </a:lnSpc>
              <a:spcAft>
                <a:spcPts val="600"/>
              </a:spcAft>
              <a:buNone/>
            </a:pPr>
            <a:r>
              <a:rPr lang="en-US" sz="1600" b="1" dirty="0">
                <a:solidFill>
                  <a:srgbClr val="3D3D3A"/>
                </a:solidFill>
              </a:rPr>
              <a:t>단점  </a:t>
            </a:r>
            <a:pPr algn="l" indent="0" marL="0">
              <a:lnSpc>
                <a:spcPct val="115000"/>
              </a:lnSpc>
              <a:spcAft>
                <a:spcPts val="600"/>
              </a:spcAft>
              <a:buNone/>
            </a:pPr>
            <a:r>
              <a:rPr lang="en-US" sz="1600" dirty="0">
                <a:solidFill>
                  <a:srgbClr val="3D3D3A"/>
                </a:solidFill>
              </a:rPr>
              <a:t>서비스 사이가 네트워크 호출이라 지연 · 장애를 처리해야 한다</a:t>
            </a:r>
            <a:endParaRPr lang="en-US" sz="1600" dirty="0"/>
          </a:p>
          <a:p>
            <a:pPr algn="l" indent="0" marL="0">
              <a:lnSpc>
                <a:spcPct val="115000"/>
              </a:lnSpc>
              <a:spcAft>
                <a:spcPts val="600"/>
              </a:spcAft>
              <a:buNone/>
            </a:pPr>
            <a:r>
              <a:rPr lang="en-US" sz="1600" dirty="0">
                <a:solidFill>
                  <a:srgbClr val="3D3D3A"/>
                </a:solidFill>
              </a:rPr>
              <a:t>클라이언트가 보내는 요청(URL · 메서드)은 단일 서버와 똑같다</a:t>
            </a:r>
            <a:endParaRPr lang="en-US" sz="16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MSA에서 에러가 전달되는 흐름</a:t>
            </a:r>
            <a:endParaRPr lang="en-US" sz="3200" dirty="0"/>
          </a:p>
        </p:txBody>
      </p:sp>
      <p:sp>
        <p:nvSpPr>
          <p:cNvPr id="4" name="code-window"/>
          <p:cNvSpPr/>
          <p:nvPr/>
        </p:nvSpPr>
        <p:spPr>
          <a:xfrm>
            <a:off x="649224" y="1581912"/>
            <a:ext cx="10890504" cy="2287270"/>
          </a:xfrm>
          <a:prstGeom prst="roundRect">
            <a:avLst>
              <a:gd name="adj" fmla="val 4797"/>
            </a:avLst>
          </a:prstGeom>
          <a:solidFill>
            <a:schemeClr val="tx2"/>
          </a:solidFill>
          <a:ln/>
        </p:spPr>
      </p:sp>
      <p:sp>
        <p:nvSpPr>
          <p:cNvPr id="5" name="code-window-dot"/>
          <p:cNvSpPr/>
          <p:nvPr/>
        </p:nvSpPr>
        <p:spPr>
          <a:xfrm>
            <a:off x="850392" y="1728216"/>
            <a:ext cx="100584" cy="100584"/>
          </a:xfrm>
          <a:prstGeom prst="ellipse">
            <a:avLst/>
          </a:prstGeom>
          <a:solidFill>
            <a:srgbClr val="4A4844"/>
          </a:solidFill>
          <a:ln/>
        </p:spPr>
      </p:sp>
      <p:sp>
        <p:nvSpPr>
          <p:cNvPr id="6" name="code-window-dot"/>
          <p:cNvSpPr/>
          <p:nvPr/>
        </p:nvSpPr>
        <p:spPr>
          <a:xfrm>
            <a:off x="1024128" y="1728216"/>
            <a:ext cx="100584" cy="100584"/>
          </a:xfrm>
          <a:prstGeom prst="ellipse">
            <a:avLst/>
          </a:prstGeom>
          <a:solidFill>
            <a:srgbClr val="4A4844"/>
          </a:solidFill>
          <a:ln/>
        </p:spPr>
      </p:sp>
      <p:sp>
        <p:nvSpPr>
          <p:cNvPr id="7" name="code-window-dot"/>
          <p:cNvSpPr/>
          <p:nvPr/>
        </p:nvSpPr>
        <p:spPr>
          <a:xfrm>
            <a:off x="1197864" y="1728216"/>
            <a:ext cx="100584" cy="100584"/>
          </a:xfrm>
          <a:prstGeom prst="ellipse">
            <a:avLst/>
          </a:prstGeom>
          <a:solidFill>
            <a:srgbClr val="4A4844"/>
          </a:solidFill>
          <a:ln/>
        </p:spPr>
      </p:sp>
      <p:sp>
        <p:nvSpPr>
          <p:cNvPr id="8" name="code-window-label"/>
          <p:cNvSpPr txBox="1"/>
          <p:nvPr/>
        </p:nvSpPr>
        <p:spPr>
          <a:xfrm>
            <a:off x="1472184" y="1673352"/>
            <a:ext cx="9884664"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42번 글이 없을 때</a:t>
            </a:r>
            <a:endParaRPr lang="en-US" sz="1100" dirty="0"/>
          </a:p>
        </p:txBody>
      </p:sp>
      <p:sp>
        <p:nvSpPr>
          <p:cNvPr id="9" name="code-window-text"/>
          <p:cNvSpPr txBox="1"/>
          <p:nvPr/>
        </p:nvSpPr>
        <p:spPr>
          <a:xfrm>
            <a:off x="905256" y="2020824"/>
            <a:ext cx="10433304" cy="1738630"/>
          </a:xfrm>
          <a:prstGeom prst="rect">
            <a:avLst/>
          </a:prstGeom>
          <a:noFill/>
          <a:ln/>
        </p:spPr>
        <p:txBody>
          <a:bodyPr wrap="square" lIns="0" tIns="0" rIns="0" bIns="0" rtlCol="0" anchor="t"/>
          <a:lstStyle/>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클라이언트      → Gateway          POST /api/v1/posts/42/comments</a:t>
            </a:r>
            <a:endParaRPr lang="en-US" sz="1400" dirty="0"/>
          </a:p>
          <a:p>
            <a:pPr algn="l" indent="0" marL="0">
              <a:lnSpc>
                <a:spcPct val="105000"/>
              </a:lnSpc>
              <a:buNone/>
            </a:pPr>
            <a:r>
              <a:rPr lang="en-US" sz="1400" dirty="0">
                <a:solidFill>
                  <a:srgbClr val="5DB872"/>
                </a:solidFill>
                <a:latin typeface="JetBrains Mono" pitchFamily="34" charset="0"/>
                <a:ea typeface="JetBrains Mono" pitchFamily="34" charset="-122"/>
                <a:cs typeface="JetBrains Mono" pitchFamily="34" charset="-120"/>
              </a:rPr>
              <a:t>Gateway                            JWT 확인 OK</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Gateway         → comment-service  POST /api/v1/posts/42/comments</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comment-service → post-service     GET /api/v1/posts/42</a:t>
            </a:r>
            <a:endParaRPr lang="en-US" sz="1400" dirty="0"/>
          </a:p>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post-service    → comment-service  404 POST_NOT_FOUND</a:t>
            </a:r>
            <a:endParaRPr lang="en-US" sz="1400" dirty="0"/>
          </a:p>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comment-service → Gateway          404 POST_NOT_FOUND</a:t>
            </a:r>
            <a:endParaRPr lang="en-US" sz="1400" dirty="0"/>
          </a:p>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Gateway         → 클라이언트       404 POST_NOT_FOUND</a:t>
            </a:r>
            <a:endParaRPr lang="en-US" sz="1400" dirty="0"/>
          </a:p>
        </p:txBody>
      </p:sp>
      <p:sp>
        <p:nvSpPr>
          <p:cNvPr id="10" name="card"/>
          <p:cNvSpPr/>
          <p:nvPr/>
        </p:nvSpPr>
        <p:spPr>
          <a:xfrm>
            <a:off x="649224" y="4097782"/>
            <a:ext cx="5330952" cy="1417320"/>
          </a:xfrm>
          <a:prstGeom prst="roundRect">
            <a:avLst>
              <a:gd name="adj" fmla="val 7742"/>
            </a:avLst>
          </a:prstGeom>
          <a:solidFill>
            <a:schemeClr val="bg2"/>
          </a:solidFill>
          <a:ln/>
        </p:spPr>
      </p:sp>
      <p:sp>
        <p:nvSpPr>
          <p:cNvPr id="11" name="text"/>
          <p:cNvSpPr txBox="1"/>
          <p:nvPr/>
        </p:nvSpPr>
        <p:spPr>
          <a:xfrm>
            <a:off x="923544" y="4326382"/>
            <a:ext cx="4782312" cy="105156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에러 형식이 모든 서비스에서 같으면</a:t>
            </a:r>
            <a:endParaRPr lang="en-US" sz="1500" dirty="0"/>
          </a:p>
          <a:p>
            <a:pPr algn="l" indent="0" marL="0">
              <a:lnSpc>
                <a:spcPct val="115000"/>
              </a:lnSpc>
              <a:spcAft>
                <a:spcPts val="500"/>
              </a:spcAft>
              <a:buNone/>
            </a:pPr>
            <a:r>
              <a:rPr lang="en-US" sz="1800" b="1" dirty="0">
                <a:solidFill>
                  <a:schemeClr val="tx1"/>
                </a:solidFill>
              </a:rPr>
              <a:t>상태 코드와 code가 그대로 전달된다</a:t>
            </a:r>
            <a:endParaRPr lang="en-US" sz="1500" dirty="0"/>
          </a:p>
          <a:p>
            <a:pPr algn="l" indent="0" marL="0">
              <a:lnSpc>
                <a:spcPct val="115000"/>
              </a:lnSpc>
              <a:spcAft>
                <a:spcPts val="500"/>
              </a:spcAft>
              <a:buNone/>
            </a:pPr>
            <a:r>
              <a:rPr lang="en-US" sz="1500" dirty="0">
                <a:solidFill>
                  <a:srgbClr val="3D3D3A"/>
                </a:solidFill>
              </a:rPr>
              <a:t>클라이언트는 어느 서비스에서 났는지 몰라도 처리 가능</a:t>
            </a:r>
            <a:endParaRPr lang="en-US" sz="1500" dirty="0"/>
          </a:p>
        </p:txBody>
      </p:sp>
      <p:sp>
        <p:nvSpPr>
          <p:cNvPr id="12" name="card"/>
          <p:cNvSpPr/>
          <p:nvPr/>
        </p:nvSpPr>
        <p:spPr>
          <a:xfrm>
            <a:off x="6208776" y="4097782"/>
            <a:ext cx="5330952" cy="1417320"/>
          </a:xfrm>
          <a:prstGeom prst="roundRect">
            <a:avLst>
              <a:gd name="adj" fmla="val 7742"/>
            </a:avLst>
          </a:prstGeom>
          <a:solidFill>
            <a:schemeClr val="bg2"/>
          </a:solidFill>
          <a:ln/>
        </p:spPr>
      </p:sp>
      <p:sp>
        <p:nvSpPr>
          <p:cNvPr id="13" name="text"/>
          <p:cNvSpPr txBox="1"/>
          <p:nvPr/>
        </p:nvSpPr>
        <p:spPr>
          <a:xfrm>
            <a:off x="6483096" y="4326382"/>
            <a:ext cx="4782312" cy="105156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post-service가 응답하지 않으면</a:t>
            </a:r>
            <a:endParaRPr lang="en-US" sz="1500" dirty="0"/>
          </a:p>
          <a:p>
            <a:pPr algn="l" indent="0" marL="0">
              <a:lnSpc>
                <a:spcPct val="115000"/>
              </a:lnSpc>
              <a:spcAft>
                <a:spcPts val="500"/>
              </a:spcAft>
              <a:buNone/>
            </a:pPr>
            <a:r>
              <a:rPr lang="en-US" sz="1800" b="1" dirty="0">
                <a:solidFill>
                  <a:schemeClr val="tx1"/>
                </a:solidFill>
              </a:rPr>
              <a:t>꺼져 있음 → 503 · 시간 초과 → 504</a:t>
            </a:r>
            <a:endParaRPr lang="en-US" sz="1500" dirty="0"/>
          </a:p>
          <a:p>
            <a:pPr algn="l" indent="0" marL="0">
              <a:lnSpc>
                <a:spcPct val="115000"/>
              </a:lnSpc>
              <a:spcAft>
                <a:spcPts val="500"/>
              </a:spcAft>
              <a:buNone/>
            </a:pPr>
            <a:r>
              <a:rPr lang="en-US" sz="1500" dirty="0">
                <a:solidFill>
                  <a:srgbClr val="3D3D3A"/>
                </a:solidFill>
              </a:rPr>
              <a:t>그대로 500을 주지 말고 원인에 맞는 코드로</a:t>
            </a:r>
            <a:endParaRPr lang="en-US" sz="15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Cream Coral">
  <a:themeElements>
    <a:clrScheme name="Cream Coral">
      <a:dk1>
        <a:srgbClr val="141413"/>
      </a:dk1>
      <a:lt1>
        <a:srgbClr val="FAF9F5"/>
      </a:lt1>
      <a:dk2>
        <a:srgbClr val="181715"/>
      </a:dk2>
      <a:lt2>
        <a:srgbClr val="EFE9DE"/>
      </a:lt2>
      <a:accent1>
        <a:srgbClr val="CC785C"/>
      </a:accent1>
      <a:accent2>
        <a:srgbClr val="A9583E"/>
      </a:accent2>
      <a:accent3>
        <a:srgbClr val="6C6A64"/>
      </a:accent3>
      <a:accent4>
        <a:srgbClr val="E8A55A"/>
      </a:accent4>
      <a:accent5>
        <a:srgbClr val="5DB8A6"/>
      </a:accent5>
      <a:accent6>
        <a:srgbClr val="C64545"/>
      </a:accent6>
      <a:hlink>
        <a:srgbClr val="A9583E"/>
      </a:hlink>
      <a:folHlink>
        <a:srgbClr val="6C6A64"/>
      </a:folHlink>
    </a:clrScheme>
    <a:fontScheme name="Cream Coral">
      <a:majorFont>
        <a:latin typeface="Pretendard"/>
        <a:ea typeface="Pretendard"/>
        <a:cs typeface=""/>
        <a:font script="Jpan" typeface="游ゴシック Light"/>
        <a:font script="Hang" typeface="Pretendard"/>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SemiBold"/>
        <a:ea typeface="Pretendard SemiBold"/>
        <a:cs typeface=""/>
        <a:font script="Jpan" typeface="游ゴシック"/>
        <a:font script="Hang" typeface="Pretendard SemiBold"/>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RESTful API 설계</dc:title>
  <dc:subject>PptxGenJS Presentation</dc:subject>
  <dc:creator>이재웅</dc:creator>
  <cp:lastModifiedBy>이재웅</cp:lastModifiedBy>
  <cp:revision>1</cp:revision>
  <dcterms:created xsi:type="dcterms:W3CDTF">2026-10-15T10:29:06Z</dcterms:created>
  <dcterms:modified xsi:type="dcterms:W3CDTF">2026-10-15T10:29:06Z</dcterms:modified>
</cp:coreProperties>
</file>