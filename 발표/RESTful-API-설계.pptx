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8617631d-c4b4-a40d-4c7d-6810409250f8}">
          <p14:sldIdLst>
            <p14:sldId id="256"/>
            <p14:sldId id="257"/>
          </p14:sldIdLst>
        </p14:section>
        <p14:section name="01 자원 중심 URL" id="{6ae8885f-9bf2-70f7-7a74-9a8dbbdd1e43}">
          <p14:sldIdLst>
            <p14:sldId id="258"/>
            <p14:sldId id="259"/>
            <p14:sldId id="260"/>
            <p14:sldId id="261"/>
          </p14:sldIdLst>
        </p14:section>
        <p14:section name="02 HTTP 메서드와 상태 코드" id="{274d9a0b-202a-81ce-25cd-57e2ffb1a20b}">
          <p14:sldIdLst>
            <p14:sldId id="262"/>
            <p14:sldId id="263"/>
            <p14:sldId id="264"/>
            <p14:sldId id="265"/>
            <p14:sldId id="266"/>
          </p14:sldIdLst>
        </p14:section>
        <p14:section name="03 공통 응답과 에러 형식" id="{43b9836d-541e-7df7-d056-6446d29c7ba4}">
          <p14:sldIdLst>
            <p14:sldId id="267"/>
            <p14:sldId id="268"/>
            <p14:sldId id="269"/>
          </p14:sldIdLst>
        </p14:section>
        <p14:section name="04 전역 예외 처리와 입력 검증" id="{c5740d42-af7d-9819-969e-34a2010f5117}">
          <p14:sldIdLst>
            <p14:sldId id="270"/>
            <p14:sldId id="271"/>
            <p14:sldId id="272"/>
          </p14:sldIdLst>
        </p14:section>
        <p14:section name="05 페이징 · 검색 · 정렬" id="{978b107e-90f1-a0e9-8c6f-e7ceb579654b}">
          <p14:sldIdLst>
            <p14:sldId id="273"/>
            <p14:sldId id="274"/>
            <p14:sldId id="275"/>
            <p14:sldId id="276"/>
            <p14:sldId id="277"/>
          </p14:sldIdLst>
        </p14:section>
        <p14:section name="06 API 문서 작성" id="{8485fd60-9c81-4bc1-5ef9-567019c40c23}">
          <p14:sldIdLst>
            <p14:sldId id="278"/>
            <p14:sldId id="279"/>
            <p14:sldId id="280"/>
            <p14:sldId id="281"/>
            <p14:sldId id="282"/>
            <p14:sldId id="283"/>
          </p14:sldIdLst>
        </p14:section>
        <p14:section name="정리" id="{b1b512f5-9ce2-4334-eb99-2cd1d48f2a3a}">
          <p14:sldIdLst>
            <p14:sldId id="284"/>
          </p14:sldIdLst>
        </p14:section>
        <p14:section name="예비 (질문이 나오면)" id="{37f6b683-5dc0-dc22-a225-85affa551d7b}">
          <p14:sldIdLst>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D3D3A"/>
                </a:solidFill>
                <a:latin typeface="+mn-lt"/>
              </a:defRPr>
            </a:pPr>
            <a:r>
              <a:rPr sz="1400" b="0" i="0" u="none" strike="noStrike">
                <a:solidFill>
                  <a:srgbClr val="3D3D3A"/>
                </a:solidFill>
                <a:latin typeface="+mn-lt"/>
              </a:rPr>
              <a:t>같은 100만 행에서 걸린 시간 (ms)</a:t>
            </a:r>
          </a:p>
        </c:rich>
      </c:tx>
      <c:layout/>
      <c:overlay val="0"/>
    </c:title>
    <c:autoTitleDeleted val="0"/>
    <c:plotArea>
      <c:layout/>
      <c:barChart>
        <c:barDir val="bar"/>
        <c:grouping val="clustered"/>
        <c:varyColors val="0"/>
        <c:ser>
          <c:idx val="0"/>
          <c:order val="0"/>
          <c:tx>
            <c:strRef>
              <c:f>Sheet1!$B$1</c:f>
              <c:strCache>
                <c:ptCount val="1"/>
                <c:pt idx="0">
                  <c:v>걸린 시간 (ms)</c:v>
                </c:pt>
              </c:strCache>
            </c:strRef>
          </c:tx>
          <c:spPr>
            <a:solidFill>
              <a:srgbClr val="141413"/>
            </a:solidFill>
            <a:effectLst/>
          </c:spPr>
          <c:invertIfNegative val="0"/>
          <c:dLbls>
            <c:numFmt formatCode="#,##0.0#" sourceLinked="0"/>
            <c:txPr>
              <a:bodyPr/>
              <a:lstStyle/>
              <a:p>
                <a:pPr>
                  <a:defRPr b="0" i="0" strike="noStrike" sz="1300" u="none">
                    <a:solidFill>
                      <a:srgbClr val="141413"/>
                    </a:solidFill>
                    <a:latin typeface="+mn-lt"/>
                  </a:defRPr>
                </a:pPr>
              </a:p>
            </c:txPr>
            <c:showLegendKey val="0"/>
            <c:showVal val="1"/>
            <c:showCatName val="0"/>
            <c:showSerName val="0"/>
            <c:showPercent val="0"/>
            <c:showBubbleSize val="0"/>
            <c:showLeaderLines val="0"/>
          </c:dLbls>
          <c:dPt>
            <c:idx val="0"/>
            <c:invertIfNegative val="0"/>
            <c:bubble3D val="0"/>
            <c:spPr>
              <a:solidFill>
                <a:srgbClr val="141413"/>
              </a:solidFill>
              <a:effectLst/>
            </c:spPr>
          </c:dPt>
          <c:dPt>
            <c:idx val="1"/>
            <c:invertIfNegative val="0"/>
            <c:bubble3D val="0"/>
            <c:spPr>
              <a:solidFill>
                <a:srgbClr val="CC785C"/>
              </a:solidFill>
              <a:effectLst/>
            </c:spPr>
          </c:dPt>
          <c:cat>
            <c:multiLvlStrRef>
              <c:f>Sheet1!$A$2:$A$3</c:f>
              <c:multiLvlStrCache>
                <c:ptCount val="2"/>
                <c:lvl>
                  <c:pt idx="0">
                    <c:v>목록 20개 (LIMIT 20)</c:v>
                  </c:pt>
                  <c:pt idx="1">
                    <c:v>전체 개수 (COUNT(*))</c:v>
                  </c:pt>
                </c:lvl>
              </c:multiLvlStrCache>
            </c:multiLvlStrRef>
          </c:cat>
          <c:val>
            <c:numRef>
              <c:f>Sheet1!$B$2:$B$3</c:f>
              <c:numCache>
                <c:formatCode>General</c:formatCode>
                <c:ptCount val="2"/>
                <c:pt idx="0">
                  <c:v>0.01</c:v>
                </c:pt>
                <c:pt idx="1">
                  <c:v>47.55</c:v>
                </c:pt>
              </c:numCache>
            </c:numRef>
          </c:val>
        </c:ser>
        <c:dLbls>
          <c:numFmt formatCode="#,##0.0#" sourceLinked="0"/>
          <c:txPr>
            <a:bodyPr/>
            <a:lstStyle/>
            <a:p>
              <a:pPr>
                <a:defRPr b="0" i="0" strike="noStrike" sz="1300" u="none">
                  <a:solidFill>
                    <a:srgbClr val="14141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3D3D3A"/>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6DFD8"/>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6C6A64"/>
                </a:solidFill>
                <a:latin typeface="+mn-lt"/>
              </a:defRPr>
            </a:pPr>
            <a:endParaRPr lang="en-US"/>
          </a:p>
        </c:txPr>
        <c:crossAx val="2094734554"/>
        <c:crosses val="autoZero"/>
        <c:crossBetween val="between"/>
      </c:valAx>
      <c:spPr>
        <a:solidFill>
          <a:srgbClr val="FAF9F5"/>
        </a:solidFill>
        <a:ln>
          <a:noFill/>
        </a:ln>
        <a:effectLst/>
      </c:spPr>
    </c:plotArea>
    <c:plotVisOnly val="1"/>
    <c:dispBlanksAs val="span"/>
  </c:chart>
  <c:spPr>
    <a:solidFill>
      <a:srgbClr val="FAF9F5"/>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D3D3A"/>
                </a:solidFill>
                <a:latin typeface="+mn-lt"/>
              </a:defRPr>
            </a:pPr>
            <a:r>
              <a:rPr sz="1400" b="0" i="0" u="none" strike="noStrike">
                <a:solidFill>
                  <a:srgbClr val="3D3D3A"/>
                </a:solidFill>
                <a:latin typeface="+mn-lt"/>
              </a:rPr>
              <a:t>20개를 가져오는 시간 (ms, 15회 중앙값)</a:t>
            </a:r>
          </a:p>
        </c:rich>
      </c:tx>
      <c:layout/>
      <c:overlay val="0"/>
    </c:title>
    <c:autoTitleDeleted val="0"/>
    <c:plotArea>
      <c:layout/>
      <c:barChart>
        <c:barDir val="col"/>
        <c:grouping val="clustered"/>
        <c:varyColors val="0"/>
        <c:ser>
          <c:idx val="0"/>
          <c:order val="0"/>
          <c:tx>
            <c:strRef>
              <c:f>Sheet1!$B$1</c:f>
              <c:strCache>
                <c:ptCount val="1"/>
                <c:pt idx="0">
                  <c:v>오프셋 (LIMIT … OFFSET)</c:v>
                </c:pt>
              </c:strCache>
            </c:strRef>
          </c:tx>
          <c:spPr>
            <a:solidFill>
              <a:srgbClr val="CC785C"/>
            </a:solidFill>
            <a:effectLst/>
          </c:spPr>
          <c:invertIfNegative val="0"/>
          <c:dLbls>
            <c:numFmt formatCode="#,##0.0#" sourceLinked="0"/>
            <c:txPr>
              <a:bodyPr/>
              <a:lstStyle/>
              <a:p>
                <a:pPr>
                  <a:defRPr b="0" i="0" strike="noStrike" sz="1100" u="none">
                    <a:solidFill>
                      <a:srgbClr val="3D3D3A"/>
                    </a:solidFill>
                    <a:latin typeface="+mn-lt"/>
                  </a:defRPr>
                </a:pPr>
              </a:p>
            </c:txPr>
            <c:showLegendKey val="0"/>
            <c:showVal val="1"/>
            <c:showCatName val="0"/>
            <c:showSerName val="0"/>
            <c:showPercent val="0"/>
            <c:showBubbleSize val="0"/>
            <c:showLeaderLines val="0"/>
          </c:dLbls>
          <c:cat>
            <c:multiLvlStrRef>
              <c:f>Sheet1!$A$2:$A$8</c:f>
              <c:multiLvlStrCache>
                <c:ptCount val="7"/>
                <c:lvl>
                  <c:pt idx="0">
                    <c:v>1쪽</c:v>
                  </c:pt>
                  <c:pt idx="1">
                    <c:v>10쪽</c:v>
                  </c:pt>
                  <c:pt idx="2">
                    <c:v>100쪽</c:v>
                  </c:pt>
                  <c:pt idx="3">
                    <c:v>1,000쪽</c:v>
                  </c:pt>
                  <c:pt idx="4">
                    <c:v>10,000쪽</c:v>
                  </c:pt>
                  <c:pt idx="5">
                    <c:v>25,000쪽</c:v>
                  </c:pt>
                  <c:pt idx="6">
                    <c:v>50,000쪽</c:v>
                  </c:pt>
                </c:lvl>
              </c:multiLvlStrCache>
            </c:multiLvlStrRef>
          </c:cat>
          <c:val>
            <c:numRef>
              <c:f>Sheet1!$B$2:$B$8</c:f>
              <c:numCache>
                <c:formatCode>General</c:formatCode>
                <c:ptCount val="7"/>
                <c:pt idx="0">
                  <c:v>0.02</c:v>
                </c:pt>
                <c:pt idx="1">
                  <c:v>0.02</c:v>
                </c:pt>
                <c:pt idx="2">
                  <c:v>0.03</c:v>
                </c:pt>
                <c:pt idx="3">
                  <c:v>0.76</c:v>
                </c:pt>
                <c:pt idx="4">
                  <c:v>10.94</c:v>
                </c:pt>
                <c:pt idx="5">
                  <c:v>33.55</c:v>
                </c:pt>
                <c:pt idx="6">
                  <c:v>54.89</c:v>
                </c:pt>
              </c:numCache>
            </c:numRef>
          </c:val>
        </c:ser>
        <c:ser>
          <c:idx val="1"/>
          <c:order val="1"/>
          <c:tx>
            <c:strRef>
              <c:f>Sheet1!$C$1</c:f>
              <c:strCache>
                <c:ptCount val="1"/>
                <c:pt idx="0">
                  <c:v>커서 (WHERE id &lt; …)</c:v>
                </c:pt>
              </c:strCache>
            </c:strRef>
          </c:tx>
          <c:spPr>
            <a:solidFill>
              <a:srgbClr val="141413"/>
            </a:solidFill>
            <a:effectLst/>
          </c:spPr>
          <c:invertIfNegative val="0"/>
          <c:dLbls>
            <c:numFmt formatCode="#,##0.0#" sourceLinked="0"/>
            <c:txPr>
              <a:bodyPr/>
              <a:lstStyle/>
              <a:p>
                <a:pPr>
                  <a:defRPr b="0" i="0" strike="noStrike" sz="1100" u="none">
                    <a:solidFill>
                      <a:srgbClr val="3D3D3A"/>
                    </a:solidFill>
                    <a:latin typeface="+mn-lt"/>
                  </a:defRPr>
                </a:pPr>
              </a:p>
            </c:txPr>
            <c:showLegendKey val="0"/>
            <c:showVal val="1"/>
            <c:showCatName val="0"/>
            <c:showSerName val="0"/>
            <c:showPercent val="0"/>
            <c:showBubbleSize val="0"/>
            <c:showLeaderLines val="0"/>
          </c:dLbls>
          <c:cat>
            <c:multiLvlStrRef>
              <c:f>Sheet1!$A$2:$A$8</c:f>
              <c:multiLvlStrCache>
                <c:ptCount val="7"/>
                <c:lvl>
                  <c:pt idx="0">
                    <c:v>1쪽</c:v>
                  </c:pt>
                  <c:pt idx="1">
                    <c:v>10쪽</c:v>
                  </c:pt>
                  <c:pt idx="2">
                    <c:v>100쪽</c:v>
                  </c:pt>
                  <c:pt idx="3">
                    <c:v>1,000쪽</c:v>
                  </c:pt>
                  <c:pt idx="4">
                    <c:v>10,000쪽</c:v>
                  </c:pt>
                  <c:pt idx="5">
                    <c:v>25,000쪽</c:v>
                  </c:pt>
                  <c:pt idx="6">
                    <c:v>50,000쪽</c:v>
                  </c:pt>
                </c:lvl>
              </c:multiLvlStrCache>
            </c:multiLvlStrRef>
          </c:cat>
          <c:val>
            <c:numRef>
              <c:f>Sheet1!$C$2:$C$8</c:f>
              <c:numCache>
                <c:formatCode>General</c:formatCode>
                <c:ptCount val="7"/>
                <c:pt idx="0">
                  <c:v>0.02</c:v>
                </c:pt>
                <c:pt idx="1">
                  <c:v>0.02</c:v>
                </c:pt>
                <c:pt idx="2">
                  <c:v>0.02</c:v>
                </c:pt>
                <c:pt idx="3">
                  <c:v>0.02</c:v>
                </c:pt>
                <c:pt idx="4">
                  <c:v>0.03</c:v>
                </c:pt>
                <c:pt idx="5">
                  <c:v>0.02</c:v>
                </c:pt>
                <c:pt idx="6">
                  <c:v>0.01</c:v>
                </c:pt>
              </c:numCache>
            </c:numRef>
          </c:val>
        </c:ser>
        <c:dLbls>
          <c:numFmt formatCode="#,##0.0#" sourceLinked="0"/>
          <c:txPr>
            <a:bodyPr/>
            <a:lstStyle/>
            <a:p>
              <a:pPr>
                <a:defRPr b="0" i="0" strike="noStrike" sz="1100" u="none">
                  <a:solidFill>
                    <a:srgbClr val="3D3D3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D3D3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6DFD8"/>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C6A64"/>
                </a:solidFill>
                <a:latin typeface="+mn-lt"/>
              </a:defRPr>
            </a:pPr>
            <a:endParaRPr lang="en-US"/>
          </a:p>
        </c:txPr>
        <c:crossAx val="2094734554"/>
        <c:crosses val="autoZero"/>
        <c:crossBetween val="between"/>
      </c:valAx>
      <c:spPr>
        <a:solidFill>
          <a:srgbClr val="FAF9F5"/>
        </a:solidFill>
        <a:ln>
          <a:noFill/>
        </a:ln>
        <a:effectLst/>
      </c:spPr>
    </c:plotArea>
    <c:legend>
      <c:legendPos val="t"/>
      <c:overlay val="0"/>
      <c:txPr>
        <a:bodyPr/>
        <a:lstStyle/>
        <a:p>
          <a:pPr>
            <a:defRPr sz="1300">
              <a:solidFill>
                <a:srgbClr val="3D3D3A"/>
              </a:solidFill>
              <a:latin typeface="+mn-lt"/>
              <a:cs typeface="+mn-lt"/>
            </a:defRPr>
          </a:pPr>
          <a:endParaRPr lang="en-US"/>
        </a:p>
      </c:txPr>
    </c:legend>
    <c:plotVisOnly val="1"/>
    <c:dispBlanksAs val="span"/>
  </c:chart>
  <c:spPr>
    <a:solidFill>
      <a:srgbClr val="FAF9F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이재웅입니다. 오늘은 REST API를 설계할 때 팀이 정해야 하는 규칙들을, 문법보다 왜 그렇게 정하는지 위주로 이야기하겠습니다. 마지막에는 제 프로젝트 글결의 실제 API 문서와 에러 응답을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REST는 HTTP를 이렇게 쓰자는 설계 스타일입니다. 자원은 URL로, 행동은 메서드로, 결과는 상태 코드로 표현합니다. 이 한 줄만 봐도 42번 글을 지웠고 성공했다는 걸 알 수 있습니다. 다만 REST는 표준 규격이 아니라서 세부 규칙은 팀이 정해야 하고, 오늘 이야기는 그 규칙들입니다.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URL부터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URL에 동사를 넣으면 기능마다 주소가 늘고, 같은 권한 검사를 주소마다 걸어야 해서 하나만 빠져도 구멍이 됩니다. 그래서 주소는 자원만 가리키고 행동은 메서드에 맡깁니다. 특히 GET으로 삭제하면 안 됩니다. 크롤러나 메신저의 링크 미리보기는 GET을 마음대로 보내서, 링크를 공유만 해도 글이 지워질 수 있습니다. 컬렉션은 복수형으로 통일하고, URL 경로는 대소문자를 구분해서 한 글자만 틀려도 404가 나니 전부 소문자로 쓰고 단어는 하이픈으로 나눕니다.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관계는 경로 계층으로 표현하되, 자원 두 개 정도까지만 둡니다. 더 깊어지면 앞의 id를 전부 알아야 부를 수 있고, 서버도 단계마다 짝이 맞는지 검사해야 합니다. 댓글처럼 id 하나로 찾을 수 있는 자원은 /comments/7처럼 최상위로 끊는 게 흔한 선택입니다. 어떤 자원인지는 경로에, 검색어나 정렬, 쪽 번호처럼 보여 주는 방식은 쿼리에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실무에서는 CRUD로 안 떨어지는 행위가 꼭 나옵니다. 주문 취소를 예로 들면 세 가지 방법이 있습니다. 상태 값만 바꾸는 PATCH는 단순하지만, 취소에 환불이나 재고 복구가 따라오면 그 일이 요청에 드러나지 않고, 권한도 일반 수정과 나누기 어렵습니다. 그래서 부수 작업이 있는 행위는 POST로 cancel을 붙이거나, 취소 자체를 자원으로 만들어 이력을 남깁니다. 동사를 무조건 막는 게 목적이 아니라, 의도가 드러나게 하는 게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메서드와 상태 코드입니다.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메서드를 고르는 기준은 두 가지입니다. 안전은 서버 상태를 바꾸지 않는다는 뜻이라, GET은 캐시나 프리페치가 마음대로 불러도 됩니다. 멱등은 여러 번 보내도 결과가 같다는 뜻이라, 타임아웃이 났을 때 그냥 다시 보내도 되는지 판단하는 기준이 됩니다. PUT은 자원 전체를 교체해서 안 보낸 칸이 비워질 수 있으니 일부 수정에는 PATCH를 씁니다. PATCH는 값을 바꾸면 멱등이지만, 조회수 1 증가처럼 연산을 보내면 멱등이 아니라서 세모입니다.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POST는 멱등이 아니라서 버튼을 두 번 누르거나 네트워크가 다시 보내면 두 번 처리됩니다. 버튼 비활성화는 화면 하나만 막을 뿐이라, 결제처럼 중요한 요청은 서버에서 막습니다. 클라이언트가 요청마다 고유한 키를 만들어 보내고, 서버는 같은 키가 다시 오면 처리하지 않고 저장해 둔 결과를 돌려줍니다. 제 프로젝트에서도 글쓰기 화면을 열 때 키를 만들어서 같은 글이 두 번 생기지 않게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쓰는 건 이 정도입니다. 생성은 201과 함께 Location 헤더에 새 자원의 주소를, 삭제는 바디 없이 204를 줍니다. 헷갈리는 건 401과 403입니다. 401은 누구인지 모르는 것, 403은 누구인지는 알지만 권한이 없는 것입니다. 409는 중복 가입이나 동시 수정처럼 현재 상태와 충돌할 때 씁니다. 그리고 남의 비공개 글처럼 존재 자체를 숨겨야 할 때는 일부러 403 대신 404를 주기도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보는 안티패턴이 실패를 200으로 보내고 바디에 success false를 담는 방식입니다. APM 같은 모니터링, 로드밸런서, 캐시, 자동 재시도, 프론트엔드의 HTTP 클라이언트는 모두 바디가 아니라 상태 코드를 봅니다. 그래서 장애가 나도 대시보드는 정상으로 보이고, 실패 응답이 캐시되기도 합니다. 실패는 4xx, 5xx로 보내고, 세밀한 구분은 바디의 에러 코드로 합니다. 오른쪽은 예제 서버에 실제로 보낸 요청입니다.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응답과 에러의 모양입니다.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에러는 모든 API가 같은 모양으로 보냅니다. 예제 서버는 RFC 9457 표준인 ProblemDetail에, 팀 에러 코드인 code와 입력값 오류일 때 필드별 errors를 붙였습니다. 프론트엔드는 code로 분기하고 detail은 화면에 보여 주기만 합니다. 문장으로 분기하면 문구 하나 고칠 때 화면이 깨지기 때문입니다. 표준을 따를지 팀 형식을 쓸지는 선택이지만, 하나로 통일하는 게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못 한 예외가 나도 스택 트레이스나 SQL, 테이블 이름은 응답에 넣지 않습니다. 공격자에게 내부 구조를 알려 주기 때문입니다. 대신 요청마다 traceId를 만들어 응답에는 그 값만, 서버 로그에는 같은 traceId와 전체 스택 트레이스를 남깁니다. 사용자가 문의하면 traceId 하나로 로그를 바로 찾을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전역 예외 처리와 입력 검증입니다.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형식을 모든 API가 지키게 하는 게 전역 예외 처리입니다. 검증은 두 층으로 나눕니다. 빈 제목처럼 값만 보면 아는 건 DTO에 규칙을 적어 컨트롤러 메서드에 들어오기 전에 걸러지고, 없는 글이나 중복 제목처럼 DB를 봐야 아는 건 서비스에서 예외를 던집니다. 컨트롤러에는 try-catch가 없고, 예외는 호출한 쪽으로 올라가 @RestControllerAdvice 한 곳에서 상태 코드와 에러 형식으로 바뀝니다. 다만 Spring Security 필터에서 난 인증 오류는 컨트롤러 밖이라 여기서 잡히지 않으니 따로 처리합니다.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예제 프로젝트의 실제 코드입니다. 에러 코드는 enum 하나에 상태 코드와 제목을 같이 묶어 둡니다. 새 에러가 생기면 여기에 한 줄 추가하고, 서비스는 throw 한 줄로 끝납니다. 처리기는 예외 종류마다 어떤 응답을 만들지 적어 둔 곳이라, 에러 형식이 한 곳에서만 정해집니다. 화면에서 이미 검사했더라도 서버 검증은 생략하지 않습니다. curl이나 Postman으로 화면 없이 호출할 수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목록 API입니다.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목록 조건은 전부 쿼리로 받습니다. 필터는 필드 이름 그대로, 검색어는 keyword로, 정렬은 필드와 방향을 받습니다. 정렬은 여러 개를 받게 하고 마지막에 id를 붙여서, 같은 시각에 쓴 글이 페이지마다 순서가 바뀌지 않게 합니다. page는 Spring 기본이 0부터라 문서에 꼭 적습니다. 그리고 서버는 size 최댓값과 정렬할 수 있는 필드를 정해 둡니다. 인덱스 없는 컬럼 정렬이나 size 백만 같은 요청 하나로 DB가 멈출 수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응답에는 목록과 함께 페이지 정보를 줘야 화면이 쪽 번호를 그립니다. 결과가 없으면 404가 아니라 200과 빈 배열입니다. 전체 개수는 공짜가 아닙니다. 이를 위해 count 쿼리가 한 번 더 나가니, 쪽 번호가 필요 없는 무한 스크롤이라면 다음 페이지가 있는지만 알려 주는 게 더 가볍습니다. 직접 재 보니 같은 데이터에서 20개를 가져오는 건 0.01ms였는데, 전체 개수를 세는 COUNT는 48ms가 걸렸습니다.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페이징 방식은 두 가지입니다. 오프셋은 쪽 번호로 바로 이동할 수 있어 게시판에 맞지만, 뒤 페이지일수록 앞의 행을 읽고 버리는 비용이 커지고, 그 사이 글이 추가되면 중복이나 누락이 생깁니다. 커서는 마지막으로 본 id 다음부터 인덱스로 바로 찾아서 속도가 일정하고 중복도 없지만, 42쪽으로 바로 가는 건 못 합니다. 그래서 쪽 번호가 보이는 게시판은 오프셋, 피드나 무한 스크롤은 커서를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실제로 재 봤습니다. SQLite에 글 100만 개를 넣고 20개씩 가져왔더니, 오프셋은 1쪽에서 0.02ms였던 게 5만 쪽에서는 55ms로 늘었습니다. 앞의 행을 전부 읽고 버리기 때문입니다. 커서는 어느 위치든 거의 0에 가까운 시간으로 일정했습니다. 숫자는 환경마다 다르지만, 뒤로 갈수록 오프셋만 느려진다는 경향은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마지막은 API 문서입니다.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문서는 손으로 쓰면 코드와 금방 어긋나서 코드에서 만듭니다. Swagger는 springdoc 의존성만 넣으면 컨트롤러를 읽어 자동으로 만들고 화면에서 바로 호출해 볼 수 있지만, 설명을 붙이려면 운영 코드에 어노테이션이 늘어납니다. REST Docs는 테스트가 통과해야 문서가 생겨서 실제 동작과 어긋나지 않지만, API마다 테스트를 써야 합니다. 그래서 REST Docs 테스트로 OpenAPI 명세를 만들고 Swagger UI로 보여 주는 혼합 방식도 많이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 프로젝트 글결의 문서입니다. Swagger에서 API가 로그인, 블로그, 글처럼 묶음별로 보이고, 메서드가 색으로 구분됩니다.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하나를 펼치면 필요한 CSRF 머리글, 요청 바디 예시, 응답 코드별 예시가 나옵니다. 성공하면 201, 제목을 비우면 400입니다. Try it out으로 바로 호출해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 Docs 쪽은 테스트가 실제로 보내고 받은 요청과 응답으로 만든 문서입니다. 응답에 문서에 없는 칸이 생기거나 적은 칸이 사라지면 테스트가 실패해서, 문서가 코드와 어긋나지 않습니다. 전체 목록은 Swagger로, 주요 흐름은 예시와 함께 REST Docs로 나눴습니다.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글결의 에러 응답입니다. 글결은 표준 필드 대신 code, message, fieldErrors 세 칸으로 팀 형식을 정했습니다. 형식은 앞의 예제와 다르지만, 모든 API가 같은 모양이라는 원칙은 같습니다. 입력값 오류면 fieldErrors에 칸마다 까닭이 와서 제목 칸 옆에 바로 문구를 띄우고, 404도 같은 모양으로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URL은 자원만, 행동은 메서드로 표현하고, 메서드는 안전성과 멱등성으로 고릅니다. 실패는 상태 코드로 알리고, 에러는 한 모양으로 보내되 내부 정보는 로그에만 남깁니다. 검증과 예외 처리는 한 곳에 모으고, 목록은 쿼리로 받되 서버가 한도를 정합니다. 그리고 이 규칙들은 코드에서 만든 문서로 공개합니다.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성공 응답을 감쌀지는 팀마다 갈립니다. 감싸면 프론트엔드가 응답을 꺼내는 코드가 하나로 통일되고 메타 정보를 넣기 쉽습니다. 대신 success 필드는 상태 코드와 같은 정보를 두 번 보내는 셈이라, 이걸로 분기하다 보면 앞의 200 안티패턴으로 가기 쉽습니다. 어느 쪽이든 목록은 페이지 정보와 함께 감싸고, 필드는 camelCase, 시각은 ISO 8601로 맞춥니다.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버전은 응답 구조를 깨는 변경이 필요할 때 예전 클라이언트를 지키려고 붙입니다. 칸을 더하는 건 예전 클라이언트가 모르는 칸을 무시하니 v1 그대로 두고, 칸을 빼거나 이름이나 타입을 바꿀 때만 v2를 엽니다. v1과 v2를 한동안 같이 운영하다가, v1 요청이 거의 없어지면 닫습니다. 웹만 쓰면 서버와 화면을 같이 배포하면 되지만, 앱이나 외부 서비스가 쓰면 꼭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글결은 400, 401, 403, 404, 409, 429를 씁니다. 남의 비공개 글은 403이 아니라 404로 답해서, 그 글이 있다는 사실도 드러나지 않게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 쓰기 하나에 요청 머리글, 주소 안의 값, 요청 본문 칸, 실제 요청, 실제 응답, 응답 칸이 차례로 적혀 있습니다. 모두 테스트가 실제로 주고받은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MSA에서는 게이트웨이 뒤에 서비스가 여러 개 있습니다. 뒤쪽 서비스가 잘못된 응답을 주면 502, 과부하나 배포 중이면 503, 제한 시간 안에 응답이 없으면 504입니다. 그리고 다른 서비스의 에러를 그대로 넘기지 않고, 내 API의 에러 형식으로 바꿔서 돌려줍니다.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rtlCol="0"/>
          <a:lstStyle>
            <a:lvl1pPr algn="l" indent="0" marL="0">
              <a:buNone/>
              <a:defRPr lang="en-US" sz="5400"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섹션">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rtlCol="0"/>
          <a:lstStyle>
            <a:lvl1pPr algn="l" indent="0" marL="0">
              <a:buNone/>
              <a:defRPr lang="en-US" sz="6000" dirty="0">
                <a:solidFill>
                  <a:schemeClr val="accent1"/>
                </a:solidFill>
                <a:latin typeface="+mj-lt" pitchFamily="34" charset="0"/>
                <a:ea typeface="+mj-lt" pitchFamily="34" charset="-122"/>
                <a:cs typeface="+mj-lt" pitchFamily="34" charset="-120"/>
              </a:defRPr>
            </a:lvl1pPr>
          </a:lstStyle>
          <a:p>
            <a:pPr algn="l" indent="0" marL="0">
              <a:buNone/>
            </a:pP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rtlCol="0"/>
          <a:lstStyle>
            <a:lvl1pPr algn="l" indent="0" marL="0">
              <a:buNone/>
              <a:defRPr lang="en-US" sz="2000" dirty="0">
                <a:solidFill>
                  <a:srgbClr val="A09D96"/>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본문">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rtlCol="0"/>
          <a:lstStyle>
            <a:lvl1pPr algn="l" indent="0" marL="0">
              <a:buNone/>
              <a:defRPr lang="en-US" sz="1200" spc="150" kern="0" dirty="0">
                <a:solidFill>
                  <a:schemeClr val="accent3"/>
                </a:solidFill>
              </a:defRPr>
            </a:lvl1pPr>
          </a:lstStyle>
          <a:p>
            <a:pPr algn="l" indent="0" marL="0">
              <a:buNone/>
            </a:pP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마무리">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rtlCol="0"/>
          <a:lstStyle>
            <a:lvl1pPr algn="l" indent="0" marL="0">
              <a:buNone/>
              <a:defRPr lang="en-US" sz="3200"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lIns="0" tIns="0" rIns="0" bIns="0" rtlCol="0" anchor="b"/>
          <a:lstStyle/>
          <a:p>
            <a:pPr algn="l" indent="0" marL="0">
              <a:buNone/>
            </a:pPr>
            <a:r>
              <a:rPr lang="en-US" sz="5400" dirty="0">
                <a:solidFill>
                  <a:schemeClr val="tx1"/>
                </a:solidFill>
              </a:rPr>
              <a:t>RESTful API 설계</a:t>
            </a: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lIns="0" tIns="0" rIns="0" bIns="0" rtlCol="0" anchor="t"/>
          <a:lstStyle/>
          <a:p>
            <a:pPr algn="l" indent="0" marL="0">
              <a:buNone/>
            </a:pPr>
            <a:r>
              <a:rPr lang="en-US" sz="2000" dirty="0">
                <a:solidFill>
                  <a:schemeClr val="accent3"/>
                </a:solidFill>
              </a:rPr>
              <a:t>URL · 메서드 · 상태 코드 · 에러 · 목록 · 문서</a:t>
            </a: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lIns="0" tIns="0" rIns="0" bIns="0" rtlCol="0" anchor="t"/>
          <a:lstStyle/>
          <a:p>
            <a:pPr algn="l" indent="0" marL="0">
              <a:buNone/>
            </a:pPr>
            <a:r>
              <a:rPr lang="en-US" sz="1400" dirty="0">
                <a:solidFill>
                  <a:schemeClr val="accent3"/>
                </a:solidFill>
              </a:rPr>
              <a:t>이재웅 · 2026.10.16</a:t>
            </a:r>
            <a:endParaRPr lang="en-US" sz="1400" dirty="0"/>
          </a:p>
        </p:txBody>
      </p:sp>
      <p:sp>
        <p:nvSpPr>
          <p:cNvPr id="5" name="code-window"/>
          <p:cNvSpPr/>
          <p:nvPr/>
        </p:nvSpPr>
        <p:spPr>
          <a:xfrm>
            <a:off x="6903720" y="2240280"/>
            <a:ext cx="4636008" cy="2377440"/>
          </a:xfrm>
          <a:prstGeom prst="roundRect">
            <a:avLst>
              <a:gd name="adj" fmla="val 4615"/>
            </a:avLst>
          </a:prstGeom>
          <a:solidFill>
            <a:schemeClr val="tx2"/>
          </a:solidFill>
          <a:ln/>
        </p:spPr>
      </p:sp>
      <p:sp>
        <p:nvSpPr>
          <p:cNvPr id="6" name="code-window-dot"/>
          <p:cNvSpPr/>
          <p:nvPr/>
        </p:nvSpPr>
        <p:spPr>
          <a:xfrm>
            <a:off x="7104888" y="2386584"/>
            <a:ext cx="100584" cy="100584"/>
          </a:xfrm>
          <a:prstGeom prst="ellipse">
            <a:avLst/>
          </a:prstGeom>
          <a:solidFill>
            <a:srgbClr val="4A4844"/>
          </a:solidFill>
          <a:ln/>
        </p:spPr>
      </p:sp>
      <p:sp>
        <p:nvSpPr>
          <p:cNvPr id="7" name="code-window-dot"/>
          <p:cNvSpPr/>
          <p:nvPr/>
        </p:nvSpPr>
        <p:spPr>
          <a:xfrm>
            <a:off x="7278624" y="2386584"/>
            <a:ext cx="100584" cy="100584"/>
          </a:xfrm>
          <a:prstGeom prst="ellipse">
            <a:avLst/>
          </a:prstGeom>
          <a:solidFill>
            <a:srgbClr val="4A4844"/>
          </a:solidFill>
          <a:ln/>
        </p:spPr>
      </p:sp>
      <p:sp>
        <p:nvSpPr>
          <p:cNvPr id="8" name="code-window-dot"/>
          <p:cNvSpPr/>
          <p:nvPr/>
        </p:nvSpPr>
        <p:spPr>
          <a:xfrm>
            <a:off x="7452360" y="2386584"/>
            <a:ext cx="100584" cy="100584"/>
          </a:xfrm>
          <a:prstGeom prst="ellipse">
            <a:avLst/>
          </a:prstGeom>
          <a:solidFill>
            <a:srgbClr val="4A4844"/>
          </a:solidFill>
          <a:ln/>
        </p:spPr>
      </p:sp>
      <p:sp>
        <p:nvSpPr>
          <p:cNvPr id="9" name="code-window-label"/>
          <p:cNvSpPr txBox="1"/>
          <p:nvPr/>
        </p:nvSpPr>
        <p:spPr>
          <a:xfrm>
            <a:off x="7726680" y="2331720"/>
            <a:ext cx="3630168"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터미널</a:t>
            </a:r>
            <a:endParaRPr lang="en-US" sz="1100" dirty="0"/>
          </a:p>
        </p:txBody>
      </p:sp>
      <p:sp>
        <p:nvSpPr>
          <p:cNvPr id="10" name="code-window-text"/>
          <p:cNvSpPr txBox="1"/>
          <p:nvPr/>
        </p:nvSpPr>
        <p:spPr>
          <a:xfrm>
            <a:off x="7159752" y="2679192"/>
            <a:ext cx="4178808" cy="1828800"/>
          </a:xfrm>
          <a:prstGeom prst="rect">
            <a:avLst/>
          </a:prstGeom>
          <a:noFill/>
          <a:ln/>
        </p:spPr>
        <p:txBody>
          <a:bodyPr wrap="square" lIns="0" tIns="0" rIns="0" bIns="0" rtlCol="0" anchor="t"/>
          <a:lstStyle/>
          <a:p>
            <a:pPr algn="l" indent="0" marL="0">
              <a:lnSpc>
                <a:spcPct val="105000"/>
              </a:lnSpc>
              <a:buNone/>
            </a:pPr>
            <a:r>
              <a:rPr lang="en-US" sz="1500" dirty="0">
                <a:solidFill>
                  <a:schemeClr val="accent5"/>
                </a:solidFill>
                <a:latin typeface="JetBrains Mono" pitchFamily="34" charset="0"/>
                <a:ea typeface="JetBrains Mono" pitchFamily="34" charset="-122"/>
                <a:cs typeface="JetBrains Mono" pitchFamily="34" charset="-120"/>
              </a:rPr>
              <a:t>$ curl -i -X DELETE \</a:t>
            </a:r>
            <a:endParaRPr lang="en-US" sz="1500" dirty="0"/>
          </a:p>
          <a:p>
            <a:pPr algn="l" indent="0" marL="0">
              <a:lnSpc>
                <a:spcPct val="105000"/>
              </a:lnSpc>
              <a:buNone/>
            </a:pPr>
            <a:r>
              <a:rPr lang="en-US" sz="1500" dirty="0">
                <a:solidFill>
                  <a:schemeClr val="accent5"/>
                </a:solidFill>
                <a:latin typeface="JetBrains Mono" pitchFamily="34" charset="0"/>
                <a:ea typeface="JetBrains Mono" pitchFamily="34" charset="-122"/>
                <a:cs typeface="JetBrains Mono" pitchFamily="34" charset="-120"/>
              </a:rPr>
              <a:t>    localhost:8080/api/v1/posts/42</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HTTP/1.1 204 No Content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REST로 설계한다는 것</a:t>
            </a:r>
            <a:endParaRPr lang="en-US" sz="3200" dirty="0"/>
          </a:p>
        </p:txBody>
      </p:sp>
      <p:sp>
        <p:nvSpPr>
          <p:cNvPr id="5" name="code-inline"/>
          <p:cNvSpPr/>
          <p:nvPr/>
        </p:nvSpPr>
        <p:spPr>
          <a:xfrm>
            <a:off x="649224" y="1581912"/>
            <a:ext cx="10890504" cy="683768"/>
          </a:xfrm>
          <a:prstGeom prst="roundRect">
            <a:avLst>
              <a:gd name="adj" fmla="val 16048"/>
            </a:avLst>
          </a:prstGeom>
          <a:solidFill>
            <a:schemeClr val="bg2"/>
          </a:solidFill>
          <a:ln/>
        </p:spPr>
      </p:sp>
      <p:sp>
        <p:nvSpPr>
          <p:cNvPr id="6" name="code-inline-text"/>
          <p:cNvSpPr txBox="1"/>
          <p:nvPr/>
        </p:nvSpPr>
        <p:spPr>
          <a:xfrm>
            <a:off x="877824" y="1581912"/>
            <a:ext cx="10433304" cy="683768"/>
          </a:xfrm>
          <a:prstGeom prst="rect">
            <a:avLst/>
          </a:prstGeom>
          <a:noFill/>
          <a:ln/>
        </p:spPr>
        <p:txBody>
          <a:bodyPr wrap="square" lIns="0" tIns="0" rIns="0" bIns="0" rtlCol="0" anchor="ctr"/>
          <a:lstStyle/>
          <a:p>
            <a:pPr algn="l" indent="0" marL="0">
              <a:lnSpc>
                <a:spcPct val="100000"/>
              </a:lnSpc>
              <a:buNone/>
            </a:pPr>
            <a:r>
              <a:rPr lang="en-US" sz="2200" dirty="0">
                <a:solidFill>
                  <a:schemeClr val="tx1"/>
                </a:solidFill>
                <a:latin typeface="JetBrains Mono" pitchFamily="34" charset="0"/>
                <a:ea typeface="JetBrains Mono" pitchFamily="34" charset="-122"/>
                <a:cs typeface="JetBrains Mono" pitchFamily="34" charset="-120"/>
              </a:rPr>
              <a:t>DELETE /api/v1/posts/42   →   204 No Content</a:t>
            </a:r>
            <a:endParaRPr lang="en-US" sz="2200" dirty="0"/>
          </a:p>
        </p:txBody>
      </p:sp>
      <p:sp>
        <p:nvSpPr>
          <p:cNvPr id="7" name="card"/>
          <p:cNvSpPr/>
          <p:nvPr/>
        </p:nvSpPr>
        <p:spPr>
          <a:xfrm>
            <a:off x="649224" y="2514600"/>
            <a:ext cx="3493008" cy="2148840"/>
          </a:xfrm>
          <a:prstGeom prst="roundRect">
            <a:avLst>
              <a:gd name="adj" fmla="val 5106"/>
            </a:avLst>
          </a:prstGeom>
          <a:solidFill>
            <a:schemeClr val="bg2"/>
          </a:solidFill>
          <a:ln/>
        </p:spPr>
      </p:sp>
      <p:sp>
        <p:nvSpPr>
          <p:cNvPr id="8" name="text"/>
          <p:cNvSpPr txBox="1"/>
          <p:nvPr/>
        </p:nvSpPr>
        <p:spPr>
          <a:xfrm>
            <a:off x="969264" y="2743200"/>
            <a:ext cx="2834640" cy="320040"/>
          </a:xfrm>
          <a:prstGeom prst="rect">
            <a:avLst/>
          </a:prstGeom>
          <a:noFill/>
          <a:ln/>
        </p:spPr>
        <p:txBody>
          <a:bodyPr wrap="square" lIns="0" tIns="0" rIns="0" bIns="0" rtlCol="0" anchor="t"/>
          <a:lstStyle/>
          <a:p>
            <a:pPr algn="l" indent="0" marL="0">
              <a:lnSpc>
                <a:spcPct val="115000"/>
              </a:lnSpc>
              <a:spcAft>
                <a:spcPts val="600"/>
              </a:spcAft>
              <a:buNone/>
            </a:pPr>
            <a:r>
              <a:rPr lang="en-US" sz="1600" dirty="0">
                <a:solidFill>
                  <a:schemeClr val="accent3"/>
                </a:solidFill>
              </a:rPr>
              <a:t>자원</a:t>
            </a:r>
            <a:endParaRPr lang="en-US" sz="1600" dirty="0"/>
          </a:p>
        </p:txBody>
      </p:sp>
      <p:sp>
        <p:nvSpPr>
          <p:cNvPr id="9" name="card-title"/>
          <p:cNvSpPr txBox="1"/>
          <p:nvPr/>
        </p:nvSpPr>
        <p:spPr>
          <a:xfrm>
            <a:off x="969264" y="3108960"/>
            <a:ext cx="2834640" cy="640080"/>
          </a:xfrm>
          <a:prstGeom prst="rect">
            <a:avLst/>
          </a:prstGeom>
          <a:noFill/>
          <a:ln/>
        </p:spPr>
        <p:txBody>
          <a:bodyPr wrap="square" lIns="0" tIns="0" rIns="0" bIns="0" rtlCol="0" anchor="t"/>
          <a:lstStyle/>
          <a:p>
            <a:pPr algn="l" indent="0" marL="0">
              <a:lnSpc>
                <a:spcPct val="115000"/>
              </a:lnSpc>
              <a:spcAft>
                <a:spcPts val="600"/>
              </a:spcAft>
              <a:buNone/>
            </a:pPr>
            <a:r>
              <a:rPr lang="en-US" sz="3000" dirty="0">
                <a:solidFill>
                  <a:schemeClr val="tx1"/>
                </a:solidFill>
              </a:rPr>
              <a:t>URL</a:t>
            </a:r>
            <a:endParaRPr lang="en-US" sz="3000" dirty="0"/>
          </a:p>
        </p:txBody>
      </p:sp>
      <p:sp>
        <p:nvSpPr>
          <p:cNvPr id="10" name="text"/>
          <p:cNvSpPr txBox="1"/>
          <p:nvPr/>
        </p:nvSpPr>
        <p:spPr>
          <a:xfrm>
            <a:off x="969264" y="3977640"/>
            <a:ext cx="2834640" cy="36576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2"/>
                </a:solidFill>
                <a:latin typeface="JetBrains Mono" pitchFamily="34" charset="0"/>
                <a:ea typeface="JetBrains Mono" pitchFamily="34" charset="-122"/>
                <a:cs typeface="JetBrains Mono" pitchFamily="34" charset="-120"/>
              </a:rPr>
              <a:t>/api/v1/posts/42</a:t>
            </a:r>
            <a:endParaRPr lang="en-US" sz="1500" dirty="0"/>
          </a:p>
        </p:txBody>
      </p:sp>
      <p:sp>
        <p:nvSpPr>
          <p:cNvPr id="11" name="card"/>
          <p:cNvSpPr/>
          <p:nvPr/>
        </p:nvSpPr>
        <p:spPr>
          <a:xfrm>
            <a:off x="4347972" y="2514600"/>
            <a:ext cx="3493008" cy="2148840"/>
          </a:xfrm>
          <a:prstGeom prst="roundRect">
            <a:avLst>
              <a:gd name="adj" fmla="val 5106"/>
            </a:avLst>
          </a:prstGeom>
          <a:solidFill>
            <a:schemeClr val="bg2"/>
          </a:solidFill>
          <a:ln/>
        </p:spPr>
      </p:sp>
      <p:sp>
        <p:nvSpPr>
          <p:cNvPr id="12" name="text"/>
          <p:cNvSpPr txBox="1"/>
          <p:nvPr/>
        </p:nvSpPr>
        <p:spPr>
          <a:xfrm>
            <a:off x="4668012" y="2743200"/>
            <a:ext cx="2834640" cy="320040"/>
          </a:xfrm>
          <a:prstGeom prst="rect">
            <a:avLst/>
          </a:prstGeom>
          <a:noFill/>
          <a:ln/>
        </p:spPr>
        <p:txBody>
          <a:bodyPr wrap="square" lIns="0" tIns="0" rIns="0" bIns="0" rtlCol="0" anchor="t"/>
          <a:lstStyle/>
          <a:p>
            <a:pPr algn="l" indent="0" marL="0">
              <a:lnSpc>
                <a:spcPct val="115000"/>
              </a:lnSpc>
              <a:spcAft>
                <a:spcPts val="600"/>
              </a:spcAft>
              <a:buNone/>
            </a:pPr>
            <a:r>
              <a:rPr lang="en-US" sz="1600" dirty="0">
                <a:solidFill>
                  <a:schemeClr val="accent3"/>
                </a:solidFill>
              </a:rPr>
              <a:t>행동</a:t>
            </a:r>
            <a:endParaRPr lang="en-US" sz="1600" dirty="0"/>
          </a:p>
        </p:txBody>
      </p:sp>
      <p:sp>
        <p:nvSpPr>
          <p:cNvPr id="13" name="card-title"/>
          <p:cNvSpPr txBox="1"/>
          <p:nvPr/>
        </p:nvSpPr>
        <p:spPr>
          <a:xfrm>
            <a:off x="4668012" y="3108960"/>
            <a:ext cx="2834640" cy="640080"/>
          </a:xfrm>
          <a:prstGeom prst="rect">
            <a:avLst/>
          </a:prstGeom>
          <a:noFill/>
          <a:ln/>
        </p:spPr>
        <p:txBody>
          <a:bodyPr wrap="square" lIns="0" tIns="0" rIns="0" bIns="0" rtlCol="0" anchor="t"/>
          <a:lstStyle/>
          <a:p>
            <a:pPr algn="l" indent="0" marL="0">
              <a:lnSpc>
                <a:spcPct val="115000"/>
              </a:lnSpc>
              <a:spcAft>
                <a:spcPts val="600"/>
              </a:spcAft>
              <a:buNone/>
            </a:pPr>
            <a:r>
              <a:rPr lang="en-US" sz="3000" dirty="0">
                <a:solidFill>
                  <a:schemeClr val="tx1"/>
                </a:solidFill>
              </a:rPr>
              <a:t>메서드</a:t>
            </a:r>
            <a:endParaRPr lang="en-US" sz="3000" dirty="0"/>
          </a:p>
        </p:txBody>
      </p:sp>
      <p:sp>
        <p:nvSpPr>
          <p:cNvPr id="14" name="text"/>
          <p:cNvSpPr txBox="1"/>
          <p:nvPr/>
        </p:nvSpPr>
        <p:spPr>
          <a:xfrm>
            <a:off x="4668012" y="3977640"/>
            <a:ext cx="2834640" cy="36576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2"/>
                </a:solidFill>
                <a:latin typeface="JetBrains Mono" pitchFamily="34" charset="0"/>
                <a:ea typeface="JetBrains Mono" pitchFamily="34" charset="-122"/>
                <a:cs typeface="JetBrains Mono" pitchFamily="34" charset="-120"/>
              </a:rPr>
              <a:t>DELETE</a:t>
            </a:r>
            <a:endParaRPr lang="en-US" sz="1500" dirty="0"/>
          </a:p>
        </p:txBody>
      </p:sp>
      <p:sp>
        <p:nvSpPr>
          <p:cNvPr id="15" name="card"/>
          <p:cNvSpPr/>
          <p:nvPr/>
        </p:nvSpPr>
        <p:spPr>
          <a:xfrm>
            <a:off x="8046720" y="2514600"/>
            <a:ext cx="3493008" cy="2148840"/>
          </a:xfrm>
          <a:prstGeom prst="roundRect">
            <a:avLst>
              <a:gd name="adj" fmla="val 5106"/>
            </a:avLst>
          </a:prstGeom>
          <a:solidFill>
            <a:schemeClr val="bg2"/>
          </a:solidFill>
          <a:ln/>
        </p:spPr>
      </p:sp>
      <p:sp>
        <p:nvSpPr>
          <p:cNvPr id="16" name="text"/>
          <p:cNvSpPr txBox="1"/>
          <p:nvPr/>
        </p:nvSpPr>
        <p:spPr>
          <a:xfrm>
            <a:off x="8366760" y="2743200"/>
            <a:ext cx="2834640" cy="320040"/>
          </a:xfrm>
          <a:prstGeom prst="rect">
            <a:avLst/>
          </a:prstGeom>
          <a:noFill/>
          <a:ln/>
        </p:spPr>
        <p:txBody>
          <a:bodyPr wrap="square" lIns="0" tIns="0" rIns="0" bIns="0" rtlCol="0" anchor="t"/>
          <a:lstStyle/>
          <a:p>
            <a:pPr algn="l" indent="0" marL="0">
              <a:lnSpc>
                <a:spcPct val="115000"/>
              </a:lnSpc>
              <a:spcAft>
                <a:spcPts val="600"/>
              </a:spcAft>
              <a:buNone/>
            </a:pPr>
            <a:r>
              <a:rPr lang="en-US" sz="1600" dirty="0">
                <a:solidFill>
                  <a:schemeClr val="accent3"/>
                </a:solidFill>
              </a:rPr>
              <a:t>결과</a:t>
            </a:r>
            <a:endParaRPr lang="en-US" sz="1600" dirty="0"/>
          </a:p>
        </p:txBody>
      </p:sp>
      <p:sp>
        <p:nvSpPr>
          <p:cNvPr id="17" name="card-title"/>
          <p:cNvSpPr txBox="1"/>
          <p:nvPr/>
        </p:nvSpPr>
        <p:spPr>
          <a:xfrm>
            <a:off x="8366760" y="3108960"/>
            <a:ext cx="2834640" cy="640080"/>
          </a:xfrm>
          <a:prstGeom prst="rect">
            <a:avLst/>
          </a:prstGeom>
          <a:noFill/>
          <a:ln/>
        </p:spPr>
        <p:txBody>
          <a:bodyPr wrap="square" lIns="0" tIns="0" rIns="0" bIns="0" rtlCol="0" anchor="t"/>
          <a:lstStyle/>
          <a:p>
            <a:pPr algn="l" indent="0" marL="0">
              <a:lnSpc>
                <a:spcPct val="115000"/>
              </a:lnSpc>
              <a:spcAft>
                <a:spcPts val="600"/>
              </a:spcAft>
              <a:buNone/>
            </a:pPr>
            <a:r>
              <a:rPr lang="en-US" sz="3000" dirty="0">
                <a:solidFill>
                  <a:schemeClr val="tx1"/>
                </a:solidFill>
              </a:rPr>
              <a:t>상태 코드</a:t>
            </a:r>
            <a:endParaRPr lang="en-US" sz="3000" dirty="0"/>
          </a:p>
        </p:txBody>
      </p:sp>
      <p:sp>
        <p:nvSpPr>
          <p:cNvPr id="18" name="text"/>
          <p:cNvSpPr txBox="1"/>
          <p:nvPr/>
        </p:nvSpPr>
        <p:spPr>
          <a:xfrm>
            <a:off x="8366760" y="3977640"/>
            <a:ext cx="2834640" cy="36576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2"/>
                </a:solidFill>
                <a:latin typeface="JetBrains Mono" pitchFamily="34" charset="0"/>
                <a:ea typeface="JetBrains Mono" pitchFamily="34" charset="-122"/>
                <a:cs typeface="JetBrains Mono" pitchFamily="34" charset="-120"/>
              </a:rPr>
              <a:t>204 No Content</a:t>
            </a:r>
            <a:endParaRPr lang="en-US" sz="1500" dirty="0"/>
          </a:p>
        </p:txBody>
      </p:sp>
      <p:sp>
        <p:nvSpPr>
          <p:cNvPr id="19" name="text"/>
          <p:cNvSpPr txBox="1"/>
          <p:nvPr/>
        </p:nvSpPr>
        <p:spPr>
          <a:xfrm>
            <a:off x="649224" y="5120640"/>
            <a:ext cx="10890504" cy="73152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3D3D3A"/>
                </a:solidFill>
              </a:rPr>
              <a:t>REST는 표준 규격이 아니라 설계 스타일이다. 그래서 세부 규칙은 팀이 정한다.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01</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자원 중심 URL</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주소는 자원만 가리키고, 행동은 메서드에 맡긴다</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URL에는 자원만 쓴다</a:t>
            </a:r>
            <a:endParaRPr lang="en-US" sz="32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5440680"/>
                <a:gridCol w="5449824"/>
              </a:tblGrid>
              <a:tr h="457200">
                <a:tc>
                  <a:txBody>
                    <a:bodyPr/>
                    <a:lstStyle/>
                    <a:p>
                      <a:pPr indent="0" marL="0">
                        <a:buNone/>
                      </a:pPr>
                      <a:r>
                        <a:rPr lang="en-US" sz="1500" dirty="0">
                          <a:solidFill>
                            <a:schemeClr val="accent3"/>
                          </a:solidFill>
                        </a:rPr>
                        <a:t>흔히 보는 URL</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500" dirty="0">
                          <a:solidFill>
                            <a:schemeClr val="accent3"/>
                          </a:solidFill>
                        </a:rPr>
                        <a:t>바꾼 URL</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57200">
                <a:tc>
                  <a:txBody>
                    <a:bodyPr/>
                    <a:lstStyle/>
                    <a:p>
                      <a:pPr indent="0" marL="0">
                        <a:buNone/>
                      </a:pPr>
                      <a:r>
                        <a:rPr lang="en-US" sz="1800" dirty="0">
                          <a:solidFill>
                            <a:schemeClr val="accent6"/>
                          </a:solidFill>
                          <a:latin typeface="JetBrains Mono" pitchFamily="34" charset="0"/>
                          <a:ea typeface="JetBrains Mono" pitchFamily="34" charset="-122"/>
                          <a:cs typeface="JetBrains Mono" pitchFamily="34" charset="-120"/>
                        </a:rPr>
                        <a:t>GET  /getPosts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GET    /posts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800" dirty="0">
                          <a:solidFill>
                            <a:schemeClr val="accent6"/>
                          </a:solidFill>
                          <a:latin typeface="JetBrains Mono" pitchFamily="34" charset="0"/>
                          <a:ea typeface="JetBrains Mono" pitchFamily="34" charset="-122"/>
                          <a:cs typeface="JetBrains Mono" pitchFamily="34" charset="-120"/>
                        </a:rPr>
                        <a:t>POST /posts/create</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POST   /posts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800" dirty="0">
                          <a:solidFill>
                            <a:schemeClr val="accent6"/>
                          </a:solidFill>
                          <a:latin typeface="JetBrains Mono" pitchFamily="34" charset="0"/>
                          <a:ea typeface="JetBrains Mono" pitchFamily="34" charset="-122"/>
                          <a:cs typeface="JetBrains Mono" pitchFamily="34" charset="-120"/>
                        </a:rPr>
                        <a:t>GET  /deletePost?id=42</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DELETE /posts/42</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800" dirty="0">
                          <a:solidFill>
                            <a:schemeClr val="accent6"/>
                          </a:solidFill>
                          <a:latin typeface="JetBrains Mono" pitchFamily="34" charset="0"/>
                          <a:ea typeface="JetBrains Mono" pitchFamily="34" charset="-122"/>
                          <a:cs typeface="JetBrains Mono" pitchFamily="34" charset="-120"/>
                        </a:rPr>
                        <a:t>GET  /post_list,  /Posts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GET    /posts</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card"/>
          <p:cNvSpPr/>
          <p:nvPr/>
        </p:nvSpPr>
        <p:spPr>
          <a:xfrm>
            <a:off x="649224" y="4206240"/>
            <a:ext cx="5330952" cy="1600200"/>
          </a:xfrm>
          <a:prstGeom prst="roundRect">
            <a:avLst>
              <a:gd name="adj" fmla="val 6857"/>
            </a:avLst>
          </a:prstGeom>
          <a:solidFill>
            <a:schemeClr val="bg2"/>
          </a:solidFill>
          <a:ln/>
        </p:spPr>
      </p:sp>
      <p:sp>
        <p:nvSpPr>
          <p:cNvPr id="7" name="text"/>
          <p:cNvSpPr txBox="1"/>
          <p:nvPr/>
        </p:nvSpPr>
        <p:spPr>
          <a:xfrm>
            <a:off x="969264" y="4434840"/>
            <a:ext cx="4754880" cy="1280160"/>
          </a:xfrm>
          <a:prstGeom prst="rect">
            <a:avLst/>
          </a:prstGeom>
          <a:noFill/>
          <a:ln/>
        </p:spPr>
        <p:txBody>
          <a:bodyPr wrap="square" lIns="0" tIns="0" rIns="0" bIns="0" rtlCol="0" anchor="t"/>
          <a:lstStyle/>
          <a:p>
            <a:pPr algn="l" indent="0" marL="0">
              <a:lnSpc>
                <a:spcPct val="115000"/>
              </a:lnSpc>
              <a:spcAft>
                <a:spcPts val="400"/>
              </a:spcAft>
              <a:buNone/>
            </a:pPr>
            <a:r>
              <a:rPr lang="en-US" sz="2000" b="1" dirty="0">
                <a:solidFill>
                  <a:schemeClr val="tx1"/>
                </a:solidFill>
              </a:rPr>
              <a:t>복수 명사 · 소문자 · 하이픈</a:t>
            </a:r>
            <a:endParaRPr lang="en-US" sz="2000" dirty="0"/>
          </a:p>
          <a:p>
            <a:pPr algn="l" indent="0" marL="0">
              <a:lnSpc>
                <a:spcPct val="115000"/>
              </a:lnSpc>
              <a:spcAft>
                <a:spcPts val="400"/>
              </a:spcAft>
              <a:buNone/>
            </a:pPr>
            <a:r>
              <a:rPr lang="en-US" sz="1700" dirty="0">
                <a:solidFill>
                  <a:schemeClr val="accent2"/>
                </a:solidFill>
                <a:latin typeface="JetBrains Mono" pitchFamily="34" charset="0"/>
                <a:ea typeface="JetBrains Mono" pitchFamily="34" charset="-122"/>
                <a:cs typeface="JetBrains Mono" pitchFamily="34" charset="-120"/>
              </a:rPr>
              <a:t>/blog-posts</a:t>
            </a:r>
            <a:endParaRPr lang="en-US" sz="2000" dirty="0"/>
          </a:p>
          <a:p>
            <a:pPr algn="l" indent="0" marL="0">
              <a:lnSpc>
                <a:spcPct val="115000"/>
              </a:lnSpc>
              <a:spcAft>
                <a:spcPts val="400"/>
              </a:spcAft>
              <a:buNone/>
            </a:pPr>
            <a:r>
              <a:rPr lang="en-US" sz="1500" dirty="0">
                <a:solidFill>
                  <a:schemeClr val="accent3"/>
                </a:solidFill>
              </a:rPr>
              <a:t>경로는 대소문자를 구분해서 한 글자만 달라도 404</a:t>
            </a:r>
            <a:endParaRPr lang="en-US" sz="2000" dirty="0"/>
          </a:p>
        </p:txBody>
      </p:sp>
      <p:sp>
        <p:nvSpPr>
          <p:cNvPr id="8" name="card"/>
          <p:cNvSpPr/>
          <p:nvPr/>
        </p:nvSpPr>
        <p:spPr>
          <a:xfrm>
            <a:off x="6208776" y="4206240"/>
            <a:ext cx="5330952" cy="1600200"/>
          </a:xfrm>
          <a:prstGeom prst="roundRect">
            <a:avLst>
              <a:gd name="adj" fmla="val 6857"/>
            </a:avLst>
          </a:prstGeom>
          <a:solidFill>
            <a:schemeClr val="bg2"/>
          </a:solidFill>
          <a:ln/>
        </p:spPr>
      </p:sp>
      <p:sp>
        <p:nvSpPr>
          <p:cNvPr id="9" name="text"/>
          <p:cNvSpPr txBox="1"/>
          <p:nvPr/>
        </p:nvSpPr>
        <p:spPr>
          <a:xfrm>
            <a:off x="6528816" y="4434840"/>
            <a:ext cx="4754880" cy="1280160"/>
          </a:xfrm>
          <a:prstGeom prst="rect">
            <a:avLst/>
          </a:prstGeom>
          <a:noFill/>
          <a:ln/>
        </p:spPr>
        <p:txBody>
          <a:bodyPr wrap="square" lIns="0" tIns="0" rIns="0" bIns="0" rtlCol="0" anchor="t"/>
          <a:lstStyle/>
          <a:p>
            <a:pPr algn="l" indent="0" marL="0">
              <a:lnSpc>
                <a:spcPct val="115000"/>
              </a:lnSpc>
              <a:spcAft>
                <a:spcPts val="400"/>
              </a:spcAft>
              <a:buNone/>
            </a:pPr>
            <a:r>
              <a:rPr lang="en-US" sz="2000" b="1" dirty="0">
                <a:solidFill>
                  <a:schemeClr val="tx1"/>
                </a:solidFill>
              </a:rPr>
              <a:t>GET으로 상태를 바꾸지 않는다</a:t>
            </a:r>
            <a:endParaRPr lang="en-US" sz="2000" dirty="0"/>
          </a:p>
          <a:p>
            <a:pPr algn="l" indent="0" marL="0">
              <a:lnSpc>
                <a:spcPct val="115000"/>
              </a:lnSpc>
              <a:spcAft>
                <a:spcPts val="400"/>
              </a:spcAft>
              <a:buNone/>
            </a:pPr>
            <a:r>
              <a:rPr lang="en-US" sz="1500" dirty="0">
                <a:solidFill>
                  <a:schemeClr val="accent3"/>
                </a:solidFill>
              </a:rPr>
              <a:t>크롤러 · 링크 미리보기는 GET을 마음대로 보낸다</a:t>
            </a:r>
            <a:endParaRPr lang="en-US" sz="2000" dirty="0"/>
          </a:p>
          <a:p>
            <a:pPr algn="l" indent="0" marL="0">
              <a:lnSpc>
                <a:spcPct val="115000"/>
              </a:lnSpc>
              <a:spcAft>
                <a:spcPts val="400"/>
              </a:spcAft>
              <a:buNone/>
            </a:pPr>
            <a:r>
              <a:rPr lang="en-US" sz="1500" dirty="0">
                <a:solidFill>
                  <a:schemeClr val="accent3"/>
                </a:solidFill>
              </a:rPr>
              <a:t>삭제 링크를 공유만 해도 지워질 수 있다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계층은 두 단계까지, 보여 주는 방식은 쿼리로</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5852160"/>
                <a:gridCol w="5038344"/>
              </a:tblGrid>
              <a:tr h="475488">
                <a:tc>
                  <a:txBody>
                    <a:bodyPr/>
                    <a:lstStyle/>
                    <a:p>
                      <a:pPr indent="0" marL="0">
                        <a:buNone/>
                      </a:pPr>
                      <a:r>
                        <a:rPr lang="en-US" sz="1400" dirty="0">
                          <a:solidFill>
                            <a:schemeClr val="accent3"/>
                          </a:solidFill>
                        </a:rPr>
                        <a:t>요청</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뜻</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글 목록</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42번 글</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/posts/42/comments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42번 글의 댓글</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/comments/7</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댓글 하나는 id만으로 → 끊는다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accent6"/>
                          </a:solidFill>
                          <a:latin typeface="JetBrains Mono" pitchFamily="34" charset="0"/>
                          <a:ea typeface="JetBrains Mono" pitchFamily="34" charset="-122"/>
                          <a:cs typeface="JetBrains Mono" pitchFamily="34" charset="-120"/>
                        </a:rPr>
                        <a:t>GET /members/3/posts/42/comments/7</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 앞의 id를 다 알아야 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/posts?keyword=제주&amp;page=0</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검색 · 정렬 · 쪽 번호는 쿼리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badge"/>
          <p:cNvSpPr/>
          <p:nvPr/>
        </p:nvSpPr>
        <p:spPr>
          <a:xfrm>
            <a:off x="649224" y="5120640"/>
            <a:ext cx="3986784" cy="310896"/>
          </a:xfrm>
          <a:prstGeom prst="roundRect">
            <a:avLst>
              <a:gd name="adj" fmla="val 50000"/>
            </a:avLst>
          </a:prstGeom>
          <a:solidFill>
            <a:srgbClr val="E8E0D2"/>
          </a:solidFill>
          <a:ln/>
        </p:spPr>
      </p:sp>
      <p:sp>
        <p:nvSpPr>
          <p:cNvPr id="7" name="badge-text"/>
          <p:cNvSpPr txBox="1"/>
          <p:nvPr/>
        </p:nvSpPr>
        <p:spPr>
          <a:xfrm>
            <a:off x="649224" y="5120640"/>
            <a:ext cx="3986784" cy="310896"/>
          </a:xfrm>
          <a:prstGeom prst="rect">
            <a:avLst/>
          </a:prstGeom>
          <a:noFill/>
          <a:ln/>
        </p:spPr>
        <p:txBody>
          <a:bodyPr wrap="square" lIns="0" tIns="0" rIns="0" bIns="0" rtlCol="0" anchor="ctr"/>
          <a:lstStyle/>
          <a:p>
            <a:pPr algn="ctr" indent="0" marL="0">
              <a:buNone/>
            </a:pPr>
            <a:r>
              <a:rPr lang="en-US" sz="1200" dirty="0">
                <a:solidFill>
                  <a:schemeClr val="accent3"/>
                </a:solidFill>
              </a:rPr>
              <a:t>중첩 = 자원 두 개까지 · id 하나로 찾히면 끊는다</a:t>
            </a:r>
            <a:endParaRPr lang="en-US" sz="1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CRUD로 안 떨어지는 행위</a:t>
            </a:r>
            <a:endParaRPr lang="en-US" sz="3200" dirty="0"/>
          </a:p>
        </p:txBody>
      </p:sp>
      <p:sp>
        <p:nvSpPr>
          <p:cNvPr id="5" name="text"/>
          <p:cNvSpPr txBox="1"/>
          <p:nvPr/>
        </p:nvSpPr>
        <p:spPr>
          <a:xfrm>
            <a:off x="649224" y="1581912"/>
            <a:ext cx="10890504" cy="36576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3D3D3A"/>
                </a:solidFill>
              </a:rPr>
              <a:t>주문 취소 · 결제 승인 · 비밀번호 재설정은?</a:t>
            </a:r>
            <a:endParaRPr lang="en-US" sz="2000" dirty="0"/>
          </a:p>
        </p:txBody>
      </p:sp>
      <p:sp>
        <p:nvSpPr>
          <p:cNvPr id="6" name="card"/>
          <p:cNvSpPr/>
          <p:nvPr/>
        </p:nvSpPr>
        <p:spPr>
          <a:xfrm>
            <a:off x="649224" y="2148840"/>
            <a:ext cx="3493008" cy="2514600"/>
          </a:xfrm>
          <a:prstGeom prst="roundRect">
            <a:avLst>
              <a:gd name="adj" fmla="val 4364"/>
            </a:avLst>
          </a:prstGeom>
          <a:solidFill>
            <a:schemeClr val="bg2"/>
          </a:solidFill>
          <a:ln/>
        </p:spPr>
      </p:sp>
      <p:sp>
        <p:nvSpPr>
          <p:cNvPr id="7" name="text"/>
          <p:cNvSpPr txBox="1"/>
          <p:nvPr/>
        </p:nvSpPr>
        <p:spPr>
          <a:xfrm>
            <a:off x="923544" y="2331720"/>
            <a:ext cx="3017520" cy="411480"/>
          </a:xfrm>
          <a:prstGeom prst="rect">
            <a:avLst/>
          </a:prstGeom>
          <a:noFill/>
          <a:ln/>
        </p:spPr>
        <p:txBody>
          <a:bodyPr wrap="square" lIns="0" tIns="0" rIns="0" bIns="0" rtlCol="0" anchor="t"/>
          <a:lstStyle/>
          <a:p>
            <a:pPr algn="l" indent="0" marL="0">
              <a:lnSpc>
                <a:spcPct val="115000"/>
              </a:lnSpc>
              <a:spcAft>
                <a:spcPts val="600"/>
              </a:spcAft>
              <a:buNone/>
            </a:pPr>
            <a:r>
              <a:rPr lang="en-US" sz="2200" dirty="0">
                <a:solidFill>
                  <a:schemeClr val="accent2"/>
                </a:solidFill>
              </a:rPr>
              <a:t>①</a:t>
            </a:r>
            <a:endParaRPr lang="en-US" sz="2200" dirty="0"/>
          </a:p>
        </p:txBody>
      </p:sp>
      <p:sp>
        <p:nvSpPr>
          <p:cNvPr id="8" name="text"/>
          <p:cNvSpPr txBox="1"/>
          <p:nvPr/>
        </p:nvSpPr>
        <p:spPr>
          <a:xfrm>
            <a:off x="923544" y="2834640"/>
            <a:ext cx="3017520" cy="640080"/>
          </a:xfrm>
          <a:prstGeom prst="rect">
            <a:avLst/>
          </a:prstGeom>
          <a:noFill/>
          <a:ln/>
        </p:spPr>
        <p:txBody>
          <a:bodyPr wrap="square" lIns="0" tIns="0" rIns="0" bIns="0" rtlCol="0" anchor="t"/>
          <a:lstStyle/>
          <a:p>
            <a:pPr algn="l" indent="0" marL="0">
              <a:lnSpc>
                <a:spcPct val="115000"/>
              </a:lnSpc>
              <a:spcAft>
                <a:spcPts val="200"/>
              </a:spcAft>
              <a:buNone/>
            </a:pPr>
            <a:r>
              <a:rPr lang="en-US" sz="1300" dirty="0">
                <a:solidFill>
                  <a:schemeClr val="tx1"/>
                </a:solidFill>
                <a:latin typeface="JetBrains Mono" pitchFamily="34" charset="0"/>
                <a:ea typeface="JetBrains Mono" pitchFamily="34" charset="-122"/>
                <a:cs typeface="JetBrains Mono" pitchFamily="34" charset="-120"/>
              </a:rPr>
              <a:t>PATCH /orders/42</a:t>
            </a:r>
            <a:endParaRPr lang="en-US" sz="1300" dirty="0"/>
          </a:p>
          <a:p>
            <a:pPr algn="l" indent="0" marL="0">
              <a:lnSpc>
                <a:spcPct val="115000"/>
              </a:lnSpc>
              <a:spcAft>
                <a:spcPts val="200"/>
              </a:spcAft>
              <a:buNone/>
            </a:pPr>
            <a:r>
              <a:rPr lang="en-US" sz="1200" dirty="0">
                <a:solidFill>
                  <a:schemeClr val="accent3"/>
                </a:solidFill>
                <a:latin typeface="JetBrains Mono" pitchFamily="34" charset="0"/>
                <a:ea typeface="JetBrains Mono" pitchFamily="34" charset="-122"/>
                <a:cs typeface="JetBrains Mono" pitchFamily="34" charset="-120"/>
              </a:rPr>
              <a:t>{"status":"CANCELED"}</a:t>
            </a:r>
            <a:endParaRPr lang="en-US" sz="1300" dirty="0"/>
          </a:p>
        </p:txBody>
      </p:sp>
      <p:sp>
        <p:nvSpPr>
          <p:cNvPr id="9" name="text"/>
          <p:cNvSpPr txBox="1"/>
          <p:nvPr/>
        </p:nvSpPr>
        <p:spPr>
          <a:xfrm>
            <a:off x="923544" y="3657600"/>
            <a:ext cx="3017520" cy="86868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rgbClr val="3D3D3A"/>
                </a:solidFill>
              </a:rPr>
              <a:t>상태 값만 바꾼다. 단순하지만 환불 · 재고 복구가 숨는다</a:t>
            </a:r>
            <a:endParaRPr lang="en-US" sz="1500" dirty="0"/>
          </a:p>
        </p:txBody>
      </p:sp>
      <p:sp>
        <p:nvSpPr>
          <p:cNvPr id="10" name="card"/>
          <p:cNvSpPr/>
          <p:nvPr/>
        </p:nvSpPr>
        <p:spPr>
          <a:xfrm>
            <a:off x="4347972" y="2148840"/>
            <a:ext cx="3493008" cy="2514600"/>
          </a:xfrm>
          <a:prstGeom prst="roundRect">
            <a:avLst>
              <a:gd name="adj" fmla="val 4364"/>
            </a:avLst>
          </a:prstGeom>
          <a:solidFill>
            <a:schemeClr val="bg2"/>
          </a:solidFill>
          <a:ln/>
        </p:spPr>
      </p:sp>
      <p:sp>
        <p:nvSpPr>
          <p:cNvPr id="11" name="text"/>
          <p:cNvSpPr txBox="1"/>
          <p:nvPr/>
        </p:nvSpPr>
        <p:spPr>
          <a:xfrm>
            <a:off x="4622292" y="2331720"/>
            <a:ext cx="3017520" cy="411480"/>
          </a:xfrm>
          <a:prstGeom prst="rect">
            <a:avLst/>
          </a:prstGeom>
          <a:noFill/>
          <a:ln/>
        </p:spPr>
        <p:txBody>
          <a:bodyPr wrap="square" lIns="0" tIns="0" rIns="0" bIns="0" rtlCol="0" anchor="t"/>
          <a:lstStyle/>
          <a:p>
            <a:pPr algn="l" indent="0" marL="0">
              <a:lnSpc>
                <a:spcPct val="115000"/>
              </a:lnSpc>
              <a:spcAft>
                <a:spcPts val="600"/>
              </a:spcAft>
              <a:buNone/>
            </a:pPr>
            <a:r>
              <a:rPr lang="en-US" sz="2200" dirty="0">
                <a:solidFill>
                  <a:schemeClr val="accent2"/>
                </a:solidFill>
              </a:rPr>
              <a:t>②</a:t>
            </a:r>
            <a:endParaRPr lang="en-US" sz="2200" dirty="0"/>
          </a:p>
        </p:txBody>
      </p:sp>
      <p:sp>
        <p:nvSpPr>
          <p:cNvPr id="12" name="text"/>
          <p:cNvSpPr txBox="1"/>
          <p:nvPr/>
        </p:nvSpPr>
        <p:spPr>
          <a:xfrm>
            <a:off x="4622292" y="2834640"/>
            <a:ext cx="3017520" cy="640080"/>
          </a:xfrm>
          <a:prstGeom prst="rect">
            <a:avLst/>
          </a:prstGeom>
          <a:noFill/>
          <a:ln/>
        </p:spPr>
        <p:txBody>
          <a:bodyPr wrap="square" lIns="0" tIns="0" rIns="0" bIns="0" rtlCol="0" anchor="t"/>
          <a:lstStyle/>
          <a:p>
            <a:pPr algn="l" indent="0" marL="0">
              <a:lnSpc>
                <a:spcPct val="115000"/>
              </a:lnSpc>
              <a:spcAft>
                <a:spcPts val="200"/>
              </a:spcAft>
              <a:buNone/>
            </a:pPr>
            <a:r>
              <a:rPr lang="en-US" sz="1300" dirty="0">
                <a:solidFill>
                  <a:schemeClr val="tx1"/>
                </a:solidFill>
                <a:latin typeface="JetBrains Mono" pitchFamily="34" charset="0"/>
                <a:ea typeface="JetBrains Mono" pitchFamily="34" charset="-122"/>
                <a:cs typeface="JetBrains Mono" pitchFamily="34" charset="-120"/>
              </a:rPr>
              <a:t>POST /orders/42/cancel</a:t>
            </a:r>
            <a:endParaRPr lang="en-US" sz="1300" dirty="0"/>
          </a:p>
        </p:txBody>
      </p:sp>
      <p:sp>
        <p:nvSpPr>
          <p:cNvPr id="13" name="text"/>
          <p:cNvSpPr txBox="1"/>
          <p:nvPr/>
        </p:nvSpPr>
        <p:spPr>
          <a:xfrm>
            <a:off x="4622292" y="3657600"/>
            <a:ext cx="3017520" cy="86868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rgbClr val="3D3D3A"/>
                </a:solidFill>
              </a:rPr>
              <a:t>행위를 드러낸다. 권한 · 검증을 따로 걸기 쉽다</a:t>
            </a:r>
            <a:endParaRPr lang="en-US" sz="1500" dirty="0"/>
          </a:p>
        </p:txBody>
      </p:sp>
      <p:sp>
        <p:nvSpPr>
          <p:cNvPr id="14" name="card"/>
          <p:cNvSpPr/>
          <p:nvPr/>
        </p:nvSpPr>
        <p:spPr>
          <a:xfrm>
            <a:off x="8046720" y="2148840"/>
            <a:ext cx="3493008" cy="2514600"/>
          </a:xfrm>
          <a:prstGeom prst="roundRect">
            <a:avLst>
              <a:gd name="adj" fmla="val 4364"/>
            </a:avLst>
          </a:prstGeom>
          <a:solidFill>
            <a:schemeClr val="bg2"/>
          </a:solidFill>
          <a:ln/>
        </p:spPr>
      </p:sp>
      <p:sp>
        <p:nvSpPr>
          <p:cNvPr id="15" name="text"/>
          <p:cNvSpPr txBox="1"/>
          <p:nvPr/>
        </p:nvSpPr>
        <p:spPr>
          <a:xfrm>
            <a:off x="8321040" y="2331720"/>
            <a:ext cx="3017520" cy="411480"/>
          </a:xfrm>
          <a:prstGeom prst="rect">
            <a:avLst/>
          </a:prstGeom>
          <a:noFill/>
          <a:ln/>
        </p:spPr>
        <p:txBody>
          <a:bodyPr wrap="square" lIns="0" tIns="0" rIns="0" bIns="0" rtlCol="0" anchor="t"/>
          <a:lstStyle/>
          <a:p>
            <a:pPr algn="l" indent="0" marL="0">
              <a:lnSpc>
                <a:spcPct val="115000"/>
              </a:lnSpc>
              <a:spcAft>
                <a:spcPts val="600"/>
              </a:spcAft>
              <a:buNone/>
            </a:pPr>
            <a:r>
              <a:rPr lang="en-US" sz="2200" dirty="0">
                <a:solidFill>
                  <a:schemeClr val="accent2"/>
                </a:solidFill>
              </a:rPr>
              <a:t>③</a:t>
            </a:r>
            <a:endParaRPr lang="en-US" sz="2200" dirty="0"/>
          </a:p>
        </p:txBody>
      </p:sp>
      <p:sp>
        <p:nvSpPr>
          <p:cNvPr id="16" name="text"/>
          <p:cNvSpPr txBox="1"/>
          <p:nvPr/>
        </p:nvSpPr>
        <p:spPr>
          <a:xfrm>
            <a:off x="8321040" y="2834640"/>
            <a:ext cx="3017520" cy="640080"/>
          </a:xfrm>
          <a:prstGeom prst="rect">
            <a:avLst/>
          </a:prstGeom>
          <a:noFill/>
          <a:ln/>
        </p:spPr>
        <p:txBody>
          <a:bodyPr wrap="square" lIns="0" tIns="0" rIns="0" bIns="0" rtlCol="0" anchor="t"/>
          <a:lstStyle/>
          <a:p>
            <a:pPr algn="l" indent="0" marL="0">
              <a:lnSpc>
                <a:spcPct val="115000"/>
              </a:lnSpc>
              <a:spcAft>
                <a:spcPts val="200"/>
              </a:spcAft>
              <a:buNone/>
            </a:pPr>
            <a:r>
              <a:rPr lang="en-US" sz="1300" dirty="0">
                <a:solidFill>
                  <a:schemeClr val="tx1"/>
                </a:solidFill>
                <a:latin typeface="JetBrains Mono" pitchFamily="34" charset="0"/>
                <a:ea typeface="JetBrains Mono" pitchFamily="34" charset="-122"/>
                <a:cs typeface="JetBrains Mono" pitchFamily="34" charset="-120"/>
              </a:rPr>
              <a:t>POST /orders/42/cancellations</a:t>
            </a:r>
            <a:endParaRPr lang="en-US" sz="1300" dirty="0"/>
          </a:p>
        </p:txBody>
      </p:sp>
      <p:sp>
        <p:nvSpPr>
          <p:cNvPr id="17" name="text"/>
          <p:cNvSpPr txBox="1"/>
          <p:nvPr/>
        </p:nvSpPr>
        <p:spPr>
          <a:xfrm>
            <a:off x="8321040" y="3657600"/>
            <a:ext cx="3017520" cy="86868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rgbClr val="3D3D3A"/>
                </a:solidFill>
              </a:rPr>
              <a:t>취소를 자원으로 만든다. 취소 이력을 조회할 수 있다</a:t>
            </a:r>
            <a:endParaRPr lang="en-US" sz="1500" dirty="0"/>
          </a:p>
        </p:txBody>
      </p:sp>
      <p:sp>
        <p:nvSpPr>
          <p:cNvPr id="18" name="callout-coral"/>
          <p:cNvSpPr/>
          <p:nvPr/>
        </p:nvSpPr>
        <p:spPr>
          <a:xfrm>
            <a:off x="649224" y="4983480"/>
            <a:ext cx="10890504" cy="868680"/>
          </a:xfrm>
          <a:prstGeom prst="roundRect">
            <a:avLst>
              <a:gd name="adj" fmla="val 12632"/>
            </a:avLst>
          </a:prstGeom>
          <a:solidFill>
            <a:schemeClr val="accent1"/>
          </a:solidFill>
          <a:ln/>
        </p:spPr>
      </p:sp>
      <p:sp>
        <p:nvSpPr>
          <p:cNvPr id="19" name="text"/>
          <p:cNvSpPr txBox="1"/>
          <p:nvPr/>
        </p:nvSpPr>
        <p:spPr>
          <a:xfrm>
            <a:off x="1014984" y="5175504"/>
            <a:ext cx="10158984" cy="50292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rPr>
              <a:t>부수 작업이 있으면 ② · ③처럼 행위를 드러낸다</a:t>
            </a:r>
            <a:endParaRPr lang="en-US" sz="2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02</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HTTP 메서드와 상태 코드</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안전성과 멱등성으로 고르고, 결과는 상태 코드로 알린다</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METHOD</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메서드는 안전성과 멱등성으로 고른다</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011680"/>
                <a:gridCol w="5029200"/>
                <a:gridCol w="1920240"/>
                <a:gridCol w="1929384"/>
              </a:tblGrid>
              <a:tr h="438912">
                <a:tc>
                  <a:txBody>
                    <a:bodyPr/>
                    <a:lstStyle/>
                    <a:p>
                      <a:pPr indent="0" marL="0">
                        <a:buNone/>
                      </a:pPr>
                      <a:r>
                        <a:rPr lang="en-US" sz="1500" dirty="0">
                          <a:solidFill>
                            <a:schemeClr val="accent3"/>
                          </a:solidFill>
                        </a:rPr>
                        <a:t>메서드</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500" dirty="0">
                          <a:solidFill>
                            <a:schemeClr val="accent3"/>
                          </a:solidFill>
                        </a:rPr>
                        <a:t>하는 일</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500" dirty="0">
                          <a:solidFill>
                            <a:schemeClr val="accent3"/>
                          </a:solidFill>
                        </a:rPr>
                        <a:t>안전</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500" dirty="0">
                          <a:solidFill>
                            <a:schemeClr val="accent3"/>
                          </a:solidFill>
                        </a:rPr>
                        <a:t>멱등</a:t>
                      </a:r>
                      <a:endParaRPr lang="en-US" sz="15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GET</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조회</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POST</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생성</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PUT</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전체 교체 (안 보낸 칸은 비워짐)</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PATCH</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보낸 칸만 수정</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3"/>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800" dirty="0">
                          <a:solidFill>
                            <a:schemeClr val="tx1"/>
                          </a:solidFill>
                          <a:latin typeface="JetBrains Mono" pitchFamily="34" charset="0"/>
                          <a:ea typeface="JetBrains Mono" pitchFamily="34" charset="-122"/>
                          <a:cs typeface="JetBrains Mono" pitchFamily="34" charset="-120"/>
                        </a:rPr>
                        <a:t>DELETE</a:t>
                      </a:r>
                      <a:endParaRPr lang="en-US" sz="18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삭제</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accent6"/>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card"/>
          <p:cNvSpPr/>
          <p:nvPr/>
        </p:nvSpPr>
        <p:spPr>
          <a:xfrm>
            <a:off x="649224" y="4526280"/>
            <a:ext cx="5330952" cy="1325880"/>
          </a:xfrm>
          <a:prstGeom prst="roundRect">
            <a:avLst>
              <a:gd name="adj" fmla="val 8276"/>
            </a:avLst>
          </a:prstGeom>
          <a:solidFill>
            <a:schemeClr val="bg2"/>
          </a:solidFill>
          <a:ln/>
        </p:spPr>
      </p:sp>
      <p:sp>
        <p:nvSpPr>
          <p:cNvPr id="7" name="text"/>
          <p:cNvSpPr txBox="1"/>
          <p:nvPr/>
        </p:nvSpPr>
        <p:spPr>
          <a:xfrm>
            <a:off x="969264" y="4709160"/>
            <a:ext cx="4754880" cy="1005840"/>
          </a:xfrm>
          <a:prstGeom prst="rect">
            <a:avLst/>
          </a:prstGeom>
          <a:noFill/>
          <a:ln/>
        </p:spPr>
        <p:txBody>
          <a:bodyPr wrap="square" lIns="0" tIns="0" rIns="0" bIns="0" rtlCol="0" anchor="t"/>
          <a:lstStyle/>
          <a:p>
            <a:pPr algn="l" indent="0" marL="0">
              <a:lnSpc>
                <a:spcPct val="115000"/>
              </a:lnSpc>
              <a:spcAft>
                <a:spcPts val="400"/>
              </a:spcAft>
              <a:buNone/>
            </a:pPr>
            <a:r>
              <a:rPr lang="en-US" sz="2000" b="1" dirty="0">
                <a:solidFill>
                  <a:schemeClr val="tx1"/>
                </a:solidFill>
              </a:rPr>
              <a:t>안전</a:t>
            </a:r>
            <a:endParaRPr lang="en-US" sz="2000" dirty="0"/>
          </a:p>
          <a:p>
            <a:pPr algn="l" indent="0" marL="0">
              <a:lnSpc>
                <a:spcPct val="115000"/>
              </a:lnSpc>
              <a:spcAft>
                <a:spcPts val="400"/>
              </a:spcAft>
              <a:buNone/>
            </a:pPr>
            <a:r>
              <a:rPr lang="en-US" sz="1500" dirty="0">
                <a:solidFill>
                  <a:srgbClr val="3D3D3A"/>
                </a:solidFill>
              </a:rPr>
              <a:t>서버 상태를 바꾸지 않는다 → 캐시 · 프리페치가 불러도 된다</a:t>
            </a:r>
            <a:endParaRPr lang="en-US" sz="2000" dirty="0"/>
          </a:p>
        </p:txBody>
      </p:sp>
      <p:sp>
        <p:nvSpPr>
          <p:cNvPr id="8" name="card"/>
          <p:cNvSpPr/>
          <p:nvPr/>
        </p:nvSpPr>
        <p:spPr>
          <a:xfrm>
            <a:off x="6208776" y="4526280"/>
            <a:ext cx="5330952" cy="1325880"/>
          </a:xfrm>
          <a:prstGeom prst="roundRect">
            <a:avLst>
              <a:gd name="adj" fmla="val 8276"/>
            </a:avLst>
          </a:prstGeom>
          <a:solidFill>
            <a:schemeClr val="bg2"/>
          </a:solidFill>
          <a:ln/>
        </p:spPr>
      </p:sp>
      <p:sp>
        <p:nvSpPr>
          <p:cNvPr id="9" name="text"/>
          <p:cNvSpPr txBox="1"/>
          <p:nvPr/>
        </p:nvSpPr>
        <p:spPr>
          <a:xfrm>
            <a:off x="6528816" y="4709160"/>
            <a:ext cx="4754880" cy="1005840"/>
          </a:xfrm>
          <a:prstGeom prst="rect">
            <a:avLst/>
          </a:prstGeom>
          <a:noFill/>
          <a:ln/>
        </p:spPr>
        <p:txBody>
          <a:bodyPr wrap="square" lIns="0" tIns="0" rIns="0" bIns="0" rtlCol="0" anchor="t"/>
          <a:lstStyle/>
          <a:p>
            <a:pPr algn="l" indent="0" marL="0">
              <a:lnSpc>
                <a:spcPct val="115000"/>
              </a:lnSpc>
              <a:spcAft>
                <a:spcPts val="400"/>
              </a:spcAft>
              <a:buNone/>
            </a:pPr>
            <a:r>
              <a:rPr lang="en-US" sz="2000" b="1" dirty="0">
                <a:solidFill>
                  <a:schemeClr val="tx1"/>
                </a:solidFill>
              </a:rPr>
              <a:t>멱등</a:t>
            </a:r>
            <a:endParaRPr lang="en-US" sz="2000" dirty="0"/>
          </a:p>
          <a:p>
            <a:pPr algn="l" indent="0" marL="0">
              <a:lnSpc>
                <a:spcPct val="115000"/>
              </a:lnSpc>
              <a:spcAft>
                <a:spcPts val="400"/>
              </a:spcAft>
              <a:buNone/>
            </a:pPr>
            <a:r>
              <a:rPr lang="en-US" sz="1500" dirty="0">
                <a:solidFill>
                  <a:srgbClr val="3D3D3A"/>
                </a:solidFill>
              </a:rPr>
              <a:t>여러 번 보내도 결과가 같다 → 실패하면 다시 보내도 된다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METHOD</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POST가 두 번 가면 두 번 만들어진다</a:t>
            </a:r>
            <a:endParaRPr lang="en-US" sz="3200" dirty="0"/>
          </a:p>
        </p:txBody>
      </p:sp>
      <p:sp>
        <p:nvSpPr>
          <p:cNvPr id="5" name="code-window"/>
          <p:cNvSpPr/>
          <p:nvPr/>
        </p:nvSpPr>
        <p:spPr>
          <a:xfrm>
            <a:off x="649224" y="1581912"/>
            <a:ext cx="5669280" cy="2240280"/>
          </a:xfrm>
          <a:prstGeom prst="roundRect">
            <a:avLst>
              <a:gd name="adj" fmla="val 4898"/>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663440"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(예시)</a:t>
            </a:r>
            <a:endParaRPr lang="en-US" sz="1100" dirty="0"/>
          </a:p>
        </p:txBody>
      </p:sp>
      <p:sp>
        <p:nvSpPr>
          <p:cNvPr id="10" name="code-window-text"/>
          <p:cNvSpPr txBox="1"/>
          <p:nvPr/>
        </p:nvSpPr>
        <p:spPr>
          <a:xfrm>
            <a:off x="905256" y="2020824"/>
            <a:ext cx="5212080" cy="1691640"/>
          </a:xfrm>
          <a:prstGeom prst="rect">
            <a:avLst/>
          </a:prstGeom>
          <a:noFill/>
          <a:ln/>
        </p:spPr>
        <p:txBody>
          <a:bodyPr wrap="square" lIns="0" tIns="0" rIns="0" bIns="0" rtlCol="0" anchor="t"/>
          <a:lstStyle/>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POST /api/v1/payments</a:t>
            </a:r>
            <a:endParaRPr lang="en-US" sz="1500" dirty="0"/>
          </a:p>
          <a:p>
            <a:pPr algn="l" indent="0" marL="0">
              <a:lnSpc>
                <a:spcPct val="105000"/>
              </a:lnSpc>
              <a:buNone/>
            </a:pPr>
            <a:r>
              <a:rPr lang="en-US" sz="1500" dirty="0">
                <a:solidFill>
                  <a:schemeClr val="accent4"/>
                </a:solidFill>
                <a:latin typeface="JetBrains Mono" pitchFamily="34" charset="0"/>
                <a:ea typeface="JetBrains Mono" pitchFamily="34" charset="-122"/>
                <a:cs typeface="JetBrains Mono" pitchFamily="34" charset="-120"/>
              </a:rPr>
              <a:t>Idempotency-Key: 8f3a2c1e-4b7d-…</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"orderId": 42, "amount": 30000 }</a:t>
            </a:r>
            <a:endParaRPr lang="en-US" sz="1500" dirty="0"/>
          </a:p>
        </p:txBody>
      </p:sp>
      <p:sp>
        <p:nvSpPr>
          <p:cNvPr id="11" name="card"/>
          <p:cNvSpPr/>
          <p:nvPr/>
        </p:nvSpPr>
        <p:spPr>
          <a:xfrm>
            <a:off x="6547104" y="1581912"/>
            <a:ext cx="4992624" cy="1005840"/>
          </a:xfrm>
          <a:prstGeom prst="roundRect">
            <a:avLst>
              <a:gd name="adj" fmla="val 10909"/>
            </a:avLst>
          </a:prstGeom>
          <a:solidFill>
            <a:schemeClr val="bg2"/>
          </a:solidFill>
          <a:ln/>
        </p:spPr>
      </p:sp>
      <p:sp>
        <p:nvSpPr>
          <p:cNvPr id="12" name="text"/>
          <p:cNvSpPr txBox="1"/>
          <p:nvPr/>
        </p:nvSpPr>
        <p:spPr>
          <a:xfrm>
            <a:off x="6821424" y="1737360"/>
            <a:ext cx="4572000" cy="731520"/>
          </a:xfrm>
          <a:prstGeom prst="rect">
            <a:avLst/>
          </a:prstGeom>
          <a:noFill/>
          <a:ln/>
        </p:spPr>
        <p:txBody>
          <a:bodyPr wrap="square" lIns="0" tIns="0" rIns="0" bIns="0" rtlCol="0" anchor="t"/>
          <a:lstStyle/>
          <a:p>
            <a:pPr algn="l" indent="0" marL="0">
              <a:lnSpc>
                <a:spcPct val="115000"/>
              </a:lnSpc>
              <a:spcAft>
                <a:spcPts val="200"/>
              </a:spcAft>
              <a:buNone/>
            </a:pPr>
            <a:r>
              <a:rPr lang="en-US" sz="1800" b="1" dirty="0">
                <a:solidFill>
                  <a:schemeClr val="tx1"/>
                </a:solidFill>
              </a:rPr>
              <a:t>처음 온 키</a:t>
            </a:r>
            <a:endParaRPr lang="en-US" sz="1800" dirty="0"/>
          </a:p>
          <a:p>
            <a:pPr algn="l" indent="0" marL="0">
              <a:lnSpc>
                <a:spcPct val="115000"/>
              </a:lnSpc>
              <a:spcAft>
                <a:spcPts val="200"/>
              </a:spcAft>
              <a:buNone/>
            </a:pPr>
            <a:r>
              <a:rPr lang="en-US" sz="1500" dirty="0">
                <a:solidFill>
                  <a:srgbClr val="3D3D3A"/>
                </a:solidFill>
              </a:rPr>
              <a:t>처리하고 결과를 키와 함께 저장</a:t>
            </a:r>
            <a:endParaRPr lang="en-US" sz="1800" dirty="0"/>
          </a:p>
        </p:txBody>
      </p:sp>
      <p:sp>
        <p:nvSpPr>
          <p:cNvPr id="13" name="card"/>
          <p:cNvSpPr/>
          <p:nvPr/>
        </p:nvSpPr>
        <p:spPr>
          <a:xfrm>
            <a:off x="6547104" y="2816352"/>
            <a:ext cx="4992624" cy="1005840"/>
          </a:xfrm>
          <a:prstGeom prst="roundRect">
            <a:avLst>
              <a:gd name="adj" fmla="val 10909"/>
            </a:avLst>
          </a:prstGeom>
          <a:solidFill>
            <a:schemeClr val="bg2"/>
          </a:solidFill>
          <a:ln/>
        </p:spPr>
      </p:sp>
      <p:sp>
        <p:nvSpPr>
          <p:cNvPr id="14" name="text"/>
          <p:cNvSpPr txBox="1"/>
          <p:nvPr/>
        </p:nvSpPr>
        <p:spPr>
          <a:xfrm>
            <a:off x="6821424" y="2971800"/>
            <a:ext cx="4572000" cy="731520"/>
          </a:xfrm>
          <a:prstGeom prst="rect">
            <a:avLst/>
          </a:prstGeom>
          <a:noFill/>
          <a:ln/>
        </p:spPr>
        <p:txBody>
          <a:bodyPr wrap="square" lIns="0" tIns="0" rIns="0" bIns="0" rtlCol="0" anchor="t"/>
          <a:lstStyle/>
          <a:p>
            <a:pPr algn="l" indent="0" marL="0">
              <a:lnSpc>
                <a:spcPct val="115000"/>
              </a:lnSpc>
              <a:spcAft>
                <a:spcPts val="200"/>
              </a:spcAft>
              <a:buNone/>
            </a:pPr>
            <a:r>
              <a:rPr lang="en-US" sz="1800" b="1" dirty="0">
                <a:solidFill>
                  <a:schemeClr val="tx1"/>
                </a:solidFill>
              </a:rPr>
              <a:t>같은 키가 또 오면</a:t>
            </a:r>
            <a:endParaRPr lang="en-US" sz="1800" dirty="0"/>
          </a:p>
          <a:p>
            <a:pPr algn="l" indent="0" marL="0">
              <a:lnSpc>
                <a:spcPct val="115000"/>
              </a:lnSpc>
              <a:spcAft>
                <a:spcPts val="200"/>
              </a:spcAft>
              <a:buNone/>
            </a:pPr>
            <a:r>
              <a:rPr lang="en-US" sz="1500" dirty="0">
                <a:solidFill>
                  <a:srgbClr val="3D3D3A"/>
                </a:solidFill>
              </a:rPr>
              <a:t>다시 처리하지 않고 저장한 결과를 반환</a:t>
            </a:r>
            <a:endParaRPr lang="en-US" sz="18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649224" y="4297680"/>
          <a:ext cx="10890504" cy="914400"/>
        </p:xfrm>
        <a:graphic>
          <a:graphicData uri="http://schemas.openxmlformats.org/drawingml/2006/table">
            <a:tbl>
              <a:tblPr/>
              <a:tblGrid>
                <a:gridCol w="3291840"/>
                <a:gridCol w="7598664"/>
              </a:tblGrid>
              <a:tr h="438912">
                <a:tc>
                  <a:txBody>
                    <a:bodyPr/>
                    <a:lstStyle/>
                    <a:p>
                      <a:pPr indent="0" marL="0">
                        <a:buNone/>
                      </a:pPr>
                      <a:r>
                        <a:rPr lang="en-US" sz="1400" dirty="0">
                          <a:solidFill>
                            <a:schemeClr val="accent3"/>
                          </a:solidFill>
                        </a:rPr>
                        <a:t>막는 곳</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막을 수 있는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38912">
                <a:tc>
                  <a:txBody>
                    <a:bodyPr/>
                    <a:lstStyle/>
                    <a:p>
                      <a:pPr indent="0" marL="0">
                        <a:buNone/>
                      </a:pPr>
                      <a:r>
                        <a:rPr lang="en-US" sz="1700" dirty="0">
                          <a:solidFill>
                            <a:schemeClr val="tx1"/>
                          </a:solidFill>
                        </a:rPr>
                        <a:t>버튼 비활성화</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같은 화면에서 빠른 연속 클릭</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700" dirty="0">
                          <a:solidFill>
                            <a:schemeClr val="tx1"/>
                          </a:solidFill>
                        </a:rPr>
                        <a:t>서버에서 키 확인</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재전송 · 새로고침 · 다른 탭 · 화면 없이 직접 호출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자주 쓰는 상태 코드</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280160"/>
                <a:gridCol w="3200400"/>
                <a:gridCol w="6409944"/>
              </a:tblGrid>
              <a:tr h="438912">
                <a:tc>
                  <a:txBody>
                    <a:bodyPr/>
                    <a:lstStyle/>
                    <a:p>
                      <a:pPr indent="0" marL="0">
                        <a:buNone/>
                      </a:pPr>
                      <a:r>
                        <a:rPr lang="en-US" sz="1300" dirty="0">
                          <a:solidFill>
                            <a:schemeClr val="accent3"/>
                          </a:solidFill>
                        </a:rPr>
                        <a:t>코드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이름</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언제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38912">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200</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OK</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조회 · 수정 성공</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201</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Created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생성. Location 헤더에 새 주소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204</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No Content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삭제 성공, 바디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400</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Bad Request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값이 빠졌거나 형식이 틀림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401</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Unauthorized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누구인지 모름 (로그인 안 함, 토큰 · 세션 만료)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403</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Forbidden</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누구인지 알지만 권한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404</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Not Found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없는 자원 (존재를 숨길 때도)</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409</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Conflict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중복 · 동시 수정 충돌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600" dirty="0">
                          <a:solidFill>
                            <a:schemeClr val="accent6"/>
                          </a:solidFill>
                          <a:latin typeface="JetBrains Mono" pitchFamily="34" charset="0"/>
                          <a:ea typeface="JetBrains Mono" pitchFamily="34" charset="-122"/>
                          <a:cs typeface="JetBrains Mono" pitchFamily="34" charset="-120"/>
                        </a:rPr>
                        <a:t>500</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Internal Server Error</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서버가 처리 못 한 예외</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실패를 200으로 보내면</a:t>
            </a:r>
            <a:endParaRPr lang="en-US" sz="3200" dirty="0"/>
          </a:p>
        </p:txBody>
      </p:sp>
      <p:sp>
        <p:nvSpPr>
          <p:cNvPr id="5" name="code-window"/>
          <p:cNvSpPr/>
          <p:nvPr/>
        </p:nvSpPr>
        <p:spPr>
          <a:xfrm>
            <a:off x="649224" y="1581912"/>
            <a:ext cx="5330952" cy="3154680"/>
          </a:xfrm>
          <a:prstGeom prst="roundRect">
            <a:avLst>
              <a:gd name="adj" fmla="val 3478"/>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 안티패턴 (예시)</a:t>
            </a:r>
            <a:endParaRPr lang="en-US" sz="1100" dirty="0"/>
          </a:p>
        </p:txBody>
      </p:sp>
      <p:sp>
        <p:nvSpPr>
          <p:cNvPr id="10" name="code-window-text"/>
          <p:cNvSpPr txBox="1"/>
          <p:nvPr/>
        </p:nvSpPr>
        <p:spPr>
          <a:xfrm>
            <a:off x="905256" y="2020824"/>
            <a:ext cx="4873752" cy="2606040"/>
          </a:xfrm>
          <a:prstGeom prst="rect">
            <a:avLst/>
          </a:prstGeom>
          <a:noFill/>
          <a:ln/>
        </p:spPr>
        <p:txBody>
          <a:bodyPr wrap="square" lIns="0" tIns="0" rIns="0" bIns="0" rtlCol="0" anchor="t"/>
          <a:lstStyle/>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HTTP/1.1 200 OK</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  "success": false,</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"message": "글이 없습니다"</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a:t>
            </a:r>
            <a:endParaRPr lang="en-US" sz="1400" dirty="0"/>
          </a:p>
        </p:txBody>
      </p:sp>
      <p:sp>
        <p:nvSpPr>
          <p:cNvPr id="11" name="code-window"/>
          <p:cNvSpPr/>
          <p:nvPr/>
        </p:nvSpPr>
        <p:spPr>
          <a:xfrm>
            <a:off x="6208776" y="1581912"/>
            <a:ext cx="5330952" cy="3154680"/>
          </a:xfrm>
          <a:prstGeom prst="roundRect">
            <a:avLst>
              <a:gd name="adj" fmla="val 3478"/>
            </a:avLst>
          </a:prstGeom>
          <a:solidFill>
            <a:schemeClr val="tx2"/>
          </a:solidFill>
          <a:ln/>
        </p:spPr>
      </p:sp>
      <p:sp>
        <p:nvSpPr>
          <p:cNvPr id="12" name="code-window-dot"/>
          <p:cNvSpPr/>
          <p:nvPr/>
        </p:nvSpPr>
        <p:spPr>
          <a:xfrm>
            <a:off x="6409944" y="1728216"/>
            <a:ext cx="100584" cy="100584"/>
          </a:xfrm>
          <a:prstGeom prst="ellipse">
            <a:avLst/>
          </a:prstGeom>
          <a:solidFill>
            <a:srgbClr val="4A4844"/>
          </a:solidFill>
          <a:ln/>
        </p:spPr>
      </p:sp>
      <p:sp>
        <p:nvSpPr>
          <p:cNvPr id="13" name="code-window-dot"/>
          <p:cNvSpPr/>
          <p:nvPr/>
        </p:nvSpPr>
        <p:spPr>
          <a:xfrm>
            <a:off x="6583680" y="1728216"/>
            <a:ext cx="100584" cy="100584"/>
          </a:xfrm>
          <a:prstGeom prst="ellipse">
            <a:avLst/>
          </a:prstGeom>
          <a:solidFill>
            <a:srgbClr val="4A4844"/>
          </a:solidFill>
          <a:ln/>
        </p:spPr>
      </p:sp>
      <p:sp>
        <p:nvSpPr>
          <p:cNvPr id="14" name="code-window-dot"/>
          <p:cNvSpPr/>
          <p:nvPr/>
        </p:nvSpPr>
        <p:spPr>
          <a:xfrm>
            <a:off x="6757416" y="1728216"/>
            <a:ext cx="100584" cy="100584"/>
          </a:xfrm>
          <a:prstGeom prst="ellipse">
            <a:avLst/>
          </a:prstGeom>
          <a:solidFill>
            <a:srgbClr val="4A4844"/>
          </a:solidFill>
          <a:ln/>
        </p:spPr>
      </p:sp>
      <p:sp>
        <p:nvSpPr>
          <p:cNvPr id="15"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예제 서버 실제 응답</a:t>
            </a:r>
            <a:endParaRPr lang="en-US" sz="1100" dirty="0"/>
          </a:p>
        </p:txBody>
      </p:sp>
      <p:sp>
        <p:nvSpPr>
          <p:cNvPr id="16" name="code-window-text"/>
          <p:cNvSpPr txBox="1"/>
          <p:nvPr/>
        </p:nvSpPr>
        <p:spPr>
          <a:xfrm>
            <a:off x="6464808" y="2020824"/>
            <a:ext cx="4873752" cy="2606040"/>
          </a:xfrm>
          <a:prstGeom prst="rect">
            <a:avLst/>
          </a:prstGeom>
          <a:noFill/>
          <a:ln/>
        </p:spPr>
        <p:txBody>
          <a:bodyPr wrap="square" lIns="0" tIns="0" rIns="0" bIns="0" rtlCol="0" anchor="t"/>
          <a:lstStyle/>
          <a:p>
            <a:pPr algn="l" indent="0" marL="0">
              <a:lnSpc>
                <a:spcPct val="105000"/>
              </a:lnSpc>
              <a:buNone/>
            </a:pPr>
            <a:r>
              <a:rPr lang="en-US" sz="1200" dirty="0">
                <a:solidFill>
                  <a:schemeClr val="accent5"/>
                </a:solidFill>
                <a:latin typeface="JetBrains Mono" pitchFamily="34" charset="0"/>
                <a:ea typeface="JetBrains Mono" pitchFamily="34" charset="-122"/>
                <a:cs typeface="JetBrains Mono" pitchFamily="34" charset="-120"/>
              </a:rPr>
              <a:t>$ curl -i localhost:8080/api/v1/posts/99999</a:t>
            </a:r>
            <a:endParaRPr lang="en-US" sz="1200" dirty="0"/>
          </a:p>
          <a:p>
            <a:pPr algn="l" indent="0" marL="0">
              <a:lnSpc>
                <a:spcPct val="105000"/>
              </a:lnSpc>
              <a:buNone/>
            </a:pPr>
            <a:r>
              <a:rPr lang="en-US" sz="1200" dirty="0">
                <a:solidFill>
                  <a:srgbClr val="E5806F"/>
                </a:solidFill>
                <a:latin typeface="JetBrains Mono" pitchFamily="34" charset="0"/>
                <a:ea typeface="JetBrains Mono" pitchFamily="34" charset="-122"/>
                <a:cs typeface="JetBrains Mono" pitchFamily="34" charset="-120"/>
              </a:rPr>
              <a:t>HTTP/1.1 404</a:t>
            </a:r>
            <a:endParaRPr lang="en-US" sz="1200" dirty="0"/>
          </a:p>
          <a:p>
            <a:pPr algn="l" indent="0" marL="0">
              <a:lnSpc>
                <a:spcPct val="105000"/>
              </a:lnSpc>
              <a:buNone/>
            </a:pPr>
            <a:r>
              <a:rPr lang="en-US" sz="1200" dirty="0">
                <a:solidFill>
                  <a:srgbClr val="A09D96"/>
                </a:solidFill>
                <a:latin typeface="JetBrains Mono" pitchFamily="34" charset="0"/>
                <a:ea typeface="JetBrains Mono" pitchFamily="34" charset="-122"/>
                <a:cs typeface="JetBrains Mono" pitchFamily="34" charset="-120"/>
              </a:rPr>
              <a:t>Content-Type: application/problem+json</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"type": "about:blank",</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"title": "글을 찾을 수 없습니다",</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"status": 404,</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"detail": "99999번 글이 없습니다.",</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  "instance": "/api/v1/posts/99999",</a:t>
            </a:r>
            <a:endParaRPr lang="en-US" sz="1200" dirty="0"/>
          </a:p>
          <a:p>
            <a:pPr algn="l" indent="0" marL="0">
              <a:lnSpc>
                <a:spcPct val="105000"/>
              </a:lnSpc>
              <a:buNone/>
            </a:pPr>
            <a:r>
              <a:rPr lang="en-US" sz="1200" dirty="0">
                <a:solidFill>
                  <a:schemeClr val="accent4"/>
                </a:solidFill>
                <a:latin typeface="JetBrains Mono" pitchFamily="34" charset="0"/>
                <a:ea typeface="JetBrains Mono" pitchFamily="34" charset="-122"/>
                <a:cs typeface="JetBrains Mono" pitchFamily="34" charset="-120"/>
              </a:rPr>
              <a:t>  "code": "POST_NOT_FOUND"</a:t>
            </a:r>
            <a:endParaRPr lang="en-US" sz="1200" dirty="0"/>
          </a:p>
          <a:p>
            <a:pPr algn="l" indent="0" marL="0">
              <a:lnSpc>
                <a:spcPct val="105000"/>
              </a:lnSpc>
              <a:buNone/>
            </a:pPr>
            <a:r>
              <a:rPr lang="en-US" sz="1200" dirty="0">
                <a:solidFill>
                  <a:schemeClr val="bg1"/>
                </a:solidFill>
                <a:latin typeface="JetBrains Mono" pitchFamily="34" charset="0"/>
                <a:ea typeface="JetBrains Mono" pitchFamily="34" charset="-122"/>
                <a:cs typeface="JetBrains Mono" pitchFamily="34" charset="-120"/>
              </a:rPr>
              <a:t>}</a:t>
            </a:r>
            <a:endParaRPr lang="en-US" sz="1200" dirty="0"/>
          </a:p>
        </p:txBody>
      </p:sp>
      <p:sp>
        <p:nvSpPr>
          <p:cNvPr id="17" name="callout-coral"/>
          <p:cNvSpPr/>
          <p:nvPr/>
        </p:nvSpPr>
        <p:spPr>
          <a:xfrm>
            <a:off x="649224" y="4983480"/>
            <a:ext cx="10890504" cy="868680"/>
          </a:xfrm>
          <a:prstGeom prst="roundRect">
            <a:avLst>
              <a:gd name="adj" fmla="val 12632"/>
            </a:avLst>
          </a:prstGeom>
          <a:solidFill>
            <a:schemeClr val="accent1"/>
          </a:solidFill>
          <a:ln/>
        </p:spPr>
      </p:sp>
      <p:sp>
        <p:nvSpPr>
          <p:cNvPr id="18" name="text"/>
          <p:cNvSpPr txBox="1"/>
          <p:nvPr/>
        </p:nvSpPr>
        <p:spPr>
          <a:xfrm>
            <a:off x="1014984" y="5175504"/>
            <a:ext cx="10158984" cy="502920"/>
          </a:xfrm>
          <a:prstGeom prst="rect">
            <a:avLst/>
          </a:prstGeom>
          <a:noFill/>
          <a:ln/>
        </p:spPr>
        <p:txBody>
          <a:bodyPr wrap="square" lIns="0" tIns="0" rIns="0" bIns="0" rtlCol="0" anchor="ctr"/>
          <a:lstStyle/>
          <a:p>
            <a:pPr algn="l" indent="0" marL="0">
              <a:lnSpc>
                <a:spcPct val="115000"/>
              </a:lnSpc>
              <a:spcAft>
                <a:spcPts val="600"/>
              </a:spcAft>
              <a:buNone/>
            </a:pPr>
            <a:r>
              <a:rPr lang="en-US" sz="2000" b="1" dirty="0">
                <a:solidFill>
                  <a:schemeClr val="tx1"/>
                </a:solidFill>
              </a:rPr>
              <a:t>모니터링 · 로드밸런서 · 캐시 · 재시도는 바디가 아니라 상태 코드를 본다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03</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공통 응답과 에러 형식</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모든 API가 같은 모양으로 답하고, 내부 정보는 로그에만 남긴다</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에러는 모든 API가 같은 모양으로</a:t>
            </a:r>
            <a:endParaRPr lang="en-US" sz="3200" dirty="0"/>
          </a:p>
        </p:txBody>
      </p:sp>
      <p:sp>
        <p:nvSpPr>
          <p:cNvPr id="5" name="code-window"/>
          <p:cNvSpPr/>
          <p:nvPr/>
        </p:nvSpPr>
        <p:spPr>
          <a:xfrm>
            <a:off x="649224" y="1581912"/>
            <a:ext cx="5330952" cy="3749040"/>
          </a:xfrm>
          <a:prstGeom prst="roundRect">
            <a:avLst>
              <a:gd name="adj" fmla="val 2927"/>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실제 응답 · 400</a:t>
            </a:r>
            <a:endParaRPr lang="en-US" sz="1100" dirty="0"/>
          </a:p>
        </p:txBody>
      </p:sp>
      <p:sp>
        <p:nvSpPr>
          <p:cNvPr id="10" name="code-window-text"/>
          <p:cNvSpPr txBox="1"/>
          <p:nvPr/>
        </p:nvSpPr>
        <p:spPr>
          <a:xfrm>
            <a:off x="905256" y="2020824"/>
            <a:ext cx="4873752" cy="3200400"/>
          </a:xfrm>
          <a:prstGeom prst="rect">
            <a:avLst/>
          </a:prstGeom>
          <a:noFill/>
          <a:ln/>
        </p:spPr>
        <p:txBody>
          <a:bodyPr wrap="square" lIns="0" tIns="0" rIns="0" bIns="0" rtlCol="0" anchor="t"/>
          <a:lstStyle/>
          <a:p>
            <a:pPr algn="l" indent="0" marL="0">
              <a:lnSpc>
                <a:spcPct val="105000"/>
              </a:lnSpc>
              <a:buNone/>
            </a:pPr>
            <a:r>
              <a:rPr lang="en-US" sz="1100" dirty="0">
                <a:solidFill>
                  <a:schemeClr val="accent5"/>
                </a:solidFill>
                <a:latin typeface="JetBrains Mono" pitchFamily="34" charset="0"/>
                <a:ea typeface="JetBrains Mono" pitchFamily="34" charset="-122"/>
                <a:cs typeface="JetBrains Mono" pitchFamily="34" charset="-120"/>
              </a:rPr>
              <a:t>$ curl -i -X POST …/posts -d '{"title":""}'</a:t>
            </a:r>
            <a:endParaRPr lang="en-US" sz="1100" dirty="0"/>
          </a:p>
          <a:p>
            <a:pPr algn="l" indent="0" marL="0">
              <a:lnSpc>
                <a:spcPct val="105000"/>
              </a:lnSpc>
              <a:buNone/>
            </a:pPr>
            <a:r>
              <a:rPr lang="en-US" sz="1100" dirty="0">
                <a:solidFill>
                  <a:srgbClr val="E5806F"/>
                </a:solidFill>
                <a:latin typeface="JetBrains Mono" pitchFamily="34" charset="0"/>
                <a:ea typeface="JetBrains Mono" pitchFamily="34" charset="-122"/>
                <a:cs typeface="JetBrains Mono" pitchFamily="34" charset="-120"/>
              </a:rPr>
              <a:t>HTTP/1.1 400</a:t>
            </a:r>
            <a:endParaRPr lang="en-US" sz="1100" dirty="0"/>
          </a:p>
          <a:p>
            <a:pPr algn="l" indent="0" marL="0">
              <a:lnSpc>
                <a:spcPct val="105000"/>
              </a:lnSpc>
              <a:buNone/>
            </a:pPr>
            <a:r>
              <a:rPr lang="en-US" sz="1100" dirty="0">
                <a:solidFill>
                  <a:srgbClr val="A09D96"/>
                </a:solidFill>
                <a:latin typeface="JetBrains Mono" pitchFamily="34" charset="0"/>
                <a:ea typeface="JetBrains Mono" pitchFamily="34" charset="-122"/>
                <a:cs typeface="JetBrains Mono" pitchFamily="34" charset="-120"/>
              </a:rPr>
              <a:t>Content-Type: application/problem+json</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"type": "about:blank",</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"title": "잘못된 요청입니다",</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"status": 400,</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"detail": "입력값을 확인해 주세요.",</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"instance": "/api/v1/posts",</a:t>
            </a:r>
            <a:endParaRPr lang="en-US" sz="1100" dirty="0"/>
          </a:p>
          <a:p>
            <a:pPr algn="l" indent="0" marL="0">
              <a:lnSpc>
                <a:spcPct val="105000"/>
              </a:lnSpc>
              <a:buNone/>
            </a:pPr>
            <a:r>
              <a:rPr lang="en-US" sz="1100" dirty="0">
                <a:solidFill>
                  <a:schemeClr val="accent4"/>
                </a:solidFill>
                <a:latin typeface="JetBrains Mono" pitchFamily="34" charset="0"/>
                <a:ea typeface="JetBrains Mono" pitchFamily="34" charset="-122"/>
                <a:cs typeface="JetBrains Mono" pitchFamily="34" charset="-120"/>
              </a:rPr>
              <a:t>  "code": "INVALID_INPUT",</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"errors":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"reason": "must not be blank",</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"field": "title"</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a:t>
            </a:r>
            <a:endParaRPr lang="en-US" sz="1100" dirty="0"/>
          </a:p>
        </p:txBody>
      </p:sp>
      <p:sp>
        <p:nvSpPr>
          <p:cNvPr id="11" name="code-window"/>
          <p:cNvSpPr/>
          <p:nvPr/>
        </p:nvSpPr>
        <p:spPr>
          <a:xfrm>
            <a:off x="6208776" y="1581912"/>
            <a:ext cx="5330952" cy="3749040"/>
          </a:xfrm>
          <a:prstGeom prst="roundRect">
            <a:avLst>
              <a:gd name="adj" fmla="val 2927"/>
            </a:avLst>
          </a:prstGeom>
          <a:solidFill>
            <a:schemeClr val="tx2"/>
          </a:solidFill>
          <a:ln/>
        </p:spPr>
      </p:sp>
      <p:sp>
        <p:nvSpPr>
          <p:cNvPr id="12" name="code-window-dot"/>
          <p:cNvSpPr/>
          <p:nvPr/>
        </p:nvSpPr>
        <p:spPr>
          <a:xfrm>
            <a:off x="6409944" y="1728216"/>
            <a:ext cx="100584" cy="100584"/>
          </a:xfrm>
          <a:prstGeom prst="ellipse">
            <a:avLst/>
          </a:prstGeom>
          <a:solidFill>
            <a:srgbClr val="4A4844"/>
          </a:solidFill>
          <a:ln/>
        </p:spPr>
      </p:sp>
      <p:sp>
        <p:nvSpPr>
          <p:cNvPr id="13" name="code-window-dot"/>
          <p:cNvSpPr/>
          <p:nvPr/>
        </p:nvSpPr>
        <p:spPr>
          <a:xfrm>
            <a:off x="6583680" y="1728216"/>
            <a:ext cx="100584" cy="100584"/>
          </a:xfrm>
          <a:prstGeom prst="ellipse">
            <a:avLst/>
          </a:prstGeom>
          <a:solidFill>
            <a:srgbClr val="4A4844"/>
          </a:solidFill>
          <a:ln/>
        </p:spPr>
      </p:sp>
      <p:sp>
        <p:nvSpPr>
          <p:cNvPr id="14" name="code-window-dot"/>
          <p:cNvSpPr/>
          <p:nvPr/>
        </p:nvSpPr>
        <p:spPr>
          <a:xfrm>
            <a:off x="6757416" y="1728216"/>
            <a:ext cx="100584" cy="100584"/>
          </a:xfrm>
          <a:prstGeom prst="ellipse">
            <a:avLst/>
          </a:prstGeom>
          <a:solidFill>
            <a:srgbClr val="4A4844"/>
          </a:solidFill>
          <a:ln/>
        </p:spPr>
      </p:sp>
      <p:sp>
        <p:nvSpPr>
          <p:cNvPr id="15"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실제 응답 · 409</a:t>
            </a:r>
            <a:endParaRPr lang="en-US" sz="1100" dirty="0"/>
          </a:p>
        </p:txBody>
      </p:sp>
      <p:sp>
        <p:nvSpPr>
          <p:cNvPr id="16" name="code-window-text"/>
          <p:cNvSpPr txBox="1"/>
          <p:nvPr/>
        </p:nvSpPr>
        <p:spPr>
          <a:xfrm>
            <a:off x="6464808" y="2020824"/>
            <a:ext cx="4873752" cy="3200400"/>
          </a:xfrm>
          <a:prstGeom prst="rect">
            <a:avLst/>
          </a:prstGeom>
          <a:noFill/>
          <a:ln/>
        </p:spPr>
        <p:txBody>
          <a:bodyPr wrap="square" lIns="0" tIns="0" rIns="0" bIns="0" rtlCol="0" anchor="t"/>
          <a:lstStyle/>
          <a:p>
            <a:pPr algn="l" indent="0" marL="0">
              <a:lnSpc>
                <a:spcPct val="105000"/>
              </a:lnSpc>
              <a:buNone/>
            </a:pPr>
            <a:r>
              <a:rPr lang="en-US" sz="1100" dirty="0">
                <a:solidFill>
                  <a:schemeClr val="accent5"/>
                </a:solidFill>
                <a:latin typeface="JetBrains Mono" pitchFamily="34" charset="0"/>
                <a:ea typeface="JetBrains Mono" pitchFamily="34" charset="-122"/>
                <a:cs typeface="JetBrains Mono" pitchFamily="34" charset="-120"/>
              </a:rPr>
              <a:t>$ curl -i -X POST …/posts -d '{"title":"제주 여행"}'</a:t>
            </a:r>
            <a:endParaRPr lang="en-US" sz="1100" dirty="0"/>
          </a:p>
          <a:p>
            <a:pPr algn="l" indent="0" marL="0">
              <a:lnSpc>
                <a:spcPct val="105000"/>
              </a:lnSpc>
              <a:buNone/>
            </a:pPr>
            <a:r>
              <a:rPr lang="en-US" sz="1100" dirty="0">
                <a:solidFill>
                  <a:srgbClr val="E5806F"/>
                </a:solidFill>
                <a:latin typeface="JetBrains Mono" pitchFamily="34" charset="0"/>
                <a:ea typeface="JetBrains Mono" pitchFamily="34" charset="-122"/>
                <a:cs typeface="JetBrains Mono" pitchFamily="34" charset="-120"/>
              </a:rPr>
              <a:t>HTTP/1.1 409</a:t>
            </a:r>
            <a:endParaRPr lang="en-US" sz="1100" dirty="0"/>
          </a:p>
          <a:p>
            <a:pPr algn="l" indent="0" marL="0">
              <a:lnSpc>
                <a:spcPct val="105000"/>
              </a:lnSpc>
              <a:buNone/>
            </a:pPr>
            <a:r>
              <a:rPr lang="en-US" sz="1100" dirty="0">
                <a:solidFill>
                  <a:srgbClr val="A09D96"/>
                </a:solidFill>
                <a:latin typeface="JetBrains Mono" pitchFamily="34" charset="0"/>
                <a:ea typeface="JetBrains Mono" pitchFamily="34" charset="-122"/>
                <a:cs typeface="JetBrains Mono" pitchFamily="34" charset="-120"/>
              </a:rPr>
              <a:t>Content-Type: application/problem+json</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"type": "about:blank",</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"title": "같은 제목의 글이 이미 있습니다",</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"status": 409,</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"detail": "'제주 여행' 제목의 글이 이미 있습니다.",</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  "instance": "/api/v1/posts",</a:t>
            </a:r>
            <a:endParaRPr lang="en-US" sz="1100" dirty="0"/>
          </a:p>
          <a:p>
            <a:pPr algn="l" indent="0" marL="0">
              <a:lnSpc>
                <a:spcPct val="105000"/>
              </a:lnSpc>
              <a:buNone/>
            </a:pPr>
            <a:r>
              <a:rPr lang="en-US" sz="1100" dirty="0">
                <a:solidFill>
                  <a:schemeClr val="accent4"/>
                </a:solidFill>
                <a:latin typeface="JetBrains Mono" pitchFamily="34" charset="0"/>
                <a:ea typeface="JetBrains Mono" pitchFamily="34" charset="-122"/>
                <a:cs typeface="JetBrains Mono" pitchFamily="34" charset="-120"/>
              </a:rPr>
              <a:t>  "code": "DUPLICATE_TITLE"</a:t>
            </a:r>
            <a:endParaRPr lang="en-US" sz="1100" dirty="0"/>
          </a:p>
          <a:p>
            <a:pPr algn="l" indent="0" marL="0">
              <a:lnSpc>
                <a:spcPct val="105000"/>
              </a:lnSpc>
              <a:buNone/>
            </a:pPr>
            <a:r>
              <a:rPr lang="en-US" sz="1100" dirty="0">
                <a:solidFill>
                  <a:schemeClr val="bg1"/>
                </a:solidFill>
                <a:latin typeface="JetBrains Mono" pitchFamily="34" charset="0"/>
                <a:ea typeface="JetBrains Mono" pitchFamily="34" charset="-122"/>
                <a:cs typeface="JetBrains Mono" pitchFamily="34" charset="-120"/>
              </a:rPr>
              <a:t>}</a:t>
            </a:r>
            <a:endParaRPr lang="en-US" sz="1100" dirty="0"/>
          </a:p>
        </p:txBody>
      </p:sp>
      <p:sp>
        <p:nvSpPr>
          <p:cNvPr id="17" name="text"/>
          <p:cNvSpPr txBox="1"/>
          <p:nvPr/>
        </p:nvSpPr>
        <p:spPr>
          <a:xfrm>
            <a:off x="649224" y="5532120"/>
            <a:ext cx="10890504" cy="41148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3"/>
                </a:solidFill>
                <a:latin typeface="JetBrains Mono" pitchFamily="34" charset="0"/>
                <a:ea typeface="JetBrains Mono" pitchFamily="34" charset="-122"/>
                <a:cs typeface="JetBrains Mono" pitchFamily="34" charset="-120"/>
              </a:rPr>
              <a:t>type · title · status · detail</a:t>
            </a:r>
            <a:pPr algn="l" indent="0" marL="0">
              <a:lnSpc>
                <a:spcPct val="115000"/>
              </a:lnSpc>
              <a:spcAft>
                <a:spcPts val="600"/>
              </a:spcAft>
              <a:buNone/>
            </a:pPr>
            <a:r>
              <a:rPr lang="en-US" sz="1500" dirty="0">
                <a:solidFill>
                  <a:schemeClr val="accent3"/>
                </a:solidFill>
              </a:rPr>
              <a:t>  RFC 9457 표준     </a:t>
            </a:r>
            <a:pPr algn="l" indent="0" marL="0">
              <a:lnSpc>
                <a:spcPct val="115000"/>
              </a:lnSpc>
              <a:spcAft>
                <a:spcPts val="600"/>
              </a:spcAft>
              <a:buNone/>
            </a:pPr>
            <a:r>
              <a:rPr lang="en-US" sz="1500" b="1" dirty="0">
                <a:solidFill>
                  <a:schemeClr val="accent2"/>
                </a:solidFill>
                <a:latin typeface="JetBrains Mono" pitchFamily="34" charset="0"/>
                <a:ea typeface="JetBrains Mono" pitchFamily="34" charset="-122"/>
                <a:cs typeface="JetBrains Mono" pitchFamily="34" charset="-120"/>
              </a:rPr>
              <a:t>code</a:t>
            </a:r>
            <a:pPr algn="l" indent="0" marL="0">
              <a:lnSpc>
                <a:spcPct val="115000"/>
              </a:lnSpc>
              <a:spcAft>
                <a:spcPts val="600"/>
              </a:spcAft>
              <a:buNone/>
            </a:pPr>
            <a:r>
              <a:rPr lang="en-US" sz="1500" dirty="0">
                <a:solidFill>
                  <a:schemeClr val="accent3"/>
                </a:solidFill>
              </a:rPr>
              <a:t>  화면이 분기하는 값     </a:t>
            </a:r>
            <a:pPr algn="l" indent="0" marL="0">
              <a:lnSpc>
                <a:spcPct val="115000"/>
              </a:lnSpc>
              <a:spcAft>
                <a:spcPts val="600"/>
              </a:spcAft>
              <a:buNone/>
            </a:pPr>
            <a:r>
              <a:rPr lang="en-US" sz="1500" b="1" dirty="0">
                <a:solidFill>
                  <a:schemeClr val="accent2"/>
                </a:solidFill>
                <a:latin typeface="JetBrains Mono" pitchFamily="34" charset="0"/>
                <a:ea typeface="JetBrains Mono" pitchFamily="34" charset="-122"/>
                <a:cs typeface="JetBrains Mono" pitchFamily="34" charset="-120"/>
              </a:rPr>
              <a:t>errors</a:t>
            </a:r>
            <a:pPr algn="l" indent="0" marL="0">
              <a:lnSpc>
                <a:spcPct val="115000"/>
              </a:lnSpc>
              <a:spcAft>
                <a:spcPts val="600"/>
              </a:spcAft>
              <a:buNone/>
            </a:pPr>
            <a:r>
              <a:rPr lang="en-US" sz="1500" dirty="0">
                <a:solidFill>
                  <a:schemeClr val="accent3"/>
                </a:solidFill>
              </a:rPr>
              <a:t>  틀린 칸</a:t>
            </a:r>
            <a:endParaRPr lang="en-US" sz="15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내부 정보는 로그로, 응답에는 traceId만</a:t>
            </a:r>
            <a:endParaRPr lang="en-US" sz="3200" dirty="0"/>
          </a:p>
        </p:txBody>
      </p:sp>
      <p:sp>
        <p:nvSpPr>
          <p:cNvPr id="5" name="badge"/>
          <p:cNvSpPr/>
          <p:nvPr/>
        </p:nvSpPr>
        <p:spPr>
          <a:xfrm>
            <a:off x="10716768" y="384048"/>
            <a:ext cx="585216" cy="310896"/>
          </a:xfrm>
          <a:prstGeom prst="roundRect">
            <a:avLst>
              <a:gd name="adj" fmla="val 50000"/>
            </a:avLst>
          </a:prstGeom>
          <a:solidFill>
            <a:srgbClr val="E8E0D2"/>
          </a:solidFill>
          <a:ln/>
        </p:spPr>
      </p:sp>
      <p:sp>
        <p:nvSpPr>
          <p:cNvPr id="6" name="badge-text"/>
          <p:cNvSpPr txBox="1"/>
          <p:nvPr/>
        </p:nvSpPr>
        <p:spPr>
          <a:xfrm>
            <a:off x="10716768" y="384048"/>
            <a:ext cx="585216" cy="310896"/>
          </a:xfrm>
          <a:prstGeom prst="rect">
            <a:avLst/>
          </a:prstGeom>
          <a:noFill/>
          <a:ln/>
        </p:spPr>
        <p:txBody>
          <a:bodyPr wrap="square" lIns="0" tIns="0" rIns="0" bIns="0" rtlCol="0" anchor="ctr"/>
          <a:lstStyle/>
          <a:p>
            <a:pPr algn="ctr" indent="0" marL="0">
              <a:buNone/>
            </a:pPr>
            <a:r>
              <a:rPr lang="en-US" sz="1200" dirty="0">
                <a:solidFill>
                  <a:schemeClr val="accent3"/>
                </a:solidFill>
              </a:rPr>
              <a:t>예시</a:t>
            </a:r>
            <a:endParaRPr lang="en-US" sz="1200" dirty="0"/>
          </a:p>
        </p:txBody>
      </p:sp>
      <p:sp>
        <p:nvSpPr>
          <p:cNvPr id="7" name="code-window"/>
          <p:cNvSpPr/>
          <p:nvPr/>
        </p:nvSpPr>
        <p:spPr>
          <a:xfrm>
            <a:off x="649224" y="1581912"/>
            <a:ext cx="10890504" cy="1417320"/>
          </a:xfrm>
          <a:prstGeom prst="roundRect">
            <a:avLst>
              <a:gd name="adj" fmla="val 7742"/>
            </a:avLst>
          </a:prstGeom>
          <a:solidFill>
            <a:schemeClr val="tx2"/>
          </a:solidFill>
          <a:ln/>
        </p:spPr>
      </p:sp>
      <p:sp>
        <p:nvSpPr>
          <p:cNvPr id="8" name="code-window-dot"/>
          <p:cNvSpPr/>
          <p:nvPr/>
        </p:nvSpPr>
        <p:spPr>
          <a:xfrm>
            <a:off x="850392" y="1728216"/>
            <a:ext cx="100584" cy="100584"/>
          </a:xfrm>
          <a:prstGeom prst="ellipse">
            <a:avLst/>
          </a:prstGeom>
          <a:solidFill>
            <a:srgbClr val="4A4844"/>
          </a:solidFill>
          <a:ln/>
        </p:spPr>
      </p:sp>
      <p:sp>
        <p:nvSpPr>
          <p:cNvPr id="9" name="code-window-dot"/>
          <p:cNvSpPr/>
          <p:nvPr/>
        </p:nvSpPr>
        <p:spPr>
          <a:xfrm>
            <a:off x="1024128" y="1728216"/>
            <a:ext cx="100584" cy="100584"/>
          </a:xfrm>
          <a:prstGeom prst="ellipse">
            <a:avLst/>
          </a:prstGeom>
          <a:solidFill>
            <a:srgbClr val="4A4844"/>
          </a:solidFill>
          <a:ln/>
        </p:spPr>
      </p:sp>
      <p:sp>
        <p:nvSpPr>
          <p:cNvPr id="10" name="code-window-dot"/>
          <p:cNvSpPr/>
          <p:nvPr/>
        </p:nvSpPr>
        <p:spPr>
          <a:xfrm>
            <a:off x="1197864" y="1728216"/>
            <a:ext cx="100584" cy="100584"/>
          </a:xfrm>
          <a:prstGeom prst="ellipse">
            <a:avLst/>
          </a:prstGeom>
          <a:solidFill>
            <a:srgbClr val="4A4844"/>
          </a:solidFill>
          <a:ln/>
        </p:spPr>
      </p:sp>
      <p:sp>
        <p:nvSpPr>
          <p:cNvPr id="11" name="code-window-label"/>
          <p:cNvSpPr txBox="1"/>
          <p:nvPr/>
        </p:nvSpPr>
        <p:spPr>
          <a:xfrm>
            <a:off x="1472184" y="167335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사용자에게 가는 응답</a:t>
            </a:r>
            <a:endParaRPr lang="en-US" sz="1100" dirty="0"/>
          </a:p>
        </p:txBody>
      </p:sp>
      <p:sp>
        <p:nvSpPr>
          <p:cNvPr id="12" name="code-window-text"/>
          <p:cNvSpPr txBox="1"/>
          <p:nvPr/>
        </p:nvSpPr>
        <p:spPr>
          <a:xfrm>
            <a:off x="905256" y="2020824"/>
            <a:ext cx="10433304" cy="868680"/>
          </a:xfrm>
          <a:prstGeom prst="rect">
            <a:avLst/>
          </a:prstGeom>
          <a:noFill/>
          <a:ln/>
        </p:spPr>
        <p:txBody>
          <a:bodyPr wrap="square" lIns="0" tIns="0" rIns="0" bIns="0" rtlCol="0" anchor="t"/>
          <a:lstStyle/>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HTTP/1.1 500</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"code": "INTERNAL_ERROR", "detail": "잠시 후 다시 시도해 주세요.", "traceId": "9b1deb4d" }</a:t>
            </a:r>
            <a:endParaRPr lang="en-US" sz="1500" dirty="0"/>
          </a:p>
        </p:txBody>
      </p:sp>
      <p:sp>
        <p:nvSpPr>
          <p:cNvPr id="13" name="code-window"/>
          <p:cNvSpPr/>
          <p:nvPr/>
        </p:nvSpPr>
        <p:spPr>
          <a:xfrm>
            <a:off x="649224" y="3246120"/>
            <a:ext cx="10890504" cy="1691640"/>
          </a:xfrm>
          <a:prstGeom prst="roundRect">
            <a:avLst>
              <a:gd name="adj" fmla="val 6486"/>
            </a:avLst>
          </a:prstGeom>
          <a:solidFill>
            <a:schemeClr val="tx2"/>
          </a:solidFill>
          <a:ln/>
        </p:spPr>
      </p:sp>
      <p:sp>
        <p:nvSpPr>
          <p:cNvPr id="14" name="code-window-dot"/>
          <p:cNvSpPr/>
          <p:nvPr/>
        </p:nvSpPr>
        <p:spPr>
          <a:xfrm>
            <a:off x="850392" y="3392424"/>
            <a:ext cx="100584" cy="100584"/>
          </a:xfrm>
          <a:prstGeom prst="ellipse">
            <a:avLst/>
          </a:prstGeom>
          <a:solidFill>
            <a:srgbClr val="4A4844"/>
          </a:solidFill>
          <a:ln/>
        </p:spPr>
      </p:sp>
      <p:sp>
        <p:nvSpPr>
          <p:cNvPr id="15" name="code-window-dot"/>
          <p:cNvSpPr/>
          <p:nvPr/>
        </p:nvSpPr>
        <p:spPr>
          <a:xfrm>
            <a:off x="1024128" y="3392424"/>
            <a:ext cx="100584" cy="100584"/>
          </a:xfrm>
          <a:prstGeom prst="ellipse">
            <a:avLst/>
          </a:prstGeom>
          <a:solidFill>
            <a:srgbClr val="4A4844"/>
          </a:solidFill>
          <a:ln/>
        </p:spPr>
      </p:sp>
      <p:sp>
        <p:nvSpPr>
          <p:cNvPr id="16" name="code-window-dot"/>
          <p:cNvSpPr/>
          <p:nvPr/>
        </p:nvSpPr>
        <p:spPr>
          <a:xfrm>
            <a:off x="1197864" y="3392424"/>
            <a:ext cx="100584" cy="100584"/>
          </a:xfrm>
          <a:prstGeom prst="ellipse">
            <a:avLst/>
          </a:prstGeom>
          <a:solidFill>
            <a:srgbClr val="4A4844"/>
          </a:solidFill>
          <a:ln/>
        </p:spPr>
      </p:sp>
      <p:sp>
        <p:nvSpPr>
          <p:cNvPr id="17" name="code-window-label"/>
          <p:cNvSpPr txBox="1"/>
          <p:nvPr/>
        </p:nvSpPr>
        <p:spPr>
          <a:xfrm>
            <a:off x="1472184" y="3337560"/>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서버 로그 (개발자만)</a:t>
            </a:r>
            <a:endParaRPr lang="en-US" sz="1100" dirty="0"/>
          </a:p>
        </p:txBody>
      </p:sp>
      <p:sp>
        <p:nvSpPr>
          <p:cNvPr id="18" name="code-window-text"/>
          <p:cNvSpPr txBox="1"/>
          <p:nvPr/>
        </p:nvSpPr>
        <p:spPr>
          <a:xfrm>
            <a:off x="905256" y="3685032"/>
            <a:ext cx="10433304" cy="1143000"/>
          </a:xfrm>
          <a:prstGeom prst="rect">
            <a:avLst/>
          </a:prstGeom>
          <a:noFill/>
          <a:ln/>
        </p:spPr>
        <p:txBody>
          <a:bodyPr wrap="square" lIns="0" tIns="0" rIns="0" bIns="0" rtlCol="0" anchor="t"/>
          <a:lstStyle/>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ERROR [traceId=9b1deb4d] 글 조회 실패</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java.lang.NullPointerException: …</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at com.example.blog.PostService.find(PostService.java:42)</a:t>
            </a:r>
            <a:endParaRPr lang="en-US" sz="1500" dirty="0"/>
          </a:p>
        </p:txBody>
      </p:sp>
      <p:sp>
        <p:nvSpPr>
          <p:cNvPr id="19" name="text"/>
          <p:cNvSpPr txBox="1"/>
          <p:nvPr/>
        </p:nvSpPr>
        <p:spPr>
          <a:xfrm>
            <a:off x="649224" y="5257800"/>
            <a:ext cx="10890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3D3D3A"/>
                </a:solidFill>
              </a:rPr>
              <a:t>스택 트레이스 · SQL · 테이블 이름은 응답에 넣지 않는다. 같은 traceId로 로그를 찾는다.</a:t>
            </a:r>
            <a:endParaRPr lang="en-US" sz="20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04</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전역 예외 처리와 입력 검증</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검증은 두 층으로, 응답 변환은 한 곳에서</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검증과 예외 처리는 한 곳에서</a:t>
            </a:r>
            <a:endParaRPr lang="en-US" sz="3200" dirty="0"/>
          </a:p>
        </p:txBody>
      </p:sp>
      <p:sp>
        <p:nvSpPr>
          <p:cNvPr id="5" name="flow-step"/>
          <p:cNvSpPr/>
          <p:nvPr/>
        </p:nvSpPr>
        <p:spPr>
          <a:xfrm>
            <a:off x="649224" y="1581912"/>
            <a:ext cx="1097280" cy="548640"/>
          </a:xfrm>
          <a:prstGeom prst="roundRect">
            <a:avLst>
              <a:gd name="adj" fmla="val 20000"/>
            </a:avLst>
          </a:prstGeom>
          <a:solidFill>
            <a:schemeClr val="bg2"/>
          </a:solidFill>
          <a:ln/>
        </p:spPr>
      </p:sp>
      <p:sp>
        <p:nvSpPr>
          <p:cNvPr id="6" name="text"/>
          <p:cNvSpPr txBox="1"/>
          <p:nvPr/>
        </p:nvSpPr>
        <p:spPr>
          <a:xfrm>
            <a:off x="649224" y="1719072"/>
            <a:ext cx="1097280" cy="27432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tx1"/>
                </a:solidFill>
              </a:rPr>
              <a:t>요청</a:t>
            </a:r>
            <a:endParaRPr lang="en-US" sz="1500" dirty="0"/>
          </a:p>
        </p:txBody>
      </p:sp>
      <p:sp>
        <p:nvSpPr>
          <p:cNvPr id="7" name="text"/>
          <p:cNvSpPr txBox="1"/>
          <p:nvPr/>
        </p:nvSpPr>
        <p:spPr>
          <a:xfrm>
            <a:off x="1746504" y="1700784"/>
            <a:ext cx="493776" cy="320040"/>
          </a:xfrm>
          <a:prstGeom prst="rect">
            <a:avLst/>
          </a:prstGeom>
          <a:noFill/>
          <a:ln/>
        </p:spPr>
        <p:txBody>
          <a:bodyPr wrap="square" lIns="0" tIns="0" rIns="0" bIns="0" rtlCol="0" anchor="t"/>
          <a:lstStyle/>
          <a:p>
            <a:pPr algn="ctr" indent="0" marL="0">
              <a:lnSpc>
                <a:spcPct val="115000"/>
              </a:lnSpc>
              <a:spcAft>
                <a:spcPts val="600"/>
              </a:spcAft>
              <a:buNone/>
            </a:pPr>
            <a:r>
              <a:rPr lang="en-US" sz="1800" dirty="0">
                <a:solidFill>
                  <a:schemeClr val="accent3"/>
                </a:solidFill>
              </a:rPr>
              <a:t>→</a:t>
            </a:r>
            <a:endParaRPr lang="en-US" sz="1800" dirty="0"/>
          </a:p>
        </p:txBody>
      </p:sp>
      <p:sp>
        <p:nvSpPr>
          <p:cNvPr id="8" name="flow-step"/>
          <p:cNvSpPr/>
          <p:nvPr/>
        </p:nvSpPr>
        <p:spPr>
          <a:xfrm>
            <a:off x="2240280" y="1581912"/>
            <a:ext cx="2514600" cy="548640"/>
          </a:xfrm>
          <a:prstGeom prst="roundRect">
            <a:avLst>
              <a:gd name="adj" fmla="val 20000"/>
            </a:avLst>
          </a:prstGeom>
          <a:solidFill>
            <a:srgbClr val="E8E0D2"/>
          </a:solidFill>
          <a:ln/>
        </p:spPr>
      </p:sp>
      <p:sp>
        <p:nvSpPr>
          <p:cNvPr id="9" name="text"/>
          <p:cNvSpPr txBox="1"/>
          <p:nvPr/>
        </p:nvSpPr>
        <p:spPr>
          <a:xfrm>
            <a:off x="2240280" y="1719072"/>
            <a:ext cx="2514600" cy="274320"/>
          </a:xfrm>
          <a:prstGeom prst="rect">
            <a:avLst/>
          </a:prstGeom>
          <a:noFill/>
          <a:ln/>
        </p:spPr>
        <p:txBody>
          <a:bodyPr wrap="square" lIns="0" tIns="0" rIns="0" bIns="0" rtlCol="0" anchor="t"/>
          <a:lstStyle/>
          <a:p>
            <a:pPr algn="ctr" indent="0" marL="0">
              <a:lnSpc>
                <a:spcPct val="115000"/>
              </a:lnSpc>
              <a:spcAft>
                <a:spcPts val="600"/>
              </a:spcAft>
              <a:buNone/>
            </a:pPr>
            <a:r>
              <a:rPr lang="en-US" sz="1500" b="1" dirty="0">
                <a:solidFill>
                  <a:schemeClr val="tx1"/>
                </a:solidFill>
              </a:rPr>
              <a:t>@Valid 형식 검증</a:t>
            </a:r>
            <a:endParaRPr lang="en-US" sz="1500" dirty="0"/>
          </a:p>
        </p:txBody>
      </p:sp>
      <p:sp>
        <p:nvSpPr>
          <p:cNvPr id="10" name="text"/>
          <p:cNvSpPr txBox="1"/>
          <p:nvPr/>
        </p:nvSpPr>
        <p:spPr>
          <a:xfrm>
            <a:off x="4754880" y="1700784"/>
            <a:ext cx="493776" cy="320040"/>
          </a:xfrm>
          <a:prstGeom prst="rect">
            <a:avLst/>
          </a:prstGeom>
          <a:noFill/>
          <a:ln/>
        </p:spPr>
        <p:txBody>
          <a:bodyPr wrap="square" lIns="0" tIns="0" rIns="0" bIns="0" rtlCol="0" anchor="t"/>
          <a:lstStyle/>
          <a:p>
            <a:pPr algn="ctr" indent="0" marL="0">
              <a:lnSpc>
                <a:spcPct val="115000"/>
              </a:lnSpc>
              <a:spcAft>
                <a:spcPts val="600"/>
              </a:spcAft>
              <a:buNone/>
            </a:pPr>
            <a:r>
              <a:rPr lang="en-US" sz="1800" dirty="0">
                <a:solidFill>
                  <a:schemeClr val="accent3"/>
                </a:solidFill>
              </a:rPr>
              <a:t>→</a:t>
            </a:r>
            <a:endParaRPr lang="en-US" sz="1800" dirty="0"/>
          </a:p>
        </p:txBody>
      </p:sp>
      <p:sp>
        <p:nvSpPr>
          <p:cNvPr id="11" name="flow-step"/>
          <p:cNvSpPr/>
          <p:nvPr/>
        </p:nvSpPr>
        <p:spPr>
          <a:xfrm>
            <a:off x="5248656" y="1581912"/>
            <a:ext cx="1691640" cy="548640"/>
          </a:xfrm>
          <a:prstGeom prst="roundRect">
            <a:avLst>
              <a:gd name="adj" fmla="val 20000"/>
            </a:avLst>
          </a:prstGeom>
          <a:solidFill>
            <a:schemeClr val="bg2"/>
          </a:solidFill>
          <a:ln/>
        </p:spPr>
      </p:sp>
      <p:sp>
        <p:nvSpPr>
          <p:cNvPr id="12" name="text"/>
          <p:cNvSpPr txBox="1"/>
          <p:nvPr/>
        </p:nvSpPr>
        <p:spPr>
          <a:xfrm>
            <a:off x="5248656" y="1719072"/>
            <a:ext cx="1691640" cy="27432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tx1"/>
                </a:solidFill>
              </a:rPr>
              <a:t>컨트롤러</a:t>
            </a:r>
            <a:endParaRPr lang="en-US" sz="1500" dirty="0"/>
          </a:p>
        </p:txBody>
      </p:sp>
      <p:sp>
        <p:nvSpPr>
          <p:cNvPr id="13" name="text"/>
          <p:cNvSpPr txBox="1"/>
          <p:nvPr/>
        </p:nvSpPr>
        <p:spPr>
          <a:xfrm>
            <a:off x="6940296" y="1700784"/>
            <a:ext cx="493776" cy="320040"/>
          </a:xfrm>
          <a:prstGeom prst="rect">
            <a:avLst/>
          </a:prstGeom>
          <a:noFill/>
          <a:ln/>
        </p:spPr>
        <p:txBody>
          <a:bodyPr wrap="square" lIns="0" tIns="0" rIns="0" bIns="0" rtlCol="0" anchor="t"/>
          <a:lstStyle/>
          <a:p>
            <a:pPr algn="ctr" indent="0" marL="0">
              <a:lnSpc>
                <a:spcPct val="115000"/>
              </a:lnSpc>
              <a:spcAft>
                <a:spcPts val="600"/>
              </a:spcAft>
              <a:buNone/>
            </a:pPr>
            <a:r>
              <a:rPr lang="en-US" sz="1800" dirty="0">
                <a:solidFill>
                  <a:schemeClr val="accent3"/>
                </a:solidFill>
              </a:rPr>
              <a:t>→</a:t>
            </a:r>
            <a:endParaRPr lang="en-US" sz="1800" dirty="0"/>
          </a:p>
        </p:txBody>
      </p:sp>
      <p:sp>
        <p:nvSpPr>
          <p:cNvPr id="14" name="flow-step"/>
          <p:cNvSpPr/>
          <p:nvPr/>
        </p:nvSpPr>
        <p:spPr>
          <a:xfrm>
            <a:off x="7434072" y="1581912"/>
            <a:ext cx="2697480" cy="548640"/>
          </a:xfrm>
          <a:prstGeom prst="roundRect">
            <a:avLst>
              <a:gd name="adj" fmla="val 20000"/>
            </a:avLst>
          </a:prstGeom>
          <a:solidFill>
            <a:srgbClr val="E8E0D2"/>
          </a:solidFill>
          <a:ln/>
        </p:spPr>
      </p:sp>
      <p:sp>
        <p:nvSpPr>
          <p:cNvPr id="15" name="text"/>
          <p:cNvSpPr txBox="1"/>
          <p:nvPr/>
        </p:nvSpPr>
        <p:spPr>
          <a:xfrm>
            <a:off x="7434072" y="1719072"/>
            <a:ext cx="2697480" cy="274320"/>
          </a:xfrm>
          <a:prstGeom prst="rect">
            <a:avLst/>
          </a:prstGeom>
          <a:noFill/>
          <a:ln/>
        </p:spPr>
        <p:txBody>
          <a:bodyPr wrap="square" lIns="0" tIns="0" rIns="0" bIns="0" rtlCol="0" anchor="t"/>
          <a:lstStyle/>
          <a:p>
            <a:pPr algn="ctr" indent="0" marL="0">
              <a:lnSpc>
                <a:spcPct val="115000"/>
              </a:lnSpc>
              <a:spcAft>
                <a:spcPts val="600"/>
              </a:spcAft>
              <a:buNone/>
            </a:pPr>
            <a:r>
              <a:rPr lang="en-US" sz="1500" b="1" dirty="0">
                <a:solidFill>
                  <a:schemeClr val="tx1"/>
                </a:solidFill>
              </a:rPr>
              <a:t>서비스 (업무 규칙)</a:t>
            </a:r>
            <a:endParaRPr lang="en-US" sz="1500" dirty="0"/>
          </a:p>
        </p:txBody>
      </p:sp>
      <p:sp>
        <p:nvSpPr>
          <p:cNvPr id="16" name="text"/>
          <p:cNvSpPr txBox="1"/>
          <p:nvPr/>
        </p:nvSpPr>
        <p:spPr>
          <a:xfrm>
            <a:off x="10131552" y="1700784"/>
            <a:ext cx="493776" cy="320040"/>
          </a:xfrm>
          <a:prstGeom prst="rect">
            <a:avLst/>
          </a:prstGeom>
          <a:noFill/>
          <a:ln/>
        </p:spPr>
        <p:txBody>
          <a:bodyPr wrap="square" lIns="0" tIns="0" rIns="0" bIns="0" rtlCol="0" anchor="t"/>
          <a:lstStyle/>
          <a:p>
            <a:pPr algn="ctr" indent="0" marL="0">
              <a:lnSpc>
                <a:spcPct val="115000"/>
              </a:lnSpc>
              <a:spcAft>
                <a:spcPts val="600"/>
              </a:spcAft>
              <a:buNone/>
            </a:pPr>
            <a:r>
              <a:rPr lang="en-US" sz="1800" dirty="0">
                <a:solidFill>
                  <a:schemeClr val="accent3"/>
                </a:solidFill>
              </a:rPr>
              <a:t>→</a:t>
            </a:r>
            <a:endParaRPr lang="en-US" sz="1800" dirty="0"/>
          </a:p>
        </p:txBody>
      </p:sp>
      <p:sp>
        <p:nvSpPr>
          <p:cNvPr id="17" name="flow-step"/>
          <p:cNvSpPr/>
          <p:nvPr/>
        </p:nvSpPr>
        <p:spPr>
          <a:xfrm>
            <a:off x="10625328" y="1581912"/>
            <a:ext cx="914400" cy="548640"/>
          </a:xfrm>
          <a:prstGeom prst="roundRect">
            <a:avLst>
              <a:gd name="adj" fmla="val 20000"/>
            </a:avLst>
          </a:prstGeom>
          <a:solidFill>
            <a:schemeClr val="bg2"/>
          </a:solidFill>
          <a:ln/>
        </p:spPr>
      </p:sp>
      <p:sp>
        <p:nvSpPr>
          <p:cNvPr id="18" name="text"/>
          <p:cNvSpPr txBox="1"/>
          <p:nvPr/>
        </p:nvSpPr>
        <p:spPr>
          <a:xfrm>
            <a:off x="10625328" y="1719072"/>
            <a:ext cx="914400" cy="27432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tx1"/>
                </a:solidFill>
              </a:rPr>
              <a:t>DB</a:t>
            </a:r>
            <a:endParaRPr lang="en-US" sz="15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649224" y="2423160"/>
          <a:ext cx="10890504" cy="914400"/>
        </p:xfrm>
        <a:graphic>
          <a:graphicData uri="http://schemas.openxmlformats.org/drawingml/2006/table">
            <a:tbl>
              <a:tblPr/>
              <a:tblGrid>
                <a:gridCol w="2011680"/>
                <a:gridCol w="1737360"/>
                <a:gridCol w="4480560"/>
                <a:gridCol w="2660904"/>
              </a:tblGrid>
              <a:tr h="438912">
                <a:tc>
                  <a:txBody>
                    <a:bodyPr/>
                    <a:lstStyle/>
                    <a:p>
                      <a:pPr indent="0" marL="0">
                        <a:buNone/>
                      </a:pPr>
                      <a:r>
                        <a:rPr lang="en-US" sz="1200" dirty="0">
                          <a:solidFill>
                            <a:schemeClr val="accent3"/>
                          </a:solidFill>
                        </a:rPr>
                        <a:t>실패</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어디서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예외</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응답</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38912">
                <a:tc>
                  <a:txBody>
                    <a:bodyPr/>
                    <a:lstStyle/>
                    <a:p>
                      <a:pPr indent="0" marL="0">
                        <a:buNone/>
                      </a:pPr>
                      <a:r>
                        <a:rPr lang="en-US" sz="1500" dirty="0">
                          <a:solidFill>
                            <a:schemeClr val="tx1"/>
                          </a:solidFill>
                        </a:rPr>
                        <a:t>빈 제목</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DTO 검증</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MethodArgumentNotValidException</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400 INVALID_INPUT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500" dirty="0">
                          <a:solidFill>
                            <a:schemeClr val="tx1"/>
                          </a:solidFill>
                        </a:rPr>
                        <a:t>없는 글</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서비스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ApiException(POST_NOT_FOUND)</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404</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500" dirty="0">
                          <a:solidFill>
                            <a:schemeClr val="tx1"/>
                          </a:solidFill>
                        </a:rPr>
                        <a:t>제목 중복</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서비스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ApiException(DUPLICATE_TITLE)</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409</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38912">
                <a:tc>
                  <a:txBody>
                    <a:bodyPr/>
                    <a:lstStyle/>
                    <a:p>
                      <a:pPr indent="0" marL="0">
                        <a:buNone/>
                      </a:pPr>
                      <a:r>
                        <a:rPr lang="en-US" sz="1500" dirty="0">
                          <a:solidFill>
                            <a:schemeClr val="tx1"/>
                          </a:solidFill>
                        </a:rPr>
                        <a:t>예상 못 한 오류</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어디서든</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Exception</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500 + 로그</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0" name="text"/>
          <p:cNvSpPr txBox="1"/>
          <p:nvPr/>
        </p:nvSpPr>
        <p:spPr>
          <a:xfrm>
            <a:off x="649224" y="4892040"/>
            <a:ext cx="10890504" cy="9144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chemeClr val="tx1"/>
                </a:solidFill>
              </a:rPr>
              <a:t>모두 </a:t>
            </a:r>
            <a:pPr algn="l" indent="0" marL="0">
              <a:lnSpc>
                <a:spcPct val="115000"/>
              </a:lnSpc>
              <a:spcAft>
                <a:spcPts val="600"/>
              </a:spcAft>
              <a:buNone/>
            </a:pPr>
            <a:r>
              <a:rPr lang="en-US" sz="1700" b="1" dirty="0">
                <a:solidFill>
                  <a:schemeClr val="accent2"/>
                </a:solidFill>
                <a:latin typeface="JetBrains Mono" pitchFamily="34" charset="0"/>
                <a:ea typeface="JetBrains Mono" pitchFamily="34" charset="-122"/>
                <a:cs typeface="JetBrains Mono" pitchFamily="34" charset="-120"/>
              </a:rPr>
              <a:t>@RestControllerAdvice</a:t>
            </a:r>
            <a:pPr algn="l" indent="0" marL="0">
              <a:lnSpc>
                <a:spcPct val="115000"/>
              </a:lnSpc>
              <a:spcAft>
                <a:spcPts val="600"/>
              </a:spcAft>
              <a:buNone/>
            </a:pPr>
            <a:r>
              <a:rPr lang="en-US" sz="1800" dirty="0">
                <a:solidFill>
                  <a:schemeClr val="tx1"/>
                </a:solidFill>
              </a:rPr>
              <a:t> 한 곳에서 같은 형식으로 바꾼다 · 컨트롤러에 try-catch 없음</a:t>
            </a:r>
            <a:endParaRPr lang="en-US" sz="1800" dirty="0"/>
          </a:p>
          <a:p>
            <a:pPr algn="l" indent="0" marL="0">
              <a:lnSpc>
                <a:spcPct val="115000"/>
              </a:lnSpc>
              <a:spcAft>
                <a:spcPts val="600"/>
              </a:spcAft>
              <a:buNone/>
            </a:pPr>
            <a:r>
              <a:rPr lang="en-US" sz="1500" dirty="0">
                <a:solidFill>
                  <a:schemeClr val="accent3"/>
                </a:solidFill>
              </a:rPr>
              <a:t>Security 필터에서 난 예외는 컨트롤러 밖이라 여기서 안 잡힌다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코드로 보면</a:t>
            </a:r>
            <a:endParaRPr lang="en-US" sz="3200" dirty="0"/>
          </a:p>
        </p:txBody>
      </p:sp>
      <p:sp>
        <p:nvSpPr>
          <p:cNvPr id="5" name="code-window"/>
          <p:cNvSpPr/>
          <p:nvPr/>
        </p:nvSpPr>
        <p:spPr>
          <a:xfrm>
            <a:off x="649224" y="1581912"/>
            <a:ext cx="5330952" cy="4297680"/>
          </a:xfrm>
          <a:prstGeom prst="roundRect">
            <a:avLst>
              <a:gd name="adj" fmla="val 2553"/>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Dtos.java · ErrorCode.java</a:t>
            </a:r>
            <a:endParaRPr lang="en-US" sz="1100" dirty="0"/>
          </a:p>
        </p:txBody>
      </p:sp>
      <p:sp>
        <p:nvSpPr>
          <p:cNvPr id="10" name="code-window-text"/>
          <p:cNvSpPr txBox="1"/>
          <p:nvPr/>
        </p:nvSpPr>
        <p:spPr>
          <a:xfrm>
            <a:off x="905256" y="2020824"/>
            <a:ext cx="4873752" cy="3749040"/>
          </a:xfrm>
          <a:prstGeom prst="rect">
            <a:avLst/>
          </a:prstGeom>
          <a:noFill/>
          <a:ln/>
        </p:spPr>
        <p:txBody>
          <a:bodyPr wrap="square" lIns="0" tIns="0" rIns="0" bIns="0" rtlCol="0" anchor="t"/>
          <a:lstStyle/>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record CreatePostRequest(</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@NotBlank @Size(max = 100) String title,</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@NotBlank String content)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enum ErrorCode {</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POST_NOT_FOUND(NOT_FOUND, "글이 없음"),</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DUPLICATE_TITLE(CONFLICT, "같은 제목…");</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서비스</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throw new ApiException(POST_NOT_FOUND, …);</a:t>
            </a:r>
            <a:endParaRPr lang="en-US" sz="1300" dirty="0"/>
          </a:p>
        </p:txBody>
      </p:sp>
      <p:sp>
        <p:nvSpPr>
          <p:cNvPr id="11" name="code-window"/>
          <p:cNvSpPr/>
          <p:nvPr/>
        </p:nvSpPr>
        <p:spPr>
          <a:xfrm>
            <a:off x="6208776" y="1581912"/>
            <a:ext cx="5330952" cy="4297680"/>
          </a:xfrm>
          <a:prstGeom prst="roundRect">
            <a:avLst>
              <a:gd name="adj" fmla="val 2553"/>
            </a:avLst>
          </a:prstGeom>
          <a:solidFill>
            <a:schemeClr val="tx2"/>
          </a:solidFill>
          <a:ln/>
        </p:spPr>
      </p:sp>
      <p:sp>
        <p:nvSpPr>
          <p:cNvPr id="12" name="code-window-dot"/>
          <p:cNvSpPr/>
          <p:nvPr/>
        </p:nvSpPr>
        <p:spPr>
          <a:xfrm>
            <a:off x="6409944" y="1728216"/>
            <a:ext cx="100584" cy="100584"/>
          </a:xfrm>
          <a:prstGeom prst="ellipse">
            <a:avLst/>
          </a:prstGeom>
          <a:solidFill>
            <a:srgbClr val="4A4844"/>
          </a:solidFill>
          <a:ln/>
        </p:spPr>
      </p:sp>
      <p:sp>
        <p:nvSpPr>
          <p:cNvPr id="13" name="code-window-dot"/>
          <p:cNvSpPr/>
          <p:nvPr/>
        </p:nvSpPr>
        <p:spPr>
          <a:xfrm>
            <a:off x="6583680" y="1728216"/>
            <a:ext cx="100584" cy="100584"/>
          </a:xfrm>
          <a:prstGeom prst="ellipse">
            <a:avLst/>
          </a:prstGeom>
          <a:solidFill>
            <a:srgbClr val="4A4844"/>
          </a:solidFill>
          <a:ln/>
        </p:spPr>
      </p:sp>
      <p:sp>
        <p:nvSpPr>
          <p:cNvPr id="14" name="code-window-dot"/>
          <p:cNvSpPr/>
          <p:nvPr/>
        </p:nvSpPr>
        <p:spPr>
          <a:xfrm>
            <a:off x="6757416" y="1728216"/>
            <a:ext cx="100584" cy="100584"/>
          </a:xfrm>
          <a:prstGeom prst="ellipse">
            <a:avLst/>
          </a:prstGeom>
          <a:solidFill>
            <a:srgbClr val="4A4844"/>
          </a:solidFill>
          <a:ln/>
        </p:spPr>
      </p:sp>
      <p:sp>
        <p:nvSpPr>
          <p:cNvPr id="15" name="code-window-label"/>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GlobalExceptionHandler.java</a:t>
            </a:r>
            <a:endParaRPr lang="en-US" sz="1100" dirty="0"/>
          </a:p>
        </p:txBody>
      </p:sp>
      <p:sp>
        <p:nvSpPr>
          <p:cNvPr id="16" name="code-window-text"/>
          <p:cNvSpPr txBox="1"/>
          <p:nvPr/>
        </p:nvSpPr>
        <p:spPr>
          <a:xfrm>
            <a:off x="6464808" y="2020824"/>
            <a:ext cx="4873752" cy="3749040"/>
          </a:xfrm>
          <a:prstGeom prst="rect">
            <a:avLst/>
          </a:prstGeom>
          <a:noFill/>
          <a:ln/>
        </p:spPr>
        <p:txBody>
          <a:bodyPr wrap="square" lIns="0" tIns="0" rIns="0" bIns="0" rtlCol="0" anchor="t"/>
          <a:lstStyle/>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@RestControllerAdvice</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class GlobalExceptionHandler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@ExceptionHandler(ApiException.class)</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ResponseEntity&lt;ProblemDetail&gt; handleApi(…)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body = forStatusAndDetail(status,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body.setProperty("code", code);</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@ExceptionHandler(</a:t>
            </a:r>
            <a:endParaRPr lang="en-US" sz="1300" dirty="0"/>
          </a:p>
          <a:p>
            <a:pPr algn="l" indent="0" marL="0">
              <a:lnSpc>
                <a:spcPct val="105000"/>
              </a:lnSpc>
              <a:buNone/>
            </a:pPr>
            <a:r>
              <a:rPr lang="en-US" sz="1300" dirty="0">
                <a:solidFill>
                  <a:schemeClr val="accent4"/>
                </a:solidFill>
                <a:latin typeface="JetBrains Mono" pitchFamily="34" charset="0"/>
                <a:ea typeface="JetBrains Mono" pitchFamily="34" charset="-122"/>
                <a:cs typeface="JetBrains Mono" pitchFamily="34" charset="-120"/>
              </a:rPr>
              <a:t>    MethodArgumentNotValidException.class)</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 // 400 + 필드별 errors</a:t>
            </a:r>
            <a:endParaRPr lang="en-US" sz="1300" dirty="0"/>
          </a:p>
          <a:p>
            <a:pPr algn="l" indent="0" marL="0">
              <a:lnSpc>
                <a:spcPct val="105000"/>
              </a:lnSpc>
              <a:buNone/>
            </a:pPr>
            <a:r>
              <a:rPr lang="en-US" sz="1300" dirty="0">
                <a:solidFill>
                  <a:schemeClr val="bg1"/>
                </a:solidFill>
                <a:latin typeface="JetBrains Mono" pitchFamily="34" charset="0"/>
                <a:ea typeface="JetBrains Mono" pitchFamily="34" charset="-122"/>
                <a:cs typeface="JetBrains Mono" pitchFamily="34" charset="-120"/>
              </a:rPr>
              <a:t>}</a:t>
            </a:r>
            <a:endParaRPr lang="en-US" sz="13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05</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페이징 · 검색 · 정렬</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조건은 쿼리로 받고, 한도는 서버가 정한다</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 요청은 쿼리로</a:t>
            </a:r>
            <a:endParaRPr lang="en-US" sz="3200" dirty="0"/>
          </a:p>
        </p:txBody>
      </p:sp>
      <p:sp>
        <p:nvSpPr>
          <p:cNvPr id="5" name="code-inline"/>
          <p:cNvSpPr/>
          <p:nvPr/>
        </p:nvSpPr>
        <p:spPr>
          <a:xfrm>
            <a:off x="649224" y="1581912"/>
            <a:ext cx="10890504" cy="548640"/>
          </a:xfrm>
          <a:prstGeom prst="roundRect">
            <a:avLst>
              <a:gd name="adj" fmla="val 20000"/>
            </a:avLst>
          </a:prstGeom>
          <a:solidFill>
            <a:schemeClr val="bg2"/>
          </a:solidFill>
          <a:ln/>
        </p:spPr>
      </p:sp>
      <p:sp>
        <p:nvSpPr>
          <p:cNvPr id="6" name="code-inline-text"/>
          <p:cNvSpPr txBox="1"/>
          <p:nvPr/>
        </p:nvSpPr>
        <p:spPr>
          <a:xfrm>
            <a:off x="877824" y="1581912"/>
            <a:ext cx="10433304" cy="548640"/>
          </a:xfrm>
          <a:prstGeom prst="rect">
            <a:avLst/>
          </a:prstGeom>
          <a:noFill/>
          <a:ln/>
        </p:spPr>
        <p:txBody>
          <a:bodyPr wrap="square" lIns="0" tIns="0" rIns="0" bIns="0" rtlCol="0" anchor="ctr"/>
          <a:lstStyle/>
          <a:p>
            <a:pPr algn="l" indent="0" marL="0">
              <a:lnSpc>
                <a:spcPct val="100000"/>
              </a:lnSpc>
              <a:buNone/>
            </a:pPr>
            <a:r>
              <a:rPr lang="en-US" sz="1400" dirty="0">
                <a:solidFill>
                  <a:schemeClr val="accent2"/>
                </a:solidFill>
                <a:latin typeface="JetBrains Mono" pitchFamily="34" charset="0"/>
                <a:ea typeface="JetBrains Mono" pitchFamily="34" charset="-122"/>
                <a:cs typeface="JetBrains Mono" pitchFamily="34" charset="-120"/>
              </a:rPr>
              <a:t>GET /api/v1/posts?topic=TRAVEL&amp;keyword=제주&amp;sort=createdAt,desc&amp;sort=id,desc&amp;page=0&amp;size=20</a:t>
            </a:r>
            <a:endParaRPr lang="en-US" sz="14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9224" y="2377440"/>
          <a:ext cx="10890504" cy="914400"/>
        </p:xfrm>
        <a:graphic>
          <a:graphicData uri="http://schemas.openxmlformats.org/drawingml/2006/table">
            <a:tbl>
              <a:tblPr/>
              <a:tblGrid>
                <a:gridCol w="1737360"/>
                <a:gridCol w="3474720"/>
                <a:gridCol w="5678424"/>
              </a:tblGrid>
              <a:tr h="457200">
                <a:tc>
                  <a:txBody>
                    <a:bodyPr/>
                    <a:lstStyle/>
                    <a:p>
                      <a:pPr indent="0" marL="0">
                        <a:buNone/>
                      </a:pPr>
                      <a:r>
                        <a:rPr lang="en-US" sz="1400" dirty="0">
                          <a:solidFill>
                            <a:schemeClr val="accent3"/>
                          </a:solidFill>
                        </a:rPr>
                        <a:t>종류</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규칙</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57200">
                <a:tc>
                  <a:txBody>
                    <a:bodyPr/>
                    <a:lstStyle/>
                    <a:p>
                      <a:pPr indent="0" marL="0">
                        <a:buNone/>
                      </a:pPr>
                      <a:r>
                        <a:rPr lang="en-US" sz="1700" dirty="0">
                          <a:solidFill>
                            <a:schemeClr val="tx1"/>
                          </a:solidFill>
                        </a:rPr>
                        <a:t>필터</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값이 같은 것만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제목 · 본문에 들어 있는 것</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sort=필드,방향</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여러 개 가능, 마지막은 id로 동점 정리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57200">
                <a:tc>
                  <a:txBody>
                    <a:bodyPr/>
                    <a:lstStyle/>
                    <a:p>
                      <a:pPr indent="0" marL="0">
                        <a:buNone/>
                      </a:pPr>
                      <a:r>
                        <a:rPr lang="en-US" sz="1700" dirty="0">
                          <a:solidFill>
                            <a:schemeClr val="tx1"/>
                          </a:solidFill>
                        </a:rPr>
                        <a:t>페이징</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page=0&amp;size=20</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0부터인지 1부터인지 문서에 적는다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8" name="card"/>
          <p:cNvSpPr/>
          <p:nvPr/>
        </p:nvSpPr>
        <p:spPr>
          <a:xfrm>
            <a:off x="649224" y="5074920"/>
            <a:ext cx="10890504" cy="777240"/>
          </a:xfrm>
          <a:prstGeom prst="roundRect">
            <a:avLst>
              <a:gd name="adj" fmla="val 14118"/>
            </a:avLst>
          </a:prstGeom>
          <a:solidFill>
            <a:schemeClr val="bg2"/>
          </a:solidFill>
          <a:ln/>
        </p:spPr>
      </p:sp>
      <p:sp>
        <p:nvSpPr>
          <p:cNvPr id="9" name="text"/>
          <p:cNvSpPr txBox="1"/>
          <p:nvPr/>
        </p:nvSpPr>
        <p:spPr>
          <a:xfrm>
            <a:off x="969264" y="5276088"/>
            <a:ext cx="10250424" cy="411480"/>
          </a:xfrm>
          <a:prstGeom prst="rect">
            <a:avLst/>
          </a:prstGeom>
          <a:noFill/>
          <a:ln/>
        </p:spPr>
        <p:txBody>
          <a:bodyPr wrap="square" lIns="0" tIns="0" rIns="0" bIns="0" rtlCol="0" anchor="ctr"/>
          <a:lstStyle/>
          <a:p>
            <a:pPr algn="l" indent="0" marL="0">
              <a:lnSpc>
                <a:spcPct val="115000"/>
              </a:lnSpc>
              <a:spcAft>
                <a:spcPts val="600"/>
              </a:spcAft>
              <a:buNone/>
            </a:pPr>
            <a:r>
              <a:rPr lang="en-US" sz="1800" b="1" dirty="0">
                <a:solidFill>
                  <a:schemeClr val="tx1"/>
                </a:solidFill>
              </a:rPr>
              <a:t>서버가 정할 것  </a:t>
            </a:r>
            <a:pPr algn="l" indent="0" marL="0">
              <a:lnSpc>
                <a:spcPct val="115000"/>
              </a:lnSpc>
              <a:spcAft>
                <a:spcPts val="600"/>
              </a:spcAft>
              <a:buNone/>
            </a:pPr>
            <a:r>
              <a:rPr lang="en-US" sz="1800" dirty="0">
                <a:solidFill>
                  <a:srgbClr val="3D3D3A"/>
                </a:solidFill>
              </a:rPr>
              <a:t>size 최댓값 · 정렬 허용 필드 · 기본 정렬 (최신순 20개)</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목록 응답에는 페이지 정보를 같이</a:t>
            </a:r>
            <a:endParaRPr lang="en-US" sz="3200" dirty="0"/>
          </a:p>
        </p:txBody>
      </p:sp>
      <p:sp>
        <p:nvSpPr>
          <p:cNvPr id="5" name="code-window"/>
          <p:cNvSpPr/>
          <p:nvPr/>
        </p:nvSpPr>
        <p:spPr>
          <a:xfrm>
            <a:off x="649224" y="1581912"/>
            <a:ext cx="5120640" cy="4251960"/>
          </a:xfrm>
          <a:prstGeom prst="roundRect">
            <a:avLst>
              <a:gd name="adj" fmla="val 2581"/>
            </a:avLst>
          </a:prstGeom>
          <a:solidFill>
            <a:schemeClr val="tx2"/>
          </a:solidFill>
          <a:ln/>
        </p:spPr>
      </p:sp>
      <p:sp>
        <p:nvSpPr>
          <p:cNvPr id="6" name="code-window-dot"/>
          <p:cNvSpPr/>
          <p:nvPr/>
        </p:nvSpPr>
        <p:spPr>
          <a:xfrm>
            <a:off x="850392" y="1728216"/>
            <a:ext cx="100584" cy="100584"/>
          </a:xfrm>
          <a:prstGeom prst="ellipse">
            <a:avLst/>
          </a:prstGeom>
          <a:solidFill>
            <a:srgbClr val="4A4844"/>
          </a:solidFill>
          <a:ln/>
        </p:spPr>
      </p:sp>
      <p:sp>
        <p:nvSpPr>
          <p:cNvPr id="7" name="code-window-dot"/>
          <p:cNvSpPr/>
          <p:nvPr/>
        </p:nvSpPr>
        <p:spPr>
          <a:xfrm>
            <a:off x="1024128" y="1728216"/>
            <a:ext cx="100584" cy="100584"/>
          </a:xfrm>
          <a:prstGeom prst="ellipse">
            <a:avLst/>
          </a:prstGeom>
          <a:solidFill>
            <a:srgbClr val="4A4844"/>
          </a:solidFill>
          <a:ln/>
        </p:spPr>
      </p:sp>
      <p:sp>
        <p:nvSpPr>
          <p:cNvPr id="8" name="code-window-dot"/>
          <p:cNvSpPr/>
          <p:nvPr/>
        </p:nvSpPr>
        <p:spPr>
          <a:xfrm>
            <a:off x="1197864" y="1728216"/>
            <a:ext cx="100584" cy="100584"/>
          </a:xfrm>
          <a:prstGeom prst="ellipse">
            <a:avLst/>
          </a:prstGeom>
          <a:solidFill>
            <a:srgbClr val="4A4844"/>
          </a:solidFill>
          <a:ln/>
        </p:spPr>
      </p:sp>
      <p:sp>
        <p:nvSpPr>
          <p:cNvPr id="9" name="code-window-label"/>
          <p:cNvSpPr txBox="1"/>
          <p:nvPr/>
        </p:nvSpPr>
        <p:spPr>
          <a:xfrm>
            <a:off x="1472184" y="1673352"/>
            <a:ext cx="4114800"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응답 (예시)</a:t>
            </a:r>
            <a:endParaRPr lang="en-US" sz="1100" dirty="0"/>
          </a:p>
        </p:txBody>
      </p:sp>
      <p:sp>
        <p:nvSpPr>
          <p:cNvPr id="10" name="code-window-text"/>
          <p:cNvSpPr txBox="1"/>
          <p:nvPr/>
        </p:nvSpPr>
        <p:spPr>
          <a:xfrm>
            <a:off x="905256" y="2020824"/>
            <a:ext cx="4663440" cy="3703320"/>
          </a:xfrm>
          <a:prstGeom prst="rect">
            <a:avLst/>
          </a:prstGeom>
          <a:noFill/>
          <a:ln/>
        </p:spPr>
        <p:txBody>
          <a:bodyPr wrap="square" lIns="0" tIns="0" rIns="0" bIns="0" rtlCol="0" anchor="t"/>
          <a:lstStyle/>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a:t>
            </a:r>
            <a:endParaRPr lang="en-US" sz="1400" dirty="0"/>
          </a:p>
          <a:p>
            <a:pPr algn="l" indent="0" marL="0">
              <a:lnSpc>
                <a:spcPct val="105000"/>
              </a:lnSpc>
              <a:buNone/>
            </a:pPr>
            <a:r>
              <a:rPr lang="en-US" sz="1400" dirty="0">
                <a:solidFill>
                  <a:schemeClr val="accent4"/>
                </a:solidFill>
                <a:latin typeface="JetBrains Mono" pitchFamily="34" charset="0"/>
                <a:ea typeface="JetBrains Mono" pitchFamily="34" charset="-122"/>
                <a:cs typeface="JetBrains Mono" pitchFamily="34" charset="-120"/>
              </a:rPr>
              <a:t>  "content":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 "id": 43, "title": "부산 맛집"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 "id": 42, "title": "제주 여행" }, …</a:t>
            </a:r>
            <a:endParaRPr lang="en-US" sz="1400" dirty="0"/>
          </a:p>
          <a:p>
            <a:pPr algn="l" indent="0" marL="0">
              <a:lnSpc>
                <a:spcPct val="105000"/>
              </a:lnSpc>
              <a:buNone/>
            </a:pPr>
            <a:r>
              <a:rPr lang="en-US" sz="1400" dirty="0">
                <a:solidFill>
                  <a:schemeClr val="accent4"/>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chemeClr val="accent4"/>
                </a:solidFill>
                <a:latin typeface="JetBrains Mono" pitchFamily="34" charset="0"/>
                <a:ea typeface="JetBrains Mono" pitchFamily="34" charset="-122"/>
                <a:cs typeface="JetBrains Mono" pitchFamily="34" charset="-120"/>
              </a:rPr>
              <a:t>  "page":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"number": 0,</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"size": 20,</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"totalElements": 57,</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    "totalPages": 3</a:t>
            </a:r>
            <a:endParaRPr lang="en-US" sz="1400" dirty="0"/>
          </a:p>
          <a:p>
            <a:pPr algn="l" indent="0" marL="0">
              <a:lnSpc>
                <a:spcPct val="105000"/>
              </a:lnSpc>
              <a:buNone/>
            </a:pPr>
            <a:r>
              <a:rPr lang="en-US" sz="1400" dirty="0">
                <a:solidFill>
                  <a:schemeClr val="accent4"/>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chemeClr val="bg1"/>
                </a:solidFill>
                <a:latin typeface="JetBrains Mono" pitchFamily="34" charset="0"/>
                <a:ea typeface="JetBrains Mono" pitchFamily="34" charset="-122"/>
                <a:cs typeface="JetBrains Mono" pitchFamily="34" charset="-120"/>
              </a:rPr>
              <a:t>}</a:t>
            </a:r>
            <a:endParaRPr lang="en-US" sz="1400" dirty="0"/>
          </a:p>
        </p:txBody>
      </p:sp>
      <p:graphicFrame>
        <p:nvGraphicFramePr>
          <p:cNvPr id="11" name="chart-count-cost" descr=""/>
          <p:cNvGraphicFramePr/>
          <p:nvPr/>
        </p:nvGraphicFramePr>
        <p:xfrm>
          <a:off x="5998464" y="1581912"/>
          <a:ext cx="5541264" cy="2743200"/>
        </p:xfrm>
        <a:graphic xmlns:a="http://schemas.openxmlformats.org/drawingml/2006/main">
          <a:graphicData uri="http://schemas.openxmlformats.org/drawingml/2006/chart">
            <c:chart xmlns:c="http://schemas.openxmlformats.org/drawingml/2006/chart" r:id="rId1"/>
          </a:graphicData>
        </a:graphic>
      </p:graphicFrame>
      <p:sp>
        <p:nvSpPr>
          <p:cNvPr id="12" name="text"/>
          <p:cNvSpPr txBox="1"/>
          <p:nvPr/>
        </p:nvSpPr>
        <p:spPr>
          <a:xfrm>
            <a:off x="5998464" y="4526280"/>
            <a:ext cx="5541264" cy="1280160"/>
          </a:xfrm>
          <a:prstGeom prst="rect">
            <a:avLst/>
          </a:prstGeom>
          <a:noFill/>
          <a:ln/>
        </p:spPr>
        <p:txBody>
          <a:bodyPr wrap="square" lIns="0" tIns="0" rIns="0" bIns="0" rtlCol="0" anchor="t"/>
          <a:lstStyle/>
          <a:p>
            <a:pPr algn="l" indent="0" marL="0">
              <a:lnSpc>
                <a:spcPct val="115000"/>
              </a:lnSpc>
              <a:spcAft>
                <a:spcPts val="600"/>
              </a:spcAft>
              <a:buNone/>
            </a:pPr>
            <a:r>
              <a:rPr lang="en-US" sz="1600" b="1" dirty="0">
                <a:solidFill>
                  <a:schemeClr val="tx1"/>
                </a:solidFill>
              </a:rPr>
              <a:t>결과가 없으면 200 + 빈 배열 [ ]  (404 아님)</a:t>
            </a:r>
            <a:endParaRPr lang="en-US" sz="1600" dirty="0"/>
          </a:p>
          <a:p>
            <a:pPr algn="l" indent="0" marL="0">
              <a:lnSpc>
                <a:spcPct val="115000"/>
              </a:lnSpc>
              <a:spcAft>
                <a:spcPts val="600"/>
              </a:spcAft>
              <a:buNone/>
            </a:pPr>
            <a:r>
              <a:rPr lang="en-US" sz="1500" dirty="0">
                <a:solidFill>
                  <a:srgbClr val="3D3D3A"/>
                </a:solidFill>
              </a:rPr>
              <a:t>totalElements를 주려면 COUNT 쿼리가 한 번 더 나간다 → 무한 스크롤이면 hasNext만</a:t>
            </a:r>
            <a:endParaRPr lang="en-US" sz="16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오프셋 페이징과 커서 페이징</a:t>
            </a:r>
            <a:endParaRPr lang="en-US" sz="32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011680"/>
                <a:gridCol w="4434840"/>
                <a:gridCol w="4443984"/>
              </a:tblGrid>
              <a:tr h="566928">
                <a:tc>
                  <a:txBody>
                    <a:bodyPr/>
                    <a:lstStyle/>
                    <a:p>
                      <a:pPr indent="0" marL="0">
                        <a:buNone/>
                      </a:pP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오프셋</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커서</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요청</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?page=2&amp;size=20</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?cursor=981&amp;size=20</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SQL</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LIMIT 20 OFFSET 40</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WHERE id &lt; 981 LIMIT 20</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장점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쪽 번호로 바로 이동, 전체 쪽 수</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뒤로 가도 속도 일정, 중복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단점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뒤 페이지일수록 느림, 중간 추가 시 중복 · 누락</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특정 쪽으로 바로 못 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어울리는 곳</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게시판 (쪽 번호)</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피드 · 무한 스크롤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직접 재 보면: 뒤로 갈수록 오프셋만 느려진다</a:t>
            </a:r>
            <a:endParaRPr lang="en-US" sz="3200" dirty="0"/>
          </a:p>
        </p:txBody>
      </p:sp>
      <p:sp>
        <p:nvSpPr>
          <p:cNvPr id="5" name="badge"/>
          <p:cNvSpPr/>
          <p:nvPr/>
        </p:nvSpPr>
        <p:spPr>
          <a:xfrm>
            <a:off x="10351008" y="384048"/>
            <a:ext cx="978408" cy="310896"/>
          </a:xfrm>
          <a:prstGeom prst="roundRect">
            <a:avLst>
              <a:gd name="adj" fmla="val 50000"/>
            </a:avLst>
          </a:prstGeom>
          <a:solidFill>
            <a:srgbClr val="E8E0D2"/>
          </a:solidFill>
          <a:ln/>
        </p:spPr>
      </p:sp>
      <p:sp>
        <p:nvSpPr>
          <p:cNvPr id="6" name="badge-text"/>
          <p:cNvSpPr txBox="1"/>
          <p:nvPr/>
        </p:nvSpPr>
        <p:spPr>
          <a:xfrm>
            <a:off x="10351008" y="384048"/>
            <a:ext cx="978408" cy="310896"/>
          </a:xfrm>
          <a:prstGeom prst="rect">
            <a:avLst/>
          </a:prstGeom>
          <a:noFill/>
          <a:ln/>
        </p:spPr>
        <p:txBody>
          <a:bodyPr wrap="square" lIns="0" tIns="0" rIns="0" bIns="0" rtlCol="0" anchor="ctr"/>
          <a:lstStyle/>
          <a:p>
            <a:pPr algn="ctr" indent="0" marL="0">
              <a:buNone/>
            </a:pPr>
            <a:r>
              <a:rPr lang="en-US" sz="1200" dirty="0">
                <a:solidFill>
                  <a:schemeClr val="accent3"/>
                </a:solidFill>
              </a:rPr>
              <a:t>직접 측정</a:t>
            </a:r>
            <a:endParaRPr lang="en-US" sz="1200" dirty="0"/>
          </a:p>
        </p:txBody>
      </p:sp>
      <p:graphicFrame>
        <p:nvGraphicFramePr>
          <p:cNvPr id="7" name="chart-offset-vs-cursor" descr=""/>
          <p:cNvGraphicFramePr/>
          <p:nvPr/>
        </p:nvGraphicFramePr>
        <p:xfrm>
          <a:off x="649224" y="1581912"/>
          <a:ext cx="7406640" cy="4251960"/>
        </p:xfrm>
        <a:graphic xmlns:a="http://schemas.openxmlformats.org/drawingml/2006/main">
          <a:graphicData uri="http://schemas.openxmlformats.org/drawingml/2006/chart">
            <c:chart xmlns:c="http://schemas.openxmlformats.org/drawingml/2006/chart" r:id="rId1"/>
          </a:graphicData>
        </a:graphic>
      </p:graphicFrame>
      <p:sp>
        <p:nvSpPr>
          <p:cNvPr id="8" name="text"/>
          <p:cNvSpPr txBox="1"/>
          <p:nvPr/>
        </p:nvSpPr>
        <p:spPr>
          <a:xfrm>
            <a:off x="8375904" y="1764792"/>
            <a:ext cx="3163824" cy="4023360"/>
          </a:xfrm>
          <a:prstGeom prst="rect">
            <a:avLst/>
          </a:prstGeom>
          <a:noFill/>
          <a:ln/>
        </p:spPr>
        <p:txBody>
          <a:bodyPr wrap="square" lIns="0" tIns="0" rIns="0" bIns="0" rtlCol="0" anchor="t"/>
          <a:lstStyle/>
          <a:p>
            <a:pPr algn="l" indent="0" marL="0">
              <a:lnSpc>
                <a:spcPct val="115000"/>
              </a:lnSpc>
              <a:spcAft>
                <a:spcPts val="200"/>
              </a:spcAft>
              <a:buNone/>
            </a:pPr>
            <a:r>
              <a:rPr lang="en-US" sz="1600" dirty="0">
                <a:solidFill>
                  <a:schemeClr val="accent3"/>
                </a:solidFill>
              </a:rPr>
              <a:t>오프셋</a:t>
            </a:r>
            <a:endParaRPr lang="en-US" sz="1600" dirty="0"/>
          </a:p>
          <a:p>
            <a:pPr algn="l" indent="0" marL="0">
              <a:lnSpc>
                <a:spcPct val="115000"/>
              </a:lnSpc>
              <a:spcAft>
                <a:spcPts val="200"/>
              </a:spcAft>
              <a:buNone/>
            </a:pPr>
            <a:r>
              <a:rPr lang="en-US" sz="2400" dirty="0">
                <a:solidFill>
                  <a:schemeClr val="accent2"/>
                </a:solidFill>
              </a:rPr>
              <a:t>0.02 → 54.89 ms</a:t>
            </a:r>
            <a:endParaRPr lang="en-US" sz="1600" dirty="0"/>
          </a:p>
          <a:p>
            <a:pPr algn="l" indent="0" marL="0">
              <a:lnSpc>
                <a:spcPct val="115000"/>
              </a:lnSpc>
              <a:spcAft>
                <a:spcPts val="200"/>
              </a:spcAft>
              <a:buNone/>
            </a:pPr>
            <a:r>
              <a:rPr lang="en-US" sz="2000" dirty="0">
                <a:solidFill>
                  <a:schemeClr val="tx1"/>
                </a:solidFill>
              </a:rPr>
              <a:t> </a:t>
            </a:r>
            <a:endParaRPr lang="en-US" sz="1600" dirty="0"/>
          </a:p>
          <a:p>
            <a:pPr algn="l" indent="0" marL="0">
              <a:lnSpc>
                <a:spcPct val="115000"/>
              </a:lnSpc>
              <a:spcAft>
                <a:spcPts val="200"/>
              </a:spcAft>
              <a:buNone/>
            </a:pPr>
            <a:r>
              <a:rPr lang="en-US" sz="1600" dirty="0">
                <a:solidFill>
                  <a:schemeClr val="accent3"/>
                </a:solidFill>
              </a:rPr>
              <a:t>커서</a:t>
            </a:r>
            <a:endParaRPr lang="en-US" sz="1600" dirty="0"/>
          </a:p>
          <a:p>
            <a:pPr algn="l" indent="0" marL="0">
              <a:lnSpc>
                <a:spcPct val="115000"/>
              </a:lnSpc>
              <a:spcAft>
                <a:spcPts val="200"/>
              </a:spcAft>
              <a:buNone/>
            </a:pPr>
            <a:r>
              <a:rPr lang="en-US" sz="2400" dirty="0">
                <a:solidFill>
                  <a:schemeClr val="tx1"/>
                </a:solidFill>
              </a:rPr>
              <a:t>거의 일정</a:t>
            </a:r>
            <a:endParaRPr lang="en-US" sz="1600" dirty="0"/>
          </a:p>
          <a:p>
            <a:pPr algn="l" indent="0" marL="0">
              <a:lnSpc>
                <a:spcPct val="115000"/>
              </a:lnSpc>
              <a:spcAft>
                <a:spcPts val="200"/>
              </a:spcAft>
              <a:buNone/>
            </a:pPr>
            <a:r>
              <a:rPr lang="en-US" sz="2000" dirty="0">
                <a:solidFill>
                  <a:schemeClr val="tx1"/>
                </a:solidFill>
              </a:rPr>
              <a:t> </a:t>
            </a:r>
            <a:endParaRPr lang="en-US" sz="1600" dirty="0"/>
          </a:p>
          <a:p>
            <a:pPr algn="l" indent="0" marL="0">
              <a:lnSpc>
                <a:spcPct val="115000"/>
              </a:lnSpc>
              <a:spcAft>
                <a:spcPts val="200"/>
              </a:spcAft>
              <a:buNone/>
            </a:pPr>
            <a:r>
              <a:rPr lang="en-US" sz="1300" dirty="0">
                <a:solidFill>
                  <a:schemeClr val="accent3"/>
                </a:solidFill>
              </a:rPr>
              <a:t>SQLite 3.45.1 · 100만 행 · 20개씩 · 이 노트북에서 측정. 숫자는 환경마다 다르다.</a:t>
            </a:r>
            <a:endParaRPr lang="en-US" sz="16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dirty="0">
                <a:solidFill>
                  <a:schemeClr val="accent1"/>
                </a:solidFill>
                <a:latin typeface="+mj-lt" pitchFamily="34" charset="0"/>
                <a:ea typeface="+mj-lt" pitchFamily="34" charset="-122"/>
                <a:cs typeface="+mj-lt" pitchFamily="34" charset="-120"/>
              </a:rPr>
              <a:t>06</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dirty="0">
                <a:solidFill>
                  <a:schemeClr val="bg1"/>
                </a:solidFill>
              </a:rPr>
              <a:t>API 문서 작성</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손으로 쓰지 않고, 코드와 테스트에서 만든다</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API 문서: Swagger와 REST Docs</a:t>
            </a:r>
            <a:endParaRPr lang="en-US" sz="32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286000"/>
                <a:gridCol w="4297680"/>
                <a:gridCol w="4306824"/>
              </a:tblGrid>
              <a:tr h="475488">
                <a:tc>
                  <a:txBody>
                    <a:bodyPr/>
                    <a:lstStyle/>
                    <a:p>
                      <a:pPr indent="0" marL="0">
                        <a:buNone/>
                      </a:pP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Swagger (springdoc)</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Spring REST Docs</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600" dirty="0">
                          <a:solidFill>
                            <a:schemeClr val="tx1"/>
                          </a:solidFill>
                        </a:rPr>
                        <a:t>만드는 법</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의존성 추가 → 컨트롤러를 읽어 자동 생성</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API마다 테스트 작성 → 통과하면 생성</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정확도</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코드 기준. 설명 문구는 사람이 관리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테스트가 실제로 주고받은 값</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운영 코드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@Operation 같은 어노테이션이 붙음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건드리지 않음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화면에서 호출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Try it out</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기본은 없음 (정적 HTML)</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비용</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시작이 쉽다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테스트 작성 비용</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card"/>
          <p:cNvSpPr/>
          <p:nvPr/>
        </p:nvSpPr>
        <p:spPr>
          <a:xfrm>
            <a:off x="649224" y="4937760"/>
            <a:ext cx="10890504" cy="868680"/>
          </a:xfrm>
          <a:prstGeom prst="roundRect">
            <a:avLst>
              <a:gd name="adj" fmla="val 12632"/>
            </a:avLst>
          </a:prstGeom>
          <a:solidFill>
            <a:schemeClr val="bg2"/>
          </a:solidFill>
          <a:ln/>
        </p:spPr>
      </p:sp>
      <p:sp>
        <p:nvSpPr>
          <p:cNvPr id="7" name="text"/>
          <p:cNvSpPr txBox="1"/>
          <p:nvPr/>
        </p:nvSpPr>
        <p:spPr>
          <a:xfrm>
            <a:off x="969264" y="5138928"/>
            <a:ext cx="10250424" cy="457200"/>
          </a:xfrm>
          <a:prstGeom prst="rect">
            <a:avLst/>
          </a:prstGeom>
          <a:noFill/>
          <a:ln/>
        </p:spPr>
        <p:txBody>
          <a:bodyPr wrap="square" lIns="0" tIns="0" rIns="0" bIns="0" rtlCol="0" anchor="ctr"/>
          <a:lstStyle/>
          <a:p>
            <a:pPr algn="l" indent="0" marL="0">
              <a:lnSpc>
                <a:spcPct val="115000"/>
              </a:lnSpc>
              <a:spcAft>
                <a:spcPts val="600"/>
              </a:spcAft>
              <a:buNone/>
            </a:pPr>
            <a:r>
              <a:rPr lang="en-US" sz="1800" b="1" dirty="0">
                <a:solidFill>
                  <a:schemeClr val="tx1"/>
                </a:solidFill>
              </a:rPr>
              <a:t>혼합  </a:t>
            </a:r>
            <a:pPr algn="l" indent="0" marL="0">
              <a:lnSpc>
                <a:spcPct val="115000"/>
              </a:lnSpc>
              <a:spcAft>
                <a:spcPts val="600"/>
              </a:spcAft>
              <a:buNone/>
            </a:pPr>
            <a:r>
              <a:rPr lang="en-US" sz="1800" dirty="0">
                <a:solidFill>
                  <a:srgbClr val="3D3D3A"/>
                </a:solidFill>
              </a:rPr>
              <a:t>REST Docs 테스트 → OpenAPI 명세 (restdocs-api-spec) → Swagger UI</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 Swagger</a:t>
            </a:r>
            <a:endParaRPr lang="en-US" sz="3200" dirty="0"/>
          </a:p>
        </p:txBody>
      </p:sp>
      <p:pic>
        <p:nvPicPr>
          <p:cNvPr id="5" name="screenshot" descr="/tmp/slide-img-1960-qgznrbqqbh.png">    </p:cNvPr>
          <p:cNvPicPr>
            <a:picLocks noChangeAspect="1"/>
          </p:cNvPicPr>
          <p:nvPr/>
        </p:nvPicPr>
        <p:blipFill>
          <a:blip r:embed="rId1"/>
          <a:stretch>
            <a:fillRect/>
          </a:stretch>
        </p:blipFill>
        <p:spPr>
          <a:xfrm>
            <a:off x="2605126" y="1581912"/>
            <a:ext cx="6978701" cy="4846320"/>
          </a:xfrm>
          <a:prstGeom prst="rect">
            <a:avLst/>
          </a:prstGeom>
        </p:spPr>
      </p:pic>
      <p:sp>
        <p:nvSpPr>
          <p:cNvPr id="6" name="screenshot-frame"/>
          <p:cNvSpPr/>
          <p:nvPr/>
        </p:nvSpPr>
        <p:spPr>
          <a:xfrm>
            <a:off x="2605126" y="1581912"/>
            <a:ext cx="6978701" cy="4846320"/>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 Swagger에서 API 하나 펼치기</a:t>
            </a:r>
            <a:endParaRPr lang="en-US" sz="3200" dirty="0"/>
          </a:p>
        </p:txBody>
      </p:sp>
      <p:pic>
        <p:nvPicPr>
          <p:cNvPr id="5" name="screenshot" descr="/tmp/slide-img-1960-s8ho2z142io.png">    </p:cNvPr>
          <p:cNvPicPr>
            <a:picLocks noChangeAspect="1"/>
          </p:cNvPicPr>
          <p:nvPr/>
        </p:nvPicPr>
        <p:blipFill>
          <a:blip r:embed="rId1"/>
          <a:stretch>
            <a:fillRect/>
          </a:stretch>
        </p:blipFill>
        <p:spPr>
          <a:xfrm>
            <a:off x="649224" y="1581912"/>
            <a:ext cx="5330952" cy="4580068"/>
          </a:xfrm>
          <a:prstGeom prst="rect">
            <a:avLst/>
          </a:prstGeom>
        </p:spPr>
      </p:pic>
      <p:sp>
        <p:nvSpPr>
          <p:cNvPr id="6" name="screenshot-frame"/>
          <p:cNvSpPr/>
          <p:nvPr/>
        </p:nvSpPr>
        <p:spPr>
          <a:xfrm>
            <a:off x="649224" y="1581912"/>
            <a:ext cx="5330952" cy="4580068"/>
          </a:xfrm>
          <a:prstGeom prst="rect">
            <a:avLst/>
          </a:prstGeom>
          <a:ln w="9525">
            <a:solidFill>
              <a:srgbClr val="E6DFD8"/>
            </a:solidFill>
            <a:prstDash val="solid"/>
          </a:ln>
        </p:spPr>
      </p:sp>
      <p:pic>
        <p:nvPicPr>
          <p:cNvPr id="7" name="screenshot" descr="/tmp/slide-img-1960-db8kck0kq3l.png">    </p:cNvPr>
          <p:cNvPicPr>
            <a:picLocks noChangeAspect="1"/>
          </p:cNvPicPr>
          <p:nvPr/>
        </p:nvPicPr>
        <p:blipFill>
          <a:blip r:embed="rId2"/>
          <a:stretch>
            <a:fillRect/>
          </a:stretch>
        </p:blipFill>
        <p:spPr>
          <a:xfrm>
            <a:off x="6208776" y="1581912"/>
            <a:ext cx="5330952" cy="4580068"/>
          </a:xfrm>
          <a:prstGeom prst="rect">
            <a:avLst/>
          </a:prstGeom>
        </p:spPr>
      </p:pic>
      <p:sp>
        <p:nvSpPr>
          <p:cNvPr id="8" name="screenshot-frame"/>
          <p:cNvSpPr/>
          <p:nvPr/>
        </p:nvSpPr>
        <p:spPr>
          <a:xfrm>
            <a:off x="6208776" y="1581912"/>
            <a:ext cx="5330952" cy="4580068"/>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 REST Docs</a:t>
            </a:r>
            <a:endParaRPr lang="en-US" sz="3200" dirty="0"/>
          </a:p>
        </p:txBody>
      </p:sp>
      <p:pic>
        <p:nvPicPr>
          <p:cNvPr id="5" name="screenshot" descr="/tmp/slide-img-1960-xkgujo5iugd.png">    </p:cNvPr>
          <p:cNvPicPr>
            <a:picLocks noChangeAspect="1"/>
          </p:cNvPicPr>
          <p:nvPr/>
        </p:nvPicPr>
        <p:blipFill>
          <a:blip r:embed="rId1"/>
          <a:stretch>
            <a:fillRect/>
          </a:stretch>
        </p:blipFill>
        <p:spPr>
          <a:xfrm>
            <a:off x="2217420" y="1581912"/>
            <a:ext cx="7754112" cy="4846320"/>
          </a:xfrm>
          <a:prstGeom prst="rect">
            <a:avLst/>
          </a:prstGeom>
        </p:spPr>
      </p:pic>
      <p:sp>
        <p:nvSpPr>
          <p:cNvPr id="6" name="screenshot-frame"/>
          <p:cNvSpPr/>
          <p:nvPr/>
        </p:nvSpPr>
        <p:spPr>
          <a:xfrm>
            <a:off x="2217420" y="1581912"/>
            <a:ext cx="7754112" cy="4846320"/>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 에러 응답</a:t>
            </a:r>
            <a:endParaRPr lang="en-US" sz="3200" dirty="0"/>
          </a:p>
        </p:txBody>
      </p:sp>
      <p:pic>
        <p:nvPicPr>
          <p:cNvPr id="5" name="screenshot" descr="/tmp/slide-img-1960-o20w43xsgqd.png">    </p:cNvPr>
          <p:cNvPicPr>
            <a:picLocks noChangeAspect="1"/>
          </p:cNvPicPr>
          <p:nvPr/>
        </p:nvPicPr>
        <p:blipFill>
          <a:blip r:embed="rId1"/>
          <a:stretch>
            <a:fillRect/>
          </a:stretch>
        </p:blipFill>
        <p:spPr>
          <a:xfrm>
            <a:off x="649224" y="1581912"/>
            <a:ext cx="10890504" cy="3825290"/>
          </a:xfrm>
          <a:prstGeom prst="rect">
            <a:avLst/>
          </a:prstGeom>
        </p:spPr>
      </p:pic>
      <p:sp>
        <p:nvSpPr>
          <p:cNvPr id="6" name="screenshot-frame"/>
          <p:cNvSpPr/>
          <p:nvPr/>
        </p:nvSpPr>
        <p:spPr>
          <a:xfrm>
            <a:off x="649224" y="1581912"/>
            <a:ext cx="10890504" cy="3825290"/>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bg1"/>
                </a:solidFill>
              </a:rPr>
              <a:t>정리</a:t>
            </a:r>
            <a:endParaRPr lang="en-US" sz="3200" dirty="0"/>
          </a:p>
        </p:txBody>
      </p:sp>
      <p:sp>
        <p:nvSpPr>
          <p:cNvPr id="3" name="text"/>
          <p:cNvSpPr txBox="1"/>
          <p:nvPr/>
        </p:nvSpPr>
        <p:spPr>
          <a:xfrm>
            <a:off x="649224" y="1581912"/>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URL</a:t>
            </a:r>
            <a:endParaRPr lang="en-US" sz="2000" dirty="0"/>
          </a:p>
        </p:txBody>
      </p:sp>
      <p:sp>
        <p:nvSpPr>
          <p:cNvPr id="4" name="text"/>
          <p:cNvSpPr txBox="1"/>
          <p:nvPr/>
        </p:nvSpPr>
        <p:spPr>
          <a:xfrm>
            <a:off x="2752344" y="1581912"/>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자원만 · 복수 · 소문자 · 두 단계 · 행위는 드러나게</a:t>
            </a:r>
            <a:endParaRPr lang="en-US" sz="2000" dirty="0"/>
          </a:p>
        </p:txBody>
      </p:sp>
      <p:sp>
        <p:nvSpPr>
          <p:cNvPr id="5" name="text"/>
          <p:cNvSpPr txBox="1"/>
          <p:nvPr/>
        </p:nvSpPr>
        <p:spPr>
          <a:xfrm>
            <a:off x="649224" y="2203704"/>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메서드</a:t>
            </a:r>
            <a:endParaRPr lang="en-US" sz="2000" dirty="0"/>
          </a:p>
        </p:txBody>
      </p:sp>
      <p:sp>
        <p:nvSpPr>
          <p:cNvPr id="6" name="text"/>
          <p:cNvSpPr txBox="1"/>
          <p:nvPr/>
        </p:nvSpPr>
        <p:spPr>
          <a:xfrm>
            <a:off x="2752344" y="2203704"/>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안전성 · 멱등성으로 고른다 · POST 중복은 키로 막는다</a:t>
            </a:r>
            <a:endParaRPr lang="en-US" sz="2000" dirty="0"/>
          </a:p>
        </p:txBody>
      </p:sp>
      <p:sp>
        <p:nvSpPr>
          <p:cNvPr id="7" name="text"/>
          <p:cNvSpPr txBox="1"/>
          <p:nvPr/>
        </p:nvSpPr>
        <p:spPr>
          <a:xfrm>
            <a:off x="649224" y="2825496"/>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상태 코드</a:t>
            </a:r>
            <a:endParaRPr lang="en-US" sz="2000" dirty="0"/>
          </a:p>
        </p:txBody>
      </p:sp>
      <p:sp>
        <p:nvSpPr>
          <p:cNvPr id="8" name="text"/>
          <p:cNvSpPr txBox="1"/>
          <p:nvPr/>
        </p:nvSpPr>
        <p:spPr>
          <a:xfrm>
            <a:off x="2752344" y="2825496"/>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실패는 4xx · 5xx, 200에 실패를 담지 않는다</a:t>
            </a:r>
            <a:endParaRPr lang="en-US" sz="2000" dirty="0"/>
          </a:p>
        </p:txBody>
      </p:sp>
      <p:sp>
        <p:nvSpPr>
          <p:cNvPr id="9" name="text"/>
          <p:cNvSpPr txBox="1"/>
          <p:nvPr/>
        </p:nvSpPr>
        <p:spPr>
          <a:xfrm>
            <a:off x="649224" y="3447288"/>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에러</a:t>
            </a:r>
            <a:endParaRPr lang="en-US" sz="2000" dirty="0"/>
          </a:p>
        </p:txBody>
      </p:sp>
      <p:sp>
        <p:nvSpPr>
          <p:cNvPr id="10" name="text"/>
          <p:cNvSpPr txBox="1"/>
          <p:nvPr/>
        </p:nvSpPr>
        <p:spPr>
          <a:xfrm>
            <a:off x="2752344" y="3447288"/>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한 모양 + code · 내부 정보는 로그와 traceId로</a:t>
            </a:r>
            <a:endParaRPr lang="en-US" sz="2000" dirty="0"/>
          </a:p>
        </p:txBody>
      </p:sp>
      <p:sp>
        <p:nvSpPr>
          <p:cNvPr id="11" name="text"/>
          <p:cNvSpPr txBox="1"/>
          <p:nvPr/>
        </p:nvSpPr>
        <p:spPr>
          <a:xfrm>
            <a:off x="649224" y="4069080"/>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예외 처리</a:t>
            </a:r>
            <a:endParaRPr lang="en-US" sz="2000" dirty="0"/>
          </a:p>
        </p:txBody>
      </p:sp>
      <p:sp>
        <p:nvSpPr>
          <p:cNvPr id="12" name="text"/>
          <p:cNvSpPr txBox="1"/>
          <p:nvPr/>
        </p:nvSpPr>
        <p:spPr>
          <a:xfrm>
            <a:off x="2752344" y="4069080"/>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검증은 DTO와 서비스, 변환은 한 곳에서</a:t>
            </a:r>
            <a:endParaRPr lang="en-US" sz="2000" dirty="0"/>
          </a:p>
        </p:txBody>
      </p:sp>
      <p:sp>
        <p:nvSpPr>
          <p:cNvPr id="13" name="text"/>
          <p:cNvSpPr txBox="1"/>
          <p:nvPr/>
        </p:nvSpPr>
        <p:spPr>
          <a:xfrm>
            <a:off x="649224" y="4690872"/>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목록</a:t>
            </a:r>
            <a:endParaRPr lang="en-US" sz="2000" dirty="0"/>
          </a:p>
        </p:txBody>
      </p:sp>
      <p:sp>
        <p:nvSpPr>
          <p:cNvPr id="14" name="text"/>
          <p:cNvSpPr txBox="1"/>
          <p:nvPr/>
        </p:nvSpPr>
        <p:spPr>
          <a:xfrm>
            <a:off x="2752344" y="4690872"/>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쿼리로 받고 한도를 정한다 · 게시판은 오프셋, 피드는 커서</a:t>
            </a:r>
            <a:endParaRPr lang="en-US" sz="2000" dirty="0"/>
          </a:p>
        </p:txBody>
      </p:sp>
      <p:sp>
        <p:nvSpPr>
          <p:cNvPr id="15" name="text"/>
          <p:cNvSpPr txBox="1"/>
          <p:nvPr/>
        </p:nvSpPr>
        <p:spPr>
          <a:xfrm>
            <a:off x="649224" y="5312664"/>
            <a:ext cx="201168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문서</a:t>
            </a:r>
            <a:endParaRPr lang="en-US" sz="2000" dirty="0"/>
          </a:p>
        </p:txBody>
      </p:sp>
      <p:sp>
        <p:nvSpPr>
          <p:cNvPr id="16" name="text"/>
          <p:cNvSpPr txBox="1"/>
          <p:nvPr/>
        </p:nvSpPr>
        <p:spPr>
          <a:xfrm>
            <a:off x="2752344" y="5312664"/>
            <a:ext cx="878738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bg1"/>
                </a:solidFill>
              </a:rPr>
              <a:t>코드와 테스트에서 만든다 · Swagger와 REST Docs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성공 응답은 감쌀까?</a:t>
            </a:r>
            <a:endParaRPr lang="en-US" sz="3200" dirty="0"/>
          </a:p>
        </p:txBody>
      </p:sp>
      <p:sp>
        <p:nvSpPr>
          <p:cNvPr id="5" name="text"/>
          <p:cNvSpPr txBox="1"/>
          <p:nvPr/>
        </p:nvSpPr>
        <p:spPr>
          <a:xfrm>
            <a:off x="649224" y="1581912"/>
            <a:ext cx="5330952" cy="365760"/>
          </a:xfrm>
          <a:prstGeom prst="rect">
            <a:avLst/>
          </a:prstGeom>
          <a:noFill/>
          <a:ln/>
        </p:spPr>
        <p:txBody>
          <a:bodyPr wrap="square" lIns="0" tIns="0" rIns="0" bIns="0" rtlCol="0" anchor="t"/>
          <a:lstStyle/>
          <a:p>
            <a:pPr algn="l" indent="0" marL="0">
              <a:lnSpc>
                <a:spcPct val="115000"/>
              </a:lnSpc>
              <a:spcAft>
                <a:spcPts val="600"/>
              </a:spcAft>
              <a:buNone/>
            </a:pPr>
            <a:r>
              <a:rPr lang="en-US" sz="2000" b="1" dirty="0">
                <a:solidFill>
                  <a:schemeClr val="tx1"/>
                </a:solidFill>
              </a:rPr>
              <a:t>그대로 주기</a:t>
            </a:r>
            <a:endParaRPr lang="en-US" sz="2000" dirty="0"/>
          </a:p>
        </p:txBody>
      </p:sp>
      <p:sp>
        <p:nvSpPr>
          <p:cNvPr id="6" name="code-window"/>
          <p:cNvSpPr/>
          <p:nvPr/>
        </p:nvSpPr>
        <p:spPr>
          <a:xfrm>
            <a:off x="649224" y="2084832"/>
            <a:ext cx="5330952" cy="2103120"/>
          </a:xfrm>
          <a:prstGeom prst="roundRect">
            <a:avLst>
              <a:gd name="adj" fmla="val 5217"/>
            </a:avLst>
          </a:prstGeom>
          <a:solidFill>
            <a:schemeClr val="tx2"/>
          </a:solidFill>
          <a:ln/>
        </p:spPr>
      </p:sp>
      <p:sp>
        <p:nvSpPr>
          <p:cNvPr id="7" name="code-window-dot"/>
          <p:cNvSpPr/>
          <p:nvPr/>
        </p:nvSpPr>
        <p:spPr>
          <a:xfrm>
            <a:off x="850392" y="2231136"/>
            <a:ext cx="100584" cy="100584"/>
          </a:xfrm>
          <a:prstGeom prst="ellipse">
            <a:avLst/>
          </a:prstGeom>
          <a:solidFill>
            <a:srgbClr val="4A4844"/>
          </a:solidFill>
          <a:ln/>
        </p:spPr>
      </p:sp>
      <p:sp>
        <p:nvSpPr>
          <p:cNvPr id="8" name="code-window-dot"/>
          <p:cNvSpPr/>
          <p:nvPr/>
        </p:nvSpPr>
        <p:spPr>
          <a:xfrm>
            <a:off x="1024128" y="2231136"/>
            <a:ext cx="100584" cy="100584"/>
          </a:xfrm>
          <a:prstGeom prst="ellipse">
            <a:avLst/>
          </a:prstGeom>
          <a:solidFill>
            <a:srgbClr val="4A4844"/>
          </a:solidFill>
          <a:ln/>
        </p:spPr>
      </p:sp>
      <p:sp>
        <p:nvSpPr>
          <p:cNvPr id="9" name="code-window-dot"/>
          <p:cNvSpPr/>
          <p:nvPr/>
        </p:nvSpPr>
        <p:spPr>
          <a:xfrm>
            <a:off x="1197864" y="2231136"/>
            <a:ext cx="100584" cy="100584"/>
          </a:xfrm>
          <a:prstGeom prst="ellipse">
            <a:avLst/>
          </a:prstGeom>
          <a:solidFill>
            <a:srgbClr val="4A4844"/>
          </a:solidFill>
          <a:ln/>
        </p:spPr>
      </p:sp>
      <p:sp>
        <p:nvSpPr>
          <p:cNvPr id="10" name="code-window-text"/>
          <p:cNvSpPr txBox="1"/>
          <p:nvPr/>
        </p:nvSpPr>
        <p:spPr>
          <a:xfrm>
            <a:off x="905256" y="2523744"/>
            <a:ext cx="4873752" cy="1554480"/>
          </a:xfrm>
          <a:prstGeom prst="rect">
            <a:avLst/>
          </a:prstGeom>
          <a:noFill/>
          <a:ln/>
        </p:spPr>
        <p:txBody>
          <a:bodyPr wrap="square" lIns="0" tIns="0" rIns="0" bIns="0" rtlCol="0" anchor="t"/>
          <a:lstStyle/>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"id": 42,</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"title": "제주 여행"</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a:t>
            </a:r>
            <a:endParaRPr lang="en-US" sz="1500" dirty="0"/>
          </a:p>
        </p:txBody>
      </p:sp>
      <p:sp>
        <p:nvSpPr>
          <p:cNvPr id="11" name="text"/>
          <p:cNvSpPr txBox="1"/>
          <p:nvPr/>
        </p:nvSpPr>
        <p:spPr>
          <a:xfrm>
            <a:off x="649224" y="4416552"/>
            <a:ext cx="5330952" cy="914400"/>
          </a:xfrm>
          <a:prstGeom prst="rect">
            <a:avLst/>
          </a:prstGeom>
          <a:noFill/>
          <a:ln/>
        </p:spPr>
        <p:txBody>
          <a:bodyPr wrap="square" lIns="0" tIns="0" rIns="0" bIns="0" rtlCol="0" anchor="t"/>
          <a:lstStyle/>
          <a:p>
            <a:pPr algn="l" indent="0" marL="0">
              <a:lnSpc>
                <a:spcPct val="115000"/>
              </a:lnSpc>
              <a:spcAft>
                <a:spcPts val="400"/>
              </a:spcAft>
              <a:buNone/>
            </a:pPr>
            <a:r>
              <a:rPr lang="en-US" sz="1600" dirty="0">
                <a:solidFill>
                  <a:srgbClr val="3D3D3A"/>
                </a:solidFill>
              </a:rPr>
              <a:t>+ 상태 코드와 겹치는 정보가 없다</a:t>
            </a:r>
            <a:endParaRPr lang="en-US" sz="1600" dirty="0"/>
          </a:p>
          <a:p>
            <a:pPr algn="l" indent="0" marL="0">
              <a:lnSpc>
                <a:spcPct val="115000"/>
              </a:lnSpc>
              <a:spcAft>
                <a:spcPts val="400"/>
              </a:spcAft>
              <a:buNone/>
            </a:pPr>
            <a:r>
              <a:rPr lang="en-US" sz="1600" dirty="0">
                <a:solidFill>
                  <a:srgbClr val="3D3D3A"/>
                </a:solidFill>
              </a:rPr>
              <a:t>− 응답마다 꺼내는 방식이 조금씩 다르다</a:t>
            </a:r>
            <a:endParaRPr lang="en-US" sz="1600" dirty="0"/>
          </a:p>
        </p:txBody>
      </p:sp>
      <p:sp>
        <p:nvSpPr>
          <p:cNvPr id="12" name="text"/>
          <p:cNvSpPr txBox="1"/>
          <p:nvPr/>
        </p:nvSpPr>
        <p:spPr>
          <a:xfrm>
            <a:off x="6208776" y="1581912"/>
            <a:ext cx="5330952" cy="365760"/>
          </a:xfrm>
          <a:prstGeom prst="rect">
            <a:avLst/>
          </a:prstGeom>
          <a:noFill/>
          <a:ln/>
        </p:spPr>
        <p:txBody>
          <a:bodyPr wrap="square" lIns="0" tIns="0" rIns="0" bIns="0" rtlCol="0" anchor="t"/>
          <a:lstStyle/>
          <a:p>
            <a:pPr algn="l" indent="0" marL="0">
              <a:lnSpc>
                <a:spcPct val="115000"/>
              </a:lnSpc>
              <a:spcAft>
                <a:spcPts val="600"/>
              </a:spcAft>
              <a:buNone/>
            </a:pPr>
            <a:r>
              <a:rPr lang="en-US" sz="2000" b="1" dirty="0">
                <a:solidFill>
                  <a:schemeClr val="tx1"/>
                </a:solidFill>
              </a:rPr>
              <a:t>감싸기 (envelope)</a:t>
            </a:r>
            <a:endParaRPr lang="en-US" sz="2000" dirty="0"/>
          </a:p>
        </p:txBody>
      </p:sp>
      <p:sp>
        <p:nvSpPr>
          <p:cNvPr id="13" name="code-window"/>
          <p:cNvSpPr/>
          <p:nvPr/>
        </p:nvSpPr>
        <p:spPr>
          <a:xfrm>
            <a:off x="6208776" y="2084832"/>
            <a:ext cx="5330952" cy="2103120"/>
          </a:xfrm>
          <a:prstGeom prst="roundRect">
            <a:avLst>
              <a:gd name="adj" fmla="val 5217"/>
            </a:avLst>
          </a:prstGeom>
          <a:solidFill>
            <a:schemeClr val="tx2"/>
          </a:solidFill>
          <a:ln/>
        </p:spPr>
      </p:sp>
      <p:sp>
        <p:nvSpPr>
          <p:cNvPr id="14" name="code-window-dot"/>
          <p:cNvSpPr/>
          <p:nvPr/>
        </p:nvSpPr>
        <p:spPr>
          <a:xfrm>
            <a:off x="6409944" y="2231136"/>
            <a:ext cx="100584" cy="100584"/>
          </a:xfrm>
          <a:prstGeom prst="ellipse">
            <a:avLst/>
          </a:prstGeom>
          <a:solidFill>
            <a:srgbClr val="4A4844"/>
          </a:solidFill>
          <a:ln/>
        </p:spPr>
      </p:sp>
      <p:sp>
        <p:nvSpPr>
          <p:cNvPr id="15" name="code-window-dot"/>
          <p:cNvSpPr/>
          <p:nvPr/>
        </p:nvSpPr>
        <p:spPr>
          <a:xfrm>
            <a:off x="6583680" y="2231136"/>
            <a:ext cx="100584" cy="100584"/>
          </a:xfrm>
          <a:prstGeom prst="ellipse">
            <a:avLst/>
          </a:prstGeom>
          <a:solidFill>
            <a:srgbClr val="4A4844"/>
          </a:solidFill>
          <a:ln/>
        </p:spPr>
      </p:sp>
      <p:sp>
        <p:nvSpPr>
          <p:cNvPr id="16" name="code-window-dot"/>
          <p:cNvSpPr/>
          <p:nvPr/>
        </p:nvSpPr>
        <p:spPr>
          <a:xfrm>
            <a:off x="6757416" y="2231136"/>
            <a:ext cx="100584" cy="100584"/>
          </a:xfrm>
          <a:prstGeom prst="ellipse">
            <a:avLst/>
          </a:prstGeom>
          <a:solidFill>
            <a:srgbClr val="4A4844"/>
          </a:solidFill>
          <a:ln/>
        </p:spPr>
      </p:sp>
      <p:sp>
        <p:nvSpPr>
          <p:cNvPr id="17" name="code-window-text"/>
          <p:cNvSpPr txBox="1"/>
          <p:nvPr/>
        </p:nvSpPr>
        <p:spPr>
          <a:xfrm>
            <a:off x="6464808" y="2523744"/>
            <a:ext cx="4873752" cy="1554480"/>
          </a:xfrm>
          <a:prstGeom prst="rect">
            <a:avLst/>
          </a:prstGeom>
          <a:noFill/>
          <a:ln/>
        </p:spPr>
        <p:txBody>
          <a:bodyPr wrap="square" lIns="0" tIns="0" rIns="0" bIns="0" rtlCol="0" anchor="t"/>
          <a:lstStyle/>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  "success": true,</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  "data": { "id": 42, … }</a:t>
            </a:r>
            <a:endParaRPr lang="en-US" sz="1500" dirty="0"/>
          </a:p>
          <a:p>
            <a:pPr algn="l" indent="0" marL="0">
              <a:lnSpc>
                <a:spcPct val="105000"/>
              </a:lnSpc>
              <a:buNone/>
            </a:pPr>
            <a:r>
              <a:rPr lang="en-US" sz="1500" dirty="0">
                <a:solidFill>
                  <a:schemeClr val="bg1"/>
                </a:solidFill>
                <a:latin typeface="JetBrains Mono" pitchFamily="34" charset="0"/>
                <a:ea typeface="JetBrains Mono" pitchFamily="34" charset="-122"/>
                <a:cs typeface="JetBrains Mono" pitchFamily="34" charset="-120"/>
              </a:rPr>
              <a:t>}</a:t>
            </a:r>
            <a:endParaRPr lang="en-US" sz="1500" dirty="0"/>
          </a:p>
        </p:txBody>
      </p:sp>
      <p:sp>
        <p:nvSpPr>
          <p:cNvPr id="18" name="text"/>
          <p:cNvSpPr txBox="1"/>
          <p:nvPr/>
        </p:nvSpPr>
        <p:spPr>
          <a:xfrm>
            <a:off x="6208776" y="4416552"/>
            <a:ext cx="5330952" cy="914400"/>
          </a:xfrm>
          <a:prstGeom prst="rect">
            <a:avLst/>
          </a:prstGeom>
          <a:noFill/>
          <a:ln/>
        </p:spPr>
        <p:txBody>
          <a:bodyPr wrap="square" lIns="0" tIns="0" rIns="0" bIns="0" rtlCol="0" anchor="t"/>
          <a:lstStyle/>
          <a:p>
            <a:pPr algn="l" indent="0" marL="0">
              <a:lnSpc>
                <a:spcPct val="115000"/>
              </a:lnSpc>
              <a:spcAft>
                <a:spcPts val="400"/>
              </a:spcAft>
              <a:buNone/>
            </a:pPr>
            <a:r>
              <a:rPr lang="en-US" sz="1600" dirty="0">
                <a:solidFill>
                  <a:srgbClr val="3D3D3A"/>
                </a:solidFill>
              </a:rPr>
              <a:t>+ 꺼내는 코드가 하나, 메타 정보 넣기 쉽다</a:t>
            </a:r>
            <a:endParaRPr lang="en-US" sz="1600" dirty="0"/>
          </a:p>
          <a:p>
            <a:pPr algn="l" indent="0" marL="0">
              <a:lnSpc>
                <a:spcPct val="115000"/>
              </a:lnSpc>
              <a:spcAft>
                <a:spcPts val="400"/>
              </a:spcAft>
              <a:buNone/>
            </a:pPr>
            <a:r>
              <a:rPr lang="en-US" sz="1600" dirty="0">
                <a:solidFill>
                  <a:srgbClr val="3D3D3A"/>
                </a:solidFill>
              </a:rPr>
              <a:t>− success가 상태 코드와 중복된다</a:t>
            </a:r>
            <a:endParaRPr lang="en-US" sz="1600" dirty="0"/>
          </a:p>
        </p:txBody>
      </p:sp>
      <p:sp>
        <p:nvSpPr>
          <p:cNvPr id="19" name="text"/>
          <p:cNvSpPr txBox="1"/>
          <p:nvPr/>
        </p:nvSpPr>
        <p:spPr>
          <a:xfrm>
            <a:off x="649224" y="5349240"/>
            <a:ext cx="10890504" cy="4572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chemeClr val="tx1"/>
                </a:solidFill>
              </a:rPr>
              <a:t>어느 쪽이든: 목록은 content + page · camelCase · ISO 8601</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버전: /api/v1</a:t>
            </a:r>
            <a:endParaRPr lang="en-US" sz="32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4023360"/>
                <a:gridCol w="3657600"/>
                <a:gridCol w="3209544"/>
              </a:tblGrid>
              <a:tr h="475488">
                <a:tc>
                  <a:txBody>
                    <a:bodyPr/>
                    <a:lstStyle/>
                    <a:p>
                      <a:pPr indent="0" marL="0">
                        <a:buNone/>
                      </a:pPr>
                      <a:r>
                        <a:rPr lang="en-US" sz="1400" dirty="0">
                          <a:solidFill>
                            <a:schemeClr val="accent3"/>
                          </a:solidFill>
                        </a:rPr>
                        <a:t>변경</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예전 클라이언트</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v2 필요?</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칸 추가</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모르는 칸은 무시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필요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칸 삭제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읽으려던 값이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필요</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이름 변경 (writer → author)</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못 찾음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필요</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타입 변경 (글자 → 객체)</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읽다가 실패</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필요</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text"/>
          <p:cNvSpPr txBox="1"/>
          <p:nvPr/>
        </p:nvSpPr>
        <p:spPr>
          <a:xfrm>
            <a:off x="649224" y="4297680"/>
            <a:ext cx="10890504" cy="4572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rgbClr val="3D3D3A"/>
                </a:solidFill>
              </a:rPr>
              <a:t>v1과 v2를 같이 운영 → v1 요청이 거의 없어지면 닫는다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글결이 쓰는 상태 코드</a:t>
            </a:r>
            <a:endParaRPr lang="en-US" sz="3200" dirty="0"/>
          </a:p>
        </p:txBody>
      </p:sp>
      <p:pic>
        <p:nvPicPr>
          <p:cNvPr id="5" name="screenshot" descr="/tmp/slide-img-1960-y5t4znpolt.png">    </p:cNvPr>
          <p:cNvPicPr>
            <a:picLocks noChangeAspect="1"/>
          </p:cNvPicPr>
          <p:nvPr/>
        </p:nvPicPr>
        <p:blipFill>
          <a:blip r:embed="rId1"/>
          <a:stretch>
            <a:fillRect/>
          </a:stretch>
        </p:blipFill>
        <p:spPr>
          <a:xfrm>
            <a:off x="649224" y="1581912"/>
            <a:ext cx="10890504" cy="4534006"/>
          </a:xfrm>
          <a:prstGeom prst="rect">
            <a:avLst/>
          </a:prstGeom>
        </p:spPr>
      </p:pic>
      <p:sp>
        <p:nvSpPr>
          <p:cNvPr id="6" name="screenshot-frame"/>
          <p:cNvSpPr/>
          <p:nvPr/>
        </p:nvSpPr>
        <p:spPr>
          <a:xfrm>
            <a:off x="649224" y="1581912"/>
            <a:ext cx="10890504" cy="4534006"/>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REST Docs에 API 하나가 적힌 모양</a:t>
            </a:r>
            <a:endParaRPr lang="en-US" sz="3200" dirty="0"/>
          </a:p>
        </p:txBody>
      </p:sp>
      <p:pic>
        <p:nvPicPr>
          <p:cNvPr id="5" name="screenshot" descr="/tmp/slide-img-1960-5263ksiftps.png">    </p:cNvPr>
          <p:cNvPicPr>
            <a:picLocks noChangeAspect="1"/>
          </p:cNvPicPr>
          <p:nvPr/>
        </p:nvPicPr>
        <p:blipFill>
          <a:blip r:embed="rId1"/>
          <a:stretch>
            <a:fillRect/>
          </a:stretch>
        </p:blipFill>
        <p:spPr>
          <a:xfrm>
            <a:off x="649224" y="1581912"/>
            <a:ext cx="3477768" cy="3019780"/>
          </a:xfrm>
          <a:prstGeom prst="rect">
            <a:avLst/>
          </a:prstGeom>
        </p:spPr>
      </p:pic>
      <p:sp>
        <p:nvSpPr>
          <p:cNvPr id="6" name="screenshot-frame"/>
          <p:cNvSpPr/>
          <p:nvPr/>
        </p:nvSpPr>
        <p:spPr>
          <a:xfrm>
            <a:off x="649224" y="1581912"/>
            <a:ext cx="3477768" cy="3019780"/>
          </a:xfrm>
          <a:prstGeom prst="rect">
            <a:avLst/>
          </a:prstGeom>
          <a:ln w="9525">
            <a:solidFill>
              <a:srgbClr val="E6DFD8"/>
            </a:solidFill>
            <a:prstDash val="solid"/>
          </a:ln>
        </p:spPr>
      </p:sp>
      <p:pic>
        <p:nvPicPr>
          <p:cNvPr id="7" name="screenshot" descr="/tmp/slide-img-1960-pr0yqohz1oo.png">    </p:cNvPr>
          <p:cNvPicPr>
            <a:picLocks noChangeAspect="1"/>
          </p:cNvPicPr>
          <p:nvPr/>
        </p:nvPicPr>
        <p:blipFill>
          <a:blip r:embed="rId2"/>
          <a:stretch>
            <a:fillRect/>
          </a:stretch>
        </p:blipFill>
        <p:spPr>
          <a:xfrm>
            <a:off x="4355592" y="1581912"/>
            <a:ext cx="3477768" cy="2850790"/>
          </a:xfrm>
          <a:prstGeom prst="rect">
            <a:avLst/>
          </a:prstGeom>
        </p:spPr>
      </p:pic>
      <p:sp>
        <p:nvSpPr>
          <p:cNvPr id="8" name="screenshot-frame"/>
          <p:cNvSpPr/>
          <p:nvPr/>
        </p:nvSpPr>
        <p:spPr>
          <a:xfrm>
            <a:off x="4355592" y="1581912"/>
            <a:ext cx="3477768" cy="2850790"/>
          </a:xfrm>
          <a:prstGeom prst="rect">
            <a:avLst/>
          </a:prstGeom>
          <a:ln w="9525">
            <a:solidFill>
              <a:srgbClr val="E6DFD8"/>
            </a:solidFill>
            <a:prstDash val="solid"/>
          </a:ln>
        </p:spPr>
      </p:sp>
      <p:pic>
        <p:nvPicPr>
          <p:cNvPr id="9" name="screenshot" descr="/tmp/slide-img-1960-x58xi59jgpg.png">    </p:cNvPr>
          <p:cNvPicPr>
            <a:picLocks noChangeAspect="1"/>
          </p:cNvPicPr>
          <p:nvPr/>
        </p:nvPicPr>
        <p:blipFill>
          <a:blip r:embed="rId3"/>
          <a:stretch>
            <a:fillRect/>
          </a:stretch>
        </p:blipFill>
        <p:spPr>
          <a:xfrm>
            <a:off x="8061960" y="1581912"/>
            <a:ext cx="3477768" cy="2515259"/>
          </a:xfrm>
          <a:prstGeom prst="rect">
            <a:avLst/>
          </a:prstGeom>
        </p:spPr>
      </p:pic>
      <p:sp>
        <p:nvSpPr>
          <p:cNvPr id="10" name="screenshot-frame"/>
          <p:cNvSpPr/>
          <p:nvPr/>
        </p:nvSpPr>
        <p:spPr>
          <a:xfrm>
            <a:off x="8061960" y="1581912"/>
            <a:ext cx="3477768" cy="2515259"/>
          </a:xfrm>
          <a:prstGeom prst="rect">
            <a:avLst/>
          </a:prstGeom>
          <a:ln w="9525">
            <a:solidFill>
              <a:srgbClr val="E6DFD8"/>
            </a:solidFill>
            <a:prstDash val="solid"/>
          </a:ln>
        </p:spPr>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dirty="0">
                <a:solidFill>
                  <a:schemeClr val="tx1"/>
                </a:solidFill>
              </a:rPr>
              <a:t>MSA에서 보는 502 · 503 · 504</a:t>
            </a:r>
            <a:endParaRPr lang="en-US" sz="32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371600"/>
                <a:gridCol w="3566160"/>
                <a:gridCol w="5952744"/>
              </a:tblGrid>
              <a:tr h="475488">
                <a:tc>
                  <a:txBody>
                    <a:bodyPr/>
                    <a:lstStyle/>
                    <a:p>
                      <a:pPr indent="0" marL="0">
                        <a:buNone/>
                      </a:pPr>
                      <a:r>
                        <a:rPr lang="en-US" sz="1400" dirty="0">
                          <a:solidFill>
                            <a:schemeClr val="accent3"/>
                          </a:solidFill>
                        </a:rPr>
                        <a:t>코드</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이름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언제</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accent6"/>
                          </a:solidFill>
                          <a:latin typeface="JetBrains Mono" pitchFamily="34" charset="0"/>
                          <a:ea typeface="JetBrains Mono" pitchFamily="34" charset="-122"/>
                          <a:cs typeface="JetBrains Mono" pitchFamily="34" charset="-120"/>
                        </a:rPr>
                        <a:t>502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Bad Gateway</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뒤쪽 서비스가 잘못된 응답을 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accent6"/>
                          </a:solidFill>
                          <a:latin typeface="JetBrains Mono" pitchFamily="34" charset="0"/>
                          <a:ea typeface="JetBrains Mono" pitchFamily="34" charset="-122"/>
                          <a:cs typeface="JetBrains Mono" pitchFamily="34" charset="-120"/>
                        </a:rPr>
                        <a:t>503</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Service Unavailable</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과부하 · 점검 · 배포 중</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accent6"/>
                          </a:solidFill>
                          <a:latin typeface="JetBrains Mono" pitchFamily="34" charset="0"/>
                          <a:ea typeface="JetBrains Mono" pitchFamily="34" charset="-122"/>
                          <a:cs typeface="JetBrains Mono" pitchFamily="34" charset="-120"/>
                        </a:rPr>
                        <a:t>504</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Gateway Timeout</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제한 시간 안에 응답이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6" name="text"/>
          <p:cNvSpPr txBox="1"/>
          <p:nvPr/>
        </p:nvSpPr>
        <p:spPr>
          <a:xfrm>
            <a:off x="649224" y="3657600"/>
            <a:ext cx="10890504" cy="4572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rgbClr val="3D3D3A"/>
                </a:solidFill>
              </a:rPr>
              <a:t>다른 서비스의 에러는 그대로 넘기지 않고 내 API의 에러 형식으로 바꾼다</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REST 발표">
  <a:themeElements>
    <a:clrScheme name="REST 발표">
      <a:dk1>
        <a:srgbClr val="141413"/>
      </a:dk1>
      <a:lt1>
        <a:srgbClr val="FAF9F5"/>
      </a:lt1>
      <a:dk2>
        <a:srgbClr val="181715"/>
      </a:dk2>
      <a:lt2>
        <a:srgbClr val="EFE9DE"/>
      </a:lt2>
      <a:accent1>
        <a:srgbClr val="CC785C"/>
      </a:accent1>
      <a:accent2>
        <a:srgbClr val="A9583E"/>
      </a:accent2>
      <a:accent3>
        <a:srgbClr val="6C6A64"/>
      </a:accent3>
      <a:accent4>
        <a:srgbClr val="E8A55A"/>
      </a:accent4>
      <a:accent5>
        <a:srgbClr val="5DB8A6"/>
      </a:accent5>
      <a:accent6>
        <a:srgbClr val="C64545"/>
      </a:accent6>
      <a:hlink>
        <a:srgbClr val="A9583E"/>
      </a:hlink>
      <a:folHlink>
        <a:srgbClr val="6C6A64"/>
      </a:folHlink>
    </a:clrScheme>
    <a:fontScheme name="REST 발표">
      <a:majorFont>
        <a:latin typeface="Noto Serif KR"/>
        <a:ea typeface="Noto Serif KR"/>
        <a:cs typeface=""/>
        <a:font script="Jpan" typeface="游ゴシック Light"/>
        <a:font script="Hang" typeface="Noto Serif K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Pretendard"/>
        <a:cs typeface=""/>
        <a:font script="Jpan" typeface="游ゴシック"/>
        <a:font script="Hang" typeface="Pretendar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RESTful API 설계</dc:title>
  <dc:subject>PptxGenJS Presentation</dc:subject>
  <dc:creator>이재웅</dc:creator>
  <cp:lastModifiedBy>이재웅</cp:lastModifiedBy>
  <cp:revision>1</cp:revision>
  <dcterms:created xsi:type="dcterms:W3CDTF">2026-10-14T15:06:57Z</dcterms:created>
  <dcterms:modified xsi:type="dcterms:W3CDTF">2026-10-14T15:06:57Z</dcterms:modified>
</cp:coreProperties>
</file>