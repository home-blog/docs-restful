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97245082-2a06-71e6-1ee5-6ff97c66c974}">
          <p14:sldIdLst>
            <p14:sldId id="256"/>
            <p14:sldId id="257"/>
            <p14:sldId id="258"/>
            <p14:sldId id="259"/>
            <p14:sldId id="260"/>
            <p14:sldId id="261"/>
            <p14:sldId id="262"/>
          </p14:sldIdLst>
        </p14:section>
        <p14:section name="01 자원 중심 URL" id="{9a34aa4f-54b3-565e-1efa-6468158532dd}">
          <p14:sldIdLst>
            <p14:sldId id="263"/>
            <p14:sldId id="264"/>
            <p14:sldId id="265"/>
            <p14:sldId id="266"/>
          </p14:sldIdLst>
        </p14:section>
        <p14:section name="02 HTTP 메서드와 상태 코드" id="{f5205dd0-5843-cdf8-4139-8a5679a35434}">
          <p14:sldIdLst>
            <p14:sldId id="267"/>
            <p14:sldId id="268"/>
            <p14:sldId id="269"/>
            <p14:sldId id="270"/>
          </p14:sldIdLst>
        </p14:section>
        <p14:section name="03 공통 응답과 에러 형식" id="{93da224d-39b1-371c-0a3b-9593a140f9d0}">
          <p14:sldIdLst>
            <p14:sldId id="271"/>
            <p14:sldId id="272"/>
            <p14:sldId id="273"/>
            <p14:sldId id="274"/>
          </p14:sldIdLst>
        </p14:section>
        <p14:section name="04 전역 예외 처리와 입력 검증" id="{3a44b070-8a44-6dcd-068c-3856fae2c2e6}">
          <p14:sldIdLst>
            <p14:sldId id="275"/>
            <p14:sldId id="276"/>
            <p14:sldId id="277"/>
            <p14:sldId id="278"/>
            <p14:sldId id="279"/>
          </p14:sldIdLst>
        </p14:section>
        <p14:section name="05 페이징 · 검색 · 정렬" id="{4c6a10a3-62ec-2c16-9052-40aed055dcfa}">
          <p14:sldIdLst>
            <p14:sldId id="280"/>
            <p14:sldId id="281"/>
            <p14:sldId id="282"/>
            <p14:sldId id="283"/>
            <p14:sldId id="284"/>
            <p14:sldId id="285"/>
          </p14:sldIdLst>
        </p14:section>
        <p14:section name="06 API 문서" id="{4f3d2829-2d87-197c-0eef-d065a2c3651e}">
          <p14:sldIdLst>
            <p14:sldId id="286"/>
            <p14:sldId id="287"/>
            <p14:sldId id="288"/>
            <p14:sldId id="289"/>
          </p14:sldIdLst>
        </p14:section>
        <p14:section name="정리" id="{f24c9da6-fbbe-44d4-47a3-321c3d259ba4}">
          <p14:sldIdLst>
            <p14:sldId id="290"/>
          </p14:sldIdLst>
        </p14:section>
        <p14:section name="예비 (질문이 나오면)" id="{c5793a0c-e7de-5213-c90c-377a113d3607}">
          <p14:sldIdLst>
            <p14:sldId id="291"/>
            <p14:sldId id="292"/>
            <p14:sldId id="293"/>
            <p14:sldId id="294"/>
            <p14:sldId id="295"/>
            <p14:sldId id="296"/>
            <p14:sldId id="297"/>
            <p14:sldId id="298"/>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이재웅입니다. 오늘은 RESTful API를 어떻게 설계하는지 이야기하고, 마지막에 제가 만든 프로젝트의 실제 API 문서와 에러 형식을 보여 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API는 프로그램끼리 요청과 응답을 주고받는 방법입니다. 우리가 만드는 API는 웹, 모바일 앱, 관리자 페이지, 다른 서비스가 모두 같이 씁니다. 그런데 API는 형식이 정해져 있지 않아서, 같은 "42번 글 삭제"도 만든 사람마다 왼쪽처럼 제각각일 수 있습니다. 그러면 쓰는 쪽은 API마다 문서를 찾거나 물어봐야 합니다. 그래서 REST라는 원칙으로 형식을 통일합니다. 자원은 URL로, 행동은 HTTP 메서드로, 결과는 상태 코드로 표현합니다. 이렇게 만든 API가 RESTful API입니다. DELETE /api/v1/posts/42 한 줄만 봐도 42번 글을 삭제한다는 걸 알 수 있습니다. 그럼 먼저, 이런 요청을 왜 보내는지부터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웹이나 앱 화면에 보이는 글, 댓글, 회원 정보는 사용자 기기가 아니라 서버의 DB에 있습니다. 그래서 화면은 데이터가 필요할 때마다 서버에 요청을 보냅니다. 첫 화면을 열면 글 목록을 조회하는 GET이, 저장 버튼을 누르면 글을 만드는 POST가 나갑니다. 사용자의 동작 하나가 HTTP 요청 하나입니다.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구조로 보면 클라이언트가 요청을 보내고, 서버가 DB를 조회하거나 저장한 뒤 응답합니다. 클라이언트는 DB에 직접 접근하지 않고 항상 API를 거칩니다. 그럼 요청과 응답이 실제로 어떻게 생겼는지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요청을 하나 열어 보겠습니다. 제 프로젝트 글결에서 블로그 분류를 추가하는 요청이고, REST Docs 테스트가 실제로 보낸 값입니다. 첫 줄은 요청 줄로, 메서드와 주소, HTTP 버전이 들어 있습니다. 그 아래가 헤더로, 요청에 대한 부가 정보입니다. Content-Type은 바디가 JSON이라는 뜻이고, X-XSRF-TOKEN과 Cookie는 보안을 위한 토큰, Host는 받는 서버입니다. 빈 줄 다음이 바디로, 실제로 보내는 데이터입니다.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응답도 구조가 같습니다. 첫 줄은 상태 줄로, 201 Created는 새로 만들었다는 뜻입니다. 헤더에는 브라우저에 세션 쿠키를 저장하라는 Set-Cookie, 바디 형식을 알려 주는 Content-Type, 바디 길이 Content-Length가 있습니다. 그리고 바디에 방금 만든 분류의 정보가 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요청 한 줄을 REST로 읽으면 이렇습니다. DELETE는 행동, /api/v1/posts/42는 자원, 204는 결과입니다. 이제 이 세 부분을 URL, 메서드, 상태 코드 순서로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URL입니다.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URL에 동사를 넣으면 두 가지 문제가 생깁니다. 첫째, 같은 42번 글인데도 getPost, updatePost, deletePost처럼 기능마다 주소가 하나씩 늘어납니다. 그러면 쓰는 쪽은 찾아야 할 주소가 계속 늘고, 만드는 쪽은 같은 검증과 권한 확인을 주소마다 따로 걸어야 해서 하나만 빠뜨려도 버그나 보안 구멍이 됩니다. 둘째, 이름이 사람마다 다릅니다. 같은 조회를 누구는 getPost, 누구는 fetchComment, 누구는 selectMember.do라고 짓고, 파라미터 이름도 id, no, mid로 제각각입니다. 그래서 행동은 메서드에 맡기고 URL은 명사로 자원만 가리킵니다. 그러면 /posts/42 하나에 메서드만 바꿔 조회, 수정, 삭제를 하고, 댓글은 /comments/7, 회원은 /members/3처럼 누가 만들어도 같은 모양이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자주 쓰는 기능을 바꿔 보면 이렇습니다. 동사는 빠지고, 같은 주소에 메서드만 달라집니다. 특히 삭제를 GET으로 만들면 안 됩니다. GET은 데이터를 바꾸지 않는 요청으로 정의되어 있어서, 검색 엔진 크롤러나 메신저의 링크 미리보기는 사용자가 누르지 않아도 GET을 보냅니다. 삭제 URL을 메신저로 보내기만 해도 글이 지워질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명사 URL은 계층으로 짭니다. 글 목록은 /posts, 42번 글은 /posts/42, 그 글의 댓글은 /posts/42/comments, 그중 7번 댓글은 /posts/42/comments/7입니다. 중첩은 이렇게 글과 댓글, 자원 두 개까지를 기본으로 합니다. /members/{memberId}/posts/{postId}/comments/{commentId}처럼 더 이어지면 회원, 글, 댓글 id 세 개를 모두 알아야 해서 피합니다. 어떤 자원인지는 경로에, 정렬이나 개수처럼 보여 주는 방식은 물음표 뒤 쿼리에 둡니다. URL은 소문자와 하이픈으로 쓰고, 앞의 /api/v1은 버전입니다. 응답 구조를 크게 바꿔야 할 때 예전 앱이 깨지지 않도록 /api/v2를 따로 열기 위해 붙여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메서드입니다.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42번 글에 메서드만 바꿔 보내면 결과가 이렇게 달라집니다. GET은 조회, POST는 생성, DELETE는 삭제입니다. 헷갈리는 건 PUT과 PATCH입니다. 둘 다 제목만 보냈는데, PUT은 자원 전체를 교체해서 안 보낸 본문이 비워질 수 있고, PATCH는 보낸 필드만 바꿉니다. 그래서 일부 수정에는 PATCH를 씁니다. 하나 더, PUT과 DELETE는 여러 번 보내도 결과가 같지만, POST는 보낼 때마다 글이 하나씩 생깁니다. 그래서 글쓰기 버튼은 한 번 누르면 막아 두고, 결제처럼 중요한 POST는 중복 요청을 막는 처리를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결과는 상태 코드로 알립니다. 첫 자리로 종류가 나뉩니다. 2xx는 성공, 3xx는 리다이렉트, 4xx는 요청한 쪽 문제, 5xx는 서버 문제입니다. API에서는 주로 2xx, 4xx, 5xx를 씁니다. 하지 말아야 할 게 하나 있습니다. 실패했는데 200 OK에 success: false를 담아 보내는 방식입니다. 모니터링, 프론트엔드의 에러 처리, 자동 재시도, 캐시는 바디를 읽지 않고 상태 코드만 봅니다. 그래서 실패를 200으로 주면 장애가 나도 알림이 오지 않고, 화면에는 저장 완료가 뜹니다. 세밀한 구분이 필요하면 상태 코드는 그대로 두고, 바디에 에러 코드를 따로 담습니다. 이건 바로 다음에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실무에서 에러가 나면 대부분 이 아홉 개 중 하나입니다. 가장 자주 보는 건 400, 401, 404, 500입니다. 400은 값이 빠졌거나 형식이 틀린 경우, 404는 자원이 없거나 URL이 틀린 경우, 500은 서버가 처리하지 못한 예외라 서버 로그를 봐야 합니다. 헷갈리는 401과 403은 실패한 단계가 다릅니다. 401은 JWT나 세션이 없거나 만료되어 누구인지 모르는 경우, 403은 누구인지는 알지만 권한이 없는 경우입니다. 502, 503, 504는 게이트웨이 뒤의 서버에 문제가 있을 때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응답도 형식을 하나로 맞춥니다.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응답 모양에는 정해진 정답이 없습니다. 팀이 함께 정합니다. 예를 들어 이런 형식을 정할 수 있습니다. 성공하면 success는 true, data에 결과를 담고, 돌려줄 데이터가 없으면 data를 비웁니다. 실패하면 success는 false, code에 팀이 정한 에러 코드를 담습니다. 이때도 상태 코드는 200이 아니라 409처럼 결과에 맞게 보냅니다. 어떤 칸을 둘지, 이름을 뭘로 할지 정하고 문서에 적어 두면, 모든 API가 같은 모양으로 답할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왼쪽처럼 API마다 에러 모양이 다르면, 프론트엔드는 API마다 에러를 꺼내는 코드를 따로 짜야 하고, 문장으로 분기했다가 백엔드가 문구를 고치면 깨집니다. 그래서 팀이 정한 한 가지 모양으로 모든 API가 답합니다. 오른쪽은 제 프로젝트 글결의 실제 404 응답입니다. 화면은 code를 보고 분기하고, message는 보여 주기만 합니다. 스택 트레이스나 SQL 같은 내부 정보는 응답에 넣지 않고 서버 로그에만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글결은 팀에서 형식을 이렇게 정하고 REST Docs에 적어 두었습니다. 성공 응답은 감싸지 않고 데이터를 그대로 주고, 에러만 code, message, fieldErrors 세 칸으로 맞췄습니다. 입력값이 틀리면 fieldErrors에 칸마다 이유가 와서, 화면은 제목 칸 옆에 바로 안내 문구를 띄웁니다. 오른쪽 404도 같은 모양입니다.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정한 공통 에러 형식을, 모든 API가 빠짐없이 지키게 만드는 방법이 전역 예외 처리입니다.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요청은 입력 검증, 컨트롤러, 서비스, DB 순서로 처리되고, 성공하면 바로 응답이 나갑니다. 실패는 두 종류입니다. 제목이 비었다처럼 값만 보면 아는 건 맨 앞의 입력 검증에서 400으로 돌려보냅니다. 글이 없다, 제목이 중복이다처럼 DB를 봐야 아는 건 서비스에서 예외를 던집니다. 던진 예외는 호출한 쪽으로 거꾸로 올라가서, 결국 전역 예외 처리기 한 곳에 모입니다. 컨트롤러는 예외를 잡지 않고 그대로 통과시킵니다. 여기서 상태 코드와 앞에서 정한 공통 에러 형식으로 바꿔 응답합니다. 예상 못 한 예외는 로그를 남기고 500으로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DTO는 API로 주고받는 칸만 정한 그릇입니다. 받을 값을 정확히 정하고, 거기에 검증 규칙을 적습니다. Spring에서는 입력값 검증을 @Valid로 쉽게 할 수 있습니다. 먼저 요청 DTO의 칸마다 규칙을 적습니다. 제목은 비면 안 되고 100자까지, 본문도 비면 안 됩니다. 그리고 컨트롤러 매개변수 앞에 @Valid를 붙입니다. 이제 제목을 비워서 보내면, 컨트롤러 코드가 실행되기도 전에 Spring이 막고 MethodArgumentNotValidException이라는 예외를 던집니다.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예외를 따로 처리하지 않으면 Spring이 기본 에러 응답을 보냅니다. 왼쪽이 기본값인데, 400과 Bad Request만 있고 어느 칸이 왜 틀렸는지가 없습니다. 설정으로 자세히 보이게 하면 오른쪽처럼 됩니다. 이번에는 너무 길고 복잡해서 화면에서 쓰기 어렵고, 우리 팀이 정한 형식과도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전역 예외 처리기에서 이 예외를 받아 팀이 정한 형식으로 바꿉니다. 틀린 칸 이름과 이유만 뽑아 errors에 담고, code는 INVALID_INPUT으로 정했습니다. 같은 요청인데 응답이 이렇게 짧고 분명해집니다. 서비스에서 던지는 글 없음, 중복 같은 예외도 같은 처리기에서 같은 모양으로 바뀝니다. 화면에서 이미 검사했더라도 서버 검증은 생략하지 않습니다. API는 curl이나 Postman으로 화면 없이도 호출할 수 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목록 API입니다.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글 목록 API는 어떤 글을, 어떤 순서로, 몇 개씩 줄지를 정해야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조건은 topic, keyword로 받습니다.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정렬은 sort=필드,방향으로 받습니다.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페이징은 page와 size로 받습니다. 앞에서 말했듯 보여 주는 방식이니 모두 쿼리에 붙이고, 안 보내면 최신순 20개가 기본입니다.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응답에는 글 목록과 함께 전체 개수, 전체 페이지 수 같은 페이지 정보를 줘야 화면이 페이지 번호를 그릴 수 있습니다. 결과가 없으면 404가 아니라 200과 빈 배열입니다. 대신 서버는 size 최댓값, 정렬 가능한 필드, 기본 정렬을 정해 둡니다. size=1000000 요청 하나로 서버가 멈추면 안 되니까요.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마지막은 문서입니다.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문서를 따로 쓰면 코드만 바뀌고 문서는 그대로 남기 쉽습니다. 그래서 코드에서 자동으로 만듭니다. 제가 만든 멀티 블로그 서비스 글결의 문서로 보여 드리겠습니다. 첫째는 Swagger입니다. springdoc이 서버의 컨트롤러를 읽어 API 목록을 자동으로 만들고, 로그인, 블로그, 글처럼 묶음별로 보여 줍니다. 메서드가 색으로 구분되어 주소와 함께 한눈에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하나를 펼치면 필요한 머리글, 요청 바디 예시, 응답 코드별 예시가 나옵니다. 글 쓰기는 성공하면 201, 제목을 비우면 400과 공통 에러 형식이 옵니다. Try it out을 누르면 여기서 바로 호출해 볼 수 있어서, 프론트엔드 개발자가 묻지 않고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둘째는 Spring REST Docs입니다. 여기 있는 요청과 응답은 테스트가 실제로 보내고 받은 것이라, 응답에 문서에 없는 칸이 생기거나 적은 칸이 사라지면 테스트가 실패합니다. 그래서 문서가 코드와 어긋나지 않습니다. 만드는 방법은 간단합니다. Swagger는 springdoc 의존성을 추가하면 컨트롤러를 읽어 자동으로 만들어지고, REST Docs는 API마다 테스트에 칸 설명을 적으면 테스트를 돌릴 때 문서 조각이 생겨 이 HTML로 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내용을 요청 하나의 순서로 정리하면 이렇습니다. 자원은 URL로, 행동은 메서드로 표현하고, 입력은 서버에서 검증하고, 예외는 한곳에서 처리하고, 결과는 상태 코드와 같은 형식의 응답으로 돌려줍니다. 목록은 쿼리로 나눠서 주고, 이 모든 규칙은 문서로 공개합니다. 이 규칙을 지키면 처음 보는 사람도 주소만 보고 API를 읽을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댓글은 번호가 전체에서 하나라서, 7번 댓글을 찾으면 그 줄에 글 번호 42도 들어 있습니다. 그래서 /comments/7만으로 충분합니다. GitHub 이슈는 번호가 저장소마다 1부터 다시 매겨져서, 12번 이슈가 여러 개입니다. 그래서 저장소를 주소에 꼭 넣어야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멱등은 여러 번 보내도 서버 상태가 한 번 보낸 것과 같다는 뜻입니다. DELETE는 두 번째부터 404가 오지만 42번 글이 없는 상태는 같아서 멱등입니다. POST는 보낼 때마다 글이 하나씩 생겨서 멱등이 아니고, 그래서 중복을 막아야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401과 403은 실패한 단계가 다릅니다. 먼저 로그인했는지 확인하는 인증에서 실패하면 401, 로그인은 했지만 이 글을 지울 권한이 없으면 403입니다. 401은 누구인지 모르는 것, 403은 누구인지 알지만 권한이 없는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오프셋은 쪽 번호로 앞의 글을 세면서 건너뛰어서, 원하는 쪽으로 바로 갈 수 있지만 뒤로 갈수록 느려집니다. 커서는 마지막으로 본 글 번호 다음부터 가져와서 데이터가 많아도 빠르지만, 특정 쪽으로 바로 가기는 어렵습니다. 그래서 게시판은 오프셋, 무한 스크롤은 커서를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글결은 400, 401, 403, 404, 409, 429를 씁니다. 남의 비공개 글은 403이 아니라 404로 답해서, 그 글이 있다는 사실도 드러나지 않게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댓글 쓰기 하나에 요청 머리글, 주소 안의 값, 요청 본문 칸, 실제 요청, 실제 응답, 응답 칸이 차례로 적혀 있습니다. 모두 테스트가 실제로 주고받은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Boot 애플리케이션 하나에서는 인증 필터, URL 매핑, 컨트롤러, 서비스, DB 순서로 처리됩니다. 댓글 서비스가 글이 있는지 확인할 때도 같은 프로세스 안의 메서드 호출이라 빠릅니다. 대신 일부 기능만 따로 배포하거나 늘리기는 어렵습니다.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MSA에서는 API Gateway가 먼저 인증하고, 주소를 보고 맞는 서비스로 보냅니다. 댓글 서비스가 글이 있는지 확인할 때는 글 서비스에 HTTP로 물어봐야 합니다. 그래도 클라이언트가 보내는 요청은 단일 서버와 똑같습니다.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에러 형식이 모든 서비스에서 같으면, 글 서비스의 404와 POST_NOT_FOUND가 그대로 클라이언트까지 전달됩니다. 글 서비스가 꺼져 있으면 503, 제한 시간 안에 답이 없으면 504처럼 원인에 맞는 코드로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표지">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9224" y="2148840"/>
            <a:ext cx="5760720" cy="173736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3" name="Text 0"/>
          <p:cNvSpPr/>
          <p:nvPr>
            <p:ph idx="101" type="body" hasCustomPrompt="1"/>
          </p:nvPr>
        </p:nvSpPr>
        <p:spPr>
          <a:xfrm>
            <a:off x="649224" y="4069080"/>
            <a:ext cx="5760720" cy="82296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
        <p:nvSpPr>
          <p:cNvPr id="4" name="Text 0"/>
          <p:cNvSpPr/>
          <p:nvPr>
            <p:ph idx="102" type="body" hasCustomPrompt="1"/>
          </p:nvPr>
        </p:nvSpPr>
        <p:spPr>
          <a:xfrm>
            <a:off x="649224" y="5806440"/>
            <a:ext cx="5760720" cy="365760"/>
          </a:xfrm>
          <a:prstGeom prst="rect">
            <a:avLst/>
          </a:prstGeom>
          <a:noFill/>
          <a:ln/>
        </p:spPr>
        <p:txBody>
          <a:bodyPr wrap="square" rtlCol="0"/>
          <a:lstStyle>
            <a:lvl1pPr algn="l" indent="0" marL="0">
              <a:buNone/>
              <a:defRPr lang="en-US" sz="1400" dirty="0">
                <a:solidFill>
                  <a:schemeClr val="accent3"/>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표지-넓게">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9224" y="2011680"/>
            <a:ext cx="10890504" cy="182880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3" name="Text 0"/>
          <p:cNvSpPr/>
          <p:nvPr>
            <p:ph idx="101" type="body" hasCustomPrompt="1"/>
          </p:nvPr>
        </p:nvSpPr>
        <p:spPr>
          <a:xfrm>
            <a:off x="649224" y="4023360"/>
            <a:ext cx="10890504" cy="82296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
        <p:nvSpPr>
          <p:cNvPr id="4" name="Text 0"/>
          <p:cNvSpPr/>
          <p:nvPr>
            <p:ph idx="102" type="body" hasCustomPrompt="1"/>
          </p:nvPr>
        </p:nvSpPr>
        <p:spPr>
          <a:xfrm>
            <a:off x="649224" y="5806440"/>
            <a:ext cx="10890504" cy="365760"/>
          </a:xfrm>
          <a:prstGeom prst="rect">
            <a:avLst/>
          </a:prstGeom>
          <a:noFill/>
          <a:ln/>
        </p:spPr>
        <p:txBody>
          <a:bodyPr wrap="square" rtlCol="0"/>
          <a:lstStyle>
            <a:lvl1pPr algn="l" indent="0" marL="0">
              <a:buNone/>
              <a:defRPr lang="en-US" sz="1400" dirty="0">
                <a:solidFill>
                  <a:schemeClr val="accent3"/>
                </a:solidFill>
              </a:defRPr>
            </a:lvl1pPr>
          </a:lstStyle>
          <a:p>
            <a:pPr algn="l"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섹션">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9224" y="1920240"/>
            <a:ext cx="2743200" cy="1005840"/>
          </a:xfrm>
          <a:prstGeom prst="rect">
            <a:avLst/>
          </a:prstGeom>
          <a:noFill/>
          <a:ln/>
        </p:spPr>
        <p:txBody>
          <a:bodyPr wrap="square" rtlCol="0"/>
          <a:lstStyle>
            <a:lvl1pPr algn="l" indent="0" marL="0">
              <a:buNone/>
              <a:defRPr lang="en-US" sz="6000" b="1" dirty="0">
                <a:solidFill>
                  <a:schemeClr val="accent1"/>
                </a:solidFill>
                <a:latin typeface="+mj-lt" pitchFamily="34" charset="0"/>
                <a:ea typeface="+mj-lt" pitchFamily="34" charset="-122"/>
                <a:cs typeface="+mj-lt" pitchFamily="34" charset="-120"/>
              </a:defRPr>
            </a:lvl1pPr>
          </a:lstStyle>
          <a:p>
            <a:pPr algn="l" indent="0" marL="0">
              <a:buNone/>
            </a:pPr>
            <a:endParaRPr lang="en-US" sz="6000" dirty="0"/>
          </a:p>
        </p:txBody>
      </p:sp>
      <p:sp>
        <p:nvSpPr>
          <p:cNvPr id="3" name="Text 0"/>
          <p:cNvSpPr/>
          <p:nvPr>
            <p:ph idx="101" type="title" hasCustomPrompt="1"/>
          </p:nvPr>
        </p:nvSpPr>
        <p:spPr>
          <a:xfrm>
            <a:off x="649224" y="3063240"/>
            <a:ext cx="100584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649224" y="4114800"/>
            <a:ext cx="10058400" cy="548640"/>
          </a:xfrm>
          <a:prstGeom prst="rect">
            <a:avLst/>
          </a:prstGeom>
          <a:noFill/>
          <a:ln/>
        </p:spPr>
        <p:txBody>
          <a:bodyPr wrap="square" rtlCol="0"/>
          <a:lstStyle>
            <a:lvl1pPr algn="l" indent="0" marL="0">
              <a:buNone/>
              <a:defRPr lang="en-US" sz="2000" dirty="0">
                <a:solidFill>
                  <a:srgbClr val="A09D96"/>
                </a:solidFill>
              </a:defRPr>
            </a:lvl1pPr>
          </a:lstStyle>
          <a:p>
            <a:pPr algn="l" indent="0" marL="0">
              <a:buNone/>
            </a:pPr>
            <a:endParaRPr lang="en-US" sz="2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본문">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rtlCol="0"/>
          <a:lstStyle>
            <a:lvl1pPr algn="l" indent="0" marL="0">
              <a:buNone/>
              <a:defRPr lang="en-US" sz="1200" spc="150" kern="0" dirty="0">
                <a:solidFill>
                  <a:schemeClr val="accent3"/>
                </a:solidFill>
              </a:defRPr>
            </a:lvl1pPr>
          </a:lstStyle>
          <a:p>
            <a:pPr algn="l" indent="0" marL="0">
              <a:buNone/>
            </a:pP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마무리">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9224" y="676656"/>
            <a:ext cx="10890504"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5.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5.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5.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5.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9224" y="2148840"/>
            <a:ext cx="5760720" cy="1737360"/>
          </a:xfrm>
          <a:prstGeom prst="rect">
            <a:avLst/>
          </a:prstGeom>
          <a:noFill/>
          <a:ln/>
        </p:spPr>
        <p:txBody>
          <a:bodyPr wrap="square" lIns="0" tIns="0" rIns="0" bIns="0" rtlCol="0" anchor="b"/>
          <a:lstStyle/>
          <a:p>
            <a:pPr algn="l" indent="0" marL="0">
              <a:buNone/>
            </a:pPr>
            <a:r>
              <a:rPr lang="en-US" sz="5400" b="1" dirty="0">
                <a:solidFill>
                  <a:schemeClr val="tx1"/>
                </a:solidFill>
              </a:rPr>
              <a:t>RESTful API 설계</a:t>
            </a:r>
            <a:endParaRPr lang="en-US" sz="5400" dirty="0"/>
          </a:p>
        </p:txBody>
      </p:sp>
      <p:sp>
        <p:nvSpPr>
          <p:cNvPr id="3" name="Text 0"/>
          <p:cNvSpPr/>
          <p:nvPr>
            <p:ph idx="101" type="body" hasCustomPrompt="1"/>
          </p:nvPr>
        </p:nvSpPr>
        <p:spPr>
          <a:xfrm>
            <a:off x="649224" y="4069080"/>
            <a:ext cx="5760720" cy="822960"/>
          </a:xfrm>
          <a:prstGeom prst="rect">
            <a:avLst/>
          </a:prstGeom>
          <a:noFill/>
          <a:ln/>
        </p:spPr>
        <p:txBody>
          <a:bodyPr wrap="square" lIns="0" tIns="0" rIns="0" bIns="0" rtlCol="0" anchor="t"/>
          <a:lstStyle/>
          <a:p>
            <a:pPr algn="l" indent="0" marL="0">
              <a:buNone/>
            </a:pPr>
            <a:r>
              <a:rPr lang="en-US" sz="2000" dirty="0">
                <a:solidFill>
                  <a:schemeClr val="accent3"/>
                </a:solidFill>
              </a:rPr>
              <a:t>주소만 봐도 무슨 일인지 아는 API 만들기</a:t>
            </a:r>
            <a:endParaRPr lang="en-US" sz="2000" dirty="0"/>
          </a:p>
        </p:txBody>
      </p:sp>
      <p:sp>
        <p:nvSpPr>
          <p:cNvPr id="4" name="Text 0"/>
          <p:cNvSpPr/>
          <p:nvPr>
            <p:ph idx="102" type="body" hasCustomPrompt="1"/>
          </p:nvPr>
        </p:nvSpPr>
        <p:spPr>
          <a:xfrm>
            <a:off x="649224" y="5806440"/>
            <a:ext cx="5760720" cy="365760"/>
          </a:xfrm>
          <a:prstGeom prst="rect">
            <a:avLst/>
          </a:prstGeom>
          <a:noFill/>
          <a:ln/>
        </p:spPr>
        <p:txBody>
          <a:bodyPr wrap="square" lIns="0" tIns="0" rIns="0" bIns="0" rtlCol="0" anchor="t"/>
          <a:lstStyle/>
          <a:p>
            <a:pPr algn="l" indent="0" marL="0">
              <a:buNone/>
            </a:pPr>
            <a:r>
              <a:rPr lang="en-US" sz="1400" dirty="0">
                <a:solidFill>
                  <a:schemeClr val="accent3"/>
                </a:solidFill>
              </a:rPr>
              <a:t>이재웅 · 2026.10.16</a:t>
            </a:r>
            <a:endParaRPr lang="en-US" sz="1400" dirty="0"/>
          </a:p>
        </p:txBody>
      </p:sp>
      <p:sp>
        <p:nvSpPr>
          <p:cNvPr id="5" name="code-window"/>
          <p:cNvSpPr/>
          <p:nvPr/>
        </p:nvSpPr>
        <p:spPr>
          <a:xfrm>
            <a:off x="6903720" y="2359152"/>
            <a:ext cx="4636008" cy="1316736"/>
          </a:xfrm>
          <a:prstGeom prst="roundRect">
            <a:avLst>
              <a:gd name="adj" fmla="val 8333"/>
            </a:avLst>
          </a:prstGeom>
          <a:solidFill>
            <a:schemeClr val="tx2"/>
          </a:solidFill>
          <a:ln/>
        </p:spPr>
      </p:sp>
      <p:sp>
        <p:nvSpPr>
          <p:cNvPr id="6" name="code-window-dot"/>
          <p:cNvSpPr/>
          <p:nvPr/>
        </p:nvSpPr>
        <p:spPr>
          <a:xfrm>
            <a:off x="7104888" y="2505456"/>
            <a:ext cx="100584" cy="100584"/>
          </a:xfrm>
          <a:prstGeom prst="ellipse">
            <a:avLst/>
          </a:prstGeom>
          <a:solidFill>
            <a:srgbClr val="4A4844"/>
          </a:solidFill>
          <a:ln/>
        </p:spPr>
      </p:sp>
      <p:sp>
        <p:nvSpPr>
          <p:cNvPr id="7" name="code-window-dot"/>
          <p:cNvSpPr/>
          <p:nvPr/>
        </p:nvSpPr>
        <p:spPr>
          <a:xfrm>
            <a:off x="7278624" y="2505456"/>
            <a:ext cx="100584" cy="100584"/>
          </a:xfrm>
          <a:prstGeom prst="ellipse">
            <a:avLst/>
          </a:prstGeom>
          <a:solidFill>
            <a:srgbClr val="4A4844"/>
          </a:solidFill>
          <a:ln/>
        </p:spPr>
      </p:sp>
      <p:sp>
        <p:nvSpPr>
          <p:cNvPr id="8" name="code-window-dot"/>
          <p:cNvSpPr/>
          <p:nvPr/>
        </p:nvSpPr>
        <p:spPr>
          <a:xfrm>
            <a:off x="7452360" y="2505456"/>
            <a:ext cx="100584" cy="100584"/>
          </a:xfrm>
          <a:prstGeom prst="ellipse">
            <a:avLst/>
          </a:prstGeom>
          <a:solidFill>
            <a:srgbClr val="4A4844"/>
          </a:solidFill>
          <a:ln/>
        </p:spPr>
      </p:sp>
      <p:sp>
        <p:nvSpPr>
          <p:cNvPr id="9" name="code-window-label"/>
          <p:cNvSpPr txBox="1"/>
          <p:nvPr/>
        </p:nvSpPr>
        <p:spPr>
          <a:xfrm>
            <a:off x="7726680" y="2450592"/>
            <a:ext cx="3630168"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요청 한 줄</a:t>
            </a:r>
            <a:endParaRPr lang="en-US" sz="1100" dirty="0"/>
          </a:p>
        </p:txBody>
      </p:sp>
      <p:sp>
        <p:nvSpPr>
          <p:cNvPr id="10" name="code-window-text"/>
          <p:cNvSpPr txBox="1"/>
          <p:nvPr/>
        </p:nvSpPr>
        <p:spPr>
          <a:xfrm>
            <a:off x="7159752" y="2798064"/>
            <a:ext cx="4178808" cy="768096"/>
          </a:xfrm>
          <a:prstGeom prst="rect">
            <a:avLst/>
          </a:prstGeom>
          <a:noFill/>
          <a:ln/>
        </p:spPr>
        <p:txBody>
          <a:bodyPr wrap="square" lIns="0" tIns="0" rIns="0" bIns="0" rtlCol="0" anchor="t"/>
          <a:lstStyle/>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DELETE /api/v1/posts/42</a:t>
            </a:r>
            <a:endParaRPr lang="en-US" sz="1500" dirty="0"/>
          </a:p>
          <a:p>
            <a:pPr algn="l" indent="0" marL="0">
              <a:lnSpc>
                <a:spcPct val="105000"/>
              </a:lnSpc>
              <a:buNone/>
            </a:pPr>
            <a:r>
              <a:rPr lang="en-US" sz="1500" dirty="0">
                <a:solidFill>
                  <a:srgbClr val="5DB872"/>
                </a:solidFill>
                <a:latin typeface="JetBrains Mono" pitchFamily="34" charset="0"/>
                <a:ea typeface="JetBrains Mono" pitchFamily="34" charset="-122"/>
                <a:cs typeface="JetBrains Mono" pitchFamily="34" charset="-120"/>
              </a:rPr>
              <a:t>→ 204 No Content</a:t>
            </a:r>
            <a:endParaRPr lang="en-US" sz="15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INTRO</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API와 RESTful API</a:t>
            </a:r>
            <a:endParaRPr lang="en-US" sz="3200" dirty="0"/>
          </a:p>
        </p:txBody>
      </p:sp>
      <p:sp>
        <p:nvSpPr>
          <p:cNvPr id="4" name="b0-0"/>
          <p:cNvSpPr txBox="1"/>
          <p:nvPr/>
        </p:nvSpPr>
        <p:spPr>
          <a:xfrm>
            <a:off x="649224" y="2288603"/>
            <a:ext cx="10890504" cy="342900"/>
          </a:xfrm>
          <a:prstGeom prst="rect">
            <a:avLst/>
          </a:prstGeom>
          <a:noFill/>
          <a:ln/>
        </p:spPr>
        <p:txBody>
          <a:bodyPr wrap="square" lIns="0" tIns="0" rIns="0" bIns="0" rtlCol="0" anchor="t"/>
          <a:lstStyle/>
          <a:p>
            <a:pPr algn="l" indent="0" marL="0">
              <a:lnSpc>
                <a:spcPct val="115000"/>
              </a:lnSpc>
              <a:spcAft>
                <a:spcPts val="600"/>
              </a:spcAft>
              <a:buNone/>
            </a:pPr>
            <a:r>
              <a:rPr lang="en-US" sz="1800" dirty="0">
                <a:solidFill>
                  <a:schemeClr val="accent3"/>
                </a:solidFill>
              </a:rPr>
              <a:t>같은 API를 쓰는 쪽   </a:t>
            </a:r>
            <a:pPr algn="l" indent="0" marL="0">
              <a:lnSpc>
                <a:spcPct val="115000"/>
              </a:lnSpc>
              <a:spcAft>
                <a:spcPts val="600"/>
              </a:spcAft>
              <a:buNone/>
            </a:pPr>
            <a:r>
              <a:rPr lang="en-US" sz="1800" dirty="0">
                <a:solidFill>
                  <a:schemeClr val="tx1"/>
                </a:solidFill>
              </a:rPr>
              <a:t>웹 브라우저 · 모바일 앱 · 관리자 페이지 · 다른 서비스</a:t>
            </a:r>
            <a:endParaRPr lang="en-US" sz="1800" dirty="0"/>
          </a:p>
        </p:txBody>
      </p:sp>
      <p:sp>
        <p:nvSpPr>
          <p:cNvPr id="5" name="b1c0-0"/>
          <p:cNvSpPr/>
          <p:nvPr/>
        </p:nvSpPr>
        <p:spPr>
          <a:xfrm>
            <a:off x="649224" y="2860103"/>
            <a:ext cx="5330952" cy="1922145"/>
          </a:xfrm>
          <a:prstGeom prst="roundRect">
            <a:avLst>
              <a:gd name="adj" fmla="val 5709"/>
            </a:avLst>
          </a:prstGeom>
          <a:solidFill>
            <a:schemeClr val="tx2"/>
          </a:solidFill>
          <a:ln/>
        </p:spPr>
      </p:sp>
      <p:sp>
        <p:nvSpPr>
          <p:cNvPr id="6" name="b1c0-1"/>
          <p:cNvSpPr/>
          <p:nvPr/>
        </p:nvSpPr>
        <p:spPr>
          <a:xfrm>
            <a:off x="850392" y="3006407"/>
            <a:ext cx="100584" cy="100584"/>
          </a:xfrm>
          <a:prstGeom prst="ellipse">
            <a:avLst/>
          </a:prstGeom>
          <a:solidFill>
            <a:srgbClr val="4A4844"/>
          </a:solidFill>
          <a:ln/>
        </p:spPr>
      </p:sp>
      <p:sp>
        <p:nvSpPr>
          <p:cNvPr id="7" name="b1c0-2"/>
          <p:cNvSpPr/>
          <p:nvPr/>
        </p:nvSpPr>
        <p:spPr>
          <a:xfrm>
            <a:off x="1024128" y="3006407"/>
            <a:ext cx="100584" cy="100584"/>
          </a:xfrm>
          <a:prstGeom prst="ellipse">
            <a:avLst/>
          </a:prstGeom>
          <a:solidFill>
            <a:srgbClr val="4A4844"/>
          </a:solidFill>
          <a:ln/>
        </p:spPr>
      </p:sp>
      <p:sp>
        <p:nvSpPr>
          <p:cNvPr id="8" name="b1c0-3"/>
          <p:cNvSpPr/>
          <p:nvPr/>
        </p:nvSpPr>
        <p:spPr>
          <a:xfrm>
            <a:off x="1197864" y="3006407"/>
            <a:ext cx="100584" cy="100584"/>
          </a:xfrm>
          <a:prstGeom prst="ellipse">
            <a:avLst/>
          </a:prstGeom>
          <a:solidFill>
            <a:srgbClr val="4A4844"/>
          </a:solidFill>
          <a:ln/>
        </p:spPr>
      </p:sp>
      <p:sp>
        <p:nvSpPr>
          <p:cNvPr id="9" name="b1c0-4"/>
          <p:cNvSpPr txBox="1"/>
          <p:nvPr/>
        </p:nvSpPr>
        <p:spPr>
          <a:xfrm>
            <a:off x="1472184" y="2951543"/>
            <a:ext cx="4325112"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API: 형식이 자유라 같은 '42번 글 삭제'도 제각각</a:t>
            </a:r>
            <a:endParaRPr lang="en-US" sz="1100" dirty="0"/>
          </a:p>
        </p:txBody>
      </p:sp>
      <p:sp>
        <p:nvSpPr>
          <p:cNvPr id="10" name="b1c0-5"/>
          <p:cNvSpPr txBox="1"/>
          <p:nvPr/>
        </p:nvSpPr>
        <p:spPr>
          <a:xfrm>
            <a:off x="905256" y="3299015"/>
            <a:ext cx="4873752" cy="1373505"/>
          </a:xfrm>
          <a:prstGeom prst="rect">
            <a:avLst/>
          </a:prstGeom>
          <a:noFill/>
          <a:ln/>
        </p:spPr>
        <p:txBody>
          <a:bodyPr wrap="square" lIns="0" tIns="0" rIns="0" bIns="0" rtlCol="0" anchor="t"/>
          <a:lstStyle/>
          <a:p>
            <a:pPr algn="l" indent="0" marL="0">
              <a:lnSpc>
                <a:spcPct val="105000"/>
              </a:lnSpc>
              <a:buNone/>
            </a:pPr>
            <a:r>
              <a:rPr lang="en-US" sz="1500" dirty="0">
                <a:solidFill>
                  <a:srgbClr val="E5806F"/>
                </a:solidFill>
                <a:latin typeface="JetBrains Mono" pitchFamily="34" charset="0"/>
                <a:ea typeface="JetBrains Mono" pitchFamily="34" charset="-122"/>
                <a:cs typeface="JetBrains Mono" pitchFamily="34" charset="-120"/>
              </a:rPr>
              <a:t>POST /deletePost.do?no=42</a:t>
            </a:r>
            <a:endParaRPr lang="en-US" sz="1500" dirty="0"/>
          </a:p>
          <a:p>
            <a:pPr algn="l" indent="0" marL="0">
              <a:lnSpc>
                <a:spcPct val="105000"/>
              </a:lnSpc>
              <a:buNone/>
            </a:pPr>
            <a:r>
              <a:rPr lang="en-US" sz="1500" dirty="0">
                <a:solidFill>
                  <a:srgbClr val="E5806F"/>
                </a:solidFill>
                <a:latin typeface="JetBrains Mono" pitchFamily="34" charset="0"/>
                <a:ea typeface="JetBrains Mono" pitchFamily="34" charset="-122"/>
                <a:cs typeface="JetBrains Mono" pitchFamily="34" charset="-120"/>
              </a:rPr>
              <a:t>GET  /post/remove?id=42</a:t>
            </a:r>
            <a:endParaRPr lang="en-US" sz="1500" dirty="0"/>
          </a:p>
          <a:p>
            <a:pPr algn="l" indent="0" marL="0">
              <a:lnSpc>
                <a:spcPct val="105000"/>
              </a:lnSpc>
              <a:buNone/>
            </a:pPr>
            <a:r>
              <a:rPr lang="en-US" sz="1500" dirty="0">
                <a:solidFill>
                  <a:srgbClr val="E5806F"/>
                </a:solidFill>
                <a:latin typeface="JetBrains Mono" pitchFamily="34" charset="0"/>
                <a:ea typeface="JetBrains Mono" pitchFamily="34" charset="-122"/>
                <a:cs typeface="JetBrains Mono" pitchFamily="34" charset="-120"/>
              </a:rPr>
              <a:t>POST /api  {"action":"delete","id":42}</a:t>
            </a:r>
            <a:endParaRPr lang="en-US" sz="1500" dirty="0"/>
          </a:p>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 </a:t>
            </a:r>
            <a:endParaRPr lang="en-US" sz="1500" dirty="0"/>
          </a:p>
          <a:p>
            <a:pPr algn="l" indent="0" marL="0">
              <a:lnSpc>
                <a:spcPct val="105000"/>
              </a:lnSpc>
              <a:buNone/>
            </a:pPr>
            <a:r>
              <a:rPr lang="en-US" sz="1500" dirty="0">
                <a:solidFill>
                  <a:srgbClr val="A09D96"/>
                </a:solidFill>
                <a:latin typeface="JetBrains Mono" pitchFamily="34" charset="0"/>
                <a:ea typeface="JetBrains Mono" pitchFamily="34" charset="-122"/>
                <a:cs typeface="JetBrains Mono" pitchFamily="34" charset="-120"/>
              </a:rPr>
              <a:t>→ 쓰는 쪽은 API마다 문서를 찾거나 물어봐야 한다</a:t>
            </a:r>
            <a:endParaRPr lang="en-US" sz="1500" dirty="0"/>
          </a:p>
        </p:txBody>
      </p:sp>
      <p:sp>
        <p:nvSpPr>
          <p:cNvPr id="11" name="b1c1-6"/>
          <p:cNvSpPr/>
          <p:nvPr/>
        </p:nvSpPr>
        <p:spPr>
          <a:xfrm>
            <a:off x="6208776" y="2860103"/>
            <a:ext cx="5330952" cy="1922145"/>
          </a:xfrm>
          <a:prstGeom prst="roundRect">
            <a:avLst>
              <a:gd name="adj" fmla="val 5709"/>
            </a:avLst>
          </a:prstGeom>
          <a:solidFill>
            <a:schemeClr val="tx2"/>
          </a:solidFill>
          <a:ln/>
        </p:spPr>
      </p:sp>
      <p:sp>
        <p:nvSpPr>
          <p:cNvPr id="12" name="b1c1-7"/>
          <p:cNvSpPr/>
          <p:nvPr/>
        </p:nvSpPr>
        <p:spPr>
          <a:xfrm>
            <a:off x="6409944" y="3006407"/>
            <a:ext cx="100584" cy="100584"/>
          </a:xfrm>
          <a:prstGeom prst="ellipse">
            <a:avLst/>
          </a:prstGeom>
          <a:solidFill>
            <a:srgbClr val="4A4844"/>
          </a:solidFill>
          <a:ln/>
        </p:spPr>
      </p:sp>
      <p:sp>
        <p:nvSpPr>
          <p:cNvPr id="13" name="b1c1-8"/>
          <p:cNvSpPr/>
          <p:nvPr/>
        </p:nvSpPr>
        <p:spPr>
          <a:xfrm>
            <a:off x="6583680" y="3006407"/>
            <a:ext cx="100584" cy="100584"/>
          </a:xfrm>
          <a:prstGeom prst="ellipse">
            <a:avLst/>
          </a:prstGeom>
          <a:solidFill>
            <a:srgbClr val="4A4844"/>
          </a:solidFill>
          <a:ln/>
        </p:spPr>
      </p:sp>
      <p:sp>
        <p:nvSpPr>
          <p:cNvPr id="14" name="b1c1-9"/>
          <p:cNvSpPr/>
          <p:nvPr/>
        </p:nvSpPr>
        <p:spPr>
          <a:xfrm>
            <a:off x="6757416" y="3006407"/>
            <a:ext cx="100584" cy="100584"/>
          </a:xfrm>
          <a:prstGeom prst="ellipse">
            <a:avLst/>
          </a:prstGeom>
          <a:solidFill>
            <a:srgbClr val="4A4844"/>
          </a:solidFill>
          <a:ln/>
        </p:spPr>
      </p:sp>
      <p:sp>
        <p:nvSpPr>
          <p:cNvPr id="15" name="b1c1-10"/>
          <p:cNvSpPr txBox="1"/>
          <p:nvPr/>
        </p:nvSpPr>
        <p:spPr>
          <a:xfrm>
            <a:off x="7031736" y="2951543"/>
            <a:ext cx="4325112"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RESTful API: REST 원칙으로 형식을 통일</a:t>
            </a:r>
            <a:endParaRPr lang="en-US" sz="1100" dirty="0"/>
          </a:p>
        </p:txBody>
      </p:sp>
      <p:sp>
        <p:nvSpPr>
          <p:cNvPr id="16" name="b1c1-11"/>
          <p:cNvSpPr txBox="1"/>
          <p:nvPr/>
        </p:nvSpPr>
        <p:spPr>
          <a:xfrm>
            <a:off x="6464808" y="3299015"/>
            <a:ext cx="4873752" cy="1373505"/>
          </a:xfrm>
          <a:prstGeom prst="rect">
            <a:avLst/>
          </a:prstGeom>
          <a:noFill/>
          <a:ln/>
        </p:spPr>
        <p:txBody>
          <a:bodyPr wrap="square" lIns="0" tIns="0" rIns="0" bIns="0" rtlCol="0" anchor="t"/>
          <a:lstStyle/>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DELETE /api/v1/posts/42</a:t>
            </a:r>
            <a:endParaRPr lang="en-US" sz="1500" dirty="0"/>
          </a:p>
          <a:p>
            <a:pPr algn="l" indent="0" marL="0">
              <a:lnSpc>
                <a:spcPct val="105000"/>
              </a:lnSpc>
              <a:buNone/>
            </a:pPr>
            <a:r>
              <a:rPr lang="en-US" sz="1500" dirty="0">
                <a:solidFill>
                  <a:srgbClr val="5DB872"/>
                </a:solidFill>
                <a:latin typeface="JetBrains Mono" pitchFamily="34" charset="0"/>
                <a:ea typeface="JetBrains Mono" pitchFamily="34" charset="-122"/>
                <a:cs typeface="JetBrains Mono" pitchFamily="34" charset="-120"/>
              </a:rPr>
              <a:t>→ 204 No Content</a:t>
            </a:r>
            <a:endParaRPr lang="en-US" sz="1500" dirty="0"/>
          </a:p>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 </a:t>
            </a:r>
            <a:endParaRPr lang="en-US" sz="1500" dirty="0"/>
          </a:p>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 </a:t>
            </a:r>
            <a:endParaRPr lang="en-US" sz="1500" dirty="0"/>
          </a:p>
          <a:p>
            <a:pPr algn="l" indent="0" marL="0">
              <a:lnSpc>
                <a:spcPct val="105000"/>
              </a:lnSpc>
              <a:buNone/>
            </a:pPr>
            <a:r>
              <a:rPr lang="en-US" sz="1500" dirty="0">
                <a:solidFill>
                  <a:srgbClr val="A09D96"/>
                </a:solidFill>
                <a:latin typeface="JetBrains Mono" pitchFamily="34" charset="0"/>
                <a:ea typeface="JetBrains Mono" pitchFamily="34" charset="-122"/>
                <a:cs typeface="JetBrains Mono" pitchFamily="34" charset="-120"/>
              </a:rPr>
              <a:t>→ 주소만 보고도 무슨 일인지 알 수 있다</a:t>
            </a:r>
            <a:endParaRPr lang="en-US" sz="1500" dirty="0"/>
          </a:p>
        </p:txBody>
      </p:sp>
      <p:sp>
        <p:nvSpPr>
          <p:cNvPr id="17" name="b2-0"/>
          <p:cNvSpPr txBox="1"/>
          <p:nvPr/>
        </p:nvSpPr>
        <p:spPr>
          <a:xfrm>
            <a:off x="649224" y="5010848"/>
            <a:ext cx="10890504" cy="408940"/>
          </a:xfrm>
          <a:prstGeom prst="rect">
            <a:avLst/>
          </a:prstGeom>
          <a:noFill/>
          <a:ln/>
        </p:spPr>
        <p:txBody>
          <a:bodyPr wrap="square" lIns="0" tIns="0" rIns="0" bIns="0" rtlCol="0" anchor="t"/>
          <a:lstStyle/>
          <a:p>
            <a:pPr algn="l" indent="0" marL="0">
              <a:lnSpc>
                <a:spcPct val="115000"/>
              </a:lnSpc>
              <a:spcAft>
                <a:spcPts val="600"/>
              </a:spcAft>
              <a:buNone/>
            </a:pPr>
            <a:r>
              <a:rPr lang="en-US" sz="2200" b="1" dirty="0">
                <a:solidFill>
                  <a:schemeClr val="tx1"/>
                </a:solidFill>
                <a:latin typeface="Pretendard" pitchFamily="34" charset="0"/>
                <a:ea typeface="Pretendard" pitchFamily="34" charset="-122"/>
                <a:cs typeface="Pretendard" pitchFamily="34" charset="-120"/>
              </a:rPr>
              <a:t>자원 → URL   ·   행동 → HTTP 메서드   ·   결과 → 상태 코드</a:t>
            </a:r>
            <a:endParaRPr lang="en-US" sz="2200" dirty="0"/>
          </a:p>
        </p:txBody>
      </p:sp>
      <p:sp>
        <p:nvSpPr>
          <p:cNvPr id="1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anim calcmode="lin" valueType="num">
                                      <p:cBhvr>
                                        <p:cTn id="15" dur="450" fill="hold"/>
                                        <p:tgtEl>
                                          <p:spTgt spid="5"/>
                                        </p:tgtEl>
                                        <p:attrNameLst>
                                          <p:attrName>ppt_x</p:attrName>
                                        </p:attrNameLst>
                                      </p:cBhvr>
                                      <p:tavLst>
                                        <p:tav tm="0">
                                          <p:val>
                                            <p:strVal val="#ppt_x"/>
                                          </p:val>
                                        </p:tav>
                                        <p:tav tm="100000">
                                          <p:val>
                                            <p:strVal val="#ppt_x"/>
                                          </p:val>
                                        </p:tav>
                                      </p:tavLst>
                                    </p:anim>
                                    <p:anim calcmode="lin" valueType="num">
                                      <p:cBhvr>
                                        <p:cTn id="16" dur="450" fill="hold"/>
                                        <p:tgtEl>
                                          <p:spTgt spid="5"/>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anim calcmode="lin" valueType="num">
                                      <p:cBhvr>
                                        <p:cTn id="20" dur="450" fill="hold"/>
                                        <p:tgtEl>
                                          <p:spTgt spid="6"/>
                                        </p:tgtEl>
                                        <p:attrNameLst>
                                          <p:attrName>ppt_x</p:attrName>
                                        </p:attrNameLst>
                                      </p:cBhvr>
                                      <p:tavLst>
                                        <p:tav tm="0">
                                          <p:val>
                                            <p:strVal val="#ppt_x"/>
                                          </p:val>
                                        </p:tav>
                                        <p:tav tm="100000">
                                          <p:val>
                                            <p:strVal val="#ppt_x"/>
                                          </p:val>
                                        </p:tav>
                                      </p:tavLst>
                                    </p:anim>
                                    <p:anim calcmode="lin" valueType="num">
                                      <p:cBhvr>
                                        <p:cTn id="21" dur="450" fill="hold"/>
                                        <p:tgtEl>
                                          <p:spTgt spid="6"/>
                                        </p:tgtEl>
                                        <p:attrNameLst>
                                          <p:attrName>ppt_y</p:attrName>
                                        </p:attrNameLst>
                                      </p:cBhvr>
                                      <p:tavLst>
                                        <p:tav tm="0">
                                          <p:val>
                                            <p:strVal val="#ppt_y+0.03"/>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450"/>
                                        <p:tgtEl>
                                          <p:spTgt spid="7"/>
                                        </p:tgtEl>
                                      </p:cBhvr>
                                    </p:animEffect>
                                    <p:anim calcmode="lin" valueType="num">
                                      <p:cBhvr>
                                        <p:cTn id="25" dur="450" fill="hold"/>
                                        <p:tgtEl>
                                          <p:spTgt spid="7"/>
                                        </p:tgtEl>
                                        <p:attrNameLst>
                                          <p:attrName>ppt_x</p:attrName>
                                        </p:attrNameLst>
                                      </p:cBhvr>
                                      <p:tavLst>
                                        <p:tav tm="0">
                                          <p:val>
                                            <p:strVal val="#ppt_x"/>
                                          </p:val>
                                        </p:tav>
                                        <p:tav tm="100000">
                                          <p:val>
                                            <p:strVal val="#ppt_x"/>
                                          </p:val>
                                        </p:tav>
                                      </p:tavLst>
                                    </p:anim>
                                    <p:anim calcmode="lin" valueType="num">
                                      <p:cBhvr>
                                        <p:cTn id="26" dur="450" fill="hold"/>
                                        <p:tgtEl>
                                          <p:spTgt spid="7"/>
                                        </p:tgtEl>
                                        <p:attrNameLst>
                                          <p:attrName>ppt_y</p:attrName>
                                        </p:attrNameLst>
                                      </p:cBhvr>
                                      <p:tavLst>
                                        <p:tav tm="0">
                                          <p:val>
                                            <p:strVal val="#ppt_y+0.03"/>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50"/>
                                        <p:tgtEl>
                                          <p:spTgt spid="8"/>
                                        </p:tgtEl>
                                      </p:cBhvr>
                                    </p:animEffect>
                                    <p:anim calcmode="lin" valueType="num">
                                      <p:cBhvr>
                                        <p:cTn id="30" dur="450" fill="hold"/>
                                        <p:tgtEl>
                                          <p:spTgt spid="8"/>
                                        </p:tgtEl>
                                        <p:attrNameLst>
                                          <p:attrName>ppt_x</p:attrName>
                                        </p:attrNameLst>
                                      </p:cBhvr>
                                      <p:tavLst>
                                        <p:tav tm="0">
                                          <p:val>
                                            <p:strVal val="#ppt_x"/>
                                          </p:val>
                                        </p:tav>
                                        <p:tav tm="100000">
                                          <p:val>
                                            <p:strVal val="#ppt_x"/>
                                          </p:val>
                                        </p:tav>
                                      </p:tavLst>
                                    </p:anim>
                                    <p:anim calcmode="lin" valueType="num">
                                      <p:cBhvr>
                                        <p:cTn id="31" dur="450" fill="hold"/>
                                        <p:tgtEl>
                                          <p:spTgt spid="8"/>
                                        </p:tgtEl>
                                        <p:attrNameLst>
                                          <p:attrName>ppt_y</p:attrName>
                                        </p:attrNameLst>
                                      </p:cBhvr>
                                      <p:tavLst>
                                        <p:tav tm="0">
                                          <p:val>
                                            <p:strVal val="#ppt_y+0.03"/>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50"/>
                                        <p:tgtEl>
                                          <p:spTgt spid="9"/>
                                        </p:tgtEl>
                                      </p:cBhvr>
                                    </p:animEffect>
                                    <p:anim calcmode="lin" valueType="num">
                                      <p:cBhvr>
                                        <p:cTn id="35" dur="450" fill="hold"/>
                                        <p:tgtEl>
                                          <p:spTgt spid="9"/>
                                        </p:tgtEl>
                                        <p:attrNameLst>
                                          <p:attrName>ppt_x</p:attrName>
                                        </p:attrNameLst>
                                      </p:cBhvr>
                                      <p:tavLst>
                                        <p:tav tm="0">
                                          <p:val>
                                            <p:strVal val="#ppt_x"/>
                                          </p:val>
                                        </p:tav>
                                        <p:tav tm="100000">
                                          <p:val>
                                            <p:strVal val="#ppt_x"/>
                                          </p:val>
                                        </p:tav>
                                      </p:tavLst>
                                    </p:anim>
                                    <p:anim calcmode="lin" valueType="num">
                                      <p:cBhvr>
                                        <p:cTn id="36" dur="450" fill="hold"/>
                                        <p:tgtEl>
                                          <p:spTgt spid="9"/>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50"/>
                                        <p:tgtEl>
                                          <p:spTgt spid="10"/>
                                        </p:tgtEl>
                                      </p:cBhvr>
                                    </p:animEffect>
                                    <p:anim calcmode="lin" valueType="num">
                                      <p:cBhvr>
                                        <p:cTn id="40" dur="450" fill="hold"/>
                                        <p:tgtEl>
                                          <p:spTgt spid="10"/>
                                        </p:tgtEl>
                                        <p:attrNameLst>
                                          <p:attrName>ppt_x</p:attrName>
                                        </p:attrNameLst>
                                      </p:cBhvr>
                                      <p:tavLst>
                                        <p:tav tm="0">
                                          <p:val>
                                            <p:strVal val="#ppt_x"/>
                                          </p:val>
                                        </p:tav>
                                        <p:tav tm="100000">
                                          <p:val>
                                            <p:strVal val="#ppt_x"/>
                                          </p:val>
                                        </p:tav>
                                      </p:tavLst>
                                    </p:anim>
                                    <p:anim calcmode="lin" valueType="num">
                                      <p:cBhvr>
                                        <p:cTn id="41" dur="450" fill="hold"/>
                                        <p:tgtEl>
                                          <p:spTgt spid="10"/>
                                        </p:tgtEl>
                                        <p:attrNameLst>
                                          <p:attrName>ppt_y</p:attrName>
                                        </p:attrNameLst>
                                      </p:cBhvr>
                                      <p:tavLst>
                                        <p:tav tm="0">
                                          <p:val>
                                            <p:strVal val="#ppt_y+0.03"/>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450"/>
                                        <p:tgtEl>
                                          <p:spTgt spid="11"/>
                                        </p:tgtEl>
                                      </p:cBhvr>
                                    </p:animEffect>
                                    <p:anim calcmode="lin" valueType="num">
                                      <p:cBhvr>
                                        <p:cTn id="47" dur="450" fill="hold"/>
                                        <p:tgtEl>
                                          <p:spTgt spid="11"/>
                                        </p:tgtEl>
                                        <p:attrNameLst>
                                          <p:attrName>ppt_x</p:attrName>
                                        </p:attrNameLst>
                                      </p:cBhvr>
                                      <p:tavLst>
                                        <p:tav tm="0">
                                          <p:val>
                                            <p:strVal val="#ppt_x"/>
                                          </p:val>
                                        </p:tav>
                                        <p:tav tm="100000">
                                          <p:val>
                                            <p:strVal val="#ppt_x"/>
                                          </p:val>
                                        </p:tav>
                                      </p:tavLst>
                                    </p:anim>
                                    <p:anim calcmode="lin" valueType="num">
                                      <p:cBhvr>
                                        <p:cTn id="48" dur="45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450"/>
                                        <p:tgtEl>
                                          <p:spTgt spid="12"/>
                                        </p:tgtEl>
                                      </p:cBhvr>
                                    </p:animEffect>
                                    <p:anim calcmode="lin" valueType="num">
                                      <p:cBhvr>
                                        <p:cTn id="52" dur="450" fill="hold"/>
                                        <p:tgtEl>
                                          <p:spTgt spid="12"/>
                                        </p:tgtEl>
                                        <p:attrNameLst>
                                          <p:attrName>ppt_x</p:attrName>
                                        </p:attrNameLst>
                                      </p:cBhvr>
                                      <p:tavLst>
                                        <p:tav tm="0">
                                          <p:val>
                                            <p:strVal val="#ppt_x"/>
                                          </p:val>
                                        </p:tav>
                                        <p:tav tm="100000">
                                          <p:val>
                                            <p:strVal val="#ppt_x"/>
                                          </p:val>
                                        </p:tav>
                                      </p:tavLst>
                                    </p:anim>
                                    <p:anim calcmode="lin" valueType="num">
                                      <p:cBhvr>
                                        <p:cTn id="53" dur="450" fill="hold"/>
                                        <p:tgtEl>
                                          <p:spTgt spid="12"/>
                                        </p:tgtEl>
                                        <p:attrNameLst>
                                          <p:attrName>ppt_y</p:attrName>
                                        </p:attrNameLst>
                                      </p:cBhvr>
                                      <p:tavLst>
                                        <p:tav tm="0">
                                          <p:val>
                                            <p:strVal val="#ppt_y+0.03"/>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450"/>
                                        <p:tgtEl>
                                          <p:spTgt spid="13"/>
                                        </p:tgtEl>
                                      </p:cBhvr>
                                    </p:animEffect>
                                    <p:anim calcmode="lin" valueType="num">
                                      <p:cBhvr>
                                        <p:cTn id="57" dur="450" fill="hold"/>
                                        <p:tgtEl>
                                          <p:spTgt spid="13"/>
                                        </p:tgtEl>
                                        <p:attrNameLst>
                                          <p:attrName>ppt_x</p:attrName>
                                        </p:attrNameLst>
                                      </p:cBhvr>
                                      <p:tavLst>
                                        <p:tav tm="0">
                                          <p:val>
                                            <p:strVal val="#ppt_x"/>
                                          </p:val>
                                        </p:tav>
                                        <p:tav tm="100000">
                                          <p:val>
                                            <p:strVal val="#ppt_x"/>
                                          </p:val>
                                        </p:tav>
                                      </p:tavLst>
                                    </p:anim>
                                    <p:anim calcmode="lin" valueType="num">
                                      <p:cBhvr>
                                        <p:cTn id="58" dur="450" fill="hold"/>
                                        <p:tgtEl>
                                          <p:spTgt spid="13"/>
                                        </p:tgtEl>
                                        <p:attrNameLst>
                                          <p:attrName>ppt_y</p:attrName>
                                        </p:attrNameLst>
                                      </p:cBhvr>
                                      <p:tavLst>
                                        <p:tav tm="0">
                                          <p:val>
                                            <p:strVal val="#ppt_y+0.03"/>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450"/>
                                        <p:tgtEl>
                                          <p:spTgt spid="14"/>
                                        </p:tgtEl>
                                      </p:cBhvr>
                                    </p:animEffect>
                                    <p:anim calcmode="lin" valueType="num">
                                      <p:cBhvr>
                                        <p:cTn id="62" dur="450" fill="hold"/>
                                        <p:tgtEl>
                                          <p:spTgt spid="14"/>
                                        </p:tgtEl>
                                        <p:attrNameLst>
                                          <p:attrName>ppt_x</p:attrName>
                                        </p:attrNameLst>
                                      </p:cBhvr>
                                      <p:tavLst>
                                        <p:tav tm="0">
                                          <p:val>
                                            <p:strVal val="#ppt_x"/>
                                          </p:val>
                                        </p:tav>
                                        <p:tav tm="100000">
                                          <p:val>
                                            <p:strVal val="#ppt_x"/>
                                          </p:val>
                                        </p:tav>
                                      </p:tavLst>
                                    </p:anim>
                                    <p:anim calcmode="lin" valueType="num">
                                      <p:cBhvr>
                                        <p:cTn id="63" dur="450" fill="hold"/>
                                        <p:tgtEl>
                                          <p:spTgt spid="14"/>
                                        </p:tgtEl>
                                        <p:attrNameLst>
                                          <p:attrName>ppt_y</p:attrName>
                                        </p:attrNameLst>
                                      </p:cBhvr>
                                      <p:tavLst>
                                        <p:tav tm="0">
                                          <p:val>
                                            <p:strVal val="#ppt_y+0.03"/>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450"/>
                                        <p:tgtEl>
                                          <p:spTgt spid="15"/>
                                        </p:tgtEl>
                                      </p:cBhvr>
                                    </p:animEffect>
                                    <p:anim calcmode="lin" valueType="num">
                                      <p:cBhvr>
                                        <p:cTn id="67" dur="450" fill="hold"/>
                                        <p:tgtEl>
                                          <p:spTgt spid="15"/>
                                        </p:tgtEl>
                                        <p:attrNameLst>
                                          <p:attrName>ppt_x</p:attrName>
                                        </p:attrNameLst>
                                      </p:cBhvr>
                                      <p:tavLst>
                                        <p:tav tm="0">
                                          <p:val>
                                            <p:strVal val="#ppt_x"/>
                                          </p:val>
                                        </p:tav>
                                        <p:tav tm="100000">
                                          <p:val>
                                            <p:strVal val="#ppt_x"/>
                                          </p:val>
                                        </p:tav>
                                      </p:tavLst>
                                    </p:anim>
                                    <p:anim calcmode="lin" valueType="num">
                                      <p:cBhvr>
                                        <p:cTn id="68" dur="450" fill="hold"/>
                                        <p:tgtEl>
                                          <p:spTgt spid="15"/>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450"/>
                                        <p:tgtEl>
                                          <p:spTgt spid="16"/>
                                        </p:tgtEl>
                                      </p:cBhvr>
                                    </p:animEffect>
                                    <p:anim calcmode="lin" valueType="num">
                                      <p:cBhvr>
                                        <p:cTn id="72" dur="450" fill="hold"/>
                                        <p:tgtEl>
                                          <p:spTgt spid="16"/>
                                        </p:tgtEl>
                                        <p:attrNameLst>
                                          <p:attrName>ppt_x</p:attrName>
                                        </p:attrNameLst>
                                      </p:cBhvr>
                                      <p:tavLst>
                                        <p:tav tm="0">
                                          <p:val>
                                            <p:strVal val="#ppt_x"/>
                                          </p:val>
                                        </p:tav>
                                        <p:tav tm="100000">
                                          <p:val>
                                            <p:strVal val="#ppt_x"/>
                                          </p:val>
                                        </p:tav>
                                      </p:tavLst>
                                    </p:anim>
                                    <p:anim calcmode="lin" valueType="num">
                                      <p:cBhvr>
                                        <p:cTn id="73" dur="450" fill="hold"/>
                                        <p:tgtEl>
                                          <p:spTgt spid="16"/>
                                        </p:tgtEl>
                                        <p:attrNameLst>
                                          <p:attrName>ppt_y</p:attrName>
                                        </p:attrNameLst>
                                      </p:cBhvr>
                                      <p:tavLst>
                                        <p:tav tm="0">
                                          <p:val>
                                            <p:strVal val="#ppt_y+0.03"/>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450"/>
                                        <p:tgtEl>
                                          <p:spTgt spid="17"/>
                                        </p:tgtEl>
                                      </p:cBhvr>
                                    </p:animEffect>
                                    <p:anim calcmode="lin" valueType="num">
                                      <p:cBhvr>
                                        <p:cTn id="77" dur="450" fill="hold"/>
                                        <p:tgtEl>
                                          <p:spTgt spid="17"/>
                                        </p:tgtEl>
                                        <p:attrNameLst>
                                          <p:attrName>ppt_x</p:attrName>
                                        </p:attrNameLst>
                                      </p:cBhvr>
                                      <p:tavLst>
                                        <p:tav tm="0">
                                          <p:val>
                                            <p:strVal val="#ppt_x"/>
                                          </p:val>
                                        </p:tav>
                                        <p:tav tm="100000">
                                          <p:val>
                                            <p:strVal val="#ppt_x"/>
                                          </p:val>
                                        </p:tav>
                                      </p:tavLst>
                                    </p:anim>
                                    <p:anim calcmode="lin" valueType="num">
                                      <p:cBhvr>
                                        <p:cTn id="78" dur="450" fill="hold"/>
                                        <p:tgtEl>
                                          <p:spTgt spid="1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INTRO</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왜 요청을 보내나</a:t>
            </a:r>
            <a:endParaRPr lang="en-US" sz="3200" dirty="0"/>
          </a:p>
        </p:txBody>
      </p:sp>
      <p:graphicFrame>
        <p:nvGraphicFramePr>
          <p:cNvPr id="4" name="b0-0"/>
          <p:cNvGraphicFramePr>
            <a:graphicFrameLocks noGrp="1"/>
          </p:cNvGraphicFramePr>
          <p:nvPr>
            <p:extLst>
              <p:ext uri="{D42A27DB-BD31-4B8C-83A1-F6EECF244321}">
                <p14:modId xmlns:p14="http://schemas.microsoft.com/office/powerpoint/2010/main" val="1579011935"/>
              </p:ext>
            </p:extLst>
          </p:nvPr>
        </p:nvGraphicFramePr>
        <p:xfrm>
          <a:off x="649224" y="1581912"/>
          <a:ext cx="10890504" cy="914400"/>
        </p:xfrm>
        <a:graphic>
          <a:graphicData uri="http://schemas.openxmlformats.org/drawingml/2006/table">
            <a:tbl>
              <a:tblPr/>
              <a:tblGrid>
                <a:gridCol w="2745505"/>
                <a:gridCol w="3111573"/>
                <a:gridCol w="2745505"/>
                <a:gridCol w="2287921"/>
              </a:tblGrid>
              <a:tr h="566928">
                <a:tc>
                  <a:txBody>
                    <a:bodyPr/>
                    <a:lstStyle/>
                    <a:p>
                      <a:pPr indent="0" marL="0">
                        <a:buNone/>
                      </a:pPr>
                      <a:r>
                        <a:rPr lang="en-US" sz="1400" dirty="0">
                          <a:solidFill>
                            <a:schemeClr val="accent3"/>
                          </a:solidFill>
                        </a:rPr>
                        <a:t>사용자가 화면에서 하는 일</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클라이언트가 보내는 요청</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서버가 하는 일</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응답</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566928">
                <a:tc>
                  <a:txBody>
                    <a:bodyPr/>
                    <a:lstStyle/>
                    <a:p>
                      <a:pPr indent="0" marL="0">
                        <a:buNone/>
                      </a:pPr>
                      <a:r>
                        <a:rPr lang="en-US" sz="1700" dirty="0">
                          <a:solidFill>
                            <a:schemeClr val="tx1"/>
                          </a:solidFill>
                        </a:rPr>
                        <a:t>블로그 첫 화면을 연다</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GET /api/v1/posts</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DB에서 글 목록 조회</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200 + 글 목록</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66928">
                <a:tc>
                  <a:txBody>
                    <a:bodyPr/>
                    <a:lstStyle/>
                    <a:p>
                      <a:pPr indent="0" marL="0">
                        <a:buNone/>
                      </a:pPr>
                      <a:r>
                        <a:rPr lang="en-US" sz="1700" dirty="0">
                          <a:solidFill>
                            <a:schemeClr val="tx1"/>
                          </a:solidFill>
                        </a:rPr>
                        <a:t>42번 글을 누른다</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GET /api/v1/posts/42</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42번 글 조회</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200 + 글 내용</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66928">
                <a:tc>
                  <a:txBody>
                    <a:bodyPr/>
                    <a:lstStyle/>
                    <a:p>
                      <a:pPr indent="0" marL="0">
                        <a:buNone/>
                      </a:pPr>
                      <a:r>
                        <a:rPr lang="en-US" sz="1700" dirty="0">
                          <a:solidFill>
                            <a:schemeClr val="tx1"/>
                          </a:solidFill>
                        </a:rPr>
                        <a:t>글을 쓰고 저장한다</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POST /api/v1/posts</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DB에 새 글 저장</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201 + 새 글 주소</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66928">
                <a:tc>
                  <a:txBody>
                    <a:bodyPr/>
                    <a:lstStyle/>
                    <a:p>
                      <a:pPr indent="0" marL="0">
                        <a:buNone/>
                      </a:pPr>
                      <a:r>
                        <a:rPr lang="en-US" sz="1700" dirty="0">
                          <a:solidFill>
                            <a:schemeClr val="tx1"/>
                          </a:solidFill>
                        </a:rPr>
                        <a:t>내 글을 삭제한다</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DELETE /api/v1/posts/42</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DB에서 42번 글 삭제</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204</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5" name="b1-0"/>
          <p:cNvSpPr/>
          <p:nvPr/>
        </p:nvSpPr>
        <p:spPr>
          <a:xfrm>
            <a:off x="649224" y="4690872"/>
            <a:ext cx="10890504" cy="612648"/>
          </a:xfrm>
          <a:prstGeom prst="roundRect">
            <a:avLst>
              <a:gd name="adj" fmla="val 17910"/>
            </a:avLst>
          </a:prstGeom>
          <a:solidFill>
            <a:schemeClr val="bg2"/>
          </a:solidFill>
          <a:ln/>
        </p:spPr>
      </p:sp>
      <p:sp>
        <p:nvSpPr>
          <p:cNvPr id="6" name="b1-1"/>
          <p:cNvSpPr txBox="1"/>
          <p:nvPr/>
        </p:nvSpPr>
        <p:spPr>
          <a:xfrm>
            <a:off x="877824" y="4690872"/>
            <a:ext cx="10433304" cy="612648"/>
          </a:xfrm>
          <a:prstGeom prst="rect">
            <a:avLst/>
          </a:prstGeom>
          <a:noFill/>
          <a:ln/>
        </p:spPr>
        <p:txBody>
          <a:bodyPr wrap="square" lIns="0" tIns="0" rIns="0" bIns="0" rtlCol="0" anchor="ctr"/>
          <a:lstStyle/>
          <a:p>
            <a:pPr algn="l" indent="0" marL="0">
              <a:lnSpc>
                <a:spcPct val="100000"/>
              </a:lnSpc>
              <a:buNone/>
            </a:pPr>
            <a:r>
              <a:rPr lang="en-US" sz="1800" dirty="0">
                <a:solidFill>
                  <a:schemeClr val="tx1"/>
                </a:solidFill>
              </a:rPr>
              <a:t>화면에 보이는 글 · 댓글 · 회원 정보는 사용자 기기가 아니라 서버의 DB에 있다</a:t>
            </a:r>
            <a:endParaRPr lang="en-US" sz="1800" dirty="0"/>
          </a:p>
        </p:txBody>
      </p:sp>
      <p:sp>
        <p:nvSpPr>
          <p:cNvPr id="7"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11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INTRO</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클라이언트와 서버</a:t>
            </a:r>
            <a:endParaRPr lang="en-US" sz="3200" dirty="0"/>
          </a:p>
        </p:txBody>
      </p:sp>
      <p:pic>
        <p:nvPicPr>
          <p:cNvPr id="4" name="b0-0" descr="/tmp/ccp-1581-xb8ynoovq4.png">    </p:cNvPr>
          <p:cNvPicPr>
            <a:picLocks noChangeAspect="1"/>
          </p:cNvPicPr>
          <p:nvPr/>
        </p:nvPicPr>
        <p:blipFill>
          <a:blip r:embed="rId1"/>
          <a:stretch>
            <a:fillRect/>
          </a:stretch>
        </p:blipFill>
        <p:spPr>
          <a:xfrm>
            <a:off x="1995487" y="1888236"/>
            <a:ext cx="8197979" cy="2834640"/>
          </a:xfrm>
          <a:prstGeom prst="rect">
            <a:avLst/>
          </a:prstGeom>
        </p:spPr>
      </p:pic>
      <p:sp>
        <p:nvSpPr>
          <p:cNvPr id="5" name="b1-0"/>
          <p:cNvSpPr/>
          <p:nvPr/>
        </p:nvSpPr>
        <p:spPr>
          <a:xfrm>
            <a:off x="649224" y="4951476"/>
            <a:ext cx="10890504" cy="868680"/>
          </a:xfrm>
          <a:prstGeom prst="roundRect">
            <a:avLst>
              <a:gd name="adj" fmla="val 12632"/>
            </a:avLst>
          </a:prstGeom>
          <a:solidFill>
            <a:schemeClr val="accent1"/>
          </a:solidFill>
          <a:ln/>
        </p:spPr>
      </p:sp>
      <p:sp>
        <p:nvSpPr>
          <p:cNvPr id="6" name="b1-1"/>
          <p:cNvSpPr txBox="1"/>
          <p:nvPr/>
        </p:nvSpPr>
        <p:spPr>
          <a:xfrm>
            <a:off x="1014984" y="4951476"/>
            <a:ext cx="10158984" cy="868680"/>
          </a:xfrm>
          <a:prstGeom prst="rect">
            <a:avLst/>
          </a:prstGeom>
          <a:noFill/>
          <a:ln/>
        </p:spPr>
        <p:txBody>
          <a:bodyPr wrap="square" lIns="0" tIns="0" rIns="0" bIns="0" rtlCol="0" anchor="ctr"/>
          <a:lstStyle/>
          <a:p>
            <a:pPr algn="l" indent="0" marL="0">
              <a:lnSpc>
                <a:spcPct val="115000"/>
              </a:lnSpc>
              <a:spcAft>
                <a:spcPts val="600"/>
              </a:spcAft>
              <a:buNone/>
            </a:pPr>
            <a:r>
              <a:rPr lang="en-US" sz="2200" b="1" dirty="0">
                <a:solidFill>
                  <a:schemeClr val="tx1"/>
                </a:solidFill>
                <a:latin typeface="Pretendard" pitchFamily="34" charset="0"/>
                <a:ea typeface="Pretendard" pitchFamily="34" charset="-122"/>
                <a:cs typeface="Pretendard" pitchFamily="34" charset="-120"/>
              </a:rPr>
              <a:t>클라이언트는 DB를 직접 열지 않고, 항상 API를 거친다</a:t>
            </a:r>
            <a:endParaRPr lang="en-US" sz="2200" dirty="0"/>
          </a:p>
        </p:txBody>
      </p:sp>
      <p:sp>
        <p:nvSpPr>
          <p:cNvPr id="7"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anim calcmode="lin" valueType="num">
                                      <p:cBhvr>
                                        <p:cTn id="15" dur="450" fill="hold"/>
                                        <p:tgtEl>
                                          <p:spTgt spid="5"/>
                                        </p:tgtEl>
                                        <p:attrNameLst>
                                          <p:attrName>ppt_x</p:attrName>
                                        </p:attrNameLst>
                                      </p:cBhvr>
                                      <p:tavLst>
                                        <p:tav tm="0">
                                          <p:val>
                                            <p:strVal val="#ppt_x"/>
                                          </p:val>
                                        </p:tav>
                                        <p:tav tm="100000">
                                          <p:val>
                                            <p:strVal val="#ppt_x"/>
                                          </p:val>
                                        </p:tav>
                                      </p:tavLst>
                                    </p:anim>
                                    <p:anim calcmode="lin" valueType="num">
                                      <p:cBhvr>
                                        <p:cTn id="16" dur="450" fill="hold"/>
                                        <p:tgtEl>
                                          <p:spTgt spid="5"/>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anim calcmode="lin" valueType="num">
                                      <p:cBhvr>
                                        <p:cTn id="20" dur="450" fill="hold"/>
                                        <p:tgtEl>
                                          <p:spTgt spid="6"/>
                                        </p:tgtEl>
                                        <p:attrNameLst>
                                          <p:attrName>ppt_x</p:attrName>
                                        </p:attrNameLst>
                                      </p:cBhvr>
                                      <p:tavLst>
                                        <p:tav tm="0">
                                          <p:val>
                                            <p:strVal val="#ppt_x"/>
                                          </p:val>
                                        </p:tav>
                                        <p:tav tm="100000">
                                          <p:val>
                                            <p:strVal val="#ppt_x"/>
                                          </p:val>
                                        </p:tav>
                                      </p:tavLst>
                                    </p:anim>
                                    <p:anim calcmode="lin" valueType="num">
                                      <p:cBhvr>
                                        <p:cTn id="21" dur="450" fill="hold"/>
                                        <p:tgtEl>
                                          <p:spTgt spid="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INTRO</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요청은 세 부분: 요청 줄 · 헤더 · 바디</a:t>
            </a:r>
            <a:endParaRPr lang="en-US" sz="3200" dirty="0"/>
          </a:p>
        </p:txBody>
      </p:sp>
      <p:sp>
        <p:nvSpPr>
          <p:cNvPr id="4" name="badge"/>
          <p:cNvSpPr/>
          <p:nvPr/>
        </p:nvSpPr>
        <p:spPr>
          <a:xfrm>
            <a:off x="9025128" y="384048"/>
            <a:ext cx="2514600" cy="310896"/>
          </a:xfrm>
          <a:prstGeom prst="roundRect">
            <a:avLst>
              <a:gd name="adj" fmla="val 50000"/>
            </a:avLst>
          </a:prstGeom>
          <a:solidFill>
            <a:srgbClr val="E8E0D2"/>
          </a:solidFill>
          <a:ln/>
        </p:spPr>
      </p:sp>
      <p:sp>
        <p:nvSpPr>
          <p:cNvPr id="5" name="badge-text"/>
          <p:cNvSpPr txBox="1"/>
          <p:nvPr/>
        </p:nvSpPr>
        <p:spPr>
          <a:xfrm>
            <a:off x="9025128" y="384048"/>
            <a:ext cx="2514600" cy="310896"/>
          </a:xfrm>
          <a:prstGeom prst="rect">
            <a:avLst/>
          </a:prstGeom>
          <a:noFill/>
          <a:ln/>
        </p:spPr>
        <p:txBody>
          <a:bodyPr wrap="square" lIns="0" tIns="0" rIns="0" bIns="0" rtlCol="0" anchor="ctr"/>
          <a:lstStyle/>
          <a:p>
            <a:pPr algn="ctr" indent="0" marL="0">
              <a:buNone/>
            </a:pPr>
            <a:r>
              <a:rPr lang="en-US" sz="1200" dirty="0">
                <a:solidFill>
                  <a:schemeClr val="accent3"/>
                </a:solidFill>
              </a:rPr>
              <a:t>글결 REST Docs · 재구성 화면</a:t>
            </a:r>
            <a:endParaRPr lang="en-US" sz="1200" dirty="0"/>
          </a:p>
        </p:txBody>
      </p:sp>
      <p:pic>
        <p:nvPicPr>
          <p:cNvPr id="6" name="b0c0-0" descr="/tmp/ccp-1581-3nr68tfssc1.png">    </p:cNvPr>
          <p:cNvPicPr>
            <a:picLocks noChangeAspect="1"/>
          </p:cNvPicPr>
          <p:nvPr/>
        </p:nvPicPr>
        <p:blipFill>
          <a:blip r:embed="rId1"/>
          <a:stretch>
            <a:fillRect/>
          </a:stretch>
        </p:blipFill>
        <p:spPr>
          <a:xfrm>
            <a:off x="1060704" y="1734566"/>
            <a:ext cx="6373368" cy="3300182"/>
          </a:xfrm>
          <a:prstGeom prst="rect">
            <a:avLst/>
          </a:prstGeom>
        </p:spPr>
      </p:pic>
      <p:sp>
        <p:nvSpPr>
          <p:cNvPr id="7" name="b0c0-1"/>
          <p:cNvSpPr/>
          <p:nvPr/>
        </p:nvSpPr>
        <p:spPr>
          <a:xfrm>
            <a:off x="1060704" y="1734566"/>
            <a:ext cx="6373368" cy="3300182"/>
          </a:xfrm>
          <a:prstGeom prst="rect">
            <a:avLst/>
          </a:prstGeom>
          <a:ln w="9525">
            <a:solidFill>
              <a:srgbClr val="E6DFD8"/>
            </a:solidFill>
            <a:prstDash val="solid"/>
          </a:ln>
        </p:spPr>
      </p:sp>
      <p:sp>
        <p:nvSpPr>
          <p:cNvPr id="8" name="b0c0m0-2"/>
          <p:cNvSpPr/>
          <p:nvPr/>
        </p:nvSpPr>
        <p:spPr>
          <a:xfrm>
            <a:off x="1188770" y="1886732"/>
            <a:ext cx="4110143" cy="245698"/>
          </a:xfrm>
          <a:prstGeom prst="roundRect">
            <a:avLst>
              <a:gd name="adj" fmla="val 22330"/>
            </a:avLst>
          </a:prstGeom>
          <a:ln w="19050">
            <a:solidFill>
              <a:schemeClr val="tx1"/>
            </a:solidFill>
            <a:prstDash val="solid"/>
          </a:ln>
        </p:spPr>
      </p:sp>
      <p:sp>
        <p:nvSpPr>
          <p:cNvPr id="9" name="b0c0m0-3"/>
          <p:cNvSpPr/>
          <p:nvPr/>
        </p:nvSpPr>
        <p:spPr>
          <a:xfrm>
            <a:off x="676656" y="1872421"/>
            <a:ext cx="274320" cy="274320"/>
          </a:xfrm>
          <a:prstGeom prst="ellipse">
            <a:avLst/>
          </a:prstGeom>
          <a:solidFill>
            <a:schemeClr val="tx2"/>
          </a:solidFill>
          <a:ln/>
        </p:spPr>
      </p:sp>
      <p:sp>
        <p:nvSpPr>
          <p:cNvPr id="10" name="b0c0m0-4"/>
          <p:cNvSpPr txBox="1"/>
          <p:nvPr/>
        </p:nvSpPr>
        <p:spPr>
          <a:xfrm>
            <a:off x="676656" y="1872421"/>
            <a:ext cx="274320" cy="274320"/>
          </a:xfrm>
          <a:prstGeom prst="rect">
            <a:avLst/>
          </a:prstGeom>
          <a:noFill/>
          <a:ln/>
        </p:spPr>
        <p:txBody>
          <a:bodyPr wrap="square" lIns="0" tIns="0" rIns="0" bIns="0" rtlCol="0" anchor="ctr"/>
          <a:lstStyle/>
          <a:p>
            <a:pPr algn="ctr" indent="0" marL="0">
              <a:buNone/>
            </a:pPr>
            <a:r>
              <a:rPr lang="en-US" sz="1300" b="1" dirty="0">
                <a:solidFill>
                  <a:srgbClr val="FAF9F5"/>
                </a:solidFill>
                <a:latin typeface="Pretendard" pitchFamily="34" charset="0"/>
                <a:ea typeface="Pretendard" pitchFamily="34" charset="-122"/>
                <a:cs typeface="Pretendard" pitchFamily="34" charset="-120"/>
              </a:rPr>
              <a:t>1</a:t>
            </a:r>
            <a:endParaRPr lang="en-US" sz="1300" dirty="0"/>
          </a:p>
        </p:txBody>
      </p:sp>
      <p:sp>
        <p:nvSpPr>
          <p:cNvPr id="11" name="b0c0m1-5"/>
          <p:cNvSpPr/>
          <p:nvPr/>
        </p:nvSpPr>
        <p:spPr>
          <a:xfrm>
            <a:off x="1188770" y="2135555"/>
            <a:ext cx="6101002" cy="1489814"/>
          </a:xfrm>
          <a:prstGeom prst="roundRect">
            <a:avLst>
              <a:gd name="adj" fmla="val 3683"/>
            </a:avLst>
          </a:prstGeom>
          <a:ln w="19050">
            <a:solidFill>
              <a:schemeClr val="tx1"/>
            </a:solidFill>
            <a:prstDash val="solid"/>
          </a:ln>
        </p:spPr>
      </p:sp>
      <p:sp>
        <p:nvSpPr>
          <p:cNvPr id="12" name="b0c0m1-6"/>
          <p:cNvSpPr/>
          <p:nvPr/>
        </p:nvSpPr>
        <p:spPr>
          <a:xfrm>
            <a:off x="676656" y="2743303"/>
            <a:ext cx="274320" cy="274320"/>
          </a:xfrm>
          <a:prstGeom prst="ellipse">
            <a:avLst/>
          </a:prstGeom>
          <a:solidFill>
            <a:schemeClr val="tx2"/>
          </a:solidFill>
          <a:ln/>
        </p:spPr>
      </p:sp>
      <p:sp>
        <p:nvSpPr>
          <p:cNvPr id="13" name="b0c0m1-7"/>
          <p:cNvSpPr txBox="1"/>
          <p:nvPr/>
        </p:nvSpPr>
        <p:spPr>
          <a:xfrm>
            <a:off x="676656" y="2743303"/>
            <a:ext cx="274320" cy="274320"/>
          </a:xfrm>
          <a:prstGeom prst="rect">
            <a:avLst/>
          </a:prstGeom>
          <a:noFill/>
          <a:ln/>
        </p:spPr>
        <p:txBody>
          <a:bodyPr wrap="square" lIns="0" tIns="0" rIns="0" bIns="0" rtlCol="0" anchor="ctr"/>
          <a:lstStyle/>
          <a:p>
            <a:pPr algn="ctr" indent="0" marL="0">
              <a:buNone/>
            </a:pPr>
            <a:r>
              <a:rPr lang="en-US" sz="1300" b="1" dirty="0">
                <a:solidFill>
                  <a:srgbClr val="FAF9F5"/>
                </a:solidFill>
                <a:latin typeface="Pretendard" pitchFamily="34" charset="0"/>
                <a:ea typeface="Pretendard" pitchFamily="34" charset="-122"/>
                <a:cs typeface="Pretendard" pitchFamily="34" charset="-120"/>
              </a:rPr>
              <a:t>2</a:t>
            </a:r>
            <a:endParaRPr lang="en-US" sz="1300" dirty="0"/>
          </a:p>
        </p:txBody>
      </p:sp>
      <p:sp>
        <p:nvSpPr>
          <p:cNvPr id="14" name="b0c0m2-8"/>
          <p:cNvSpPr/>
          <p:nvPr/>
        </p:nvSpPr>
        <p:spPr>
          <a:xfrm>
            <a:off x="1188770" y="3877318"/>
            <a:ext cx="2616931" cy="992168"/>
          </a:xfrm>
          <a:prstGeom prst="roundRect">
            <a:avLst>
              <a:gd name="adj" fmla="val 5530"/>
            </a:avLst>
          </a:prstGeom>
          <a:ln w="19050">
            <a:solidFill>
              <a:schemeClr val="tx1"/>
            </a:solidFill>
            <a:prstDash val="solid"/>
          </a:ln>
        </p:spPr>
      </p:sp>
      <p:sp>
        <p:nvSpPr>
          <p:cNvPr id="15" name="b0c0m2-9"/>
          <p:cNvSpPr/>
          <p:nvPr/>
        </p:nvSpPr>
        <p:spPr>
          <a:xfrm>
            <a:off x="676656" y="4236242"/>
            <a:ext cx="274320" cy="274320"/>
          </a:xfrm>
          <a:prstGeom prst="ellipse">
            <a:avLst/>
          </a:prstGeom>
          <a:solidFill>
            <a:schemeClr val="tx2"/>
          </a:solidFill>
          <a:ln/>
        </p:spPr>
      </p:sp>
      <p:sp>
        <p:nvSpPr>
          <p:cNvPr id="16" name="b0c0m2-10"/>
          <p:cNvSpPr txBox="1"/>
          <p:nvPr/>
        </p:nvSpPr>
        <p:spPr>
          <a:xfrm>
            <a:off x="676656" y="4236242"/>
            <a:ext cx="274320" cy="274320"/>
          </a:xfrm>
          <a:prstGeom prst="rect">
            <a:avLst/>
          </a:prstGeom>
          <a:noFill/>
          <a:ln/>
        </p:spPr>
        <p:txBody>
          <a:bodyPr wrap="square" lIns="0" tIns="0" rIns="0" bIns="0" rtlCol="0" anchor="ctr"/>
          <a:lstStyle/>
          <a:p>
            <a:pPr algn="ctr" indent="0" marL="0">
              <a:buNone/>
            </a:pPr>
            <a:r>
              <a:rPr lang="en-US" sz="1300" b="1" dirty="0">
                <a:solidFill>
                  <a:srgbClr val="FAF9F5"/>
                </a:solidFill>
                <a:latin typeface="Pretendard" pitchFamily="34" charset="0"/>
                <a:ea typeface="Pretendard" pitchFamily="34" charset="-122"/>
                <a:cs typeface="Pretendard" pitchFamily="34" charset="-120"/>
              </a:rPr>
              <a:t>3</a:t>
            </a:r>
            <a:endParaRPr lang="en-US" sz="1300" dirty="0"/>
          </a:p>
        </p:txBody>
      </p:sp>
      <p:sp>
        <p:nvSpPr>
          <p:cNvPr id="17" name="b0c1-11"/>
          <p:cNvSpPr txBox="1"/>
          <p:nvPr/>
        </p:nvSpPr>
        <p:spPr>
          <a:xfrm>
            <a:off x="7662672" y="1734566"/>
            <a:ext cx="3877056" cy="4239260"/>
          </a:xfrm>
          <a:prstGeom prst="rect">
            <a:avLst/>
          </a:prstGeom>
          <a:noFill/>
          <a:ln/>
        </p:spPr>
        <p:txBody>
          <a:bodyPr wrap="square" lIns="0" tIns="0" rIns="0" bIns="0" rtlCol="0" anchor="t"/>
          <a:lstStyle/>
          <a:p>
            <a:pPr algn="l" indent="0" marL="0">
              <a:lnSpc>
                <a:spcPct val="115000"/>
              </a:lnSpc>
              <a:spcAft>
                <a:spcPts val="300"/>
              </a:spcAft>
              <a:buNone/>
            </a:pPr>
            <a:r>
              <a:rPr lang="en-US" sz="1900" b="1" dirty="0">
                <a:solidFill>
                  <a:srgbClr val="3D3D3A"/>
                </a:solidFill>
                <a:latin typeface="Pretendard" pitchFamily="34" charset="0"/>
                <a:ea typeface="Pretendard" pitchFamily="34" charset="-122"/>
                <a:cs typeface="Pretendard" pitchFamily="34" charset="-120"/>
              </a:rPr>
              <a:t>①  요청 줄</a:t>
            </a:r>
            <a:endParaRPr lang="en-US" sz="1900" dirty="0"/>
          </a:p>
          <a:p>
            <a:pPr algn="l" indent="0" marL="0">
              <a:lnSpc>
                <a:spcPct val="115000"/>
              </a:lnSpc>
              <a:spcAft>
                <a:spcPts val="300"/>
              </a:spcAft>
              <a:buNone/>
            </a:pPr>
            <a:r>
              <a:rPr lang="en-US" sz="1600" dirty="0">
                <a:solidFill>
                  <a:srgbClr val="3D3D3A"/>
                </a:solidFill>
              </a:rPr>
              <a:t>메서드 · 주소 · HTTP 버전</a:t>
            </a:r>
            <a:endParaRPr lang="en-US" sz="1900" dirty="0"/>
          </a:p>
          <a:p>
            <a:pPr algn="l" indent="0" marL="0">
              <a:lnSpc>
                <a:spcPct val="115000"/>
              </a:lnSpc>
              <a:spcAft>
                <a:spcPts val="300"/>
              </a:spcAft>
              <a:buNone/>
            </a:pPr>
            <a:r>
              <a:rPr lang="en-US" sz="1600" dirty="0">
                <a:solidFill>
                  <a:schemeClr val="accent3"/>
                </a:solidFill>
              </a:rPr>
              <a:t>무엇을 어디에 하라는지</a:t>
            </a:r>
            <a:endParaRPr lang="en-US" sz="1900" dirty="0"/>
          </a:p>
          <a:p>
            <a:pPr algn="l" indent="0" marL="0">
              <a:lnSpc>
                <a:spcPct val="115000"/>
              </a:lnSpc>
              <a:spcAft>
                <a:spcPts val="300"/>
              </a:spcAft>
              <a:buNone/>
            </a:pPr>
            <a:r>
              <a:rPr lang="en-US" sz="800" dirty="0">
                <a:solidFill>
                  <a:srgbClr val="3D3D3A"/>
                </a:solidFill>
              </a:rPr>
              <a:t> </a:t>
            </a:r>
            <a:endParaRPr lang="en-US" sz="1900" dirty="0"/>
          </a:p>
          <a:p>
            <a:pPr algn="l" indent="0" marL="0">
              <a:lnSpc>
                <a:spcPct val="115000"/>
              </a:lnSpc>
              <a:spcAft>
                <a:spcPts val="300"/>
              </a:spcAft>
              <a:buNone/>
            </a:pPr>
            <a:r>
              <a:rPr lang="en-US" sz="1900" b="1" dirty="0">
                <a:solidFill>
                  <a:srgbClr val="3D3D3A"/>
                </a:solidFill>
                <a:latin typeface="Pretendard" pitchFamily="34" charset="0"/>
                <a:ea typeface="Pretendard" pitchFamily="34" charset="-122"/>
                <a:cs typeface="Pretendard" pitchFamily="34" charset="-120"/>
              </a:rPr>
              <a:t>②  헤더: 요청에 대한 부가 정보</a:t>
            </a:r>
            <a:endParaRPr lang="en-US" sz="1900" dirty="0"/>
          </a:p>
          <a:p>
            <a:pPr algn="l" indent="0" marL="0">
              <a:lnSpc>
                <a:spcPct val="115000"/>
              </a:lnSpc>
              <a:spcAft>
                <a:spcPts val="300"/>
              </a:spcAft>
              <a:buNone/>
            </a:pPr>
            <a:r>
              <a:rPr lang="en-US" sz="1500" dirty="0">
                <a:solidFill>
                  <a:schemeClr val="tx1"/>
                </a:solidFill>
                <a:latin typeface="JetBrains Mono" pitchFamily="34" charset="0"/>
                <a:ea typeface="JetBrains Mono" pitchFamily="34" charset="-122"/>
                <a:cs typeface="JetBrains Mono" pitchFamily="34" charset="-120"/>
              </a:rPr>
              <a:t>Content-Type</a:t>
            </a:r>
            <a:pPr algn="l" indent="0" marL="0">
              <a:lnSpc>
                <a:spcPct val="115000"/>
              </a:lnSpc>
              <a:spcAft>
                <a:spcPts val="300"/>
              </a:spcAft>
              <a:buNone/>
            </a:pPr>
            <a:r>
              <a:rPr lang="en-US" sz="1600" dirty="0">
                <a:solidFill>
                  <a:srgbClr val="3D3D3A"/>
                </a:solidFill>
              </a:rPr>
              <a:t>  바디 형식 (JSON)</a:t>
            </a:r>
            <a:endParaRPr lang="en-US" sz="1900" dirty="0"/>
          </a:p>
          <a:p>
            <a:pPr algn="l" indent="0" marL="0">
              <a:lnSpc>
                <a:spcPct val="115000"/>
              </a:lnSpc>
              <a:spcAft>
                <a:spcPts val="300"/>
              </a:spcAft>
              <a:buNone/>
            </a:pPr>
            <a:r>
              <a:rPr lang="en-US" sz="1500" dirty="0">
                <a:solidFill>
                  <a:schemeClr val="tx1"/>
                </a:solidFill>
                <a:latin typeface="JetBrains Mono" pitchFamily="34" charset="0"/>
                <a:ea typeface="JetBrains Mono" pitchFamily="34" charset="-122"/>
                <a:cs typeface="JetBrains Mono" pitchFamily="34" charset="-120"/>
              </a:rPr>
              <a:t>X-XSRF-TOKEN · Cookie</a:t>
            </a:r>
            <a:pPr algn="l" indent="0" marL="0">
              <a:lnSpc>
                <a:spcPct val="115000"/>
              </a:lnSpc>
              <a:spcAft>
                <a:spcPts val="300"/>
              </a:spcAft>
              <a:buNone/>
            </a:pPr>
            <a:r>
              <a:rPr lang="en-US" sz="1600" dirty="0">
                <a:solidFill>
                  <a:srgbClr val="3D3D3A"/>
                </a:solidFill>
              </a:rPr>
              <a:t>  보안 토큰</a:t>
            </a:r>
            <a:endParaRPr lang="en-US" sz="1900" dirty="0"/>
          </a:p>
          <a:p>
            <a:pPr algn="l" indent="0" marL="0">
              <a:lnSpc>
                <a:spcPct val="115000"/>
              </a:lnSpc>
              <a:spcAft>
                <a:spcPts val="300"/>
              </a:spcAft>
              <a:buNone/>
            </a:pPr>
            <a:r>
              <a:rPr lang="en-US" sz="1500" dirty="0">
                <a:solidFill>
                  <a:schemeClr val="tx1"/>
                </a:solidFill>
                <a:latin typeface="JetBrains Mono" pitchFamily="34" charset="0"/>
                <a:ea typeface="JetBrains Mono" pitchFamily="34" charset="-122"/>
                <a:cs typeface="JetBrains Mono" pitchFamily="34" charset="-120"/>
              </a:rPr>
              <a:t>Host</a:t>
            </a:r>
            <a:pPr algn="l" indent="0" marL="0">
              <a:lnSpc>
                <a:spcPct val="115000"/>
              </a:lnSpc>
              <a:spcAft>
                <a:spcPts val="300"/>
              </a:spcAft>
              <a:buNone/>
            </a:pPr>
            <a:r>
              <a:rPr lang="en-US" sz="1600" dirty="0">
                <a:solidFill>
                  <a:srgbClr val="3D3D3A"/>
                </a:solidFill>
              </a:rPr>
              <a:t>  받는 서버</a:t>
            </a:r>
            <a:endParaRPr lang="en-US" sz="1900" dirty="0"/>
          </a:p>
          <a:p>
            <a:pPr algn="l" indent="0" marL="0">
              <a:lnSpc>
                <a:spcPct val="115000"/>
              </a:lnSpc>
              <a:spcAft>
                <a:spcPts val="300"/>
              </a:spcAft>
              <a:buNone/>
            </a:pPr>
            <a:r>
              <a:rPr lang="en-US" sz="1500" dirty="0">
                <a:solidFill>
                  <a:schemeClr val="tx1"/>
                </a:solidFill>
                <a:latin typeface="JetBrains Mono" pitchFamily="34" charset="0"/>
                <a:ea typeface="JetBrains Mono" pitchFamily="34" charset="-122"/>
                <a:cs typeface="JetBrains Mono" pitchFamily="34" charset="-120"/>
              </a:rPr>
              <a:t>Content-Length</a:t>
            </a:r>
            <a:pPr algn="l" indent="0" marL="0">
              <a:lnSpc>
                <a:spcPct val="115000"/>
              </a:lnSpc>
              <a:spcAft>
                <a:spcPts val="300"/>
              </a:spcAft>
              <a:buNone/>
            </a:pPr>
            <a:r>
              <a:rPr lang="en-US" sz="1600" dirty="0">
                <a:solidFill>
                  <a:srgbClr val="3D3D3A"/>
                </a:solidFill>
              </a:rPr>
              <a:t>  바디 길이</a:t>
            </a:r>
            <a:endParaRPr lang="en-US" sz="1900" dirty="0"/>
          </a:p>
          <a:p>
            <a:pPr algn="l" indent="0" marL="0">
              <a:lnSpc>
                <a:spcPct val="115000"/>
              </a:lnSpc>
              <a:spcAft>
                <a:spcPts val="300"/>
              </a:spcAft>
              <a:buNone/>
            </a:pPr>
            <a:r>
              <a:rPr lang="en-US" sz="800" dirty="0">
                <a:solidFill>
                  <a:srgbClr val="3D3D3A"/>
                </a:solidFill>
              </a:rPr>
              <a:t> </a:t>
            </a:r>
            <a:endParaRPr lang="en-US" sz="1900" dirty="0"/>
          </a:p>
          <a:p>
            <a:pPr algn="l" indent="0" marL="0">
              <a:lnSpc>
                <a:spcPct val="115000"/>
              </a:lnSpc>
              <a:spcAft>
                <a:spcPts val="300"/>
              </a:spcAft>
              <a:buNone/>
            </a:pPr>
            <a:r>
              <a:rPr lang="en-US" sz="1900" b="1" dirty="0">
                <a:solidFill>
                  <a:srgbClr val="3D3D3A"/>
                </a:solidFill>
                <a:latin typeface="Pretendard" pitchFamily="34" charset="0"/>
                <a:ea typeface="Pretendard" pitchFamily="34" charset="-122"/>
                <a:cs typeface="Pretendard" pitchFamily="34" charset="-120"/>
              </a:rPr>
              <a:t>③  바디: 실제로 보내는 데이터</a:t>
            </a:r>
            <a:endParaRPr lang="en-US" sz="1900" dirty="0"/>
          </a:p>
          <a:p>
            <a:pPr algn="l" indent="0" marL="0">
              <a:lnSpc>
                <a:spcPct val="115000"/>
              </a:lnSpc>
              <a:spcAft>
                <a:spcPts val="300"/>
              </a:spcAft>
              <a:buNone/>
            </a:pPr>
            <a:r>
              <a:rPr lang="en-US" sz="1600" dirty="0">
                <a:solidFill>
                  <a:srgbClr val="3D3D3A"/>
                </a:solidFill>
              </a:rPr>
              <a:t>분류 이름 · 공개 여부 (JSON)</a:t>
            </a:r>
            <a:endParaRPr lang="en-US" sz="1900" dirty="0"/>
          </a:p>
          <a:p>
            <a:pPr algn="l" indent="0" marL="0">
              <a:lnSpc>
                <a:spcPct val="115000"/>
              </a:lnSpc>
              <a:spcAft>
                <a:spcPts val="300"/>
              </a:spcAft>
              <a:buNone/>
            </a:pPr>
            <a:r>
              <a:rPr lang="en-US" sz="800" dirty="0">
                <a:solidFill>
                  <a:srgbClr val="3D3D3A"/>
                </a:solidFill>
              </a:rPr>
              <a:t> </a:t>
            </a:r>
            <a:endParaRPr lang="en-US" sz="1900" dirty="0"/>
          </a:p>
          <a:p>
            <a:pPr algn="l" indent="0" marL="0">
              <a:lnSpc>
                <a:spcPct val="115000"/>
              </a:lnSpc>
              <a:spcAft>
                <a:spcPts val="300"/>
              </a:spcAft>
              <a:buNone/>
            </a:pPr>
            <a:r>
              <a:rPr lang="en-US" sz="1500" dirty="0">
                <a:solidFill>
                  <a:schemeClr val="accent3"/>
                </a:solidFill>
              </a:rPr>
              <a:t>그 밖에  </a:t>
            </a:r>
            <a:pPr algn="l" indent="0" marL="0">
              <a:lnSpc>
                <a:spcPct val="115000"/>
              </a:lnSpc>
              <a:spcAft>
                <a:spcPts val="300"/>
              </a:spcAft>
              <a:buNone/>
            </a:pPr>
            <a:r>
              <a:rPr lang="en-US" sz="1400" dirty="0">
                <a:solidFill>
                  <a:schemeClr val="accent3"/>
                </a:solidFill>
                <a:latin typeface="JetBrains Mono" pitchFamily="34" charset="0"/>
                <a:ea typeface="JetBrains Mono" pitchFamily="34" charset="-122"/>
                <a:cs typeface="JetBrains Mono" pitchFamily="34" charset="-120"/>
              </a:rPr>
              <a:t>User-Agent · Accept · Authorization</a:t>
            </a:r>
            <a:endParaRPr lang="en-US" sz="1900" dirty="0"/>
          </a:p>
        </p:txBody>
      </p:sp>
      <p:sp>
        <p:nvSpPr>
          <p:cNvPr id="1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anim calcmode="lin" valueType="num">
                                      <p:cBhvr>
                                        <p:cTn id="8" dur="450" fill="hold"/>
                                        <p:tgtEl>
                                          <p:spTgt spid="6"/>
                                        </p:tgtEl>
                                        <p:attrNameLst>
                                          <p:attrName>ppt_x</p:attrName>
                                        </p:attrNameLst>
                                      </p:cBhvr>
                                      <p:tavLst>
                                        <p:tav tm="0">
                                          <p:val>
                                            <p:strVal val="#ppt_x"/>
                                          </p:val>
                                        </p:tav>
                                        <p:tav tm="100000">
                                          <p:val>
                                            <p:strVal val="#ppt_x"/>
                                          </p:val>
                                        </p:tav>
                                      </p:tavLst>
                                    </p:anim>
                                    <p:anim calcmode="lin" valueType="num">
                                      <p:cBhvr>
                                        <p:cTn id="9" dur="450" fill="hold"/>
                                        <p:tgtEl>
                                          <p:spTgt spid="6"/>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p:cTn id="13" dur="450" fill="hold"/>
                                        <p:tgtEl>
                                          <p:spTgt spid="7"/>
                                        </p:tgtEl>
                                        <p:attrNameLst>
                                          <p:attrName>ppt_x</p:attrName>
                                        </p:attrNameLst>
                                      </p:cBhvr>
                                      <p:tavLst>
                                        <p:tav tm="0">
                                          <p:val>
                                            <p:strVal val="#ppt_x"/>
                                          </p:val>
                                        </p:tav>
                                        <p:tav tm="100000">
                                          <p:val>
                                            <p:strVal val="#ppt_x"/>
                                          </p:val>
                                        </p:tav>
                                      </p:tavLst>
                                    </p:anim>
                                    <p:anim calcmode="lin" valueType="num">
                                      <p:cBhvr>
                                        <p:cTn id="14" dur="450" fill="hold"/>
                                        <p:tgtEl>
                                          <p:spTgt spid="7"/>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anim calcmode="lin" valueType="num">
                                      <p:cBhvr>
                                        <p:cTn id="18" dur="450" fill="hold"/>
                                        <p:tgtEl>
                                          <p:spTgt spid="17"/>
                                        </p:tgtEl>
                                        <p:attrNameLst>
                                          <p:attrName>ppt_x</p:attrName>
                                        </p:attrNameLst>
                                      </p:cBhvr>
                                      <p:tavLst>
                                        <p:tav tm="0">
                                          <p:val>
                                            <p:strVal val="#ppt_x"/>
                                          </p:val>
                                        </p:tav>
                                        <p:tav tm="100000">
                                          <p:val>
                                            <p:strVal val="#ppt_x"/>
                                          </p:val>
                                        </p:tav>
                                      </p:tavLst>
                                    </p:anim>
                                    <p:anim calcmode="lin" valueType="num">
                                      <p:cBhvr>
                                        <p:cTn id="19" dur="450" fill="hold"/>
                                        <p:tgtEl>
                                          <p:spTgt spid="17"/>
                                        </p:tgtEl>
                                        <p:attrNameLst>
                                          <p:attrName>ppt_y</p:attrName>
                                        </p:attrNameLst>
                                      </p:cBhvr>
                                      <p:tavLst>
                                        <p:tav tm="0">
                                          <p:val>
                                            <p:strVal val="#ppt_y+0.03"/>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50"/>
                                        <p:tgtEl>
                                          <p:spTgt spid="8"/>
                                        </p:tgtEl>
                                      </p:cBhvr>
                                    </p:animEffect>
                                    <p:anim calcmode="lin" valueType="num">
                                      <p:cBhvr>
                                        <p:cTn id="25" dur="450" fill="hold"/>
                                        <p:tgtEl>
                                          <p:spTgt spid="8"/>
                                        </p:tgtEl>
                                        <p:attrNameLst>
                                          <p:attrName>ppt_x</p:attrName>
                                        </p:attrNameLst>
                                      </p:cBhvr>
                                      <p:tavLst>
                                        <p:tav tm="0">
                                          <p:val>
                                            <p:strVal val="#ppt_x"/>
                                          </p:val>
                                        </p:tav>
                                        <p:tav tm="100000">
                                          <p:val>
                                            <p:strVal val="#ppt_x"/>
                                          </p:val>
                                        </p:tav>
                                      </p:tavLst>
                                    </p:anim>
                                    <p:anim calcmode="lin" valueType="num">
                                      <p:cBhvr>
                                        <p:cTn id="26" dur="450" fill="hold"/>
                                        <p:tgtEl>
                                          <p:spTgt spid="8"/>
                                        </p:tgtEl>
                                        <p:attrNameLst>
                                          <p:attrName>ppt_y</p:attrName>
                                        </p:attrNameLst>
                                      </p:cBhvr>
                                      <p:tavLst>
                                        <p:tav tm="0">
                                          <p:val>
                                            <p:strVal val="#ppt_y+0.03"/>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50"/>
                                        <p:tgtEl>
                                          <p:spTgt spid="9"/>
                                        </p:tgtEl>
                                      </p:cBhvr>
                                    </p:animEffect>
                                    <p:anim calcmode="lin" valueType="num">
                                      <p:cBhvr>
                                        <p:cTn id="30" dur="450" fill="hold"/>
                                        <p:tgtEl>
                                          <p:spTgt spid="9"/>
                                        </p:tgtEl>
                                        <p:attrNameLst>
                                          <p:attrName>ppt_x</p:attrName>
                                        </p:attrNameLst>
                                      </p:cBhvr>
                                      <p:tavLst>
                                        <p:tav tm="0">
                                          <p:val>
                                            <p:strVal val="#ppt_x"/>
                                          </p:val>
                                        </p:tav>
                                        <p:tav tm="100000">
                                          <p:val>
                                            <p:strVal val="#ppt_x"/>
                                          </p:val>
                                        </p:tav>
                                      </p:tavLst>
                                    </p:anim>
                                    <p:anim calcmode="lin" valueType="num">
                                      <p:cBhvr>
                                        <p:cTn id="31" dur="450" fill="hold"/>
                                        <p:tgtEl>
                                          <p:spTgt spid="9"/>
                                        </p:tgtEl>
                                        <p:attrNameLst>
                                          <p:attrName>ppt_y</p:attrName>
                                        </p:attrNameLst>
                                      </p:cBhvr>
                                      <p:tavLst>
                                        <p:tav tm="0">
                                          <p:val>
                                            <p:strVal val="#ppt_y+0.03"/>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50"/>
                                        <p:tgtEl>
                                          <p:spTgt spid="10"/>
                                        </p:tgtEl>
                                      </p:cBhvr>
                                    </p:animEffect>
                                    <p:anim calcmode="lin" valueType="num">
                                      <p:cBhvr>
                                        <p:cTn id="35" dur="450" fill="hold"/>
                                        <p:tgtEl>
                                          <p:spTgt spid="10"/>
                                        </p:tgtEl>
                                        <p:attrNameLst>
                                          <p:attrName>ppt_x</p:attrName>
                                        </p:attrNameLst>
                                      </p:cBhvr>
                                      <p:tavLst>
                                        <p:tav tm="0">
                                          <p:val>
                                            <p:strVal val="#ppt_x"/>
                                          </p:val>
                                        </p:tav>
                                        <p:tav tm="100000">
                                          <p:val>
                                            <p:strVal val="#ppt_x"/>
                                          </p:val>
                                        </p:tav>
                                      </p:tavLst>
                                    </p:anim>
                                    <p:anim calcmode="lin" valueType="num">
                                      <p:cBhvr>
                                        <p:cTn id="36" dur="450" fill="hold"/>
                                        <p:tgtEl>
                                          <p:spTgt spid="10"/>
                                        </p:tgtEl>
                                        <p:attrNameLst>
                                          <p:attrName>ppt_y</p:attrName>
                                        </p:attrNameLst>
                                      </p:cBhvr>
                                      <p:tavLst>
                                        <p:tav tm="0">
                                          <p:val>
                                            <p:strVal val="#ppt_y+0.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50"/>
                                        <p:tgtEl>
                                          <p:spTgt spid="11"/>
                                        </p:tgtEl>
                                      </p:cBhvr>
                                    </p:animEffect>
                                    <p:anim calcmode="lin" valueType="num">
                                      <p:cBhvr>
                                        <p:cTn id="42" dur="450" fill="hold"/>
                                        <p:tgtEl>
                                          <p:spTgt spid="11"/>
                                        </p:tgtEl>
                                        <p:attrNameLst>
                                          <p:attrName>ppt_x</p:attrName>
                                        </p:attrNameLst>
                                      </p:cBhvr>
                                      <p:tavLst>
                                        <p:tav tm="0">
                                          <p:val>
                                            <p:strVal val="#ppt_x"/>
                                          </p:val>
                                        </p:tav>
                                        <p:tav tm="100000">
                                          <p:val>
                                            <p:strVal val="#ppt_x"/>
                                          </p:val>
                                        </p:tav>
                                      </p:tavLst>
                                    </p:anim>
                                    <p:anim calcmode="lin" valueType="num">
                                      <p:cBhvr>
                                        <p:cTn id="43" dur="450" fill="hold"/>
                                        <p:tgtEl>
                                          <p:spTgt spid="11"/>
                                        </p:tgtEl>
                                        <p:attrNameLst>
                                          <p:attrName>ppt_y</p:attrName>
                                        </p:attrNameLst>
                                      </p:cBhvr>
                                      <p:tavLst>
                                        <p:tav tm="0">
                                          <p:val>
                                            <p:strVal val="#ppt_y+0.03"/>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50"/>
                                        <p:tgtEl>
                                          <p:spTgt spid="12"/>
                                        </p:tgtEl>
                                      </p:cBhvr>
                                    </p:animEffect>
                                    <p:anim calcmode="lin" valueType="num">
                                      <p:cBhvr>
                                        <p:cTn id="47" dur="450" fill="hold"/>
                                        <p:tgtEl>
                                          <p:spTgt spid="12"/>
                                        </p:tgtEl>
                                        <p:attrNameLst>
                                          <p:attrName>ppt_x</p:attrName>
                                        </p:attrNameLst>
                                      </p:cBhvr>
                                      <p:tavLst>
                                        <p:tav tm="0">
                                          <p:val>
                                            <p:strVal val="#ppt_x"/>
                                          </p:val>
                                        </p:tav>
                                        <p:tav tm="100000">
                                          <p:val>
                                            <p:strVal val="#ppt_x"/>
                                          </p:val>
                                        </p:tav>
                                      </p:tavLst>
                                    </p:anim>
                                    <p:anim calcmode="lin" valueType="num">
                                      <p:cBhvr>
                                        <p:cTn id="48" dur="450" fill="hold"/>
                                        <p:tgtEl>
                                          <p:spTgt spid="12"/>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50"/>
                                        <p:tgtEl>
                                          <p:spTgt spid="13"/>
                                        </p:tgtEl>
                                      </p:cBhvr>
                                    </p:animEffect>
                                    <p:anim calcmode="lin" valueType="num">
                                      <p:cBhvr>
                                        <p:cTn id="52" dur="450" fill="hold"/>
                                        <p:tgtEl>
                                          <p:spTgt spid="13"/>
                                        </p:tgtEl>
                                        <p:attrNameLst>
                                          <p:attrName>ppt_x</p:attrName>
                                        </p:attrNameLst>
                                      </p:cBhvr>
                                      <p:tavLst>
                                        <p:tav tm="0">
                                          <p:val>
                                            <p:strVal val="#ppt_x"/>
                                          </p:val>
                                        </p:tav>
                                        <p:tav tm="100000">
                                          <p:val>
                                            <p:strVal val="#ppt_x"/>
                                          </p:val>
                                        </p:tav>
                                      </p:tavLst>
                                    </p:anim>
                                    <p:anim calcmode="lin" valueType="num">
                                      <p:cBhvr>
                                        <p:cTn id="53" dur="450" fill="hold"/>
                                        <p:tgtEl>
                                          <p:spTgt spid="13"/>
                                        </p:tgtEl>
                                        <p:attrNameLst>
                                          <p:attrName>ppt_y</p:attrName>
                                        </p:attrNameLst>
                                      </p:cBhvr>
                                      <p:tavLst>
                                        <p:tav tm="0">
                                          <p:val>
                                            <p:strVal val="#ppt_y+0.03"/>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450"/>
                                        <p:tgtEl>
                                          <p:spTgt spid="14"/>
                                        </p:tgtEl>
                                      </p:cBhvr>
                                    </p:animEffect>
                                    <p:anim calcmode="lin" valueType="num">
                                      <p:cBhvr>
                                        <p:cTn id="59" dur="450" fill="hold"/>
                                        <p:tgtEl>
                                          <p:spTgt spid="14"/>
                                        </p:tgtEl>
                                        <p:attrNameLst>
                                          <p:attrName>ppt_x</p:attrName>
                                        </p:attrNameLst>
                                      </p:cBhvr>
                                      <p:tavLst>
                                        <p:tav tm="0">
                                          <p:val>
                                            <p:strVal val="#ppt_x"/>
                                          </p:val>
                                        </p:tav>
                                        <p:tav tm="100000">
                                          <p:val>
                                            <p:strVal val="#ppt_x"/>
                                          </p:val>
                                        </p:tav>
                                      </p:tavLst>
                                    </p:anim>
                                    <p:anim calcmode="lin" valueType="num">
                                      <p:cBhvr>
                                        <p:cTn id="60" dur="45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450"/>
                                        <p:tgtEl>
                                          <p:spTgt spid="15"/>
                                        </p:tgtEl>
                                      </p:cBhvr>
                                    </p:animEffect>
                                    <p:anim calcmode="lin" valueType="num">
                                      <p:cBhvr>
                                        <p:cTn id="64" dur="450" fill="hold"/>
                                        <p:tgtEl>
                                          <p:spTgt spid="15"/>
                                        </p:tgtEl>
                                        <p:attrNameLst>
                                          <p:attrName>ppt_x</p:attrName>
                                        </p:attrNameLst>
                                      </p:cBhvr>
                                      <p:tavLst>
                                        <p:tav tm="0">
                                          <p:val>
                                            <p:strVal val="#ppt_x"/>
                                          </p:val>
                                        </p:tav>
                                        <p:tav tm="100000">
                                          <p:val>
                                            <p:strVal val="#ppt_x"/>
                                          </p:val>
                                        </p:tav>
                                      </p:tavLst>
                                    </p:anim>
                                    <p:anim calcmode="lin" valueType="num">
                                      <p:cBhvr>
                                        <p:cTn id="65" dur="450" fill="hold"/>
                                        <p:tgtEl>
                                          <p:spTgt spid="15"/>
                                        </p:tgtEl>
                                        <p:attrNameLst>
                                          <p:attrName>ppt_y</p:attrName>
                                        </p:attrNameLst>
                                      </p:cBhvr>
                                      <p:tavLst>
                                        <p:tav tm="0">
                                          <p:val>
                                            <p:strVal val="#ppt_y+0.03"/>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450"/>
                                        <p:tgtEl>
                                          <p:spTgt spid="16"/>
                                        </p:tgtEl>
                                      </p:cBhvr>
                                    </p:animEffect>
                                    <p:anim calcmode="lin" valueType="num">
                                      <p:cBhvr>
                                        <p:cTn id="69" dur="450" fill="hold"/>
                                        <p:tgtEl>
                                          <p:spTgt spid="16"/>
                                        </p:tgtEl>
                                        <p:attrNameLst>
                                          <p:attrName>ppt_x</p:attrName>
                                        </p:attrNameLst>
                                      </p:cBhvr>
                                      <p:tavLst>
                                        <p:tav tm="0">
                                          <p:val>
                                            <p:strVal val="#ppt_x"/>
                                          </p:val>
                                        </p:tav>
                                        <p:tav tm="100000">
                                          <p:val>
                                            <p:strVal val="#ppt_x"/>
                                          </p:val>
                                        </p:tav>
                                      </p:tavLst>
                                    </p:anim>
                                    <p:anim calcmode="lin" valueType="num">
                                      <p:cBhvr>
                                        <p:cTn id="70" dur="450" fill="hold"/>
                                        <p:tgtEl>
                                          <p:spTgt spid="1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INTRO</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응답도 세 부분: 상태 줄 · 헤더 · 바디</a:t>
            </a:r>
            <a:endParaRPr lang="en-US" sz="3200" dirty="0"/>
          </a:p>
        </p:txBody>
      </p:sp>
      <p:sp>
        <p:nvSpPr>
          <p:cNvPr id="4" name="badge"/>
          <p:cNvSpPr/>
          <p:nvPr/>
        </p:nvSpPr>
        <p:spPr>
          <a:xfrm>
            <a:off x="9025128" y="384048"/>
            <a:ext cx="2514600" cy="310896"/>
          </a:xfrm>
          <a:prstGeom prst="roundRect">
            <a:avLst>
              <a:gd name="adj" fmla="val 50000"/>
            </a:avLst>
          </a:prstGeom>
          <a:solidFill>
            <a:srgbClr val="E8E0D2"/>
          </a:solidFill>
          <a:ln/>
        </p:spPr>
      </p:sp>
      <p:sp>
        <p:nvSpPr>
          <p:cNvPr id="5" name="badge-text"/>
          <p:cNvSpPr txBox="1"/>
          <p:nvPr/>
        </p:nvSpPr>
        <p:spPr>
          <a:xfrm>
            <a:off x="9025128" y="384048"/>
            <a:ext cx="2514600" cy="310896"/>
          </a:xfrm>
          <a:prstGeom prst="rect">
            <a:avLst/>
          </a:prstGeom>
          <a:noFill/>
          <a:ln/>
        </p:spPr>
        <p:txBody>
          <a:bodyPr wrap="square" lIns="0" tIns="0" rIns="0" bIns="0" rtlCol="0" anchor="ctr"/>
          <a:lstStyle/>
          <a:p>
            <a:pPr algn="ctr" indent="0" marL="0">
              <a:buNone/>
            </a:pPr>
            <a:r>
              <a:rPr lang="en-US" sz="1200" dirty="0">
                <a:solidFill>
                  <a:schemeClr val="accent3"/>
                </a:solidFill>
              </a:rPr>
              <a:t>글결 REST Docs · 재구성 화면</a:t>
            </a:r>
            <a:endParaRPr lang="en-US" sz="1200" dirty="0"/>
          </a:p>
        </p:txBody>
      </p:sp>
      <p:pic>
        <p:nvPicPr>
          <p:cNvPr id="6" name="b0c0-0" descr="/tmp/ccp-1581-iagb65i9hb.png">    </p:cNvPr>
          <p:cNvPicPr>
            <a:picLocks noChangeAspect="1"/>
          </p:cNvPicPr>
          <p:nvPr/>
        </p:nvPicPr>
        <p:blipFill>
          <a:blip r:embed="rId1"/>
          <a:stretch>
            <a:fillRect/>
          </a:stretch>
        </p:blipFill>
        <p:spPr>
          <a:xfrm>
            <a:off x="1060704" y="1613916"/>
            <a:ext cx="6373368" cy="4304206"/>
          </a:xfrm>
          <a:prstGeom prst="rect">
            <a:avLst/>
          </a:prstGeom>
        </p:spPr>
      </p:pic>
      <p:sp>
        <p:nvSpPr>
          <p:cNvPr id="7" name="b0c0-1"/>
          <p:cNvSpPr/>
          <p:nvPr/>
        </p:nvSpPr>
        <p:spPr>
          <a:xfrm>
            <a:off x="1060704" y="1613916"/>
            <a:ext cx="6373368" cy="4304206"/>
          </a:xfrm>
          <a:prstGeom prst="rect">
            <a:avLst/>
          </a:prstGeom>
          <a:ln w="9525">
            <a:solidFill>
              <a:srgbClr val="E6DFD8"/>
            </a:solidFill>
            <a:prstDash val="solid"/>
          </a:ln>
        </p:spPr>
      </p:sp>
      <p:sp>
        <p:nvSpPr>
          <p:cNvPr id="8" name="b0c0m0-2"/>
          <p:cNvSpPr/>
          <p:nvPr/>
        </p:nvSpPr>
        <p:spPr>
          <a:xfrm>
            <a:off x="1188770" y="1766419"/>
            <a:ext cx="2119421" cy="246142"/>
          </a:xfrm>
          <a:prstGeom prst="roundRect">
            <a:avLst>
              <a:gd name="adj" fmla="val 22290"/>
            </a:avLst>
          </a:prstGeom>
          <a:ln w="19050">
            <a:solidFill>
              <a:schemeClr val="tx1"/>
            </a:solidFill>
            <a:prstDash val="solid"/>
          </a:ln>
        </p:spPr>
      </p:sp>
      <p:sp>
        <p:nvSpPr>
          <p:cNvPr id="9" name="b0c0m0-3"/>
          <p:cNvSpPr/>
          <p:nvPr/>
        </p:nvSpPr>
        <p:spPr>
          <a:xfrm>
            <a:off x="676656" y="1752330"/>
            <a:ext cx="274320" cy="274320"/>
          </a:xfrm>
          <a:prstGeom prst="ellipse">
            <a:avLst/>
          </a:prstGeom>
          <a:solidFill>
            <a:schemeClr val="tx2"/>
          </a:solidFill>
          <a:ln/>
        </p:spPr>
      </p:sp>
      <p:sp>
        <p:nvSpPr>
          <p:cNvPr id="10" name="b0c0m0-4"/>
          <p:cNvSpPr txBox="1"/>
          <p:nvPr/>
        </p:nvSpPr>
        <p:spPr>
          <a:xfrm>
            <a:off x="676656" y="1752330"/>
            <a:ext cx="274320" cy="274320"/>
          </a:xfrm>
          <a:prstGeom prst="rect">
            <a:avLst/>
          </a:prstGeom>
          <a:noFill/>
          <a:ln/>
        </p:spPr>
        <p:txBody>
          <a:bodyPr wrap="square" lIns="0" tIns="0" rIns="0" bIns="0" rtlCol="0" anchor="ctr"/>
          <a:lstStyle/>
          <a:p>
            <a:pPr algn="ctr" indent="0" marL="0">
              <a:buNone/>
            </a:pPr>
            <a:r>
              <a:rPr lang="en-US" sz="1300" b="1" dirty="0">
                <a:solidFill>
                  <a:srgbClr val="FAF9F5"/>
                </a:solidFill>
                <a:latin typeface="Pretendard" pitchFamily="34" charset="0"/>
                <a:ea typeface="Pretendard" pitchFamily="34" charset="-122"/>
                <a:cs typeface="Pretendard" pitchFamily="34" charset="-120"/>
              </a:rPr>
              <a:t>1</a:t>
            </a:r>
            <a:endParaRPr lang="en-US" sz="1300" dirty="0"/>
          </a:p>
        </p:txBody>
      </p:sp>
      <p:sp>
        <p:nvSpPr>
          <p:cNvPr id="11" name="b0c0m1-5"/>
          <p:cNvSpPr/>
          <p:nvPr/>
        </p:nvSpPr>
        <p:spPr>
          <a:xfrm>
            <a:off x="1188770" y="2015748"/>
            <a:ext cx="6101002" cy="1492787"/>
          </a:xfrm>
          <a:prstGeom prst="roundRect">
            <a:avLst>
              <a:gd name="adj" fmla="val 3675"/>
            </a:avLst>
          </a:prstGeom>
          <a:ln w="19050">
            <a:solidFill>
              <a:schemeClr val="tx1"/>
            </a:solidFill>
            <a:prstDash val="solid"/>
          </a:ln>
        </p:spPr>
      </p:sp>
      <p:sp>
        <p:nvSpPr>
          <p:cNvPr id="12" name="b0c0m1-6"/>
          <p:cNvSpPr/>
          <p:nvPr/>
        </p:nvSpPr>
        <p:spPr>
          <a:xfrm>
            <a:off x="676656" y="2624982"/>
            <a:ext cx="274320" cy="274320"/>
          </a:xfrm>
          <a:prstGeom prst="ellipse">
            <a:avLst/>
          </a:prstGeom>
          <a:solidFill>
            <a:schemeClr val="tx2"/>
          </a:solidFill>
          <a:ln/>
        </p:spPr>
      </p:sp>
      <p:sp>
        <p:nvSpPr>
          <p:cNvPr id="13" name="b0c0m1-7"/>
          <p:cNvSpPr txBox="1"/>
          <p:nvPr/>
        </p:nvSpPr>
        <p:spPr>
          <a:xfrm>
            <a:off x="676656" y="2624982"/>
            <a:ext cx="274320" cy="274320"/>
          </a:xfrm>
          <a:prstGeom prst="rect">
            <a:avLst/>
          </a:prstGeom>
          <a:noFill/>
          <a:ln/>
        </p:spPr>
        <p:txBody>
          <a:bodyPr wrap="square" lIns="0" tIns="0" rIns="0" bIns="0" rtlCol="0" anchor="ctr"/>
          <a:lstStyle/>
          <a:p>
            <a:pPr algn="ctr" indent="0" marL="0">
              <a:buNone/>
            </a:pPr>
            <a:r>
              <a:rPr lang="en-US" sz="1300" b="1" dirty="0">
                <a:solidFill>
                  <a:srgbClr val="FAF9F5"/>
                </a:solidFill>
                <a:latin typeface="Pretendard" pitchFamily="34" charset="0"/>
                <a:ea typeface="Pretendard" pitchFamily="34" charset="-122"/>
                <a:cs typeface="Pretendard" pitchFamily="34" charset="-120"/>
              </a:rPr>
              <a:t>2</a:t>
            </a:r>
            <a:endParaRPr lang="en-US" sz="1300" dirty="0"/>
          </a:p>
        </p:txBody>
      </p:sp>
      <p:sp>
        <p:nvSpPr>
          <p:cNvPr id="14" name="b0c0m2-8"/>
          <p:cNvSpPr/>
          <p:nvPr/>
        </p:nvSpPr>
        <p:spPr>
          <a:xfrm>
            <a:off x="1188770" y="3761051"/>
            <a:ext cx="2716515" cy="1991445"/>
          </a:xfrm>
          <a:prstGeom prst="roundRect">
            <a:avLst>
              <a:gd name="adj" fmla="val 2755"/>
            </a:avLst>
          </a:prstGeom>
          <a:ln w="19050">
            <a:solidFill>
              <a:schemeClr val="tx1"/>
            </a:solidFill>
            <a:prstDash val="solid"/>
          </a:ln>
        </p:spPr>
      </p:sp>
      <p:sp>
        <p:nvSpPr>
          <p:cNvPr id="15" name="b0c0m2-9"/>
          <p:cNvSpPr/>
          <p:nvPr/>
        </p:nvSpPr>
        <p:spPr>
          <a:xfrm>
            <a:off x="676656" y="4619614"/>
            <a:ext cx="274320" cy="274320"/>
          </a:xfrm>
          <a:prstGeom prst="ellipse">
            <a:avLst/>
          </a:prstGeom>
          <a:solidFill>
            <a:schemeClr val="tx2"/>
          </a:solidFill>
          <a:ln/>
        </p:spPr>
      </p:sp>
      <p:sp>
        <p:nvSpPr>
          <p:cNvPr id="16" name="b0c0m2-10"/>
          <p:cNvSpPr txBox="1"/>
          <p:nvPr/>
        </p:nvSpPr>
        <p:spPr>
          <a:xfrm>
            <a:off x="676656" y="4619614"/>
            <a:ext cx="274320" cy="274320"/>
          </a:xfrm>
          <a:prstGeom prst="rect">
            <a:avLst/>
          </a:prstGeom>
          <a:noFill/>
          <a:ln/>
        </p:spPr>
        <p:txBody>
          <a:bodyPr wrap="square" lIns="0" tIns="0" rIns="0" bIns="0" rtlCol="0" anchor="ctr"/>
          <a:lstStyle/>
          <a:p>
            <a:pPr algn="ctr" indent="0" marL="0">
              <a:buNone/>
            </a:pPr>
            <a:r>
              <a:rPr lang="en-US" sz="1300" b="1" dirty="0">
                <a:solidFill>
                  <a:srgbClr val="FAF9F5"/>
                </a:solidFill>
                <a:latin typeface="Pretendard" pitchFamily="34" charset="0"/>
                <a:ea typeface="Pretendard" pitchFamily="34" charset="-122"/>
                <a:cs typeface="Pretendard" pitchFamily="34" charset="-120"/>
              </a:rPr>
              <a:t>3</a:t>
            </a:r>
            <a:endParaRPr lang="en-US" sz="1300" dirty="0"/>
          </a:p>
        </p:txBody>
      </p:sp>
      <p:sp>
        <p:nvSpPr>
          <p:cNvPr id="17" name="b0c1-11"/>
          <p:cNvSpPr txBox="1"/>
          <p:nvPr/>
        </p:nvSpPr>
        <p:spPr>
          <a:xfrm>
            <a:off x="7662672" y="1613916"/>
            <a:ext cx="3877056" cy="4480560"/>
          </a:xfrm>
          <a:prstGeom prst="rect">
            <a:avLst/>
          </a:prstGeom>
          <a:noFill/>
          <a:ln/>
        </p:spPr>
        <p:txBody>
          <a:bodyPr wrap="square" lIns="0" tIns="0" rIns="0" bIns="0" rtlCol="0" anchor="t"/>
          <a:lstStyle/>
          <a:p>
            <a:pPr algn="l" indent="0" marL="0">
              <a:lnSpc>
                <a:spcPct val="115000"/>
              </a:lnSpc>
              <a:spcAft>
                <a:spcPts val="300"/>
              </a:spcAft>
              <a:buNone/>
            </a:pPr>
            <a:r>
              <a:rPr lang="en-US" sz="1900" b="1" dirty="0">
                <a:solidFill>
                  <a:srgbClr val="3D3D3A"/>
                </a:solidFill>
                <a:latin typeface="Pretendard" pitchFamily="34" charset="0"/>
                <a:ea typeface="Pretendard" pitchFamily="34" charset="-122"/>
                <a:cs typeface="Pretendard" pitchFamily="34" charset="-120"/>
              </a:rPr>
              <a:t>①  상태 줄</a:t>
            </a:r>
            <a:endParaRPr lang="en-US" sz="1900" dirty="0"/>
          </a:p>
          <a:p>
            <a:pPr algn="l" indent="0" marL="0">
              <a:lnSpc>
                <a:spcPct val="115000"/>
              </a:lnSpc>
              <a:spcAft>
                <a:spcPts val="300"/>
              </a:spcAft>
              <a:buNone/>
            </a:pPr>
            <a:r>
              <a:rPr lang="en-US" sz="1600" dirty="0">
                <a:solidFill>
                  <a:srgbClr val="3D3D3A"/>
                </a:solidFill>
              </a:rPr>
              <a:t>HTTP 버전 · 상태 코드 · 메시지</a:t>
            </a:r>
            <a:endParaRPr lang="en-US" sz="1900" dirty="0"/>
          </a:p>
          <a:p>
            <a:pPr algn="l" indent="0" marL="0">
              <a:lnSpc>
                <a:spcPct val="115000"/>
              </a:lnSpc>
              <a:spcAft>
                <a:spcPts val="300"/>
              </a:spcAft>
              <a:buNone/>
            </a:pPr>
            <a:r>
              <a:rPr lang="en-US" sz="1600" dirty="0">
                <a:solidFill>
                  <a:schemeClr val="accent3"/>
                </a:solidFill>
              </a:rPr>
              <a:t>201 Created = 새로 만들었다</a:t>
            </a:r>
            <a:endParaRPr lang="en-US" sz="1900" dirty="0"/>
          </a:p>
          <a:p>
            <a:pPr algn="l" indent="0" marL="0">
              <a:lnSpc>
                <a:spcPct val="115000"/>
              </a:lnSpc>
              <a:spcAft>
                <a:spcPts val="300"/>
              </a:spcAft>
              <a:buNone/>
            </a:pPr>
            <a:r>
              <a:rPr lang="en-US" sz="800" dirty="0">
                <a:solidFill>
                  <a:srgbClr val="3D3D3A"/>
                </a:solidFill>
              </a:rPr>
              <a:t> </a:t>
            </a:r>
            <a:endParaRPr lang="en-US" sz="1900" dirty="0"/>
          </a:p>
          <a:p>
            <a:pPr algn="l" indent="0" marL="0">
              <a:lnSpc>
                <a:spcPct val="115000"/>
              </a:lnSpc>
              <a:spcAft>
                <a:spcPts val="300"/>
              </a:spcAft>
              <a:buNone/>
            </a:pPr>
            <a:r>
              <a:rPr lang="en-US" sz="1900" b="1" dirty="0">
                <a:solidFill>
                  <a:srgbClr val="3D3D3A"/>
                </a:solidFill>
                <a:latin typeface="Pretendard" pitchFamily="34" charset="0"/>
                <a:ea typeface="Pretendard" pitchFamily="34" charset="-122"/>
                <a:cs typeface="Pretendard" pitchFamily="34" charset="-120"/>
              </a:rPr>
              <a:t>②  헤더: 응답에 대한 부가 정보</a:t>
            </a:r>
            <a:endParaRPr lang="en-US" sz="1900" dirty="0"/>
          </a:p>
          <a:p>
            <a:pPr algn="l" indent="0" marL="0">
              <a:lnSpc>
                <a:spcPct val="115000"/>
              </a:lnSpc>
              <a:spcAft>
                <a:spcPts val="300"/>
              </a:spcAft>
              <a:buNone/>
            </a:pPr>
            <a:r>
              <a:rPr lang="en-US" sz="1500" dirty="0">
                <a:solidFill>
                  <a:schemeClr val="tx1"/>
                </a:solidFill>
                <a:latin typeface="JetBrains Mono" pitchFamily="34" charset="0"/>
                <a:ea typeface="JetBrains Mono" pitchFamily="34" charset="-122"/>
                <a:cs typeface="JetBrains Mono" pitchFamily="34" charset="-120"/>
              </a:rPr>
              <a:t>Set-Cookie</a:t>
            </a:r>
            <a:pPr algn="l" indent="0" marL="0">
              <a:lnSpc>
                <a:spcPct val="115000"/>
              </a:lnSpc>
              <a:spcAft>
                <a:spcPts val="300"/>
              </a:spcAft>
              <a:buNone/>
            </a:pPr>
            <a:r>
              <a:rPr lang="en-US" sz="1600" dirty="0">
                <a:solidFill>
                  <a:srgbClr val="3D3D3A"/>
                </a:solidFill>
              </a:rPr>
              <a:t>  브라우저에 쿠키 저장 (세션)</a:t>
            </a:r>
            <a:endParaRPr lang="en-US" sz="1900" dirty="0"/>
          </a:p>
          <a:p>
            <a:pPr algn="l" indent="0" marL="0">
              <a:lnSpc>
                <a:spcPct val="115000"/>
              </a:lnSpc>
              <a:spcAft>
                <a:spcPts val="300"/>
              </a:spcAft>
              <a:buNone/>
            </a:pPr>
            <a:r>
              <a:rPr lang="en-US" sz="1500" dirty="0">
                <a:solidFill>
                  <a:schemeClr val="tx1"/>
                </a:solidFill>
                <a:latin typeface="JetBrains Mono" pitchFamily="34" charset="0"/>
                <a:ea typeface="JetBrains Mono" pitchFamily="34" charset="-122"/>
                <a:cs typeface="JetBrains Mono" pitchFamily="34" charset="-120"/>
              </a:rPr>
              <a:t>Content-Type</a:t>
            </a:r>
            <a:pPr algn="l" indent="0" marL="0">
              <a:lnSpc>
                <a:spcPct val="115000"/>
              </a:lnSpc>
              <a:spcAft>
                <a:spcPts val="300"/>
              </a:spcAft>
              <a:buNone/>
            </a:pPr>
            <a:r>
              <a:rPr lang="en-US" sz="1600" dirty="0">
                <a:solidFill>
                  <a:srgbClr val="3D3D3A"/>
                </a:solidFill>
              </a:rPr>
              <a:t>  바디 형식 (JSON)</a:t>
            </a:r>
            <a:endParaRPr lang="en-US" sz="1900" dirty="0"/>
          </a:p>
          <a:p>
            <a:pPr algn="l" indent="0" marL="0">
              <a:lnSpc>
                <a:spcPct val="115000"/>
              </a:lnSpc>
              <a:spcAft>
                <a:spcPts val="300"/>
              </a:spcAft>
              <a:buNone/>
            </a:pPr>
            <a:r>
              <a:rPr lang="en-US" sz="1500" dirty="0">
                <a:solidFill>
                  <a:schemeClr val="tx1"/>
                </a:solidFill>
                <a:latin typeface="JetBrains Mono" pitchFamily="34" charset="0"/>
                <a:ea typeface="JetBrains Mono" pitchFamily="34" charset="-122"/>
                <a:cs typeface="JetBrains Mono" pitchFamily="34" charset="-120"/>
              </a:rPr>
              <a:t>Content-Length</a:t>
            </a:r>
            <a:pPr algn="l" indent="0" marL="0">
              <a:lnSpc>
                <a:spcPct val="115000"/>
              </a:lnSpc>
              <a:spcAft>
                <a:spcPts val="300"/>
              </a:spcAft>
              <a:buNone/>
            </a:pPr>
            <a:r>
              <a:rPr lang="en-US" sz="1600" dirty="0">
                <a:solidFill>
                  <a:srgbClr val="3D3D3A"/>
                </a:solidFill>
              </a:rPr>
              <a:t>  바디 길이</a:t>
            </a:r>
            <a:endParaRPr lang="en-US" sz="1900" dirty="0"/>
          </a:p>
          <a:p>
            <a:pPr algn="l" indent="0" marL="0">
              <a:lnSpc>
                <a:spcPct val="115000"/>
              </a:lnSpc>
              <a:spcAft>
                <a:spcPts val="300"/>
              </a:spcAft>
              <a:buNone/>
            </a:pPr>
            <a:r>
              <a:rPr lang="en-US" sz="800" dirty="0">
                <a:solidFill>
                  <a:srgbClr val="3D3D3A"/>
                </a:solidFill>
              </a:rPr>
              <a:t> </a:t>
            </a:r>
            <a:endParaRPr lang="en-US" sz="1900" dirty="0"/>
          </a:p>
          <a:p>
            <a:pPr algn="l" indent="0" marL="0">
              <a:lnSpc>
                <a:spcPct val="115000"/>
              </a:lnSpc>
              <a:spcAft>
                <a:spcPts val="300"/>
              </a:spcAft>
              <a:buNone/>
            </a:pPr>
            <a:r>
              <a:rPr lang="en-US" sz="1900" b="1" dirty="0">
                <a:solidFill>
                  <a:srgbClr val="3D3D3A"/>
                </a:solidFill>
                <a:latin typeface="Pretendard" pitchFamily="34" charset="0"/>
                <a:ea typeface="Pretendard" pitchFamily="34" charset="-122"/>
                <a:cs typeface="Pretendard" pitchFamily="34" charset="-120"/>
              </a:rPr>
              <a:t>③  바디: 결과 데이터</a:t>
            </a:r>
            <a:endParaRPr lang="en-US" sz="1900" dirty="0"/>
          </a:p>
          <a:p>
            <a:pPr algn="l" indent="0" marL="0">
              <a:lnSpc>
                <a:spcPct val="115000"/>
              </a:lnSpc>
              <a:spcAft>
                <a:spcPts val="300"/>
              </a:spcAft>
              <a:buNone/>
            </a:pPr>
            <a:r>
              <a:rPr lang="en-US" sz="1600" dirty="0">
                <a:solidFill>
                  <a:srgbClr val="3D3D3A"/>
                </a:solidFill>
              </a:rPr>
              <a:t>방금 만든 분류의 정보 (JSON)</a:t>
            </a:r>
            <a:endParaRPr lang="en-US" sz="1900" dirty="0"/>
          </a:p>
        </p:txBody>
      </p:sp>
      <p:sp>
        <p:nvSpPr>
          <p:cNvPr id="1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anim calcmode="lin" valueType="num">
                                      <p:cBhvr>
                                        <p:cTn id="8" dur="450" fill="hold"/>
                                        <p:tgtEl>
                                          <p:spTgt spid="6"/>
                                        </p:tgtEl>
                                        <p:attrNameLst>
                                          <p:attrName>ppt_x</p:attrName>
                                        </p:attrNameLst>
                                      </p:cBhvr>
                                      <p:tavLst>
                                        <p:tav tm="0">
                                          <p:val>
                                            <p:strVal val="#ppt_x"/>
                                          </p:val>
                                        </p:tav>
                                        <p:tav tm="100000">
                                          <p:val>
                                            <p:strVal val="#ppt_x"/>
                                          </p:val>
                                        </p:tav>
                                      </p:tavLst>
                                    </p:anim>
                                    <p:anim calcmode="lin" valueType="num">
                                      <p:cBhvr>
                                        <p:cTn id="9" dur="450" fill="hold"/>
                                        <p:tgtEl>
                                          <p:spTgt spid="6"/>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p:cTn id="13" dur="450" fill="hold"/>
                                        <p:tgtEl>
                                          <p:spTgt spid="7"/>
                                        </p:tgtEl>
                                        <p:attrNameLst>
                                          <p:attrName>ppt_x</p:attrName>
                                        </p:attrNameLst>
                                      </p:cBhvr>
                                      <p:tavLst>
                                        <p:tav tm="0">
                                          <p:val>
                                            <p:strVal val="#ppt_x"/>
                                          </p:val>
                                        </p:tav>
                                        <p:tav tm="100000">
                                          <p:val>
                                            <p:strVal val="#ppt_x"/>
                                          </p:val>
                                        </p:tav>
                                      </p:tavLst>
                                    </p:anim>
                                    <p:anim calcmode="lin" valueType="num">
                                      <p:cBhvr>
                                        <p:cTn id="14" dur="450" fill="hold"/>
                                        <p:tgtEl>
                                          <p:spTgt spid="7"/>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anim calcmode="lin" valueType="num">
                                      <p:cBhvr>
                                        <p:cTn id="18" dur="450" fill="hold"/>
                                        <p:tgtEl>
                                          <p:spTgt spid="17"/>
                                        </p:tgtEl>
                                        <p:attrNameLst>
                                          <p:attrName>ppt_x</p:attrName>
                                        </p:attrNameLst>
                                      </p:cBhvr>
                                      <p:tavLst>
                                        <p:tav tm="0">
                                          <p:val>
                                            <p:strVal val="#ppt_x"/>
                                          </p:val>
                                        </p:tav>
                                        <p:tav tm="100000">
                                          <p:val>
                                            <p:strVal val="#ppt_x"/>
                                          </p:val>
                                        </p:tav>
                                      </p:tavLst>
                                    </p:anim>
                                    <p:anim calcmode="lin" valueType="num">
                                      <p:cBhvr>
                                        <p:cTn id="19" dur="450" fill="hold"/>
                                        <p:tgtEl>
                                          <p:spTgt spid="17"/>
                                        </p:tgtEl>
                                        <p:attrNameLst>
                                          <p:attrName>ppt_y</p:attrName>
                                        </p:attrNameLst>
                                      </p:cBhvr>
                                      <p:tavLst>
                                        <p:tav tm="0">
                                          <p:val>
                                            <p:strVal val="#ppt_y+0.03"/>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50"/>
                                        <p:tgtEl>
                                          <p:spTgt spid="8"/>
                                        </p:tgtEl>
                                      </p:cBhvr>
                                    </p:animEffect>
                                    <p:anim calcmode="lin" valueType="num">
                                      <p:cBhvr>
                                        <p:cTn id="25" dur="450" fill="hold"/>
                                        <p:tgtEl>
                                          <p:spTgt spid="8"/>
                                        </p:tgtEl>
                                        <p:attrNameLst>
                                          <p:attrName>ppt_x</p:attrName>
                                        </p:attrNameLst>
                                      </p:cBhvr>
                                      <p:tavLst>
                                        <p:tav tm="0">
                                          <p:val>
                                            <p:strVal val="#ppt_x"/>
                                          </p:val>
                                        </p:tav>
                                        <p:tav tm="100000">
                                          <p:val>
                                            <p:strVal val="#ppt_x"/>
                                          </p:val>
                                        </p:tav>
                                      </p:tavLst>
                                    </p:anim>
                                    <p:anim calcmode="lin" valueType="num">
                                      <p:cBhvr>
                                        <p:cTn id="26" dur="450" fill="hold"/>
                                        <p:tgtEl>
                                          <p:spTgt spid="8"/>
                                        </p:tgtEl>
                                        <p:attrNameLst>
                                          <p:attrName>ppt_y</p:attrName>
                                        </p:attrNameLst>
                                      </p:cBhvr>
                                      <p:tavLst>
                                        <p:tav tm="0">
                                          <p:val>
                                            <p:strVal val="#ppt_y+0.03"/>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50"/>
                                        <p:tgtEl>
                                          <p:spTgt spid="9"/>
                                        </p:tgtEl>
                                      </p:cBhvr>
                                    </p:animEffect>
                                    <p:anim calcmode="lin" valueType="num">
                                      <p:cBhvr>
                                        <p:cTn id="30" dur="450" fill="hold"/>
                                        <p:tgtEl>
                                          <p:spTgt spid="9"/>
                                        </p:tgtEl>
                                        <p:attrNameLst>
                                          <p:attrName>ppt_x</p:attrName>
                                        </p:attrNameLst>
                                      </p:cBhvr>
                                      <p:tavLst>
                                        <p:tav tm="0">
                                          <p:val>
                                            <p:strVal val="#ppt_x"/>
                                          </p:val>
                                        </p:tav>
                                        <p:tav tm="100000">
                                          <p:val>
                                            <p:strVal val="#ppt_x"/>
                                          </p:val>
                                        </p:tav>
                                      </p:tavLst>
                                    </p:anim>
                                    <p:anim calcmode="lin" valueType="num">
                                      <p:cBhvr>
                                        <p:cTn id="31" dur="450" fill="hold"/>
                                        <p:tgtEl>
                                          <p:spTgt spid="9"/>
                                        </p:tgtEl>
                                        <p:attrNameLst>
                                          <p:attrName>ppt_y</p:attrName>
                                        </p:attrNameLst>
                                      </p:cBhvr>
                                      <p:tavLst>
                                        <p:tav tm="0">
                                          <p:val>
                                            <p:strVal val="#ppt_y+0.03"/>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50"/>
                                        <p:tgtEl>
                                          <p:spTgt spid="10"/>
                                        </p:tgtEl>
                                      </p:cBhvr>
                                    </p:animEffect>
                                    <p:anim calcmode="lin" valueType="num">
                                      <p:cBhvr>
                                        <p:cTn id="35" dur="450" fill="hold"/>
                                        <p:tgtEl>
                                          <p:spTgt spid="10"/>
                                        </p:tgtEl>
                                        <p:attrNameLst>
                                          <p:attrName>ppt_x</p:attrName>
                                        </p:attrNameLst>
                                      </p:cBhvr>
                                      <p:tavLst>
                                        <p:tav tm="0">
                                          <p:val>
                                            <p:strVal val="#ppt_x"/>
                                          </p:val>
                                        </p:tav>
                                        <p:tav tm="100000">
                                          <p:val>
                                            <p:strVal val="#ppt_x"/>
                                          </p:val>
                                        </p:tav>
                                      </p:tavLst>
                                    </p:anim>
                                    <p:anim calcmode="lin" valueType="num">
                                      <p:cBhvr>
                                        <p:cTn id="36" dur="450" fill="hold"/>
                                        <p:tgtEl>
                                          <p:spTgt spid="10"/>
                                        </p:tgtEl>
                                        <p:attrNameLst>
                                          <p:attrName>ppt_y</p:attrName>
                                        </p:attrNameLst>
                                      </p:cBhvr>
                                      <p:tavLst>
                                        <p:tav tm="0">
                                          <p:val>
                                            <p:strVal val="#ppt_y+0.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50"/>
                                        <p:tgtEl>
                                          <p:spTgt spid="11"/>
                                        </p:tgtEl>
                                      </p:cBhvr>
                                    </p:animEffect>
                                    <p:anim calcmode="lin" valueType="num">
                                      <p:cBhvr>
                                        <p:cTn id="42" dur="450" fill="hold"/>
                                        <p:tgtEl>
                                          <p:spTgt spid="11"/>
                                        </p:tgtEl>
                                        <p:attrNameLst>
                                          <p:attrName>ppt_x</p:attrName>
                                        </p:attrNameLst>
                                      </p:cBhvr>
                                      <p:tavLst>
                                        <p:tav tm="0">
                                          <p:val>
                                            <p:strVal val="#ppt_x"/>
                                          </p:val>
                                        </p:tav>
                                        <p:tav tm="100000">
                                          <p:val>
                                            <p:strVal val="#ppt_x"/>
                                          </p:val>
                                        </p:tav>
                                      </p:tavLst>
                                    </p:anim>
                                    <p:anim calcmode="lin" valueType="num">
                                      <p:cBhvr>
                                        <p:cTn id="43" dur="450" fill="hold"/>
                                        <p:tgtEl>
                                          <p:spTgt spid="11"/>
                                        </p:tgtEl>
                                        <p:attrNameLst>
                                          <p:attrName>ppt_y</p:attrName>
                                        </p:attrNameLst>
                                      </p:cBhvr>
                                      <p:tavLst>
                                        <p:tav tm="0">
                                          <p:val>
                                            <p:strVal val="#ppt_y+0.03"/>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50"/>
                                        <p:tgtEl>
                                          <p:spTgt spid="12"/>
                                        </p:tgtEl>
                                      </p:cBhvr>
                                    </p:animEffect>
                                    <p:anim calcmode="lin" valueType="num">
                                      <p:cBhvr>
                                        <p:cTn id="47" dur="450" fill="hold"/>
                                        <p:tgtEl>
                                          <p:spTgt spid="12"/>
                                        </p:tgtEl>
                                        <p:attrNameLst>
                                          <p:attrName>ppt_x</p:attrName>
                                        </p:attrNameLst>
                                      </p:cBhvr>
                                      <p:tavLst>
                                        <p:tav tm="0">
                                          <p:val>
                                            <p:strVal val="#ppt_x"/>
                                          </p:val>
                                        </p:tav>
                                        <p:tav tm="100000">
                                          <p:val>
                                            <p:strVal val="#ppt_x"/>
                                          </p:val>
                                        </p:tav>
                                      </p:tavLst>
                                    </p:anim>
                                    <p:anim calcmode="lin" valueType="num">
                                      <p:cBhvr>
                                        <p:cTn id="48" dur="450" fill="hold"/>
                                        <p:tgtEl>
                                          <p:spTgt spid="12"/>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50"/>
                                        <p:tgtEl>
                                          <p:spTgt spid="13"/>
                                        </p:tgtEl>
                                      </p:cBhvr>
                                    </p:animEffect>
                                    <p:anim calcmode="lin" valueType="num">
                                      <p:cBhvr>
                                        <p:cTn id="52" dur="450" fill="hold"/>
                                        <p:tgtEl>
                                          <p:spTgt spid="13"/>
                                        </p:tgtEl>
                                        <p:attrNameLst>
                                          <p:attrName>ppt_x</p:attrName>
                                        </p:attrNameLst>
                                      </p:cBhvr>
                                      <p:tavLst>
                                        <p:tav tm="0">
                                          <p:val>
                                            <p:strVal val="#ppt_x"/>
                                          </p:val>
                                        </p:tav>
                                        <p:tav tm="100000">
                                          <p:val>
                                            <p:strVal val="#ppt_x"/>
                                          </p:val>
                                        </p:tav>
                                      </p:tavLst>
                                    </p:anim>
                                    <p:anim calcmode="lin" valueType="num">
                                      <p:cBhvr>
                                        <p:cTn id="53" dur="450" fill="hold"/>
                                        <p:tgtEl>
                                          <p:spTgt spid="13"/>
                                        </p:tgtEl>
                                        <p:attrNameLst>
                                          <p:attrName>ppt_y</p:attrName>
                                        </p:attrNameLst>
                                      </p:cBhvr>
                                      <p:tavLst>
                                        <p:tav tm="0">
                                          <p:val>
                                            <p:strVal val="#ppt_y+0.03"/>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450"/>
                                        <p:tgtEl>
                                          <p:spTgt spid="14"/>
                                        </p:tgtEl>
                                      </p:cBhvr>
                                    </p:animEffect>
                                    <p:anim calcmode="lin" valueType="num">
                                      <p:cBhvr>
                                        <p:cTn id="59" dur="450" fill="hold"/>
                                        <p:tgtEl>
                                          <p:spTgt spid="14"/>
                                        </p:tgtEl>
                                        <p:attrNameLst>
                                          <p:attrName>ppt_x</p:attrName>
                                        </p:attrNameLst>
                                      </p:cBhvr>
                                      <p:tavLst>
                                        <p:tav tm="0">
                                          <p:val>
                                            <p:strVal val="#ppt_x"/>
                                          </p:val>
                                        </p:tav>
                                        <p:tav tm="100000">
                                          <p:val>
                                            <p:strVal val="#ppt_x"/>
                                          </p:val>
                                        </p:tav>
                                      </p:tavLst>
                                    </p:anim>
                                    <p:anim calcmode="lin" valueType="num">
                                      <p:cBhvr>
                                        <p:cTn id="60" dur="45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450"/>
                                        <p:tgtEl>
                                          <p:spTgt spid="15"/>
                                        </p:tgtEl>
                                      </p:cBhvr>
                                    </p:animEffect>
                                    <p:anim calcmode="lin" valueType="num">
                                      <p:cBhvr>
                                        <p:cTn id="64" dur="450" fill="hold"/>
                                        <p:tgtEl>
                                          <p:spTgt spid="15"/>
                                        </p:tgtEl>
                                        <p:attrNameLst>
                                          <p:attrName>ppt_x</p:attrName>
                                        </p:attrNameLst>
                                      </p:cBhvr>
                                      <p:tavLst>
                                        <p:tav tm="0">
                                          <p:val>
                                            <p:strVal val="#ppt_x"/>
                                          </p:val>
                                        </p:tav>
                                        <p:tav tm="100000">
                                          <p:val>
                                            <p:strVal val="#ppt_x"/>
                                          </p:val>
                                        </p:tav>
                                      </p:tavLst>
                                    </p:anim>
                                    <p:anim calcmode="lin" valueType="num">
                                      <p:cBhvr>
                                        <p:cTn id="65" dur="450" fill="hold"/>
                                        <p:tgtEl>
                                          <p:spTgt spid="15"/>
                                        </p:tgtEl>
                                        <p:attrNameLst>
                                          <p:attrName>ppt_y</p:attrName>
                                        </p:attrNameLst>
                                      </p:cBhvr>
                                      <p:tavLst>
                                        <p:tav tm="0">
                                          <p:val>
                                            <p:strVal val="#ppt_y+0.03"/>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450"/>
                                        <p:tgtEl>
                                          <p:spTgt spid="16"/>
                                        </p:tgtEl>
                                      </p:cBhvr>
                                    </p:animEffect>
                                    <p:anim calcmode="lin" valueType="num">
                                      <p:cBhvr>
                                        <p:cTn id="69" dur="450" fill="hold"/>
                                        <p:tgtEl>
                                          <p:spTgt spid="16"/>
                                        </p:tgtEl>
                                        <p:attrNameLst>
                                          <p:attrName>ppt_x</p:attrName>
                                        </p:attrNameLst>
                                      </p:cBhvr>
                                      <p:tavLst>
                                        <p:tav tm="0">
                                          <p:val>
                                            <p:strVal val="#ppt_x"/>
                                          </p:val>
                                        </p:tav>
                                        <p:tav tm="100000">
                                          <p:val>
                                            <p:strVal val="#ppt_x"/>
                                          </p:val>
                                        </p:tav>
                                      </p:tavLst>
                                    </p:anim>
                                    <p:anim calcmode="lin" valueType="num">
                                      <p:cBhvr>
                                        <p:cTn id="70" dur="450" fill="hold"/>
                                        <p:tgtEl>
                                          <p:spTgt spid="1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INTRO</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REST 세 줄 약속</a:t>
            </a:r>
            <a:endParaRPr lang="en-US" sz="3200" dirty="0"/>
          </a:p>
        </p:txBody>
      </p:sp>
      <p:sp>
        <p:nvSpPr>
          <p:cNvPr id="4" name="b0c0-0"/>
          <p:cNvSpPr txBox="1"/>
          <p:nvPr/>
        </p:nvSpPr>
        <p:spPr>
          <a:xfrm>
            <a:off x="788924" y="2703576"/>
            <a:ext cx="1993392" cy="533400"/>
          </a:xfrm>
          <a:prstGeom prst="rect">
            <a:avLst/>
          </a:prstGeom>
          <a:noFill/>
          <a:ln/>
        </p:spPr>
        <p:txBody>
          <a:bodyPr wrap="square" lIns="0" tIns="0" rIns="0" bIns="0" rtlCol="0" anchor="b"/>
          <a:lstStyle/>
          <a:p>
            <a:pPr algn="ctr" indent="0" marL="0">
              <a:lnSpc>
                <a:spcPct val="115000"/>
              </a:lnSpc>
              <a:spcAft>
                <a:spcPts val="600"/>
              </a:spcAft>
              <a:buNone/>
            </a:pPr>
            <a:r>
              <a:rPr lang="en-US" sz="2800" dirty="0">
                <a:solidFill>
                  <a:schemeClr val="tx1"/>
                </a:solidFill>
                <a:latin typeface="JetBrains Mono" pitchFamily="34" charset="0"/>
                <a:ea typeface="JetBrains Mono" pitchFamily="34" charset="-122"/>
                <a:cs typeface="JetBrains Mono" pitchFamily="34" charset="-120"/>
              </a:rPr>
              <a:t>DELETE</a:t>
            </a:r>
            <a:endParaRPr lang="en-US" sz="2800" dirty="0"/>
          </a:p>
        </p:txBody>
      </p:sp>
      <p:sp>
        <p:nvSpPr>
          <p:cNvPr id="5" name="b0c0-1"/>
          <p:cNvSpPr txBox="1"/>
          <p:nvPr/>
        </p:nvSpPr>
        <p:spPr>
          <a:xfrm>
            <a:off x="788924" y="3346704"/>
            <a:ext cx="1993392" cy="365760"/>
          </a:xfrm>
          <a:prstGeom prst="rect">
            <a:avLst/>
          </a:prstGeom>
          <a:noFill/>
          <a:ln/>
        </p:spPr>
        <p:txBody>
          <a:bodyPr wrap="square" lIns="0" tIns="0" rIns="0" bIns="0" rtlCol="0" anchor="t"/>
          <a:lstStyle/>
          <a:p>
            <a:pPr algn="ctr" indent="0" marL="0">
              <a:lnSpc>
                <a:spcPct val="115000"/>
              </a:lnSpc>
              <a:spcAft>
                <a:spcPts val="600"/>
              </a:spcAft>
              <a:buNone/>
            </a:pPr>
            <a:r>
              <a:rPr lang="en-US" sz="1800" b="1" dirty="0">
                <a:solidFill>
                  <a:schemeClr val="tx1"/>
                </a:solidFill>
                <a:latin typeface="Pretendard" pitchFamily="34" charset="0"/>
                <a:ea typeface="Pretendard" pitchFamily="34" charset="-122"/>
                <a:cs typeface="Pretendard" pitchFamily="34" charset="-120"/>
              </a:rPr>
              <a:t>어떻게 (행동)</a:t>
            </a:r>
            <a:endParaRPr lang="en-US" sz="1800" dirty="0"/>
          </a:p>
        </p:txBody>
      </p:sp>
      <p:sp>
        <p:nvSpPr>
          <p:cNvPr id="6" name="b0c0-2"/>
          <p:cNvSpPr txBox="1"/>
          <p:nvPr/>
        </p:nvSpPr>
        <p:spPr>
          <a:xfrm>
            <a:off x="788924" y="3694176"/>
            <a:ext cx="1993392" cy="320040"/>
          </a:xfrm>
          <a:prstGeom prst="rect">
            <a:avLst/>
          </a:prstGeom>
          <a:noFill/>
          <a:ln/>
        </p:spPr>
        <p:txBody>
          <a:bodyPr wrap="square" lIns="0" tIns="0" rIns="0" bIns="0" rtlCol="0" anchor="t"/>
          <a:lstStyle/>
          <a:p>
            <a:pPr algn="ctr" indent="0" marL="0">
              <a:lnSpc>
                <a:spcPct val="115000"/>
              </a:lnSpc>
              <a:spcAft>
                <a:spcPts val="600"/>
              </a:spcAft>
              <a:buNone/>
            </a:pPr>
            <a:r>
              <a:rPr lang="en-US" sz="1500" dirty="0">
                <a:solidFill>
                  <a:schemeClr val="accent3"/>
                </a:solidFill>
              </a:rPr>
              <a:t>HTTP 메서드</a:t>
            </a:r>
            <a:endParaRPr lang="en-US" sz="1500" dirty="0"/>
          </a:p>
        </p:txBody>
      </p:sp>
      <p:sp>
        <p:nvSpPr>
          <p:cNvPr id="7" name="b0c1-3"/>
          <p:cNvSpPr txBox="1"/>
          <p:nvPr/>
        </p:nvSpPr>
        <p:spPr>
          <a:xfrm>
            <a:off x="3285236" y="2703576"/>
            <a:ext cx="3618992" cy="533400"/>
          </a:xfrm>
          <a:prstGeom prst="rect">
            <a:avLst/>
          </a:prstGeom>
          <a:noFill/>
          <a:ln/>
        </p:spPr>
        <p:txBody>
          <a:bodyPr wrap="square" lIns="0" tIns="0" rIns="0" bIns="0" rtlCol="0" anchor="b"/>
          <a:lstStyle/>
          <a:p>
            <a:pPr algn="ctr" indent="0" marL="0">
              <a:lnSpc>
                <a:spcPct val="115000"/>
              </a:lnSpc>
              <a:spcAft>
                <a:spcPts val="600"/>
              </a:spcAft>
              <a:buNone/>
            </a:pPr>
            <a:r>
              <a:rPr lang="en-US" sz="2800" dirty="0">
                <a:solidFill>
                  <a:schemeClr val="tx1"/>
                </a:solidFill>
                <a:latin typeface="JetBrains Mono" pitchFamily="34" charset="0"/>
                <a:ea typeface="JetBrains Mono" pitchFamily="34" charset="-122"/>
                <a:cs typeface="JetBrains Mono" pitchFamily="34" charset="-120"/>
              </a:rPr>
              <a:t>/api/v1/posts/42</a:t>
            </a:r>
            <a:endParaRPr lang="en-US" sz="2800" dirty="0"/>
          </a:p>
        </p:txBody>
      </p:sp>
      <p:sp>
        <p:nvSpPr>
          <p:cNvPr id="8" name="b0c1-4"/>
          <p:cNvSpPr txBox="1"/>
          <p:nvPr/>
        </p:nvSpPr>
        <p:spPr>
          <a:xfrm>
            <a:off x="3285236" y="3346704"/>
            <a:ext cx="3618992" cy="365760"/>
          </a:xfrm>
          <a:prstGeom prst="rect">
            <a:avLst/>
          </a:prstGeom>
          <a:noFill/>
          <a:ln/>
        </p:spPr>
        <p:txBody>
          <a:bodyPr wrap="square" lIns="0" tIns="0" rIns="0" bIns="0" rtlCol="0" anchor="t"/>
          <a:lstStyle/>
          <a:p>
            <a:pPr algn="ctr" indent="0" marL="0">
              <a:lnSpc>
                <a:spcPct val="115000"/>
              </a:lnSpc>
              <a:spcAft>
                <a:spcPts val="600"/>
              </a:spcAft>
              <a:buNone/>
            </a:pPr>
            <a:r>
              <a:rPr lang="en-US" sz="1800" b="1" dirty="0">
                <a:solidFill>
                  <a:schemeClr val="tx1"/>
                </a:solidFill>
                <a:latin typeface="Pretendard" pitchFamily="34" charset="0"/>
                <a:ea typeface="Pretendard" pitchFamily="34" charset="-122"/>
                <a:cs typeface="Pretendard" pitchFamily="34" charset="-120"/>
              </a:rPr>
              <a:t>무엇 (자원)</a:t>
            </a:r>
            <a:endParaRPr lang="en-US" sz="1800" dirty="0"/>
          </a:p>
        </p:txBody>
      </p:sp>
      <p:sp>
        <p:nvSpPr>
          <p:cNvPr id="9" name="b0c1-5"/>
          <p:cNvSpPr txBox="1"/>
          <p:nvPr/>
        </p:nvSpPr>
        <p:spPr>
          <a:xfrm>
            <a:off x="3285236" y="3694176"/>
            <a:ext cx="3618992" cy="320040"/>
          </a:xfrm>
          <a:prstGeom prst="rect">
            <a:avLst/>
          </a:prstGeom>
          <a:noFill/>
          <a:ln/>
        </p:spPr>
        <p:txBody>
          <a:bodyPr wrap="square" lIns="0" tIns="0" rIns="0" bIns="0" rtlCol="0" anchor="t"/>
          <a:lstStyle/>
          <a:p>
            <a:pPr algn="ctr" indent="0" marL="0">
              <a:lnSpc>
                <a:spcPct val="115000"/>
              </a:lnSpc>
              <a:spcAft>
                <a:spcPts val="600"/>
              </a:spcAft>
              <a:buNone/>
            </a:pPr>
            <a:r>
              <a:rPr lang="en-US" sz="1500" dirty="0">
                <a:solidFill>
                  <a:schemeClr val="accent3"/>
                </a:solidFill>
              </a:rPr>
              <a:t>URL</a:t>
            </a:r>
            <a:endParaRPr lang="en-US" sz="1500" dirty="0"/>
          </a:p>
        </p:txBody>
      </p:sp>
      <p:sp>
        <p:nvSpPr>
          <p:cNvPr id="10" name="b0c2-6"/>
          <p:cNvSpPr txBox="1"/>
          <p:nvPr/>
        </p:nvSpPr>
        <p:spPr>
          <a:xfrm>
            <a:off x="7407148" y="2703576"/>
            <a:ext cx="311912" cy="533400"/>
          </a:xfrm>
          <a:prstGeom prst="rect">
            <a:avLst/>
          </a:prstGeom>
          <a:noFill/>
          <a:ln/>
        </p:spPr>
        <p:txBody>
          <a:bodyPr wrap="square" lIns="0" tIns="0" rIns="0" bIns="0" rtlCol="0" anchor="b"/>
          <a:lstStyle/>
          <a:p>
            <a:pPr algn="ctr" indent="0" marL="0">
              <a:lnSpc>
                <a:spcPct val="115000"/>
              </a:lnSpc>
              <a:spcAft>
                <a:spcPts val="600"/>
              </a:spcAft>
              <a:buNone/>
            </a:pPr>
            <a:r>
              <a:rPr lang="en-US" sz="2800" dirty="0">
                <a:solidFill>
                  <a:schemeClr val="accent3"/>
                </a:solidFill>
                <a:latin typeface="JetBrains Mono" pitchFamily="34" charset="0"/>
                <a:ea typeface="JetBrains Mono" pitchFamily="34" charset="-122"/>
                <a:cs typeface="JetBrains Mono" pitchFamily="34" charset="-120"/>
              </a:rPr>
              <a:t>→</a:t>
            </a:r>
            <a:endParaRPr lang="en-US" sz="2800" dirty="0"/>
          </a:p>
        </p:txBody>
      </p:sp>
      <p:sp>
        <p:nvSpPr>
          <p:cNvPr id="11" name="b0c3-7"/>
          <p:cNvSpPr txBox="1"/>
          <p:nvPr/>
        </p:nvSpPr>
        <p:spPr>
          <a:xfrm>
            <a:off x="8221980" y="2703576"/>
            <a:ext cx="3178048" cy="533400"/>
          </a:xfrm>
          <a:prstGeom prst="rect">
            <a:avLst/>
          </a:prstGeom>
          <a:noFill/>
          <a:ln/>
        </p:spPr>
        <p:txBody>
          <a:bodyPr wrap="square" lIns="0" tIns="0" rIns="0" bIns="0" rtlCol="0" anchor="b"/>
          <a:lstStyle/>
          <a:p>
            <a:pPr algn="ctr" indent="0" marL="0">
              <a:lnSpc>
                <a:spcPct val="115000"/>
              </a:lnSpc>
              <a:spcAft>
                <a:spcPts val="600"/>
              </a:spcAft>
              <a:buNone/>
            </a:pPr>
            <a:r>
              <a:rPr lang="en-US" sz="2800" dirty="0">
                <a:solidFill>
                  <a:schemeClr val="accent2"/>
                </a:solidFill>
                <a:latin typeface="JetBrains Mono" pitchFamily="34" charset="0"/>
                <a:ea typeface="JetBrains Mono" pitchFamily="34" charset="-122"/>
                <a:cs typeface="JetBrains Mono" pitchFamily="34" charset="-120"/>
              </a:rPr>
              <a:t>204 No Content</a:t>
            </a:r>
            <a:endParaRPr lang="en-US" sz="2800" dirty="0"/>
          </a:p>
        </p:txBody>
      </p:sp>
      <p:sp>
        <p:nvSpPr>
          <p:cNvPr id="12" name="b0c3-8"/>
          <p:cNvSpPr txBox="1"/>
          <p:nvPr/>
        </p:nvSpPr>
        <p:spPr>
          <a:xfrm>
            <a:off x="8221980" y="3346704"/>
            <a:ext cx="3178048" cy="365760"/>
          </a:xfrm>
          <a:prstGeom prst="rect">
            <a:avLst/>
          </a:prstGeom>
          <a:noFill/>
          <a:ln/>
        </p:spPr>
        <p:txBody>
          <a:bodyPr wrap="square" lIns="0" tIns="0" rIns="0" bIns="0" rtlCol="0" anchor="t"/>
          <a:lstStyle/>
          <a:p>
            <a:pPr algn="ctr" indent="0" marL="0">
              <a:lnSpc>
                <a:spcPct val="115000"/>
              </a:lnSpc>
              <a:spcAft>
                <a:spcPts val="600"/>
              </a:spcAft>
              <a:buNone/>
            </a:pPr>
            <a:r>
              <a:rPr lang="en-US" sz="1800" b="1" dirty="0">
                <a:solidFill>
                  <a:schemeClr val="tx1"/>
                </a:solidFill>
                <a:latin typeface="Pretendard" pitchFamily="34" charset="0"/>
                <a:ea typeface="Pretendard" pitchFamily="34" charset="-122"/>
                <a:cs typeface="Pretendard" pitchFamily="34" charset="-120"/>
              </a:rPr>
              <a:t>결과</a:t>
            </a:r>
            <a:endParaRPr lang="en-US" sz="1800" dirty="0"/>
          </a:p>
        </p:txBody>
      </p:sp>
      <p:sp>
        <p:nvSpPr>
          <p:cNvPr id="13" name="b0c3-9"/>
          <p:cNvSpPr txBox="1"/>
          <p:nvPr/>
        </p:nvSpPr>
        <p:spPr>
          <a:xfrm>
            <a:off x="8221980" y="3694176"/>
            <a:ext cx="3178048" cy="320040"/>
          </a:xfrm>
          <a:prstGeom prst="rect">
            <a:avLst/>
          </a:prstGeom>
          <a:noFill/>
          <a:ln/>
        </p:spPr>
        <p:txBody>
          <a:bodyPr wrap="square" lIns="0" tIns="0" rIns="0" bIns="0" rtlCol="0" anchor="t"/>
          <a:lstStyle/>
          <a:p>
            <a:pPr algn="ctr" indent="0" marL="0">
              <a:lnSpc>
                <a:spcPct val="115000"/>
              </a:lnSpc>
              <a:spcAft>
                <a:spcPts val="600"/>
              </a:spcAft>
              <a:buNone/>
            </a:pPr>
            <a:r>
              <a:rPr lang="en-US" sz="1500" dirty="0">
                <a:solidFill>
                  <a:schemeClr val="accent3"/>
                </a:solidFill>
              </a:rPr>
              <a:t>상태 코드</a:t>
            </a:r>
            <a:endParaRPr lang="en-US" sz="1500" dirty="0"/>
          </a:p>
        </p:txBody>
      </p:sp>
      <p:sp>
        <p:nvSpPr>
          <p:cNvPr id="14" name="b1-0"/>
          <p:cNvSpPr txBox="1"/>
          <p:nvPr/>
        </p:nvSpPr>
        <p:spPr>
          <a:xfrm>
            <a:off x="649224" y="4334256"/>
            <a:ext cx="10890504" cy="441960"/>
          </a:xfrm>
          <a:prstGeom prst="rect">
            <a:avLst/>
          </a:prstGeom>
          <a:noFill/>
          <a:ln/>
        </p:spPr>
        <p:txBody>
          <a:bodyPr wrap="square" lIns="0" tIns="0" rIns="0" bIns="0" rtlCol="0" anchor="t"/>
          <a:lstStyle/>
          <a:p>
            <a:pPr algn="ctr" indent="0" marL="0">
              <a:lnSpc>
                <a:spcPct val="115000"/>
              </a:lnSpc>
              <a:spcAft>
                <a:spcPts val="600"/>
              </a:spcAft>
              <a:buNone/>
            </a:pPr>
            <a:r>
              <a:rPr lang="en-US" sz="2400" dirty="0">
                <a:solidFill>
                  <a:schemeClr val="accent3"/>
                </a:solidFill>
              </a:rPr>
              <a:t>읽는 법  </a:t>
            </a:r>
            <a:pPr algn="ctr" indent="0" marL="0">
              <a:lnSpc>
                <a:spcPct val="115000"/>
              </a:lnSpc>
              <a:spcAft>
                <a:spcPts val="600"/>
              </a:spcAft>
              <a:buNone/>
            </a:pPr>
            <a:r>
              <a:rPr lang="en-US" sz="2400" b="1" dirty="0">
                <a:solidFill>
                  <a:schemeClr val="tx1"/>
                </a:solidFill>
                <a:latin typeface="Pretendard" pitchFamily="34" charset="0"/>
                <a:ea typeface="Pretendard" pitchFamily="34" charset="-122"/>
                <a:cs typeface="Pretendard" pitchFamily="34" charset="-120"/>
              </a:rPr>
              <a:t>“42번 글을 지웠고, 잘 끝났다”</a:t>
            </a:r>
            <a:endParaRPr lang="en-US" sz="2400" dirty="0"/>
          </a:p>
        </p:txBody>
      </p:sp>
      <p:sp>
        <p:nvSpPr>
          <p:cNvPr id="15"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450"/>
                                        <p:tgtEl>
                                          <p:spTgt spid="7"/>
                                        </p:tgtEl>
                                      </p:cBhvr>
                                    </p:animEffect>
                                    <p:anim calcmode="lin" valueType="num">
                                      <p:cBhvr>
                                        <p:cTn id="25" dur="450" fill="hold"/>
                                        <p:tgtEl>
                                          <p:spTgt spid="7"/>
                                        </p:tgtEl>
                                        <p:attrNameLst>
                                          <p:attrName>ppt_x</p:attrName>
                                        </p:attrNameLst>
                                      </p:cBhvr>
                                      <p:tavLst>
                                        <p:tav tm="0">
                                          <p:val>
                                            <p:strVal val="#ppt_x"/>
                                          </p:val>
                                        </p:tav>
                                        <p:tav tm="100000">
                                          <p:val>
                                            <p:strVal val="#ppt_x"/>
                                          </p:val>
                                        </p:tav>
                                      </p:tavLst>
                                    </p:anim>
                                    <p:anim calcmode="lin" valueType="num">
                                      <p:cBhvr>
                                        <p:cTn id="26" dur="450" fill="hold"/>
                                        <p:tgtEl>
                                          <p:spTgt spid="7"/>
                                        </p:tgtEl>
                                        <p:attrNameLst>
                                          <p:attrName>ppt_y</p:attrName>
                                        </p:attrNameLst>
                                      </p:cBhvr>
                                      <p:tavLst>
                                        <p:tav tm="0">
                                          <p:val>
                                            <p:strVal val="#ppt_y+0.03"/>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50"/>
                                        <p:tgtEl>
                                          <p:spTgt spid="8"/>
                                        </p:tgtEl>
                                      </p:cBhvr>
                                    </p:animEffect>
                                    <p:anim calcmode="lin" valueType="num">
                                      <p:cBhvr>
                                        <p:cTn id="30" dur="450" fill="hold"/>
                                        <p:tgtEl>
                                          <p:spTgt spid="8"/>
                                        </p:tgtEl>
                                        <p:attrNameLst>
                                          <p:attrName>ppt_x</p:attrName>
                                        </p:attrNameLst>
                                      </p:cBhvr>
                                      <p:tavLst>
                                        <p:tav tm="0">
                                          <p:val>
                                            <p:strVal val="#ppt_x"/>
                                          </p:val>
                                        </p:tav>
                                        <p:tav tm="100000">
                                          <p:val>
                                            <p:strVal val="#ppt_x"/>
                                          </p:val>
                                        </p:tav>
                                      </p:tavLst>
                                    </p:anim>
                                    <p:anim calcmode="lin" valueType="num">
                                      <p:cBhvr>
                                        <p:cTn id="31" dur="450" fill="hold"/>
                                        <p:tgtEl>
                                          <p:spTgt spid="8"/>
                                        </p:tgtEl>
                                        <p:attrNameLst>
                                          <p:attrName>ppt_y</p:attrName>
                                        </p:attrNameLst>
                                      </p:cBhvr>
                                      <p:tavLst>
                                        <p:tav tm="0">
                                          <p:val>
                                            <p:strVal val="#ppt_y+0.03"/>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50"/>
                                        <p:tgtEl>
                                          <p:spTgt spid="9"/>
                                        </p:tgtEl>
                                      </p:cBhvr>
                                    </p:animEffect>
                                    <p:anim calcmode="lin" valueType="num">
                                      <p:cBhvr>
                                        <p:cTn id="35" dur="450" fill="hold"/>
                                        <p:tgtEl>
                                          <p:spTgt spid="9"/>
                                        </p:tgtEl>
                                        <p:attrNameLst>
                                          <p:attrName>ppt_x</p:attrName>
                                        </p:attrNameLst>
                                      </p:cBhvr>
                                      <p:tavLst>
                                        <p:tav tm="0">
                                          <p:val>
                                            <p:strVal val="#ppt_x"/>
                                          </p:val>
                                        </p:tav>
                                        <p:tav tm="100000">
                                          <p:val>
                                            <p:strVal val="#ppt_x"/>
                                          </p:val>
                                        </p:tav>
                                      </p:tavLst>
                                    </p:anim>
                                    <p:anim calcmode="lin" valueType="num">
                                      <p:cBhvr>
                                        <p:cTn id="36" dur="450" fill="hold"/>
                                        <p:tgtEl>
                                          <p:spTgt spid="9"/>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50"/>
                                        <p:tgtEl>
                                          <p:spTgt spid="10"/>
                                        </p:tgtEl>
                                      </p:cBhvr>
                                    </p:animEffect>
                                    <p:anim calcmode="lin" valueType="num">
                                      <p:cBhvr>
                                        <p:cTn id="40" dur="450" fill="hold"/>
                                        <p:tgtEl>
                                          <p:spTgt spid="10"/>
                                        </p:tgtEl>
                                        <p:attrNameLst>
                                          <p:attrName>ppt_x</p:attrName>
                                        </p:attrNameLst>
                                      </p:cBhvr>
                                      <p:tavLst>
                                        <p:tav tm="0">
                                          <p:val>
                                            <p:strVal val="#ppt_x"/>
                                          </p:val>
                                        </p:tav>
                                        <p:tav tm="100000">
                                          <p:val>
                                            <p:strVal val="#ppt_x"/>
                                          </p:val>
                                        </p:tav>
                                      </p:tavLst>
                                    </p:anim>
                                    <p:anim calcmode="lin" valueType="num">
                                      <p:cBhvr>
                                        <p:cTn id="41" dur="450" fill="hold"/>
                                        <p:tgtEl>
                                          <p:spTgt spid="10"/>
                                        </p:tgtEl>
                                        <p:attrNameLst>
                                          <p:attrName>ppt_y</p:attrName>
                                        </p:attrNameLst>
                                      </p:cBhvr>
                                      <p:tavLst>
                                        <p:tav tm="0">
                                          <p:val>
                                            <p:strVal val="#ppt_y+0.03"/>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450"/>
                                        <p:tgtEl>
                                          <p:spTgt spid="11"/>
                                        </p:tgtEl>
                                      </p:cBhvr>
                                    </p:animEffect>
                                    <p:anim calcmode="lin" valueType="num">
                                      <p:cBhvr>
                                        <p:cTn id="47" dur="450" fill="hold"/>
                                        <p:tgtEl>
                                          <p:spTgt spid="11"/>
                                        </p:tgtEl>
                                        <p:attrNameLst>
                                          <p:attrName>ppt_x</p:attrName>
                                        </p:attrNameLst>
                                      </p:cBhvr>
                                      <p:tavLst>
                                        <p:tav tm="0">
                                          <p:val>
                                            <p:strVal val="#ppt_x"/>
                                          </p:val>
                                        </p:tav>
                                        <p:tav tm="100000">
                                          <p:val>
                                            <p:strVal val="#ppt_x"/>
                                          </p:val>
                                        </p:tav>
                                      </p:tavLst>
                                    </p:anim>
                                    <p:anim calcmode="lin" valueType="num">
                                      <p:cBhvr>
                                        <p:cTn id="48" dur="45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450"/>
                                        <p:tgtEl>
                                          <p:spTgt spid="12"/>
                                        </p:tgtEl>
                                      </p:cBhvr>
                                    </p:animEffect>
                                    <p:anim calcmode="lin" valueType="num">
                                      <p:cBhvr>
                                        <p:cTn id="52" dur="450" fill="hold"/>
                                        <p:tgtEl>
                                          <p:spTgt spid="12"/>
                                        </p:tgtEl>
                                        <p:attrNameLst>
                                          <p:attrName>ppt_x</p:attrName>
                                        </p:attrNameLst>
                                      </p:cBhvr>
                                      <p:tavLst>
                                        <p:tav tm="0">
                                          <p:val>
                                            <p:strVal val="#ppt_x"/>
                                          </p:val>
                                        </p:tav>
                                        <p:tav tm="100000">
                                          <p:val>
                                            <p:strVal val="#ppt_x"/>
                                          </p:val>
                                        </p:tav>
                                      </p:tavLst>
                                    </p:anim>
                                    <p:anim calcmode="lin" valueType="num">
                                      <p:cBhvr>
                                        <p:cTn id="53" dur="450" fill="hold"/>
                                        <p:tgtEl>
                                          <p:spTgt spid="12"/>
                                        </p:tgtEl>
                                        <p:attrNameLst>
                                          <p:attrName>ppt_y</p:attrName>
                                        </p:attrNameLst>
                                      </p:cBhvr>
                                      <p:tavLst>
                                        <p:tav tm="0">
                                          <p:val>
                                            <p:strVal val="#ppt_y+0.03"/>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450"/>
                                        <p:tgtEl>
                                          <p:spTgt spid="13"/>
                                        </p:tgtEl>
                                      </p:cBhvr>
                                    </p:animEffect>
                                    <p:anim calcmode="lin" valueType="num">
                                      <p:cBhvr>
                                        <p:cTn id="57" dur="450" fill="hold"/>
                                        <p:tgtEl>
                                          <p:spTgt spid="13"/>
                                        </p:tgtEl>
                                        <p:attrNameLst>
                                          <p:attrName>ppt_x</p:attrName>
                                        </p:attrNameLst>
                                      </p:cBhvr>
                                      <p:tavLst>
                                        <p:tav tm="0">
                                          <p:val>
                                            <p:strVal val="#ppt_x"/>
                                          </p:val>
                                        </p:tav>
                                        <p:tav tm="100000">
                                          <p:val>
                                            <p:strVal val="#ppt_x"/>
                                          </p:val>
                                        </p:tav>
                                      </p:tavLst>
                                    </p:anim>
                                    <p:anim calcmode="lin" valueType="num">
                                      <p:cBhvr>
                                        <p:cTn id="58" dur="450" fill="hold"/>
                                        <p:tgtEl>
                                          <p:spTgt spid="13"/>
                                        </p:tgtEl>
                                        <p:attrNameLst>
                                          <p:attrName>ppt_y</p:attrName>
                                        </p:attrNameLst>
                                      </p:cBhvr>
                                      <p:tavLst>
                                        <p:tav tm="0">
                                          <p:val>
                                            <p:strVal val="#ppt_y+0.03"/>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450"/>
                                        <p:tgtEl>
                                          <p:spTgt spid="14"/>
                                        </p:tgtEl>
                                      </p:cBhvr>
                                    </p:animEffect>
                                    <p:anim calcmode="lin" valueType="num">
                                      <p:cBhvr>
                                        <p:cTn id="62" dur="450" fill="hold"/>
                                        <p:tgtEl>
                                          <p:spTgt spid="14"/>
                                        </p:tgtEl>
                                        <p:attrNameLst>
                                          <p:attrName>ppt_x</p:attrName>
                                        </p:attrNameLst>
                                      </p:cBhvr>
                                      <p:tavLst>
                                        <p:tav tm="0">
                                          <p:val>
                                            <p:strVal val="#ppt_x"/>
                                          </p:val>
                                        </p:tav>
                                        <p:tav tm="100000">
                                          <p:val>
                                            <p:strVal val="#ppt_x"/>
                                          </p:val>
                                        </p:tav>
                                      </p:tavLst>
                                    </p:anim>
                                    <p:anim calcmode="lin" valueType="num">
                                      <p:cBhvr>
                                        <p:cTn id="63" dur="450" fill="hold"/>
                                        <p:tgtEl>
                                          <p:spTgt spid="14"/>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9224" y="1920240"/>
            <a:ext cx="2743200" cy="1005840"/>
          </a:xfrm>
          <a:prstGeom prst="rect">
            <a:avLst/>
          </a:prstGeom>
          <a:noFill/>
          <a:ln/>
        </p:spPr>
        <p:txBody>
          <a:bodyPr wrap="square" lIns="0" tIns="0" rIns="0" bIns="0" rtlCol="0" anchor="b"/>
          <a:lstStyle/>
          <a:p>
            <a:pPr algn="l" indent="0" marL="0">
              <a:buNone/>
            </a:pPr>
            <a:r>
              <a:rPr lang="en-US" sz="6000" b="1" dirty="0">
                <a:solidFill>
                  <a:schemeClr val="accent1"/>
                </a:solidFill>
                <a:latin typeface="+mj-lt" pitchFamily="34" charset="0"/>
                <a:ea typeface="+mj-lt" pitchFamily="34" charset="-122"/>
                <a:cs typeface="+mj-lt" pitchFamily="34" charset="-120"/>
              </a:rPr>
              <a:t>01</a:t>
            </a:r>
            <a:endParaRPr lang="en-US" sz="6000" dirty="0"/>
          </a:p>
        </p:txBody>
      </p:sp>
      <p:sp>
        <p:nvSpPr>
          <p:cNvPr id="3" name="Text 0"/>
          <p:cNvSpPr/>
          <p:nvPr>
            <p:ph idx="101" type="title" hasCustomPrompt="1"/>
          </p:nvPr>
        </p:nvSpPr>
        <p:spPr>
          <a:xfrm>
            <a:off x="649224" y="306324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자원 중심 URL</a:t>
            </a:r>
            <a:endParaRPr lang="en-US" sz="4000" dirty="0"/>
          </a:p>
        </p:txBody>
      </p:sp>
      <p:sp>
        <p:nvSpPr>
          <p:cNvPr id="4" name="Text 0"/>
          <p:cNvSpPr/>
          <p:nvPr>
            <p:ph idx="102" type="body" hasCustomPrompt="1"/>
          </p:nvPr>
        </p:nvSpPr>
        <p:spPr>
          <a:xfrm>
            <a:off x="649224" y="4114800"/>
            <a:ext cx="10058400" cy="548640"/>
          </a:xfrm>
          <a:prstGeom prst="rect">
            <a:avLst/>
          </a:prstGeom>
          <a:noFill/>
          <a:ln/>
        </p:spPr>
        <p:txBody>
          <a:bodyPr wrap="square" lIns="0" tIns="0" rIns="0" bIns="0" rtlCol="0" anchor="t"/>
          <a:lstStyle/>
          <a:p>
            <a:pPr algn="l" indent="0" marL="0">
              <a:buNone/>
            </a:pPr>
            <a:r>
              <a:rPr lang="en-US" sz="2000" dirty="0">
                <a:solidFill>
                  <a:srgbClr val="A09D96"/>
                </a:solidFill>
              </a:rPr>
              <a:t>주소는 자원만 가리키고, 행동은 메서드에 맡긴다</a:t>
            </a:r>
            <a:endParaRPr lang="en-US" sz="20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01 · URL</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URL에 동사를 넣으면 생기는 두 가지 문제</a:t>
            </a:r>
            <a:endParaRPr lang="en-US" sz="3200" dirty="0"/>
          </a:p>
        </p:txBody>
      </p:sp>
      <p:sp>
        <p:nvSpPr>
          <p:cNvPr id="4" name="b0c0-0"/>
          <p:cNvSpPr/>
          <p:nvPr/>
        </p:nvSpPr>
        <p:spPr>
          <a:xfrm>
            <a:off x="649224" y="1725358"/>
            <a:ext cx="5330952" cy="3160395"/>
          </a:xfrm>
          <a:prstGeom prst="roundRect">
            <a:avLst>
              <a:gd name="adj" fmla="val 3472"/>
            </a:avLst>
          </a:prstGeom>
          <a:solidFill>
            <a:schemeClr val="tx2"/>
          </a:solidFill>
          <a:ln/>
        </p:spPr>
      </p:sp>
      <p:sp>
        <p:nvSpPr>
          <p:cNvPr id="5" name="b0c0-1"/>
          <p:cNvSpPr/>
          <p:nvPr/>
        </p:nvSpPr>
        <p:spPr>
          <a:xfrm>
            <a:off x="850392" y="1871663"/>
            <a:ext cx="100584" cy="100584"/>
          </a:xfrm>
          <a:prstGeom prst="ellipse">
            <a:avLst/>
          </a:prstGeom>
          <a:solidFill>
            <a:srgbClr val="4A4844"/>
          </a:solidFill>
          <a:ln/>
        </p:spPr>
      </p:sp>
      <p:sp>
        <p:nvSpPr>
          <p:cNvPr id="6" name="b0c0-2"/>
          <p:cNvSpPr/>
          <p:nvPr/>
        </p:nvSpPr>
        <p:spPr>
          <a:xfrm>
            <a:off x="1024128" y="1871663"/>
            <a:ext cx="100584" cy="100584"/>
          </a:xfrm>
          <a:prstGeom prst="ellipse">
            <a:avLst/>
          </a:prstGeom>
          <a:solidFill>
            <a:srgbClr val="4A4844"/>
          </a:solidFill>
          <a:ln/>
        </p:spPr>
      </p:sp>
      <p:sp>
        <p:nvSpPr>
          <p:cNvPr id="7" name="b0c0-3"/>
          <p:cNvSpPr/>
          <p:nvPr/>
        </p:nvSpPr>
        <p:spPr>
          <a:xfrm>
            <a:off x="1197864" y="1871663"/>
            <a:ext cx="100584" cy="100584"/>
          </a:xfrm>
          <a:prstGeom prst="ellipse">
            <a:avLst/>
          </a:prstGeom>
          <a:solidFill>
            <a:srgbClr val="4A4844"/>
          </a:solidFill>
          <a:ln/>
        </p:spPr>
      </p:sp>
      <p:sp>
        <p:nvSpPr>
          <p:cNvPr id="8" name="b0c0-4"/>
          <p:cNvSpPr txBox="1"/>
          <p:nvPr/>
        </p:nvSpPr>
        <p:spPr>
          <a:xfrm>
            <a:off x="1472184" y="1816799"/>
            <a:ext cx="4325112"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1. 기능마다 주소가 늘어난다 (42번 글 하나)</a:t>
            </a:r>
            <a:endParaRPr lang="en-US" sz="1100" dirty="0"/>
          </a:p>
        </p:txBody>
      </p:sp>
      <p:sp>
        <p:nvSpPr>
          <p:cNvPr id="9" name="b0c0-5"/>
          <p:cNvSpPr txBox="1"/>
          <p:nvPr/>
        </p:nvSpPr>
        <p:spPr>
          <a:xfrm>
            <a:off x="905256" y="2164271"/>
            <a:ext cx="4873752" cy="2611755"/>
          </a:xfrm>
          <a:prstGeom prst="rect">
            <a:avLst/>
          </a:prstGeom>
          <a:noFill/>
          <a:ln/>
        </p:spPr>
        <p:txBody>
          <a:bodyPr wrap="square" lIns="0" tIns="0" rIns="0" bIns="0" rtlCol="0" anchor="t"/>
          <a:lstStyle/>
          <a:p>
            <a:pPr algn="l" indent="0" marL="0">
              <a:lnSpc>
                <a:spcPct val="105000"/>
              </a:lnSpc>
              <a:buNone/>
            </a:pPr>
            <a:r>
              <a:rPr lang="en-US" sz="1700" dirty="0">
                <a:solidFill>
                  <a:srgbClr val="E5806F"/>
                </a:solidFill>
                <a:latin typeface="JetBrains Mono" pitchFamily="34" charset="0"/>
                <a:ea typeface="JetBrains Mono" pitchFamily="34" charset="-122"/>
                <a:cs typeface="JetBrains Mono" pitchFamily="34" charset="-120"/>
              </a:rPr>
              <a:t>GET  /getPost?id=42</a:t>
            </a:r>
            <a:endParaRPr lang="en-US" sz="1700" dirty="0"/>
          </a:p>
          <a:p>
            <a:pPr algn="l" indent="0" marL="0">
              <a:lnSpc>
                <a:spcPct val="105000"/>
              </a:lnSpc>
              <a:buNone/>
            </a:pPr>
            <a:r>
              <a:rPr lang="en-US" sz="1700" dirty="0">
                <a:solidFill>
                  <a:srgbClr val="E5806F"/>
                </a:solidFill>
                <a:latin typeface="JetBrains Mono" pitchFamily="34" charset="0"/>
                <a:ea typeface="JetBrains Mono" pitchFamily="34" charset="-122"/>
                <a:cs typeface="JetBrains Mono" pitchFamily="34" charset="-120"/>
              </a:rPr>
              <a:t>POST /updatePost?id=42</a:t>
            </a:r>
            <a:endParaRPr lang="en-US" sz="1700" dirty="0"/>
          </a:p>
          <a:p>
            <a:pPr algn="l" indent="0" marL="0">
              <a:lnSpc>
                <a:spcPct val="105000"/>
              </a:lnSpc>
              <a:buNone/>
            </a:pPr>
            <a:r>
              <a:rPr lang="en-US" sz="1700" dirty="0">
                <a:solidFill>
                  <a:srgbClr val="E5806F"/>
                </a:solidFill>
                <a:latin typeface="JetBrains Mono" pitchFamily="34" charset="0"/>
                <a:ea typeface="JetBrains Mono" pitchFamily="34" charset="-122"/>
                <a:cs typeface="JetBrains Mono" pitchFamily="34" charset="-120"/>
              </a:rPr>
              <a:t>POST /deletePost?id=42</a:t>
            </a:r>
            <a:endParaRPr lang="en-US" sz="1700" dirty="0"/>
          </a:p>
          <a:p>
            <a:pPr algn="l" indent="0" marL="0">
              <a:lnSpc>
                <a:spcPct val="105000"/>
              </a:lnSpc>
              <a:buNone/>
            </a:pPr>
            <a:r>
              <a:rPr lang="en-US" sz="1700" dirty="0">
                <a:solidFill>
                  <a:srgbClr val="E5806F"/>
                </a:solidFill>
                <a:latin typeface="JetBrains Mono" pitchFamily="34" charset="0"/>
                <a:ea typeface="JetBrains Mono" pitchFamily="34" charset="-122"/>
                <a:cs typeface="JetBrains Mono" pitchFamily="34" charset="-120"/>
              </a:rPr>
              <a:t>POST /updatePostTitle?id=42</a:t>
            </a:r>
            <a:endParaRPr lang="en-US" sz="1700" dirty="0"/>
          </a:p>
          <a:p>
            <a:pPr algn="l" indent="0" marL="0">
              <a:lnSpc>
                <a:spcPct val="105000"/>
              </a:lnSpc>
              <a:buNone/>
            </a:pPr>
            <a:r>
              <a:rPr lang="en-US" sz="1700" dirty="0">
                <a:solidFill>
                  <a:srgbClr val="FAF9F5"/>
                </a:solidFill>
                <a:latin typeface="JetBrains Mono" pitchFamily="34" charset="0"/>
                <a:ea typeface="JetBrains Mono" pitchFamily="34" charset="-122"/>
                <a:cs typeface="JetBrains Mono" pitchFamily="34" charset="-120"/>
              </a:rPr>
              <a:t> </a:t>
            </a:r>
            <a:endParaRPr lang="en-US" sz="1700" dirty="0"/>
          </a:p>
          <a:p>
            <a:pPr algn="l" indent="0" marL="0">
              <a:lnSpc>
                <a:spcPct val="105000"/>
              </a:lnSpc>
              <a:buNone/>
            </a:pPr>
            <a:r>
              <a:rPr lang="en-US" sz="1700" dirty="0">
                <a:solidFill>
                  <a:srgbClr val="A09D96"/>
                </a:solidFill>
                <a:latin typeface="JetBrains Mono" pitchFamily="34" charset="0"/>
                <a:ea typeface="JetBrains Mono" pitchFamily="34" charset="-122"/>
                <a:cs typeface="JetBrains Mono" pitchFamily="34" charset="-120"/>
              </a:rPr>
              <a:t>REST: 주소는 하나, 메서드만 바뀜</a:t>
            </a:r>
            <a:endParaRPr lang="en-US" sz="1700" dirty="0"/>
          </a:p>
          <a:p>
            <a:pPr algn="l" indent="0" marL="0">
              <a:lnSpc>
                <a:spcPct val="105000"/>
              </a:lnSpc>
              <a:buNone/>
            </a:pPr>
            <a:r>
              <a:rPr lang="en-US" sz="1700" dirty="0">
                <a:solidFill>
                  <a:srgbClr val="FAF9F5"/>
                </a:solidFill>
                <a:latin typeface="JetBrains Mono" pitchFamily="34" charset="0"/>
                <a:ea typeface="JetBrains Mono" pitchFamily="34" charset="-122"/>
                <a:cs typeface="JetBrains Mono" pitchFamily="34" charset="-120"/>
              </a:rPr>
              <a:t>GET    /posts/42</a:t>
            </a:r>
            <a:endParaRPr lang="en-US" sz="1700" dirty="0"/>
          </a:p>
          <a:p>
            <a:pPr algn="l" indent="0" marL="0">
              <a:lnSpc>
                <a:spcPct val="105000"/>
              </a:lnSpc>
              <a:buNone/>
            </a:pPr>
            <a:r>
              <a:rPr lang="en-US" sz="1700" dirty="0">
                <a:solidFill>
                  <a:srgbClr val="FAF9F5"/>
                </a:solidFill>
                <a:latin typeface="JetBrains Mono" pitchFamily="34" charset="0"/>
                <a:ea typeface="JetBrains Mono" pitchFamily="34" charset="-122"/>
                <a:cs typeface="JetBrains Mono" pitchFamily="34" charset="-120"/>
              </a:rPr>
              <a:t>PATCH  /posts/42</a:t>
            </a:r>
            <a:endParaRPr lang="en-US" sz="1700" dirty="0"/>
          </a:p>
          <a:p>
            <a:pPr algn="l" indent="0" marL="0">
              <a:lnSpc>
                <a:spcPct val="105000"/>
              </a:lnSpc>
              <a:buNone/>
            </a:pPr>
            <a:r>
              <a:rPr lang="en-US" sz="1700" dirty="0">
                <a:solidFill>
                  <a:srgbClr val="FAF9F5"/>
                </a:solidFill>
                <a:latin typeface="JetBrains Mono" pitchFamily="34" charset="0"/>
                <a:ea typeface="JetBrains Mono" pitchFamily="34" charset="-122"/>
                <a:cs typeface="JetBrains Mono" pitchFamily="34" charset="-120"/>
              </a:rPr>
              <a:t>DELETE /posts/42</a:t>
            </a:r>
            <a:endParaRPr lang="en-US" sz="1700" dirty="0"/>
          </a:p>
        </p:txBody>
      </p:sp>
      <p:sp>
        <p:nvSpPr>
          <p:cNvPr id="10" name="b0c1-6"/>
          <p:cNvSpPr/>
          <p:nvPr/>
        </p:nvSpPr>
        <p:spPr>
          <a:xfrm>
            <a:off x="6208776" y="1725358"/>
            <a:ext cx="5330952" cy="3160395"/>
          </a:xfrm>
          <a:prstGeom prst="roundRect">
            <a:avLst>
              <a:gd name="adj" fmla="val 3472"/>
            </a:avLst>
          </a:prstGeom>
          <a:solidFill>
            <a:schemeClr val="tx2"/>
          </a:solidFill>
          <a:ln/>
        </p:spPr>
      </p:sp>
      <p:sp>
        <p:nvSpPr>
          <p:cNvPr id="11" name="b0c1-7"/>
          <p:cNvSpPr/>
          <p:nvPr/>
        </p:nvSpPr>
        <p:spPr>
          <a:xfrm>
            <a:off x="6409944" y="1871663"/>
            <a:ext cx="100584" cy="100584"/>
          </a:xfrm>
          <a:prstGeom prst="ellipse">
            <a:avLst/>
          </a:prstGeom>
          <a:solidFill>
            <a:srgbClr val="4A4844"/>
          </a:solidFill>
          <a:ln/>
        </p:spPr>
      </p:sp>
      <p:sp>
        <p:nvSpPr>
          <p:cNvPr id="12" name="b0c1-8"/>
          <p:cNvSpPr/>
          <p:nvPr/>
        </p:nvSpPr>
        <p:spPr>
          <a:xfrm>
            <a:off x="6583680" y="1871663"/>
            <a:ext cx="100584" cy="100584"/>
          </a:xfrm>
          <a:prstGeom prst="ellipse">
            <a:avLst/>
          </a:prstGeom>
          <a:solidFill>
            <a:srgbClr val="4A4844"/>
          </a:solidFill>
          <a:ln/>
        </p:spPr>
      </p:sp>
      <p:sp>
        <p:nvSpPr>
          <p:cNvPr id="13" name="b0c1-9"/>
          <p:cNvSpPr/>
          <p:nvPr/>
        </p:nvSpPr>
        <p:spPr>
          <a:xfrm>
            <a:off x="6757416" y="1871663"/>
            <a:ext cx="100584" cy="100584"/>
          </a:xfrm>
          <a:prstGeom prst="ellipse">
            <a:avLst/>
          </a:prstGeom>
          <a:solidFill>
            <a:srgbClr val="4A4844"/>
          </a:solidFill>
          <a:ln/>
        </p:spPr>
      </p:sp>
      <p:sp>
        <p:nvSpPr>
          <p:cNvPr id="14" name="b0c1-10"/>
          <p:cNvSpPr txBox="1"/>
          <p:nvPr/>
        </p:nvSpPr>
        <p:spPr>
          <a:xfrm>
            <a:off x="7031736" y="1816799"/>
            <a:ext cx="4325112"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2. 이름이 사람마다 다르다 (같은 '하나 조회')</a:t>
            </a:r>
            <a:endParaRPr lang="en-US" sz="1100" dirty="0"/>
          </a:p>
        </p:txBody>
      </p:sp>
      <p:sp>
        <p:nvSpPr>
          <p:cNvPr id="15" name="b0c1-11"/>
          <p:cNvSpPr txBox="1"/>
          <p:nvPr/>
        </p:nvSpPr>
        <p:spPr>
          <a:xfrm>
            <a:off x="6464808" y="2164271"/>
            <a:ext cx="4873752" cy="2611755"/>
          </a:xfrm>
          <a:prstGeom prst="rect">
            <a:avLst/>
          </a:prstGeom>
          <a:noFill/>
          <a:ln/>
        </p:spPr>
        <p:txBody>
          <a:bodyPr wrap="square" lIns="0" tIns="0" rIns="0" bIns="0" rtlCol="0" anchor="t"/>
          <a:lstStyle/>
          <a:p>
            <a:pPr algn="l" indent="0" marL="0">
              <a:lnSpc>
                <a:spcPct val="105000"/>
              </a:lnSpc>
              <a:buNone/>
            </a:pPr>
            <a:r>
              <a:rPr lang="en-US" sz="1700" dirty="0">
                <a:solidFill>
                  <a:srgbClr val="E5806F"/>
                </a:solidFill>
                <a:latin typeface="JetBrains Mono" pitchFamily="34" charset="0"/>
                <a:ea typeface="JetBrains Mono" pitchFamily="34" charset="-122"/>
                <a:cs typeface="JetBrains Mono" pitchFamily="34" charset="-120"/>
              </a:rPr>
              <a:t>A  /getPost?id=42</a:t>
            </a:r>
            <a:endParaRPr lang="en-US" sz="1700" dirty="0"/>
          </a:p>
          <a:p>
            <a:pPr algn="l" indent="0" marL="0">
              <a:lnSpc>
                <a:spcPct val="105000"/>
              </a:lnSpc>
              <a:buNone/>
            </a:pPr>
            <a:r>
              <a:rPr lang="en-US" sz="1700" dirty="0">
                <a:solidFill>
                  <a:srgbClr val="E5806F"/>
                </a:solidFill>
                <a:latin typeface="JetBrains Mono" pitchFamily="34" charset="0"/>
                <a:ea typeface="JetBrains Mono" pitchFamily="34" charset="-122"/>
                <a:cs typeface="JetBrains Mono" pitchFamily="34" charset="-120"/>
              </a:rPr>
              <a:t>B  /fetchComment?no=7</a:t>
            </a:r>
            <a:endParaRPr lang="en-US" sz="1700" dirty="0"/>
          </a:p>
          <a:p>
            <a:pPr algn="l" indent="0" marL="0">
              <a:lnSpc>
                <a:spcPct val="105000"/>
              </a:lnSpc>
              <a:buNone/>
            </a:pPr>
            <a:r>
              <a:rPr lang="en-US" sz="1700" dirty="0">
                <a:solidFill>
                  <a:srgbClr val="E5806F"/>
                </a:solidFill>
                <a:latin typeface="JetBrains Mono" pitchFamily="34" charset="0"/>
                <a:ea typeface="JetBrains Mono" pitchFamily="34" charset="-122"/>
                <a:cs typeface="JetBrains Mono" pitchFamily="34" charset="-120"/>
              </a:rPr>
              <a:t>C  /selectMember.do?mid=3</a:t>
            </a:r>
            <a:endParaRPr lang="en-US" sz="1700" dirty="0"/>
          </a:p>
          <a:p>
            <a:pPr algn="l" indent="0" marL="0">
              <a:lnSpc>
                <a:spcPct val="105000"/>
              </a:lnSpc>
              <a:buNone/>
            </a:pPr>
            <a:r>
              <a:rPr lang="en-US" sz="1700" dirty="0">
                <a:solidFill>
                  <a:srgbClr val="FAF9F5"/>
                </a:solidFill>
                <a:latin typeface="JetBrains Mono" pitchFamily="34" charset="0"/>
                <a:ea typeface="JetBrains Mono" pitchFamily="34" charset="-122"/>
                <a:cs typeface="JetBrains Mono" pitchFamily="34" charset="-120"/>
              </a:rPr>
              <a:t> </a:t>
            </a:r>
            <a:endParaRPr lang="en-US" sz="1700" dirty="0"/>
          </a:p>
          <a:p>
            <a:pPr algn="l" indent="0" marL="0">
              <a:lnSpc>
                <a:spcPct val="105000"/>
              </a:lnSpc>
              <a:buNone/>
            </a:pPr>
            <a:r>
              <a:rPr lang="en-US" sz="1700" dirty="0">
                <a:solidFill>
                  <a:srgbClr val="FAF9F5"/>
                </a:solidFill>
                <a:latin typeface="JetBrains Mono" pitchFamily="34" charset="0"/>
                <a:ea typeface="JetBrains Mono" pitchFamily="34" charset="-122"/>
                <a:cs typeface="JetBrains Mono" pitchFamily="34" charset="-120"/>
              </a:rPr>
              <a:t> </a:t>
            </a:r>
            <a:endParaRPr lang="en-US" sz="1700" dirty="0"/>
          </a:p>
          <a:p>
            <a:pPr algn="l" indent="0" marL="0">
              <a:lnSpc>
                <a:spcPct val="105000"/>
              </a:lnSpc>
              <a:buNone/>
            </a:pPr>
            <a:r>
              <a:rPr lang="en-US" sz="1700" dirty="0">
                <a:solidFill>
                  <a:srgbClr val="A09D96"/>
                </a:solidFill>
                <a:latin typeface="JetBrains Mono" pitchFamily="34" charset="0"/>
                <a:ea typeface="JetBrains Mono" pitchFamily="34" charset="-122"/>
                <a:cs typeface="JetBrains Mono" pitchFamily="34" charset="-120"/>
              </a:rPr>
              <a:t>REST: 누가 만들어도 같은 모양</a:t>
            </a:r>
            <a:endParaRPr lang="en-US" sz="1700" dirty="0"/>
          </a:p>
          <a:p>
            <a:pPr algn="l" indent="0" marL="0">
              <a:lnSpc>
                <a:spcPct val="105000"/>
              </a:lnSpc>
              <a:buNone/>
            </a:pPr>
            <a:r>
              <a:rPr lang="en-US" sz="1700" dirty="0">
                <a:solidFill>
                  <a:srgbClr val="FAF9F5"/>
                </a:solidFill>
                <a:latin typeface="JetBrains Mono" pitchFamily="34" charset="0"/>
                <a:ea typeface="JetBrains Mono" pitchFamily="34" charset="-122"/>
                <a:cs typeface="JetBrains Mono" pitchFamily="34" charset="-120"/>
              </a:rPr>
              <a:t>GET /posts/42</a:t>
            </a:r>
            <a:endParaRPr lang="en-US" sz="1700" dirty="0"/>
          </a:p>
          <a:p>
            <a:pPr algn="l" indent="0" marL="0">
              <a:lnSpc>
                <a:spcPct val="105000"/>
              </a:lnSpc>
              <a:buNone/>
            </a:pPr>
            <a:r>
              <a:rPr lang="en-US" sz="1700" dirty="0">
                <a:solidFill>
                  <a:srgbClr val="FAF9F5"/>
                </a:solidFill>
                <a:latin typeface="JetBrains Mono" pitchFamily="34" charset="0"/>
                <a:ea typeface="JetBrains Mono" pitchFamily="34" charset="-122"/>
                <a:cs typeface="JetBrains Mono" pitchFamily="34" charset="-120"/>
              </a:rPr>
              <a:t>GET /comments/7</a:t>
            </a:r>
            <a:endParaRPr lang="en-US" sz="1700" dirty="0"/>
          </a:p>
          <a:p>
            <a:pPr algn="l" indent="0" marL="0">
              <a:lnSpc>
                <a:spcPct val="105000"/>
              </a:lnSpc>
              <a:buNone/>
            </a:pPr>
            <a:r>
              <a:rPr lang="en-US" sz="1700" dirty="0">
                <a:solidFill>
                  <a:srgbClr val="FAF9F5"/>
                </a:solidFill>
                <a:latin typeface="JetBrains Mono" pitchFamily="34" charset="0"/>
                <a:ea typeface="JetBrains Mono" pitchFamily="34" charset="-122"/>
                <a:cs typeface="JetBrains Mono" pitchFamily="34" charset="-120"/>
              </a:rPr>
              <a:t>GET /members/3</a:t>
            </a:r>
            <a:endParaRPr lang="en-US" sz="1700" dirty="0"/>
          </a:p>
        </p:txBody>
      </p:sp>
      <p:sp>
        <p:nvSpPr>
          <p:cNvPr id="16" name="b1-0"/>
          <p:cNvSpPr/>
          <p:nvPr/>
        </p:nvSpPr>
        <p:spPr>
          <a:xfrm>
            <a:off x="649224" y="5114354"/>
            <a:ext cx="10890504" cy="868680"/>
          </a:xfrm>
          <a:prstGeom prst="roundRect">
            <a:avLst>
              <a:gd name="adj" fmla="val 12632"/>
            </a:avLst>
          </a:prstGeom>
          <a:solidFill>
            <a:schemeClr val="accent1"/>
          </a:solidFill>
          <a:ln/>
        </p:spPr>
      </p:sp>
      <p:sp>
        <p:nvSpPr>
          <p:cNvPr id="17" name="b1-1"/>
          <p:cNvSpPr txBox="1"/>
          <p:nvPr/>
        </p:nvSpPr>
        <p:spPr>
          <a:xfrm>
            <a:off x="1014984" y="5114354"/>
            <a:ext cx="10158984" cy="868680"/>
          </a:xfrm>
          <a:prstGeom prst="rect">
            <a:avLst/>
          </a:prstGeom>
          <a:noFill/>
          <a:ln/>
        </p:spPr>
        <p:txBody>
          <a:bodyPr wrap="square" lIns="0" tIns="0" rIns="0" bIns="0" rtlCol="0" anchor="ctr"/>
          <a:lstStyle/>
          <a:p>
            <a:pPr algn="l" indent="0" marL="0">
              <a:lnSpc>
                <a:spcPct val="115000"/>
              </a:lnSpc>
              <a:spcAft>
                <a:spcPts val="600"/>
              </a:spcAft>
              <a:buNone/>
            </a:pPr>
            <a:r>
              <a:rPr lang="en-US" sz="2200" b="1" dirty="0">
                <a:solidFill>
                  <a:schemeClr val="tx1"/>
                </a:solidFill>
                <a:latin typeface="Pretendard" pitchFamily="34" charset="0"/>
                <a:ea typeface="Pretendard" pitchFamily="34" charset="-122"/>
                <a:cs typeface="Pretendard" pitchFamily="34" charset="-120"/>
              </a:rPr>
              <a:t>행동은 HTTP 메서드가 맡고, URL은 명사로 자원만 가리킨다</a:t>
            </a:r>
            <a:endParaRPr lang="en-US" sz="2200" dirty="0"/>
          </a:p>
        </p:txBody>
      </p:sp>
      <p:sp>
        <p:nvSpPr>
          <p:cNvPr id="1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fill="hold"/>
                                        <p:tgtEl>
                                          <p:spTgt spid="7"/>
                                        </p:tgtEl>
                                        <p:attrNameLst>
                                          <p:attrName>ppt_x</p:attrName>
                                        </p:attrNameLst>
                                      </p:cBhvr>
                                      <p:tavLst>
                                        <p:tav tm="0">
                                          <p:val>
                                            <p:strVal val="#ppt_x"/>
                                          </p:val>
                                        </p:tav>
                                        <p:tav tm="100000">
                                          <p:val>
                                            <p:strVal val="#ppt_x"/>
                                          </p:val>
                                        </p:tav>
                                      </p:tavLst>
                                    </p:anim>
                                    <p:anim calcmode="lin" valueType="num">
                                      <p:cBhvr>
                                        <p:cTn id="24" dur="450" fill="hold"/>
                                        <p:tgtEl>
                                          <p:spTgt spid="7"/>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anim calcmode="lin" valueType="num">
                                      <p:cBhvr>
                                        <p:cTn id="28" dur="450" fill="hold"/>
                                        <p:tgtEl>
                                          <p:spTgt spid="8"/>
                                        </p:tgtEl>
                                        <p:attrNameLst>
                                          <p:attrName>ppt_x</p:attrName>
                                        </p:attrNameLst>
                                      </p:cBhvr>
                                      <p:tavLst>
                                        <p:tav tm="0">
                                          <p:val>
                                            <p:strVal val="#ppt_x"/>
                                          </p:val>
                                        </p:tav>
                                        <p:tav tm="100000">
                                          <p:val>
                                            <p:strVal val="#ppt_x"/>
                                          </p:val>
                                        </p:tav>
                                      </p:tavLst>
                                    </p:anim>
                                    <p:anim calcmode="lin" valueType="num">
                                      <p:cBhvr>
                                        <p:cTn id="29" dur="450" fill="hold"/>
                                        <p:tgtEl>
                                          <p:spTgt spid="8"/>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anim calcmode="lin" valueType="num">
                                      <p:cBhvr>
                                        <p:cTn id="33" dur="450" fill="hold"/>
                                        <p:tgtEl>
                                          <p:spTgt spid="9"/>
                                        </p:tgtEl>
                                        <p:attrNameLst>
                                          <p:attrName>ppt_x</p:attrName>
                                        </p:attrNameLst>
                                      </p:cBhvr>
                                      <p:tavLst>
                                        <p:tav tm="0">
                                          <p:val>
                                            <p:strVal val="#ppt_x"/>
                                          </p:val>
                                        </p:tav>
                                        <p:tav tm="100000">
                                          <p:val>
                                            <p:strVal val="#ppt_x"/>
                                          </p:val>
                                        </p:tav>
                                      </p:tavLst>
                                    </p:anim>
                                    <p:anim calcmode="lin" valueType="num">
                                      <p:cBhvr>
                                        <p:cTn id="34" dur="450" fill="hold"/>
                                        <p:tgtEl>
                                          <p:spTgt spid="9"/>
                                        </p:tgtEl>
                                        <p:attrNameLst>
                                          <p:attrName>ppt_y</p:attrName>
                                        </p:attrNameLst>
                                      </p:cBhvr>
                                      <p:tavLst>
                                        <p:tav tm="0">
                                          <p:val>
                                            <p:strVal val="#ppt_y+0.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50"/>
                                        <p:tgtEl>
                                          <p:spTgt spid="10"/>
                                        </p:tgtEl>
                                      </p:cBhvr>
                                    </p:animEffect>
                                    <p:anim calcmode="lin" valueType="num">
                                      <p:cBhvr>
                                        <p:cTn id="40" dur="450" fill="hold"/>
                                        <p:tgtEl>
                                          <p:spTgt spid="10"/>
                                        </p:tgtEl>
                                        <p:attrNameLst>
                                          <p:attrName>ppt_x</p:attrName>
                                        </p:attrNameLst>
                                      </p:cBhvr>
                                      <p:tavLst>
                                        <p:tav tm="0">
                                          <p:val>
                                            <p:strVal val="#ppt_x"/>
                                          </p:val>
                                        </p:tav>
                                        <p:tav tm="100000">
                                          <p:val>
                                            <p:strVal val="#ppt_x"/>
                                          </p:val>
                                        </p:tav>
                                      </p:tavLst>
                                    </p:anim>
                                    <p:anim calcmode="lin" valueType="num">
                                      <p:cBhvr>
                                        <p:cTn id="41" dur="450" fill="hold"/>
                                        <p:tgtEl>
                                          <p:spTgt spid="10"/>
                                        </p:tgtEl>
                                        <p:attrNameLst>
                                          <p:attrName>ppt_y</p:attrName>
                                        </p:attrNameLst>
                                      </p:cBhvr>
                                      <p:tavLst>
                                        <p:tav tm="0">
                                          <p:val>
                                            <p:strVal val="#ppt_y+0.03"/>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50"/>
                                        <p:tgtEl>
                                          <p:spTgt spid="11"/>
                                        </p:tgtEl>
                                      </p:cBhvr>
                                    </p:animEffect>
                                    <p:anim calcmode="lin" valueType="num">
                                      <p:cBhvr>
                                        <p:cTn id="45" dur="450" fill="hold"/>
                                        <p:tgtEl>
                                          <p:spTgt spid="11"/>
                                        </p:tgtEl>
                                        <p:attrNameLst>
                                          <p:attrName>ppt_x</p:attrName>
                                        </p:attrNameLst>
                                      </p:cBhvr>
                                      <p:tavLst>
                                        <p:tav tm="0">
                                          <p:val>
                                            <p:strVal val="#ppt_x"/>
                                          </p:val>
                                        </p:tav>
                                        <p:tav tm="100000">
                                          <p:val>
                                            <p:strVal val="#ppt_x"/>
                                          </p:val>
                                        </p:tav>
                                      </p:tavLst>
                                    </p:anim>
                                    <p:anim calcmode="lin" valueType="num">
                                      <p:cBhvr>
                                        <p:cTn id="46" dur="450" fill="hold"/>
                                        <p:tgtEl>
                                          <p:spTgt spid="11"/>
                                        </p:tgtEl>
                                        <p:attrNameLst>
                                          <p:attrName>ppt_y</p:attrName>
                                        </p:attrNameLst>
                                      </p:cBhvr>
                                      <p:tavLst>
                                        <p:tav tm="0">
                                          <p:val>
                                            <p:strVal val="#ppt_y+0.03"/>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450"/>
                                        <p:tgtEl>
                                          <p:spTgt spid="12"/>
                                        </p:tgtEl>
                                      </p:cBhvr>
                                    </p:animEffect>
                                    <p:anim calcmode="lin" valueType="num">
                                      <p:cBhvr>
                                        <p:cTn id="50" dur="450" fill="hold"/>
                                        <p:tgtEl>
                                          <p:spTgt spid="12"/>
                                        </p:tgtEl>
                                        <p:attrNameLst>
                                          <p:attrName>ppt_x</p:attrName>
                                        </p:attrNameLst>
                                      </p:cBhvr>
                                      <p:tavLst>
                                        <p:tav tm="0">
                                          <p:val>
                                            <p:strVal val="#ppt_x"/>
                                          </p:val>
                                        </p:tav>
                                        <p:tav tm="100000">
                                          <p:val>
                                            <p:strVal val="#ppt_x"/>
                                          </p:val>
                                        </p:tav>
                                      </p:tavLst>
                                    </p:anim>
                                    <p:anim calcmode="lin" valueType="num">
                                      <p:cBhvr>
                                        <p:cTn id="51" dur="450" fill="hold"/>
                                        <p:tgtEl>
                                          <p:spTgt spid="12"/>
                                        </p:tgtEl>
                                        <p:attrNameLst>
                                          <p:attrName>ppt_y</p:attrName>
                                        </p:attrNameLst>
                                      </p:cBhvr>
                                      <p:tavLst>
                                        <p:tav tm="0">
                                          <p:val>
                                            <p:strVal val="#ppt_y+0.03"/>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450"/>
                                        <p:tgtEl>
                                          <p:spTgt spid="13"/>
                                        </p:tgtEl>
                                      </p:cBhvr>
                                    </p:animEffect>
                                    <p:anim calcmode="lin" valueType="num">
                                      <p:cBhvr>
                                        <p:cTn id="55" dur="450" fill="hold"/>
                                        <p:tgtEl>
                                          <p:spTgt spid="13"/>
                                        </p:tgtEl>
                                        <p:attrNameLst>
                                          <p:attrName>ppt_x</p:attrName>
                                        </p:attrNameLst>
                                      </p:cBhvr>
                                      <p:tavLst>
                                        <p:tav tm="0">
                                          <p:val>
                                            <p:strVal val="#ppt_x"/>
                                          </p:val>
                                        </p:tav>
                                        <p:tav tm="100000">
                                          <p:val>
                                            <p:strVal val="#ppt_x"/>
                                          </p:val>
                                        </p:tav>
                                      </p:tavLst>
                                    </p:anim>
                                    <p:anim calcmode="lin" valueType="num">
                                      <p:cBhvr>
                                        <p:cTn id="56" dur="45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450"/>
                                        <p:tgtEl>
                                          <p:spTgt spid="14"/>
                                        </p:tgtEl>
                                      </p:cBhvr>
                                    </p:animEffect>
                                    <p:anim calcmode="lin" valueType="num">
                                      <p:cBhvr>
                                        <p:cTn id="60" dur="450" fill="hold"/>
                                        <p:tgtEl>
                                          <p:spTgt spid="14"/>
                                        </p:tgtEl>
                                        <p:attrNameLst>
                                          <p:attrName>ppt_x</p:attrName>
                                        </p:attrNameLst>
                                      </p:cBhvr>
                                      <p:tavLst>
                                        <p:tav tm="0">
                                          <p:val>
                                            <p:strVal val="#ppt_x"/>
                                          </p:val>
                                        </p:tav>
                                        <p:tav tm="100000">
                                          <p:val>
                                            <p:strVal val="#ppt_x"/>
                                          </p:val>
                                        </p:tav>
                                      </p:tavLst>
                                    </p:anim>
                                    <p:anim calcmode="lin" valueType="num">
                                      <p:cBhvr>
                                        <p:cTn id="61" dur="450" fill="hold"/>
                                        <p:tgtEl>
                                          <p:spTgt spid="14"/>
                                        </p:tgtEl>
                                        <p:attrNameLst>
                                          <p:attrName>ppt_y</p:attrName>
                                        </p:attrNameLst>
                                      </p:cBhvr>
                                      <p:tavLst>
                                        <p:tav tm="0">
                                          <p:val>
                                            <p:strVal val="#ppt_y+0.03"/>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450"/>
                                        <p:tgtEl>
                                          <p:spTgt spid="15"/>
                                        </p:tgtEl>
                                      </p:cBhvr>
                                    </p:animEffect>
                                    <p:anim calcmode="lin" valueType="num">
                                      <p:cBhvr>
                                        <p:cTn id="65" dur="450" fill="hold"/>
                                        <p:tgtEl>
                                          <p:spTgt spid="15"/>
                                        </p:tgtEl>
                                        <p:attrNameLst>
                                          <p:attrName>ppt_x</p:attrName>
                                        </p:attrNameLst>
                                      </p:cBhvr>
                                      <p:tavLst>
                                        <p:tav tm="0">
                                          <p:val>
                                            <p:strVal val="#ppt_x"/>
                                          </p:val>
                                        </p:tav>
                                        <p:tav tm="100000">
                                          <p:val>
                                            <p:strVal val="#ppt_x"/>
                                          </p:val>
                                        </p:tav>
                                      </p:tavLst>
                                    </p:anim>
                                    <p:anim calcmode="lin" valueType="num">
                                      <p:cBhvr>
                                        <p:cTn id="66" dur="450" fill="hold"/>
                                        <p:tgtEl>
                                          <p:spTgt spid="15"/>
                                        </p:tgtEl>
                                        <p:attrNameLst>
                                          <p:attrName>ppt_y</p:attrName>
                                        </p:attrNameLst>
                                      </p:cBhvr>
                                      <p:tavLst>
                                        <p:tav tm="0">
                                          <p:val>
                                            <p:strVal val="#ppt_y+0.03"/>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450"/>
                                        <p:tgtEl>
                                          <p:spTgt spid="16"/>
                                        </p:tgtEl>
                                      </p:cBhvr>
                                    </p:animEffect>
                                    <p:anim calcmode="lin" valueType="num">
                                      <p:cBhvr>
                                        <p:cTn id="72" dur="450" fill="hold"/>
                                        <p:tgtEl>
                                          <p:spTgt spid="16"/>
                                        </p:tgtEl>
                                        <p:attrNameLst>
                                          <p:attrName>ppt_x</p:attrName>
                                        </p:attrNameLst>
                                      </p:cBhvr>
                                      <p:tavLst>
                                        <p:tav tm="0">
                                          <p:val>
                                            <p:strVal val="#ppt_x"/>
                                          </p:val>
                                        </p:tav>
                                        <p:tav tm="100000">
                                          <p:val>
                                            <p:strVal val="#ppt_x"/>
                                          </p:val>
                                        </p:tav>
                                      </p:tavLst>
                                    </p:anim>
                                    <p:anim calcmode="lin" valueType="num">
                                      <p:cBhvr>
                                        <p:cTn id="73" dur="450" fill="hold"/>
                                        <p:tgtEl>
                                          <p:spTgt spid="16"/>
                                        </p:tgtEl>
                                        <p:attrNameLst>
                                          <p:attrName>ppt_y</p:attrName>
                                        </p:attrNameLst>
                                      </p:cBhvr>
                                      <p:tavLst>
                                        <p:tav tm="0">
                                          <p:val>
                                            <p:strVal val="#ppt_y+0.03"/>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450"/>
                                        <p:tgtEl>
                                          <p:spTgt spid="17"/>
                                        </p:tgtEl>
                                      </p:cBhvr>
                                    </p:animEffect>
                                    <p:anim calcmode="lin" valueType="num">
                                      <p:cBhvr>
                                        <p:cTn id="77" dur="450" fill="hold"/>
                                        <p:tgtEl>
                                          <p:spTgt spid="17"/>
                                        </p:tgtEl>
                                        <p:attrNameLst>
                                          <p:attrName>ppt_x</p:attrName>
                                        </p:attrNameLst>
                                      </p:cBhvr>
                                      <p:tavLst>
                                        <p:tav tm="0">
                                          <p:val>
                                            <p:strVal val="#ppt_x"/>
                                          </p:val>
                                        </p:tav>
                                        <p:tav tm="100000">
                                          <p:val>
                                            <p:strVal val="#ppt_x"/>
                                          </p:val>
                                        </p:tav>
                                      </p:tavLst>
                                    </p:anim>
                                    <p:anim calcmode="lin" valueType="num">
                                      <p:cBhvr>
                                        <p:cTn id="78" dur="450" fill="hold"/>
                                        <p:tgtEl>
                                          <p:spTgt spid="1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01 · URL</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동사 URL을 메서드 + 명사 URL로</a:t>
            </a:r>
            <a:endParaRPr lang="en-US" sz="3200" dirty="0"/>
          </a:p>
        </p:txBody>
      </p:sp>
      <p:graphicFrame>
        <p:nvGraphicFramePr>
          <p:cNvPr id="4" name="b0-0"/>
          <p:cNvGraphicFramePr>
            <a:graphicFrameLocks noGrp="1"/>
          </p:cNvGraphicFramePr>
          <p:nvPr>
            <p:extLst>
              <p:ext uri="{D42A27DB-BD31-4B8C-83A1-F6EECF244321}">
                <p14:modId xmlns:p14="http://schemas.microsoft.com/office/powerpoint/2010/main" val="1579011935"/>
              </p:ext>
            </p:extLst>
          </p:nvPr>
        </p:nvGraphicFramePr>
        <p:xfrm>
          <a:off x="649224" y="1581912"/>
          <a:ext cx="10890504" cy="914400"/>
        </p:xfrm>
        <a:graphic>
          <a:graphicData uri="http://schemas.openxmlformats.org/drawingml/2006/table">
            <a:tbl>
              <a:tblPr/>
              <a:tblGrid>
                <a:gridCol w="2104887"/>
                <a:gridCol w="5124943"/>
                <a:gridCol w="3660674"/>
              </a:tblGrid>
              <a:tr h="475488">
                <a:tc>
                  <a:txBody>
                    <a:bodyPr/>
                    <a:lstStyle/>
                    <a:p>
                      <a:pPr indent="0" marL="0">
                        <a:buNone/>
                      </a:pPr>
                      <a:r>
                        <a:rPr lang="en-US" sz="1200" dirty="0">
                          <a:solidFill>
                            <a:schemeClr val="accent3"/>
                          </a:solidFill>
                        </a:rPr>
                        <a:t>하는 일</a:t>
                      </a:r>
                      <a:endParaRPr lang="en-US" sz="12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200" dirty="0">
                          <a:solidFill>
                            <a:schemeClr val="accent3"/>
                          </a:solidFill>
                        </a:rPr>
                        <a:t>동사가 들어간 URL</a:t>
                      </a:r>
                      <a:endParaRPr lang="en-US" sz="12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200" dirty="0">
                          <a:solidFill>
                            <a:schemeClr val="accent3"/>
                          </a:solidFill>
                        </a:rPr>
                        <a:t>메서드 + 명사 URL</a:t>
                      </a:r>
                      <a:endParaRPr lang="en-US" sz="12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475488">
                <a:tc>
                  <a:txBody>
                    <a:bodyPr/>
                    <a:lstStyle/>
                    <a:p>
                      <a:pPr indent="0" marL="0">
                        <a:buNone/>
                      </a:pPr>
                      <a:r>
                        <a:rPr lang="en-US" sz="1500" dirty="0">
                          <a:solidFill>
                            <a:schemeClr val="tx1"/>
                          </a:solidFill>
                        </a:rPr>
                        <a:t>글 목록 조회</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accent6"/>
                          </a:solidFill>
                          <a:latin typeface="JetBrains Mono" pitchFamily="34" charset="0"/>
                          <a:ea typeface="JetBrains Mono" pitchFamily="34" charset="-122"/>
                          <a:cs typeface="JetBrains Mono" pitchFamily="34" charset="-120"/>
                        </a:rPr>
                        <a:t>GET  /getPosts</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latin typeface="JetBrains Mono" pitchFamily="34" charset="0"/>
                          <a:ea typeface="JetBrains Mono" pitchFamily="34" charset="-122"/>
                          <a:cs typeface="JetBrains Mono" pitchFamily="34" charset="-120"/>
                        </a:rPr>
                        <a:t>GET    /posts</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500" dirty="0">
                          <a:solidFill>
                            <a:schemeClr val="tx1"/>
                          </a:solidFill>
                        </a:rPr>
                        <a:t>글 작성</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accent6"/>
                          </a:solidFill>
                          <a:latin typeface="JetBrains Mono" pitchFamily="34" charset="0"/>
                          <a:ea typeface="JetBrains Mono" pitchFamily="34" charset="-122"/>
                          <a:cs typeface="JetBrains Mono" pitchFamily="34" charset="-120"/>
                        </a:rPr>
                        <a:t>POST /createPost</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latin typeface="JetBrains Mono" pitchFamily="34" charset="0"/>
                          <a:ea typeface="JetBrains Mono" pitchFamily="34" charset="-122"/>
                          <a:cs typeface="JetBrains Mono" pitchFamily="34" charset="-120"/>
                        </a:rPr>
                        <a:t>POST   /posts</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500" dirty="0">
                          <a:solidFill>
                            <a:schemeClr val="tx1"/>
                          </a:solidFill>
                        </a:rPr>
                        <a:t>42번 글 조회</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accent6"/>
                          </a:solidFill>
                          <a:latin typeface="JetBrains Mono" pitchFamily="34" charset="0"/>
                          <a:ea typeface="JetBrains Mono" pitchFamily="34" charset="-122"/>
                          <a:cs typeface="JetBrains Mono" pitchFamily="34" charset="-120"/>
                        </a:rPr>
                        <a:t>GET  /getPost?id=42</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latin typeface="JetBrains Mono" pitchFamily="34" charset="0"/>
                          <a:ea typeface="JetBrains Mono" pitchFamily="34" charset="-122"/>
                          <a:cs typeface="JetBrains Mono" pitchFamily="34" charset="-120"/>
                        </a:rPr>
                        <a:t>GET    /posts/42</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500" dirty="0">
                          <a:solidFill>
                            <a:schemeClr val="tx1"/>
                          </a:solidFill>
                        </a:rPr>
                        <a:t>42번 글 수정</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accent6"/>
                          </a:solidFill>
                          <a:latin typeface="JetBrains Mono" pitchFamily="34" charset="0"/>
                          <a:ea typeface="JetBrains Mono" pitchFamily="34" charset="-122"/>
                          <a:cs typeface="JetBrains Mono" pitchFamily="34" charset="-120"/>
                        </a:rPr>
                        <a:t>POST /updatePost?id=42</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latin typeface="JetBrains Mono" pitchFamily="34" charset="0"/>
                          <a:ea typeface="JetBrains Mono" pitchFamily="34" charset="-122"/>
                          <a:cs typeface="JetBrains Mono" pitchFamily="34" charset="-120"/>
                        </a:rPr>
                        <a:t>PATCH  /posts/42</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500" dirty="0">
                          <a:solidFill>
                            <a:schemeClr val="tx1"/>
                          </a:solidFill>
                        </a:rPr>
                        <a:t>42번 글 삭제</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accent6"/>
                          </a:solidFill>
                          <a:latin typeface="JetBrains Mono" pitchFamily="34" charset="0"/>
                          <a:ea typeface="JetBrains Mono" pitchFamily="34" charset="-122"/>
                          <a:cs typeface="JetBrains Mono" pitchFamily="34" charset="-120"/>
                        </a:rPr>
                        <a:t>GET  /deletePost?id=42</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latin typeface="JetBrains Mono" pitchFamily="34" charset="0"/>
                          <a:ea typeface="JetBrains Mono" pitchFamily="34" charset="-122"/>
                          <a:cs typeface="JetBrains Mono" pitchFamily="34" charset="-120"/>
                        </a:rPr>
                        <a:t>DELETE /posts/42</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500" dirty="0">
                          <a:solidFill>
                            <a:schemeClr val="tx1"/>
                          </a:solidFill>
                        </a:rPr>
                        <a:t>42번 글의 댓글 조회</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accent6"/>
                          </a:solidFill>
                          <a:latin typeface="JetBrains Mono" pitchFamily="34" charset="0"/>
                          <a:ea typeface="JetBrains Mono" pitchFamily="34" charset="-122"/>
                          <a:cs typeface="JetBrains Mono" pitchFamily="34" charset="-120"/>
                        </a:rPr>
                        <a:t>GET  /getCommentsByPostId?postId=42</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latin typeface="JetBrains Mono" pitchFamily="34" charset="0"/>
                          <a:ea typeface="JetBrains Mono" pitchFamily="34" charset="-122"/>
                          <a:cs typeface="JetBrains Mono" pitchFamily="34" charset="-120"/>
                        </a:rPr>
                        <a:t>GET    /posts/42/comments</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5" name="b1-0"/>
          <p:cNvSpPr txBox="1"/>
          <p:nvPr/>
        </p:nvSpPr>
        <p:spPr>
          <a:xfrm>
            <a:off x="649224" y="5184648"/>
            <a:ext cx="10890504" cy="342900"/>
          </a:xfrm>
          <a:prstGeom prst="rect">
            <a:avLst/>
          </a:prstGeom>
          <a:noFill/>
          <a:ln/>
        </p:spPr>
        <p:txBody>
          <a:bodyPr wrap="square" lIns="0" tIns="0" rIns="0" bIns="0" rtlCol="0" anchor="t"/>
          <a:lstStyle/>
          <a:p>
            <a:pPr algn="l" indent="0" marL="0">
              <a:lnSpc>
                <a:spcPct val="115000"/>
              </a:lnSpc>
              <a:spcAft>
                <a:spcPts val="600"/>
              </a:spcAft>
              <a:buNone/>
            </a:pPr>
            <a:r>
              <a:rPr lang="en-US" sz="1800" b="1" dirty="0">
                <a:solidFill>
                  <a:srgbClr val="3D3D3A"/>
                </a:solidFill>
                <a:latin typeface="Pretendard" pitchFamily="34" charset="0"/>
                <a:ea typeface="Pretendard" pitchFamily="34" charset="-122"/>
                <a:cs typeface="Pretendard" pitchFamily="34" charset="-120"/>
              </a:rPr>
              <a:t>GET으로 삭제하면 안 된다  </a:t>
            </a:r>
            <a:pPr algn="l" indent="0" marL="0">
              <a:lnSpc>
                <a:spcPct val="115000"/>
              </a:lnSpc>
              <a:spcAft>
                <a:spcPts val="600"/>
              </a:spcAft>
              <a:buNone/>
            </a:pPr>
            <a:r>
              <a:rPr lang="en-US" sz="1800" dirty="0">
                <a:solidFill>
                  <a:srgbClr val="3D3D3A"/>
                </a:solidFill>
              </a:rPr>
              <a:t>크롤러 · 링크 미리보기가 알아서 GET을 보낸다 → 공유만 해도 지워진다</a:t>
            </a:r>
            <a:endParaRPr lang="en-US" sz="1800" dirty="0"/>
          </a:p>
        </p:txBody>
      </p:sp>
      <p:sp>
        <p:nvSpPr>
          <p:cNvPr id="6"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anim calcmode="lin" valueType="num">
                                      <p:cBhvr>
                                        <p:cTn id="15" dur="450" fill="hold"/>
                                        <p:tgtEl>
                                          <p:spTgt spid="5"/>
                                        </p:tgtEl>
                                        <p:attrNameLst>
                                          <p:attrName>ppt_x</p:attrName>
                                        </p:attrNameLst>
                                      </p:cBhvr>
                                      <p:tavLst>
                                        <p:tav tm="0">
                                          <p:val>
                                            <p:strVal val="#ppt_x"/>
                                          </p:val>
                                        </p:tav>
                                        <p:tav tm="100000">
                                          <p:val>
                                            <p:strVal val="#ppt_x"/>
                                          </p:val>
                                        </p:tav>
                                      </p:tavLst>
                                    </p:anim>
                                    <p:anim calcmode="lin" valueType="num">
                                      <p:cBhvr>
                                        <p:cTn id="16" dur="450" fill="hold"/>
                                        <p:tgtEl>
                                          <p:spTgt spid="5"/>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01 · URL</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명사 URL은 계층으로, 보여 주는 방식은 쿼리로</a:t>
            </a:r>
            <a:endParaRPr lang="en-US" sz="3200" dirty="0"/>
          </a:p>
        </p:txBody>
      </p:sp>
      <p:graphicFrame>
        <p:nvGraphicFramePr>
          <p:cNvPr id="4" name="b0-0"/>
          <p:cNvGraphicFramePr>
            <a:graphicFrameLocks noGrp="1"/>
          </p:cNvGraphicFramePr>
          <p:nvPr>
            <p:extLst>
              <p:ext uri="{D42A27DB-BD31-4B8C-83A1-F6EECF244321}">
                <p14:modId xmlns:p14="http://schemas.microsoft.com/office/powerpoint/2010/main" val="1579011935"/>
              </p:ext>
            </p:extLst>
          </p:nvPr>
        </p:nvGraphicFramePr>
        <p:xfrm>
          <a:off x="649224" y="1581912"/>
          <a:ext cx="10890504" cy="914400"/>
        </p:xfrm>
        <a:graphic>
          <a:graphicData uri="http://schemas.openxmlformats.org/drawingml/2006/table">
            <a:tbl>
              <a:tblPr/>
              <a:tblGrid>
                <a:gridCol w="5674044"/>
                <a:gridCol w="5216460"/>
              </a:tblGrid>
              <a:tr h="411480">
                <a:tc>
                  <a:txBody>
                    <a:bodyPr/>
                    <a:lstStyle/>
                    <a:p>
                      <a:pPr indent="0" marL="0">
                        <a:buNone/>
                      </a:pPr>
                      <a:r>
                        <a:rPr lang="en-US" sz="1300" dirty="0">
                          <a:solidFill>
                            <a:schemeClr val="accent3"/>
                          </a:solidFill>
                        </a:rPr>
                        <a:t>주소</a:t>
                      </a:r>
                      <a:endParaRPr lang="en-US" sz="13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300" dirty="0">
                          <a:solidFill>
                            <a:schemeClr val="accent3"/>
                          </a:solidFill>
                        </a:rPr>
                        <a:t>뜻</a:t>
                      </a:r>
                      <a:endParaRPr lang="en-US" sz="13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411480">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/api/v1/posts</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글 목록 (복수형 명사)</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11480">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/api/v1/posts/42</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42번 글 하나</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11480">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/api/v1/posts/42/comments</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42번 글의 댓글 목록</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11480">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/api/v1/posts/42/comments/7</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그중 7번 댓글 (관계는 자원 두 개까지)</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11480">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/api/v1/members/me</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나 (로그인한 회원)</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5" name="b1c0-0"/>
          <p:cNvSpPr/>
          <p:nvPr/>
        </p:nvSpPr>
        <p:spPr>
          <a:xfrm>
            <a:off x="649224" y="4325112"/>
            <a:ext cx="5330952" cy="1143000"/>
          </a:xfrm>
          <a:prstGeom prst="roundRect">
            <a:avLst>
              <a:gd name="adj" fmla="val 9600"/>
            </a:avLst>
          </a:prstGeom>
          <a:solidFill>
            <a:schemeClr val="bg2"/>
          </a:solidFill>
          <a:ln/>
        </p:spPr>
      </p:sp>
      <p:sp>
        <p:nvSpPr>
          <p:cNvPr id="6" name="b1c0-1"/>
          <p:cNvSpPr txBox="1"/>
          <p:nvPr/>
        </p:nvSpPr>
        <p:spPr>
          <a:xfrm>
            <a:off x="923544" y="4553712"/>
            <a:ext cx="4782312" cy="777240"/>
          </a:xfrm>
          <a:prstGeom prst="rect">
            <a:avLst/>
          </a:prstGeom>
          <a:noFill/>
          <a:ln/>
        </p:spPr>
        <p:txBody>
          <a:bodyPr wrap="square" lIns="0" tIns="0" rIns="0" bIns="0" rtlCol="0" anchor="t"/>
          <a:lstStyle/>
          <a:p>
            <a:pPr algn="l" indent="0" marL="0">
              <a:lnSpc>
                <a:spcPct val="115000"/>
              </a:lnSpc>
              <a:spcAft>
                <a:spcPts val="500"/>
              </a:spcAft>
              <a:buNone/>
            </a:pPr>
            <a:r>
              <a:rPr lang="en-US" sz="1500" dirty="0">
                <a:solidFill>
                  <a:schemeClr val="accent3"/>
                </a:solidFill>
              </a:rPr>
              <a:t>누구냐 → 경로</a:t>
            </a:r>
            <a:endParaRPr lang="en-US" sz="1500" dirty="0"/>
          </a:p>
          <a:p>
            <a:pPr algn="l" indent="0" marL="0">
              <a:lnSpc>
                <a:spcPct val="115000"/>
              </a:lnSpc>
              <a:spcAft>
                <a:spcPts val="500"/>
              </a:spcAft>
              <a:buNone/>
            </a:pPr>
            <a:r>
              <a:rPr lang="en-US" sz="1700" dirty="0">
                <a:solidFill>
                  <a:schemeClr val="tx1"/>
                </a:solidFill>
                <a:latin typeface="JetBrains Mono" pitchFamily="34" charset="0"/>
                <a:ea typeface="JetBrains Mono" pitchFamily="34" charset="-122"/>
                <a:cs typeface="JetBrains Mono" pitchFamily="34" charset="-120"/>
              </a:rPr>
              <a:t>/api/v1/posts/42</a:t>
            </a:r>
            <a:endParaRPr lang="en-US" sz="1500" dirty="0"/>
          </a:p>
        </p:txBody>
      </p:sp>
      <p:sp>
        <p:nvSpPr>
          <p:cNvPr id="7" name="b1c1-2"/>
          <p:cNvSpPr/>
          <p:nvPr/>
        </p:nvSpPr>
        <p:spPr>
          <a:xfrm>
            <a:off x="6208776" y="4325112"/>
            <a:ext cx="5330952" cy="1143000"/>
          </a:xfrm>
          <a:prstGeom prst="roundRect">
            <a:avLst>
              <a:gd name="adj" fmla="val 9600"/>
            </a:avLst>
          </a:prstGeom>
          <a:solidFill>
            <a:schemeClr val="bg2"/>
          </a:solidFill>
          <a:ln/>
        </p:spPr>
      </p:sp>
      <p:sp>
        <p:nvSpPr>
          <p:cNvPr id="8" name="b1c1-3"/>
          <p:cNvSpPr txBox="1"/>
          <p:nvPr/>
        </p:nvSpPr>
        <p:spPr>
          <a:xfrm>
            <a:off x="6483096" y="4553712"/>
            <a:ext cx="4782312" cy="777240"/>
          </a:xfrm>
          <a:prstGeom prst="rect">
            <a:avLst/>
          </a:prstGeom>
          <a:noFill/>
          <a:ln/>
        </p:spPr>
        <p:txBody>
          <a:bodyPr wrap="square" lIns="0" tIns="0" rIns="0" bIns="0" rtlCol="0" anchor="t"/>
          <a:lstStyle/>
          <a:p>
            <a:pPr algn="l" indent="0" marL="0">
              <a:lnSpc>
                <a:spcPct val="115000"/>
              </a:lnSpc>
              <a:spcAft>
                <a:spcPts val="500"/>
              </a:spcAft>
              <a:buNone/>
            </a:pPr>
            <a:r>
              <a:rPr lang="en-US" sz="1500" dirty="0">
                <a:solidFill>
                  <a:schemeClr val="accent3"/>
                </a:solidFill>
              </a:rPr>
              <a:t>어떻게 보여 줄까 → 쿼리 (? 뒤)</a:t>
            </a:r>
            <a:endParaRPr lang="en-US" sz="1500" dirty="0"/>
          </a:p>
          <a:p>
            <a:pPr algn="l" indent="0" marL="0">
              <a:lnSpc>
                <a:spcPct val="115000"/>
              </a:lnSpc>
              <a:spcAft>
                <a:spcPts val="500"/>
              </a:spcAft>
              <a:buNone/>
            </a:pPr>
            <a:r>
              <a:rPr lang="en-US" sz="1400" dirty="0">
                <a:solidFill>
                  <a:schemeClr val="tx1"/>
                </a:solidFill>
                <a:latin typeface="JetBrains Mono" pitchFamily="34" charset="0"/>
                <a:ea typeface="JetBrains Mono" pitchFamily="34" charset="-122"/>
                <a:cs typeface="JetBrains Mono" pitchFamily="34" charset="-120"/>
              </a:rPr>
              <a:t>/api/v1/posts?sort=createdAt,desc&amp;size=20</a:t>
            </a:r>
            <a:endParaRPr lang="en-US" sz="1500" dirty="0"/>
          </a:p>
        </p:txBody>
      </p:sp>
      <p:sp>
        <p:nvSpPr>
          <p:cNvPr id="9" name="b2-0"/>
          <p:cNvSpPr txBox="1"/>
          <p:nvPr/>
        </p:nvSpPr>
        <p:spPr>
          <a:xfrm>
            <a:off x="649224" y="5696712"/>
            <a:ext cx="10890504" cy="624840"/>
          </a:xfrm>
          <a:prstGeom prst="rect">
            <a:avLst/>
          </a:prstGeom>
          <a:noFill/>
          <a:ln/>
        </p:spPr>
        <p:txBody>
          <a:bodyPr wrap="square" lIns="0" tIns="0" rIns="0" bIns="0" rtlCol="0" anchor="t"/>
          <a:lstStyle/>
          <a:p>
            <a:pPr algn="l" indent="0" marL="0">
              <a:lnSpc>
                <a:spcPct val="115000"/>
              </a:lnSpc>
              <a:spcAft>
                <a:spcPts val="400"/>
              </a:spcAft>
              <a:buNone/>
            </a:pPr>
            <a:r>
              <a:rPr lang="en-US" sz="1600" b="1" dirty="0">
                <a:solidFill>
                  <a:srgbClr val="3D3D3A"/>
                </a:solidFill>
                <a:latin typeface="Pretendard" pitchFamily="34" charset="0"/>
                <a:ea typeface="Pretendard" pitchFamily="34" charset="-122"/>
                <a:cs typeface="Pretendard" pitchFamily="34" charset="-120"/>
              </a:rPr>
              <a:t>피하기  </a:t>
            </a:r>
            <a:pPr algn="l" indent="0" marL="0">
              <a:lnSpc>
                <a:spcPct val="115000"/>
              </a:lnSpc>
              <a:spcAft>
                <a:spcPts val="400"/>
              </a:spcAft>
              <a:buNone/>
            </a:pPr>
            <a:r>
              <a:rPr lang="en-US" sz="1600" dirty="0">
                <a:solidFill>
                  <a:schemeClr val="accent6"/>
                </a:solidFill>
                <a:latin typeface="JetBrains Mono" pitchFamily="34" charset="0"/>
                <a:ea typeface="JetBrains Mono" pitchFamily="34" charset="-122"/>
                <a:cs typeface="JetBrains Mono" pitchFamily="34" charset="-120"/>
              </a:rPr>
              <a:t>/members/{memberId}/posts/{postId}/comments/{commentId}</a:t>
            </a:r>
            <a:pPr algn="l" indent="0" marL="0">
              <a:lnSpc>
                <a:spcPct val="115000"/>
              </a:lnSpc>
              <a:spcAft>
                <a:spcPts val="400"/>
              </a:spcAft>
              <a:buNone/>
            </a:pPr>
            <a:r>
              <a:rPr lang="en-US" sz="1600" dirty="0">
                <a:solidFill>
                  <a:srgbClr val="3D3D3A"/>
                </a:solidFill>
              </a:rPr>
              <a:t>  id 세 개를 모두 알아야 호출</a:t>
            </a:r>
            <a:endParaRPr lang="en-US" sz="1600" dirty="0"/>
          </a:p>
          <a:p>
            <a:pPr algn="l" indent="0" marL="0">
              <a:lnSpc>
                <a:spcPct val="115000"/>
              </a:lnSpc>
              <a:spcAft>
                <a:spcPts val="400"/>
              </a:spcAft>
              <a:buNone/>
            </a:pPr>
            <a:r>
              <a:rPr lang="en-US" sz="1600" b="1" dirty="0">
                <a:solidFill>
                  <a:srgbClr val="3D3D3A"/>
                </a:solidFill>
                <a:latin typeface="Pretendard" pitchFamily="34" charset="0"/>
                <a:ea typeface="Pretendard" pitchFamily="34" charset="-122"/>
                <a:cs typeface="Pretendard" pitchFamily="34" charset="-120"/>
              </a:rPr>
              <a:t>소문자 + 하이픈  </a:t>
            </a:r>
            <a:pPr algn="l" indent="0" marL="0">
              <a:lnSpc>
                <a:spcPct val="115000"/>
              </a:lnSpc>
              <a:spcAft>
                <a:spcPts val="400"/>
              </a:spcAft>
              <a:buNone/>
            </a:pPr>
            <a:r>
              <a:rPr lang="en-US" sz="1600" dirty="0">
                <a:solidFill>
                  <a:srgbClr val="3D3D3A"/>
                </a:solidFill>
                <a:latin typeface="JetBrains Mono" pitchFamily="34" charset="0"/>
                <a:ea typeface="JetBrains Mono" pitchFamily="34" charset="-122"/>
                <a:cs typeface="JetBrains Mono" pitchFamily="34" charset="-120"/>
              </a:rPr>
              <a:t>/blog-categories</a:t>
            </a:r>
            <a:pPr algn="l" indent="0" marL="0">
              <a:lnSpc>
                <a:spcPct val="115000"/>
              </a:lnSpc>
              <a:spcAft>
                <a:spcPts val="400"/>
              </a:spcAft>
              <a:buNone/>
            </a:pPr>
            <a:r>
              <a:rPr lang="en-US" sz="1600" dirty="0">
                <a:solidFill>
                  <a:srgbClr val="3D3D3A"/>
                </a:solidFill>
              </a:rPr>
              <a:t>   ·   </a:t>
            </a:r>
            <a:pPr algn="l" indent="0" marL="0">
              <a:lnSpc>
                <a:spcPct val="115000"/>
              </a:lnSpc>
              <a:spcAft>
                <a:spcPts val="400"/>
              </a:spcAft>
              <a:buNone/>
            </a:pPr>
            <a:r>
              <a:rPr lang="en-US" sz="1600" dirty="0">
                <a:solidFill>
                  <a:srgbClr val="3D3D3A"/>
                </a:solidFill>
                <a:latin typeface="JetBrains Mono" pitchFamily="34" charset="0"/>
                <a:ea typeface="JetBrains Mono" pitchFamily="34" charset="-122"/>
                <a:cs typeface="JetBrains Mono" pitchFamily="34" charset="-120"/>
              </a:rPr>
              <a:t>/api/v1</a:t>
            </a:r>
            <a:pPr algn="l" indent="0" marL="0">
              <a:lnSpc>
                <a:spcPct val="115000"/>
              </a:lnSpc>
              <a:spcAft>
                <a:spcPts val="400"/>
              </a:spcAft>
              <a:buNone/>
            </a:pPr>
            <a:r>
              <a:rPr lang="en-US" sz="1600" dirty="0">
                <a:solidFill>
                  <a:srgbClr val="3D3D3A"/>
                </a:solidFill>
              </a:rPr>
              <a:t> = 버전 (구조가 바뀌면 /api/v2를 따로 연다)</a:t>
            </a:r>
            <a:endParaRPr lang="en-US" sz="1600" dirty="0"/>
          </a:p>
        </p:txBody>
      </p:sp>
      <p:sp>
        <p:nvSpPr>
          <p:cNvPr id="10"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anim calcmode="lin" valueType="num">
                                      <p:cBhvr>
                                        <p:cTn id="15" dur="450" fill="hold"/>
                                        <p:tgtEl>
                                          <p:spTgt spid="5"/>
                                        </p:tgtEl>
                                        <p:attrNameLst>
                                          <p:attrName>ppt_x</p:attrName>
                                        </p:attrNameLst>
                                      </p:cBhvr>
                                      <p:tavLst>
                                        <p:tav tm="0">
                                          <p:val>
                                            <p:strVal val="#ppt_x"/>
                                          </p:val>
                                        </p:tav>
                                        <p:tav tm="100000">
                                          <p:val>
                                            <p:strVal val="#ppt_x"/>
                                          </p:val>
                                        </p:tav>
                                      </p:tavLst>
                                    </p:anim>
                                    <p:anim calcmode="lin" valueType="num">
                                      <p:cBhvr>
                                        <p:cTn id="16" dur="450" fill="hold"/>
                                        <p:tgtEl>
                                          <p:spTgt spid="5"/>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anim calcmode="lin" valueType="num">
                                      <p:cBhvr>
                                        <p:cTn id="20" dur="450" fill="hold"/>
                                        <p:tgtEl>
                                          <p:spTgt spid="6"/>
                                        </p:tgtEl>
                                        <p:attrNameLst>
                                          <p:attrName>ppt_x</p:attrName>
                                        </p:attrNameLst>
                                      </p:cBhvr>
                                      <p:tavLst>
                                        <p:tav tm="0">
                                          <p:val>
                                            <p:strVal val="#ppt_x"/>
                                          </p:val>
                                        </p:tav>
                                        <p:tav tm="100000">
                                          <p:val>
                                            <p:strVal val="#ppt_x"/>
                                          </p:val>
                                        </p:tav>
                                      </p:tavLst>
                                    </p:anim>
                                    <p:anim calcmode="lin" valueType="num">
                                      <p:cBhvr>
                                        <p:cTn id="21" dur="450" fill="hold"/>
                                        <p:tgtEl>
                                          <p:spTgt spid="6"/>
                                        </p:tgtEl>
                                        <p:attrNameLst>
                                          <p:attrName>ppt_y</p:attrName>
                                        </p:attrNameLst>
                                      </p:cBhvr>
                                      <p:tavLst>
                                        <p:tav tm="0">
                                          <p:val>
                                            <p:strVal val="#ppt_y+0.03"/>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450"/>
                                        <p:tgtEl>
                                          <p:spTgt spid="7"/>
                                        </p:tgtEl>
                                      </p:cBhvr>
                                    </p:animEffect>
                                    <p:anim calcmode="lin" valueType="num">
                                      <p:cBhvr>
                                        <p:cTn id="25" dur="450" fill="hold"/>
                                        <p:tgtEl>
                                          <p:spTgt spid="7"/>
                                        </p:tgtEl>
                                        <p:attrNameLst>
                                          <p:attrName>ppt_x</p:attrName>
                                        </p:attrNameLst>
                                      </p:cBhvr>
                                      <p:tavLst>
                                        <p:tav tm="0">
                                          <p:val>
                                            <p:strVal val="#ppt_x"/>
                                          </p:val>
                                        </p:tav>
                                        <p:tav tm="100000">
                                          <p:val>
                                            <p:strVal val="#ppt_x"/>
                                          </p:val>
                                        </p:tav>
                                      </p:tavLst>
                                    </p:anim>
                                    <p:anim calcmode="lin" valueType="num">
                                      <p:cBhvr>
                                        <p:cTn id="26" dur="450" fill="hold"/>
                                        <p:tgtEl>
                                          <p:spTgt spid="7"/>
                                        </p:tgtEl>
                                        <p:attrNameLst>
                                          <p:attrName>ppt_y</p:attrName>
                                        </p:attrNameLst>
                                      </p:cBhvr>
                                      <p:tavLst>
                                        <p:tav tm="0">
                                          <p:val>
                                            <p:strVal val="#ppt_y+0.03"/>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50"/>
                                        <p:tgtEl>
                                          <p:spTgt spid="8"/>
                                        </p:tgtEl>
                                      </p:cBhvr>
                                    </p:animEffect>
                                    <p:anim calcmode="lin" valueType="num">
                                      <p:cBhvr>
                                        <p:cTn id="30" dur="450" fill="hold"/>
                                        <p:tgtEl>
                                          <p:spTgt spid="8"/>
                                        </p:tgtEl>
                                        <p:attrNameLst>
                                          <p:attrName>ppt_x</p:attrName>
                                        </p:attrNameLst>
                                      </p:cBhvr>
                                      <p:tavLst>
                                        <p:tav tm="0">
                                          <p:val>
                                            <p:strVal val="#ppt_x"/>
                                          </p:val>
                                        </p:tav>
                                        <p:tav tm="100000">
                                          <p:val>
                                            <p:strVal val="#ppt_x"/>
                                          </p:val>
                                        </p:tav>
                                      </p:tavLst>
                                    </p:anim>
                                    <p:anim calcmode="lin" valueType="num">
                                      <p:cBhvr>
                                        <p:cTn id="31" dur="450" fill="hold"/>
                                        <p:tgtEl>
                                          <p:spTgt spid="8"/>
                                        </p:tgtEl>
                                        <p:attrNameLst>
                                          <p:attrName>ppt_y</p:attrName>
                                        </p:attrNameLst>
                                      </p:cBhvr>
                                      <p:tavLst>
                                        <p:tav tm="0">
                                          <p:val>
                                            <p:strVal val="#ppt_y+0.03"/>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50"/>
                                        <p:tgtEl>
                                          <p:spTgt spid="9"/>
                                        </p:tgtEl>
                                      </p:cBhvr>
                                    </p:animEffect>
                                    <p:anim calcmode="lin" valueType="num">
                                      <p:cBhvr>
                                        <p:cTn id="35" dur="450" fill="hold"/>
                                        <p:tgtEl>
                                          <p:spTgt spid="9"/>
                                        </p:tgtEl>
                                        <p:attrNameLst>
                                          <p:attrName>ppt_x</p:attrName>
                                        </p:attrNameLst>
                                      </p:cBhvr>
                                      <p:tavLst>
                                        <p:tav tm="0">
                                          <p:val>
                                            <p:strVal val="#ppt_x"/>
                                          </p:val>
                                        </p:tav>
                                        <p:tav tm="100000">
                                          <p:val>
                                            <p:strVal val="#ppt_x"/>
                                          </p:val>
                                        </p:tav>
                                      </p:tavLst>
                                    </p:anim>
                                    <p:anim calcmode="lin" valueType="num">
                                      <p:cBhvr>
                                        <p:cTn id="36" dur="450" fill="hold"/>
                                        <p:tgtEl>
                                          <p:spTgt spid="9"/>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P spid="6" grpId="0" animBg="1"/>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9224" y="1920240"/>
            <a:ext cx="2743200" cy="1005840"/>
          </a:xfrm>
          <a:prstGeom prst="rect">
            <a:avLst/>
          </a:prstGeom>
          <a:noFill/>
          <a:ln/>
        </p:spPr>
        <p:txBody>
          <a:bodyPr wrap="square" lIns="0" tIns="0" rIns="0" bIns="0" rtlCol="0" anchor="b"/>
          <a:lstStyle/>
          <a:p>
            <a:pPr algn="l" indent="0" marL="0">
              <a:buNone/>
            </a:pPr>
            <a:r>
              <a:rPr lang="en-US" sz="6000" b="1" dirty="0">
                <a:solidFill>
                  <a:schemeClr val="accent1"/>
                </a:solidFill>
                <a:latin typeface="+mj-lt" pitchFamily="34" charset="0"/>
                <a:ea typeface="+mj-lt" pitchFamily="34" charset="-122"/>
                <a:cs typeface="+mj-lt" pitchFamily="34" charset="-120"/>
              </a:rPr>
              <a:t>02</a:t>
            </a:r>
            <a:endParaRPr lang="en-US" sz="6000" dirty="0"/>
          </a:p>
        </p:txBody>
      </p:sp>
      <p:sp>
        <p:nvSpPr>
          <p:cNvPr id="3" name="Text 0"/>
          <p:cNvSpPr/>
          <p:nvPr>
            <p:ph idx="101" type="title" hasCustomPrompt="1"/>
          </p:nvPr>
        </p:nvSpPr>
        <p:spPr>
          <a:xfrm>
            <a:off x="649224" y="306324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HTTP 메서드와 상태 코드</a:t>
            </a:r>
            <a:endParaRPr lang="en-US" sz="4000" dirty="0"/>
          </a:p>
        </p:txBody>
      </p:sp>
      <p:sp>
        <p:nvSpPr>
          <p:cNvPr id="4" name="Text 0"/>
          <p:cNvSpPr/>
          <p:nvPr>
            <p:ph idx="102" type="body" hasCustomPrompt="1"/>
          </p:nvPr>
        </p:nvSpPr>
        <p:spPr>
          <a:xfrm>
            <a:off x="649224" y="4114800"/>
            <a:ext cx="10058400" cy="548640"/>
          </a:xfrm>
          <a:prstGeom prst="rect">
            <a:avLst/>
          </a:prstGeom>
          <a:noFill/>
          <a:ln/>
        </p:spPr>
        <p:txBody>
          <a:bodyPr wrap="square" lIns="0" tIns="0" rIns="0" bIns="0" rtlCol="0" anchor="t"/>
          <a:lstStyle/>
          <a:p>
            <a:pPr algn="l" indent="0" marL="0">
              <a:buNone/>
            </a:pPr>
            <a:r>
              <a:rPr lang="en-US" sz="2000" dirty="0">
                <a:solidFill>
                  <a:srgbClr val="A09D96"/>
                </a:solidFill>
              </a:rPr>
              <a:t>같은 주소에 메서드만 바꾸고, 결과는 상태 코드로 알린다</a:t>
            </a:r>
            <a:endParaRPr lang="en-US" sz="2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02 · METHOD</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같은 42번 글에 메서드만 바꾸면</a:t>
            </a:r>
            <a:endParaRPr lang="en-US" sz="3200" dirty="0"/>
          </a:p>
        </p:txBody>
      </p:sp>
      <p:graphicFrame>
        <p:nvGraphicFramePr>
          <p:cNvPr id="4" name="b0-0"/>
          <p:cNvGraphicFramePr>
            <a:graphicFrameLocks noGrp="1"/>
          </p:cNvGraphicFramePr>
          <p:nvPr>
            <p:extLst>
              <p:ext uri="{D42A27DB-BD31-4B8C-83A1-F6EECF244321}">
                <p14:modId xmlns:p14="http://schemas.microsoft.com/office/powerpoint/2010/main" val="1579011935"/>
              </p:ext>
            </p:extLst>
          </p:nvPr>
        </p:nvGraphicFramePr>
        <p:xfrm>
          <a:off x="649224" y="1658112"/>
          <a:ext cx="10890504" cy="914400"/>
        </p:xfrm>
        <a:graphic>
          <a:graphicData uri="http://schemas.openxmlformats.org/drawingml/2006/table">
            <a:tbl>
              <a:tblPr/>
              <a:tblGrid>
                <a:gridCol w="5674044"/>
                <a:gridCol w="2196404"/>
                <a:gridCol w="3020056"/>
              </a:tblGrid>
              <a:tr h="566928">
                <a:tc>
                  <a:txBody>
                    <a:bodyPr/>
                    <a:lstStyle/>
                    <a:p>
                      <a:pPr indent="0" marL="0">
                        <a:buNone/>
                      </a:pPr>
                      <a:r>
                        <a:rPr lang="en-US" sz="1300" dirty="0">
                          <a:solidFill>
                            <a:schemeClr val="accent3"/>
                          </a:solidFill>
                        </a:rPr>
                        <a:t>요청</a:t>
                      </a:r>
                      <a:endParaRPr lang="en-US" sz="13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300" dirty="0">
                          <a:solidFill>
                            <a:schemeClr val="accent3"/>
                          </a:solidFill>
                        </a:rPr>
                        <a:t>결과</a:t>
                      </a:r>
                      <a:endParaRPr lang="en-US" sz="13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300" dirty="0">
                          <a:solidFill>
                            <a:schemeClr val="accent3"/>
                          </a:solidFill>
                        </a:rPr>
                        <a:t>42번 글은</a:t>
                      </a:r>
                      <a:endParaRPr lang="en-US" sz="13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566928">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GET /posts/42</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읽기만 한다</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그대로</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66928">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POST /posts  {"title": "부산 맛집"}</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새로 만든다</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43번 글이 새로 생김 (201)</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66928">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PUT /posts/42  {"title": "제주 여행 후기"}</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통째로 교체한다</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제목 바뀜, 본문은 비어 있음</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66928">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PATCH /posts/42  {"title": "제주 여행 후기"}</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보낸 칸만 고친다</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제목만 바뀜, 본문은 그대로</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66928">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DELETE /posts/42</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지운다</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없어짐 (204)</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5" name="b1-0"/>
          <p:cNvSpPr txBox="1"/>
          <p:nvPr/>
        </p:nvSpPr>
        <p:spPr>
          <a:xfrm>
            <a:off x="649224" y="5334000"/>
            <a:ext cx="10890504" cy="716280"/>
          </a:xfrm>
          <a:prstGeom prst="rect">
            <a:avLst/>
          </a:prstGeom>
          <a:noFill/>
          <a:ln/>
        </p:spPr>
        <p:txBody>
          <a:bodyPr wrap="square" lIns="0" tIns="0" rIns="0" bIns="0" rtlCol="0" anchor="t"/>
          <a:lstStyle/>
          <a:p>
            <a:pPr algn="l" indent="0" marL="0">
              <a:lnSpc>
                <a:spcPct val="115000"/>
              </a:lnSpc>
              <a:spcAft>
                <a:spcPts val="600"/>
              </a:spcAft>
              <a:buNone/>
            </a:pPr>
            <a:r>
              <a:rPr lang="en-US" sz="1800" b="1" dirty="0">
                <a:solidFill>
                  <a:srgbClr val="3D3D3A"/>
                </a:solidFill>
                <a:latin typeface="Pretendard" pitchFamily="34" charset="0"/>
                <a:ea typeface="Pretendard" pitchFamily="34" charset="-122"/>
                <a:cs typeface="Pretendard" pitchFamily="34" charset="-120"/>
              </a:rPr>
              <a:t>멱등  </a:t>
            </a:r>
            <a:pPr algn="l" indent="0" marL="0">
              <a:lnSpc>
                <a:spcPct val="115000"/>
              </a:lnSpc>
              <a:spcAft>
                <a:spcPts val="600"/>
              </a:spcAft>
              <a:buNone/>
            </a:pPr>
            <a:r>
              <a:rPr lang="en-US" sz="1800" dirty="0">
                <a:solidFill>
                  <a:srgbClr val="3D3D3A"/>
                </a:solidFill>
              </a:rPr>
              <a:t>GET · PUT · DELETE는 여러 번 보내도 결과가 같고, POST는 보낼 때마다 하나씩 생긴다</a:t>
            </a:r>
            <a:endParaRPr lang="en-US" sz="1800" dirty="0"/>
          </a:p>
          <a:p>
            <a:pPr algn="l" indent="0" marL="0">
              <a:lnSpc>
                <a:spcPct val="115000"/>
              </a:lnSpc>
              <a:spcAft>
                <a:spcPts val="600"/>
              </a:spcAft>
              <a:buNone/>
            </a:pPr>
            <a:r>
              <a:rPr lang="en-US" sz="1800" b="1" dirty="0">
                <a:solidFill>
                  <a:srgbClr val="3D3D3A"/>
                </a:solidFill>
                <a:latin typeface="Pretendard" pitchFamily="34" charset="0"/>
                <a:ea typeface="Pretendard" pitchFamily="34" charset="-122"/>
                <a:cs typeface="Pretendard" pitchFamily="34" charset="-120"/>
              </a:rPr>
              <a:t>그래서  </a:t>
            </a:r>
            <a:pPr algn="l" indent="0" marL="0">
              <a:lnSpc>
                <a:spcPct val="115000"/>
              </a:lnSpc>
              <a:spcAft>
                <a:spcPts val="600"/>
              </a:spcAft>
              <a:buNone/>
            </a:pPr>
            <a:r>
              <a:rPr lang="en-US" sz="1800" dirty="0">
                <a:solidFill>
                  <a:srgbClr val="3D3D3A"/>
                </a:solidFill>
              </a:rPr>
              <a:t>글쓰기 버튼은 한 번 누르면 막아 두고, 결제처럼 중요한 POST는 중복 요청을 막는다</a:t>
            </a:r>
            <a:endParaRPr lang="en-US" sz="1800" dirty="0"/>
          </a:p>
        </p:txBody>
      </p:sp>
      <p:sp>
        <p:nvSpPr>
          <p:cNvPr id="6"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anim calcmode="lin" valueType="num">
                                      <p:cBhvr>
                                        <p:cTn id="15" dur="450" fill="hold"/>
                                        <p:tgtEl>
                                          <p:spTgt spid="5"/>
                                        </p:tgtEl>
                                        <p:attrNameLst>
                                          <p:attrName>ppt_x</p:attrName>
                                        </p:attrNameLst>
                                      </p:cBhvr>
                                      <p:tavLst>
                                        <p:tav tm="0">
                                          <p:val>
                                            <p:strVal val="#ppt_x"/>
                                          </p:val>
                                        </p:tav>
                                        <p:tav tm="100000">
                                          <p:val>
                                            <p:strVal val="#ppt_x"/>
                                          </p:val>
                                        </p:tav>
                                      </p:tavLst>
                                    </p:anim>
                                    <p:anim calcmode="lin" valueType="num">
                                      <p:cBhvr>
                                        <p:cTn id="16" dur="450" fill="hold"/>
                                        <p:tgtEl>
                                          <p:spTgt spid="5"/>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02 · STATUS CODE</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결과는 상태 코드로</a:t>
            </a:r>
            <a:endParaRPr lang="en-US" sz="3200" dirty="0"/>
          </a:p>
        </p:txBody>
      </p:sp>
      <p:sp>
        <p:nvSpPr>
          <p:cNvPr id="4" name="b0c0-0"/>
          <p:cNvSpPr/>
          <p:nvPr/>
        </p:nvSpPr>
        <p:spPr>
          <a:xfrm>
            <a:off x="649224" y="1599946"/>
            <a:ext cx="2551176" cy="2468880"/>
          </a:xfrm>
          <a:prstGeom prst="roundRect">
            <a:avLst>
              <a:gd name="adj" fmla="val 4444"/>
            </a:avLst>
          </a:prstGeom>
          <a:solidFill>
            <a:schemeClr val="bg2"/>
          </a:solidFill>
          <a:ln/>
        </p:spPr>
      </p:sp>
      <p:sp>
        <p:nvSpPr>
          <p:cNvPr id="5" name="b0c0-1"/>
          <p:cNvSpPr txBox="1"/>
          <p:nvPr/>
        </p:nvSpPr>
        <p:spPr>
          <a:xfrm>
            <a:off x="923544" y="1828546"/>
            <a:ext cx="2002536" cy="2103120"/>
          </a:xfrm>
          <a:prstGeom prst="rect">
            <a:avLst/>
          </a:prstGeom>
          <a:noFill/>
          <a:ln/>
        </p:spPr>
        <p:txBody>
          <a:bodyPr wrap="square" lIns="0" tIns="0" rIns="0" bIns="0" rtlCol="0" anchor="t"/>
          <a:lstStyle/>
          <a:p>
            <a:pPr algn="l" indent="0" marL="0">
              <a:lnSpc>
                <a:spcPct val="115000"/>
              </a:lnSpc>
              <a:spcAft>
                <a:spcPts val="500"/>
              </a:spcAft>
              <a:buNone/>
            </a:pPr>
            <a:r>
              <a:rPr lang="en-US" sz="1500" dirty="0">
                <a:solidFill>
                  <a:schemeClr val="accent3"/>
                </a:solidFill>
              </a:rPr>
              <a:t>성공</a:t>
            </a:r>
            <a:endParaRPr lang="en-US" sz="1500" dirty="0"/>
          </a:p>
          <a:p>
            <a:pPr algn="l" indent="0" marL="0">
              <a:lnSpc>
                <a:spcPct val="115000"/>
              </a:lnSpc>
              <a:spcAft>
                <a:spcPts val="500"/>
              </a:spcAft>
              <a:buNone/>
            </a:pPr>
            <a:r>
              <a:rPr lang="en-US" sz="4000" b="1" dirty="0">
                <a:solidFill>
                  <a:schemeClr val="tx1"/>
                </a:solidFill>
                <a:latin typeface="Pretendard" pitchFamily="34" charset="0"/>
                <a:ea typeface="Pretendard" pitchFamily="34" charset="-122"/>
                <a:cs typeface="Pretendard" pitchFamily="34" charset="-120"/>
              </a:rPr>
              <a:t>2xx</a:t>
            </a:r>
            <a:endParaRPr lang="en-US" sz="1500" dirty="0"/>
          </a:p>
          <a:p>
            <a:pPr algn="l" indent="0" marL="0">
              <a:lnSpc>
                <a:spcPct val="115000"/>
              </a:lnSpc>
              <a:spcAft>
                <a:spcPts val="500"/>
              </a:spcAft>
              <a:buNone/>
            </a:pPr>
            <a:r>
              <a:rPr lang="en-US" sz="1300" dirty="0">
                <a:solidFill>
                  <a:schemeClr val="tx1"/>
                </a:solidFill>
                <a:latin typeface="JetBrains Mono" pitchFamily="34" charset="0"/>
                <a:ea typeface="JetBrains Mono" pitchFamily="34" charset="-122"/>
                <a:cs typeface="JetBrains Mono" pitchFamily="34" charset="-120"/>
              </a:rPr>
              <a:t>200 · 201 · 204</a:t>
            </a:r>
            <a:endParaRPr lang="en-US" sz="1500" dirty="0"/>
          </a:p>
          <a:p>
            <a:pPr algn="l" indent="0" marL="0">
              <a:lnSpc>
                <a:spcPct val="115000"/>
              </a:lnSpc>
              <a:spcAft>
                <a:spcPts val="500"/>
              </a:spcAft>
              <a:buNone/>
            </a:pPr>
            <a:r>
              <a:rPr lang="en-US" sz="1500" dirty="0">
                <a:solidFill>
                  <a:srgbClr val="3D3D3A"/>
                </a:solidFill>
              </a:rPr>
              <a:t>요청한 작업이 처리됨</a:t>
            </a:r>
            <a:endParaRPr lang="en-US" sz="1500" dirty="0"/>
          </a:p>
        </p:txBody>
      </p:sp>
      <p:sp>
        <p:nvSpPr>
          <p:cNvPr id="6" name="b0c1-2"/>
          <p:cNvSpPr/>
          <p:nvPr/>
        </p:nvSpPr>
        <p:spPr>
          <a:xfrm>
            <a:off x="3429000" y="1599946"/>
            <a:ext cx="2551176" cy="2468880"/>
          </a:xfrm>
          <a:prstGeom prst="roundRect">
            <a:avLst>
              <a:gd name="adj" fmla="val 4444"/>
            </a:avLst>
          </a:prstGeom>
          <a:solidFill>
            <a:schemeClr val="bg2"/>
          </a:solidFill>
          <a:ln/>
        </p:spPr>
      </p:sp>
      <p:sp>
        <p:nvSpPr>
          <p:cNvPr id="7" name="b0c1-3"/>
          <p:cNvSpPr txBox="1"/>
          <p:nvPr/>
        </p:nvSpPr>
        <p:spPr>
          <a:xfrm>
            <a:off x="3703320" y="1828546"/>
            <a:ext cx="2002536" cy="2103120"/>
          </a:xfrm>
          <a:prstGeom prst="rect">
            <a:avLst/>
          </a:prstGeom>
          <a:noFill/>
          <a:ln/>
        </p:spPr>
        <p:txBody>
          <a:bodyPr wrap="square" lIns="0" tIns="0" rIns="0" bIns="0" rtlCol="0" anchor="t"/>
          <a:lstStyle/>
          <a:p>
            <a:pPr algn="l" indent="0" marL="0">
              <a:lnSpc>
                <a:spcPct val="115000"/>
              </a:lnSpc>
              <a:spcAft>
                <a:spcPts val="500"/>
              </a:spcAft>
              <a:buNone/>
            </a:pPr>
            <a:r>
              <a:rPr lang="en-US" sz="1500" dirty="0">
                <a:solidFill>
                  <a:schemeClr val="accent3"/>
                </a:solidFill>
              </a:rPr>
              <a:t>리다이렉트</a:t>
            </a:r>
            <a:endParaRPr lang="en-US" sz="1500" dirty="0"/>
          </a:p>
          <a:p>
            <a:pPr algn="l" indent="0" marL="0">
              <a:lnSpc>
                <a:spcPct val="115000"/>
              </a:lnSpc>
              <a:spcAft>
                <a:spcPts val="500"/>
              </a:spcAft>
              <a:buNone/>
            </a:pPr>
            <a:r>
              <a:rPr lang="en-US" sz="4000" b="1" dirty="0">
                <a:solidFill>
                  <a:schemeClr val="tx1"/>
                </a:solidFill>
                <a:latin typeface="Pretendard" pitchFamily="34" charset="0"/>
                <a:ea typeface="Pretendard" pitchFamily="34" charset="-122"/>
                <a:cs typeface="Pretendard" pitchFamily="34" charset="-120"/>
              </a:rPr>
              <a:t>3xx</a:t>
            </a:r>
            <a:endParaRPr lang="en-US" sz="1500" dirty="0"/>
          </a:p>
          <a:p>
            <a:pPr algn="l" indent="0" marL="0">
              <a:lnSpc>
                <a:spcPct val="115000"/>
              </a:lnSpc>
              <a:spcAft>
                <a:spcPts val="500"/>
              </a:spcAft>
              <a:buNone/>
            </a:pPr>
            <a:r>
              <a:rPr lang="en-US" sz="1300" dirty="0">
                <a:solidFill>
                  <a:schemeClr val="tx1"/>
                </a:solidFill>
                <a:latin typeface="JetBrains Mono" pitchFamily="34" charset="0"/>
                <a:ea typeface="JetBrains Mono" pitchFamily="34" charset="-122"/>
                <a:cs typeface="JetBrains Mono" pitchFamily="34" charset="-120"/>
              </a:rPr>
              <a:t>301 · 302 · 304</a:t>
            </a:r>
            <a:endParaRPr lang="en-US" sz="1500" dirty="0"/>
          </a:p>
          <a:p>
            <a:pPr algn="l" indent="0" marL="0">
              <a:lnSpc>
                <a:spcPct val="115000"/>
              </a:lnSpc>
              <a:spcAft>
                <a:spcPts val="500"/>
              </a:spcAft>
              <a:buNone/>
            </a:pPr>
            <a:r>
              <a:rPr lang="en-US" sz="1500" dirty="0">
                <a:solidFill>
                  <a:srgbClr val="3D3D3A"/>
                </a:solidFill>
              </a:rPr>
              <a:t>다른 주소로 이동 (API에선 드묾)</a:t>
            </a:r>
            <a:endParaRPr lang="en-US" sz="1500" dirty="0"/>
          </a:p>
        </p:txBody>
      </p:sp>
      <p:sp>
        <p:nvSpPr>
          <p:cNvPr id="8" name="b0c2-4"/>
          <p:cNvSpPr/>
          <p:nvPr/>
        </p:nvSpPr>
        <p:spPr>
          <a:xfrm>
            <a:off x="6208776" y="1599946"/>
            <a:ext cx="2551176" cy="2468880"/>
          </a:xfrm>
          <a:prstGeom prst="roundRect">
            <a:avLst>
              <a:gd name="adj" fmla="val 4444"/>
            </a:avLst>
          </a:prstGeom>
          <a:solidFill>
            <a:schemeClr val="bg2"/>
          </a:solidFill>
          <a:ln/>
        </p:spPr>
      </p:sp>
      <p:sp>
        <p:nvSpPr>
          <p:cNvPr id="9" name="b0c2-5"/>
          <p:cNvSpPr txBox="1"/>
          <p:nvPr/>
        </p:nvSpPr>
        <p:spPr>
          <a:xfrm>
            <a:off x="6483096" y="1828546"/>
            <a:ext cx="2002536" cy="2103120"/>
          </a:xfrm>
          <a:prstGeom prst="rect">
            <a:avLst/>
          </a:prstGeom>
          <a:noFill/>
          <a:ln/>
        </p:spPr>
        <p:txBody>
          <a:bodyPr wrap="square" lIns="0" tIns="0" rIns="0" bIns="0" rtlCol="0" anchor="t"/>
          <a:lstStyle/>
          <a:p>
            <a:pPr algn="l" indent="0" marL="0">
              <a:lnSpc>
                <a:spcPct val="115000"/>
              </a:lnSpc>
              <a:spcAft>
                <a:spcPts val="500"/>
              </a:spcAft>
              <a:buNone/>
            </a:pPr>
            <a:r>
              <a:rPr lang="en-US" sz="1500" dirty="0">
                <a:solidFill>
                  <a:schemeClr val="accent3"/>
                </a:solidFill>
              </a:rPr>
              <a:t>클라이언트 오류</a:t>
            </a:r>
            <a:endParaRPr lang="en-US" sz="1500" dirty="0"/>
          </a:p>
          <a:p>
            <a:pPr algn="l" indent="0" marL="0">
              <a:lnSpc>
                <a:spcPct val="115000"/>
              </a:lnSpc>
              <a:spcAft>
                <a:spcPts val="500"/>
              </a:spcAft>
              <a:buNone/>
            </a:pPr>
            <a:r>
              <a:rPr lang="en-US" sz="4000" b="1" dirty="0">
                <a:solidFill>
                  <a:schemeClr val="tx1"/>
                </a:solidFill>
                <a:latin typeface="Pretendard" pitchFamily="34" charset="0"/>
                <a:ea typeface="Pretendard" pitchFamily="34" charset="-122"/>
                <a:cs typeface="Pretendard" pitchFamily="34" charset="-120"/>
              </a:rPr>
              <a:t>4xx</a:t>
            </a:r>
            <a:endParaRPr lang="en-US" sz="1500" dirty="0"/>
          </a:p>
          <a:p>
            <a:pPr algn="l" indent="0" marL="0">
              <a:lnSpc>
                <a:spcPct val="115000"/>
              </a:lnSpc>
              <a:spcAft>
                <a:spcPts val="500"/>
              </a:spcAft>
              <a:buNone/>
            </a:pPr>
            <a:r>
              <a:rPr lang="en-US" sz="1300" dirty="0">
                <a:solidFill>
                  <a:schemeClr val="tx1"/>
                </a:solidFill>
                <a:latin typeface="JetBrains Mono" pitchFamily="34" charset="0"/>
                <a:ea typeface="JetBrains Mono" pitchFamily="34" charset="-122"/>
                <a:cs typeface="JetBrains Mono" pitchFamily="34" charset="-120"/>
              </a:rPr>
              <a:t>400 · 401 · 403 · 404 · 409</a:t>
            </a:r>
            <a:endParaRPr lang="en-US" sz="1500" dirty="0"/>
          </a:p>
          <a:p>
            <a:pPr algn="l" indent="0" marL="0">
              <a:lnSpc>
                <a:spcPct val="115000"/>
              </a:lnSpc>
              <a:spcAft>
                <a:spcPts val="500"/>
              </a:spcAft>
              <a:buNone/>
            </a:pPr>
            <a:r>
              <a:rPr lang="en-US" sz="1500" dirty="0">
                <a:solidFill>
                  <a:srgbClr val="3D3D3A"/>
                </a:solidFill>
              </a:rPr>
              <a:t>요청을 고쳐서 다시 보내야 함</a:t>
            </a:r>
            <a:endParaRPr lang="en-US" sz="1500" dirty="0"/>
          </a:p>
        </p:txBody>
      </p:sp>
      <p:sp>
        <p:nvSpPr>
          <p:cNvPr id="10" name="b0c3-6"/>
          <p:cNvSpPr/>
          <p:nvPr/>
        </p:nvSpPr>
        <p:spPr>
          <a:xfrm>
            <a:off x="8988552" y="1599946"/>
            <a:ext cx="2551176" cy="2468880"/>
          </a:xfrm>
          <a:prstGeom prst="roundRect">
            <a:avLst>
              <a:gd name="adj" fmla="val 4444"/>
            </a:avLst>
          </a:prstGeom>
          <a:solidFill>
            <a:schemeClr val="bg2"/>
          </a:solidFill>
          <a:ln/>
        </p:spPr>
      </p:sp>
      <p:sp>
        <p:nvSpPr>
          <p:cNvPr id="11" name="b0c3-7"/>
          <p:cNvSpPr txBox="1"/>
          <p:nvPr/>
        </p:nvSpPr>
        <p:spPr>
          <a:xfrm>
            <a:off x="9262872" y="1828546"/>
            <a:ext cx="2002536" cy="2103120"/>
          </a:xfrm>
          <a:prstGeom prst="rect">
            <a:avLst/>
          </a:prstGeom>
          <a:noFill/>
          <a:ln/>
        </p:spPr>
        <p:txBody>
          <a:bodyPr wrap="square" lIns="0" tIns="0" rIns="0" bIns="0" rtlCol="0" anchor="t"/>
          <a:lstStyle/>
          <a:p>
            <a:pPr algn="l" indent="0" marL="0">
              <a:lnSpc>
                <a:spcPct val="115000"/>
              </a:lnSpc>
              <a:spcAft>
                <a:spcPts val="500"/>
              </a:spcAft>
              <a:buNone/>
            </a:pPr>
            <a:r>
              <a:rPr lang="en-US" sz="1500" dirty="0">
                <a:solidFill>
                  <a:schemeClr val="accent3"/>
                </a:solidFill>
              </a:rPr>
              <a:t>서버 오류</a:t>
            </a:r>
            <a:endParaRPr lang="en-US" sz="1500" dirty="0"/>
          </a:p>
          <a:p>
            <a:pPr algn="l" indent="0" marL="0">
              <a:lnSpc>
                <a:spcPct val="115000"/>
              </a:lnSpc>
              <a:spcAft>
                <a:spcPts val="500"/>
              </a:spcAft>
              <a:buNone/>
            </a:pPr>
            <a:r>
              <a:rPr lang="en-US" sz="4000" b="1" dirty="0">
                <a:solidFill>
                  <a:schemeClr val="tx1"/>
                </a:solidFill>
                <a:latin typeface="Pretendard" pitchFamily="34" charset="0"/>
                <a:ea typeface="Pretendard" pitchFamily="34" charset="-122"/>
                <a:cs typeface="Pretendard" pitchFamily="34" charset="-120"/>
              </a:rPr>
              <a:t>5xx</a:t>
            </a:r>
            <a:endParaRPr lang="en-US" sz="1500" dirty="0"/>
          </a:p>
          <a:p>
            <a:pPr algn="l" indent="0" marL="0">
              <a:lnSpc>
                <a:spcPct val="115000"/>
              </a:lnSpc>
              <a:spcAft>
                <a:spcPts val="500"/>
              </a:spcAft>
              <a:buNone/>
            </a:pPr>
            <a:r>
              <a:rPr lang="en-US" sz="1300" dirty="0">
                <a:solidFill>
                  <a:schemeClr val="tx1"/>
                </a:solidFill>
                <a:latin typeface="JetBrains Mono" pitchFamily="34" charset="0"/>
                <a:ea typeface="JetBrains Mono" pitchFamily="34" charset="-122"/>
                <a:cs typeface="JetBrains Mono" pitchFamily="34" charset="-120"/>
              </a:rPr>
              <a:t>500 · 502 · 503 · 504</a:t>
            </a:r>
            <a:endParaRPr lang="en-US" sz="1500" dirty="0"/>
          </a:p>
          <a:p>
            <a:pPr algn="l" indent="0" marL="0">
              <a:lnSpc>
                <a:spcPct val="115000"/>
              </a:lnSpc>
              <a:spcAft>
                <a:spcPts val="500"/>
              </a:spcAft>
              <a:buNone/>
            </a:pPr>
            <a:r>
              <a:rPr lang="en-US" sz="1500" dirty="0">
                <a:solidFill>
                  <a:srgbClr val="3D3D3A"/>
                </a:solidFill>
              </a:rPr>
              <a:t>서버 쪽 문제, 잠시 후 재시도</a:t>
            </a:r>
            <a:endParaRPr lang="en-US" sz="1500" dirty="0"/>
          </a:p>
        </p:txBody>
      </p:sp>
      <p:sp>
        <p:nvSpPr>
          <p:cNvPr id="12" name="b1-0"/>
          <p:cNvSpPr/>
          <p:nvPr/>
        </p:nvSpPr>
        <p:spPr>
          <a:xfrm>
            <a:off x="649224" y="4297426"/>
            <a:ext cx="10890504" cy="1811020"/>
          </a:xfrm>
          <a:prstGeom prst="roundRect">
            <a:avLst>
              <a:gd name="adj" fmla="val 6059"/>
            </a:avLst>
          </a:prstGeom>
          <a:solidFill>
            <a:schemeClr val="tx2"/>
          </a:solidFill>
          <a:ln/>
        </p:spPr>
      </p:sp>
      <p:sp>
        <p:nvSpPr>
          <p:cNvPr id="13" name="b1-1"/>
          <p:cNvSpPr/>
          <p:nvPr/>
        </p:nvSpPr>
        <p:spPr>
          <a:xfrm>
            <a:off x="850392" y="4443730"/>
            <a:ext cx="100584" cy="100584"/>
          </a:xfrm>
          <a:prstGeom prst="ellipse">
            <a:avLst/>
          </a:prstGeom>
          <a:solidFill>
            <a:srgbClr val="4A4844"/>
          </a:solidFill>
          <a:ln/>
        </p:spPr>
      </p:sp>
      <p:sp>
        <p:nvSpPr>
          <p:cNvPr id="14" name="b1-2"/>
          <p:cNvSpPr/>
          <p:nvPr/>
        </p:nvSpPr>
        <p:spPr>
          <a:xfrm>
            <a:off x="1024128" y="4443730"/>
            <a:ext cx="100584" cy="100584"/>
          </a:xfrm>
          <a:prstGeom prst="ellipse">
            <a:avLst/>
          </a:prstGeom>
          <a:solidFill>
            <a:srgbClr val="4A4844"/>
          </a:solidFill>
          <a:ln/>
        </p:spPr>
      </p:sp>
      <p:sp>
        <p:nvSpPr>
          <p:cNvPr id="15" name="b1-3"/>
          <p:cNvSpPr/>
          <p:nvPr/>
        </p:nvSpPr>
        <p:spPr>
          <a:xfrm>
            <a:off x="1197864" y="4443730"/>
            <a:ext cx="100584" cy="100584"/>
          </a:xfrm>
          <a:prstGeom prst="ellipse">
            <a:avLst/>
          </a:prstGeom>
          <a:solidFill>
            <a:srgbClr val="4A4844"/>
          </a:solidFill>
          <a:ln/>
        </p:spPr>
      </p:sp>
      <p:sp>
        <p:nvSpPr>
          <p:cNvPr id="16" name="b1-4"/>
          <p:cNvSpPr txBox="1"/>
          <p:nvPr/>
        </p:nvSpPr>
        <p:spPr>
          <a:xfrm>
            <a:off x="1472184" y="4388866"/>
            <a:ext cx="9884664"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하지 말 것: 실패인데 200</a:t>
            </a:r>
            <a:endParaRPr lang="en-US" sz="1100" dirty="0"/>
          </a:p>
        </p:txBody>
      </p:sp>
      <p:sp>
        <p:nvSpPr>
          <p:cNvPr id="17" name="b1-5"/>
          <p:cNvSpPr txBox="1"/>
          <p:nvPr/>
        </p:nvSpPr>
        <p:spPr>
          <a:xfrm>
            <a:off x="905256" y="4736338"/>
            <a:ext cx="10433304" cy="1262380"/>
          </a:xfrm>
          <a:prstGeom prst="rect">
            <a:avLst/>
          </a:prstGeom>
          <a:noFill/>
          <a:ln/>
        </p:spPr>
        <p:txBody>
          <a:bodyPr wrap="square" lIns="0" tIns="0" rIns="0" bIns="0" rtlCol="0" anchor="t"/>
          <a:lstStyle/>
          <a:p>
            <a:pPr algn="l" indent="0" marL="0">
              <a:lnSpc>
                <a:spcPct val="105000"/>
              </a:lnSpc>
              <a:buNone/>
            </a:pPr>
            <a:r>
              <a:rPr lang="en-US" sz="1700" dirty="0">
                <a:solidFill>
                  <a:srgbClr val="5DB872"/>
                </a:solidFill>
                <a:latin typeface="JetBrains Mono" pitchFamily="34" charset="0"/>
                <a:ea typeface="JetBrains Mono" pitchFamily="34" charset="-122"/>
                <a:cs typeface="JetBrains Mono" pitchFamily="34" charset="-120"/>
              </a:rPr>
              <a:t>HTTP/1.1 200 OK</a:t>
            </a:r>
            <a:endParaRPr lang="en-US" sz="1700" dirty="0"/>
          </a:p>
          <a:p>
            <a:pPr algn="l" indent="0" marL="0">
              <a:lnSpc>
                <a:spcPct val="105000"/>
              </a:lnSpc>
              <a:buNone/>
            </a:pPr>
            <a:r>
              <a:rPr lang="en-US" sz="1700" dirty="0">
                <a:solidFill>
                  <a:srgbClr val="FAF9F5"/>
                </a:solidFill>
                <a:latin typeface="JetBrains Mono" pitchFamily="34" charset="0"/>
                <a:ea typeface="JetBrains Mono" pitchFamily="34" charset="-122"/>
                <a:cs typeface="JetBrains Mono" pitchFamily="34" charset="-120"/>
              </a:rPr>
              <a:t>{ "success": false, "message": "글이 없습니다" }</a:t>
            </a:r>
            <a:endParaRPr lang="en-US" sz="1700" dirty="0"/>
          </a:p>
          <a:p>
            <a:pPr algn="l" indent="0" marL="0">
              <a:lnSpc>
                <a:spcPct val="105000"/>
              </a:lnSpc>
              <a:buNone/>
            </a:pPr>
            <a:r>
              <a:rPr lang="en-US" sz="1700" dirty="0">
                <a:solidFill>
                  <a:srgbClr val="FAF9F5"/>
                </a:solidFill>
                <a:latin typeface="JetBrains Mono" pitchFamily="34" charset="0"/>
                <a:ea typeface="JetBrains Mono" pitchFamily="34" charset="-122"/>
                <a:cs typeface="JetBrains Mono" pitchFamily="34" charset="-120"/>
              </a:rPr>
              <a:t> </a:t>
            </a:r>
            <a:endParaRPr lang="en-US" sz="1700" dirty="0"/>
          </a:p>
          <a:p>
            <a:pPr algn="l" indent="0" marL="0">
              <a:lnSpc>
                <a:spcPct val="105000"/>
              </a:lnSpc>
              <a:buNone/>
            </a:pPr>
            <a:r>
              <a:rPr lang="en-US" sz="1700" dirty="0">
                <a:solidFill>
                  <a:srgbClr val="E5806F"/>
                </a:solidFill>
                <a:latin typeface="JetBrains Mono" pitchFamily="34" charset="0"/>
                <a:ea typeface="JetBrains Mono" pitchFamily="34" charset="-122"/>
                <a:cs typeface="JetBrains Mono" pitchFamily="34" charset="-120"/>
              </a:rPr>
              <a:t>→ 모니터링 · 재시도 · 캐시는 상태 코드만 보고 성공으로 처리한다</a:t>
            </a:r>
            <a:endParaRPr lang="en-US" sz="1700" dirty="0"/>
          </a:p>
        </p:txBody>
      </p:sp>
      <p:sp>
        <p:nvSpPr>
          <p:cNvPr id="1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fill="hold"/>
                                        <p:tgtEl>
                                          <p:spTgt spid="7"/>
                                        </p:tgtEl>
                                        <p:attrNameLst>
                                          <p:attrName>ppt_x</p:attrName>
                                        </p:attrNameLst>
                                      </p:cBhvr>
                                      <p:tavLst>
                                        <p:tav tm="0">
                                          <p:val>
                                            <p:strVal val="#ppt_x"/>
                                          </p:val>
                                        </p:tav>
                                        <p:tav tm="100000">
                                          <p:val>
                                            <p:strVal val="#ppt_x"/>
                                          </p:val>
                                        </p:tav>
                                      </p:tavLst>
                                    </p:anim>
                                    <p:anim calcmode="lin" valueType="num">
                                      <p:cBhvr>
                                        <p:cTn id="24" dur="450" fill="hold"/>
                                        <p:tgtEl>
                                          <p:spTgt spid="7"/>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anim calcmode="lin" valueType="num">
                                      <p:cBhvr>
                                        <p:cTn id="28" dur="450" fill="hold"/>
                                        <p:tgtEl>
                                          <p:spTgt spid="8"/>
                                        </p:tgtEl>
                                        <p:attrNameLst>
                                          <p:attrName>ppt_x</p:attrName>
                                        </p:attrNameLst>
                                      </p:cBhvr>
                                      <p:tavLst>
                                        <p:tav tm="0">
                                          <p:val>
                                            <p:strVal val="#ppt_x"/>
                                          </p:val>
                                        </p:tav>
                                        <p:tav tm="100000">
                                          <p:val>
                                            <p:strVal val="#ppt_x"/>
                                          </p:val>
                                        </p:tav>
                                      </p:tavLst>
                                    </p:anim>
                                    <p:anim calcmode="lin" valueType="num">
                                      <p:cBhvr>
                                        <p:cTn id="29" dur="450" fill="hold"/>
                                        <p:tgtEl>
                                          <p:spTgt spid="8"/>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anim calcmode="lin" valueType="num">
                                      <p:cBhvr>
                                        <p:cTn id="33" dur="450" fill="hold"/>
                                        <p:tgtEl>
                                          <p:spTgt spid="9"/>
                                        </p:tgtEl>
                                        <p:attrNameLst>
                                          <p:attrName>ppt_x</p:attrName>
                                        </p:attrNameLst>
                                      </p:cBhvr>
                                      <p:tavLst>
                                        <p:tav tm="0">
                                          <p:val>
                                            <p:strVal val="#ppt_x"/>
                                          </p:val>
                                        </p:tav>
                                        <p:tav tm="100000">
                                          <p:val>
                                            <p:strVal val="#ppt_x"/>
                                          </p:val>
                                        </p:tav>
                                      </p:tavLst>
                                    </p:anim>
                                    <p:anim calcmode="lin" valueType="num">
                                      <p:cBhvr>
                                        <p:cTn id="34" dur="450" fill="hold"/>
                                        <p:tgtEl>
                                          <p:spTgt spid="9"/>
                                        </p:tgtEl>
                                        <p:attrNameLst>
                                          <p:attrName>ppt_y</p:attrName>
                                        </p:attrNameLst>
                                      </p:cBhvr>
                                      <p:tavLst>
                                        <p:tav tm="0">
                                          <p:val>
                                            <p:strVal val="#ppt_y+0.03"/>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50"/>
                                        <p:tgtEl>
                                          <p:spTgt spid="10"/>
                                        </p:tgtEl>
                                      </p:cBhvr>
                                    </p:animEffect>
                                    <p:anim calcmode="lin" valueType="num">
                                      <p:cBhvr>
                                        <p:cTn id="38" dur="450" fill="hold"/>
                                        <p:tgtEl>
                                          <p:spTgt spid="10"/>
                                        </p:tgtEl>
                                        <p:attrNameLst>
                                          <p:attrName>ppt_x</p:attrName>
                                        </p:attrNameLst>
                                      </p:cBhvr>
                                      <p:tavLst>
                                        <p:tav tm="0">
                                          <p:val>
                                            <p:strVal val="#ppt_x"/>
                                          </p:val>
                                        </p:tav>
                                        <p:tav tm="100000">
                                          <p:val>
                                            <p:strVal val="#ppt_x"/>
                                          </p:val>
                                        </p:tav>
                                      </p:tavLst>
                                    </p:anim>
                                    <p:anim calcmode="lin" valueType="num">
                                      <p:cBhvr>
                                        <p:cTn id="39" dur="450" fill="hold"/>
                                        <p:tgtEl>
                                          <p:spTgt spid="10"/>
                                        </p:tgtEl>
                                        <p:attrNameLst>
                                          <p:attrName>ppt_y</p:attrName>
                                        </p:attrNameLst>
                                      </p:cBhvr>
                                      <p:tavLst>
                                        <p:tav tm="0">
                                          <p:val>
                                            <p:strVal val="#ppt_y+0.03"/>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450"/>
                                        <p:tgtEl>
                                          <p:spTgt spid="11"/>
                                        </p:tgtEl>
                                      </p:cBhvr>
                                    </p:animEffect>
                                    <p:anim calcmode="lin" valueType="num">
                                      <p:cBhvr>
                                        <p:cTn id="43" dur="450" fill="hold"/>
                                        <p:tgtEl>
                                          <p:spTgt spid="11"/>
                                        </p:tgtEl>
                                        <p:attrNameLst>
                                          <p:attrName>ppt_x</p:attrName>
                                        </p:attrNameLst>
                                      </p:cBhvr>
                                      <p:tavLst>
                                        <p:tav tm="0">
                                          <p:val>
                                            <p:strVal val="#ppt_x"/>
                                          </p:val>
                                        </p:tav>
                                        <p:tav tm="100000">
                                          <p:val>
                                            <p:strVal val="#ppt_x"/>
                                          </p:val>
                                        </p:tav>
                                      </p:tavLst>
                                    </p:anim>
                                    <p:anim calcmode="lin" valueType="num">
                                      <p:cBhvr>
                                        <p:cTn id="44" dur="450" fill="hold"/>
                                        <p:tgtEl>
                                          <p:spTgt spid="11"/>
                                        </p:tgtEl>
                                        <p:attrNameLst>
                                          <p:attrName>ppt_y</p:attrName>
                                        </p:attrNameLst>
                                      </p:cBhvr>
                                      <p:tavLst>
                                        <p:tav tm="0">
                                          <p:val>
                                            <p:strVal val="#ppt_y+0.03"/>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450"/>
                                        <p:tgtEl>
                                          <p:spTgt spid="12"/>
                                        </p:tgtEl>
                                      </p:cBhvr>
                                    </p:animEffect>
                                    <p:anim calcmode="lin" valueType="num">
                                      <p:cBhvr>
                                        <p:cTn id="50" dur="450" fill="hold"/>
                                        <p:tgtEl>
                                          <p:spTgt spid="12"/>
                                        </p:tgtEl>
                                        <p:attrNameLst>
                                          <p:attrName>ppt_x</p:attrName>
                                        </p:attrNameLst>
                                      </p:cBhvr>
                                      <p:tavLst>
                                        <p:tav tm="0">
                                          <p:val>
                                            <p:strVal val="#ppt_x"/>
                                          </p:val>
                                        </p:tav>
                                        <p:tav tm="100000">
                                          <p:val>
                                            <p:strVal val="#ppt_x"/>
                                          </p:val>
                                        </p:tav>
                                      </p:tavLst>
                                    </p:anim>
                                    <p:anim calcmode="lin" valueType="num">
                                      <p:cBhvr>
                                        <p:cTn id="51" dur="450" fill="hold"/>
                                        <p:tgtEl>
                                          <p:spTgt spid="12"/>
                                        </p:tgtEl>
                                        <p:attrNameLst>
                                          <p:attrName>ppt_y</p:attrName>
                                        </p:attrNameLst>
                                      </p:cBhvr>
                                      <p:tavLst>
                                        <p:tav tm="0">
                                          <p:val>
                                            <p:strVal val="#ppt_y+0.03"/>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450"/>
                                        <p:tgtEl>
                                          <p:spTgt spid="13"/>
                                        </p:tgtEl>
                                      </p:cBhvr>
                                    </p:animEffect>
                                    <p:anim calcmode="lin" valueType="num">
                                      <p:cBhvr>
                                        <p:cTn id="55" dur="450" fill="hold"/>
                                        <p:tgtEl>
                                          <p:spTgt spid="13"/>
                                        </p:tgtEl>
                                        <p:attrNameLst>
                                          <p:attrName>ppt_x</p:attrName>
                                        </p:attrNameLst>
                                      </p:cBhvr>
                                      <p:tavLst>
                                        <p:tav tm="0">
                                          <p:val>
                                            <p:strVal val="#ppt_x"/>
                                          </p:val>
                                        </p:tav>
                                        <p:tav tm="100000">
                                          <p:val>
                                            <p:strVal val="#ppt_x"/>
                                          </p:val>
                                        </p:tav>
                                      </p:tavLst>
                                    </p:anim>
                                    <p:anim calcmode="lin" valueType="num">
                                      <p:cBhvr>
                                        <p:cTn id="56" dur="45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450"/>
                                        <p:tgtEl>
                                          <p:spTgt spid="14"/>
                                        </p:tgtEl>
                                      </p:cBhvr>
                                    </p:animEffect>
                                    <p:anim calcmode="lin" valueType="num">
                                      <p:cBhvr>
                                        <p:cTn id="60" dur="450" fill="hold"/>
                                        <p:tgtEl>
                                          <p:spTgt spid="14"/>
                                        </p:tgtEl>
                                        <p:attrNameLst>
                                          <p:attrName>ppt_x</p:attrName>
                                        </p:attrNameLst>
                                      </p:cBhvr>
                                      <p:tavLst>
                                        <p:tav tm="0">
                                          <p:val>
                                            <p:strVal val="#ppt_x"/>
                                          </p:val>
                                        </p:tav>
                                        <p:tav tm="100000">
                                          <p:val>
                                            <p:strVal val="#ppt_x"/>
                                          </p:val>
                                        </p:tav>
                                      </p:tavLst>
                                    </p:anim>
                                    <p:anim calcmode="lin" valueType="num">
                                      <p:cBhvr>
                                        <p:cTn id="61" dur="450" fill="hold"/>
                                        <p:tgtEl>
                                          <p:spTgt spid="14"/>
                                        </p:tgtEl>
                                        <p:attrNameLst>
                                          <p:attrName>ppt_y</p:attrName>
                                        </p:attrNameLst>
                                      </p:cBhvr>
                                      <p:tavLst>
                                        <p:tav tm="0">
                                          <p:val>
                                            <p:strVal val="#ppt_y+0.03"/>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450"/>
                                        <p:tgtEl>
                                          <p:spTgt spid="15"/>
                                        </p:tgtEl>
                                      </p:cBhvr>
                                    </p:animEffect>
                                    <p:anim calcmode="lin" valueType="num">
                                      <p:cBhvr>
                                        <p:cTn id="65" dur="450" fill="hold"/>
                                        <p:tgtEl>
                                          <p:spTgt spid="15"/>
                                        </p:tgtEl>
                                        <p:attrNameLst>
                                          <p:attrName>ppt_x</p:attrName>
                                        </p:attrNameLst>
                                      </p:cBhvr>
                                      <p:tavLst>
                                        <p:tav tm="0">
                                          <p:val>
                                            <p:strVal val="#ppt_x"/>
                                          </p:val>
                                        </p:tav>
                                        <p:tav tm="100000">
                                          <p:val>
                                            <p:strVal val="#ppt_x"/>
                                          </p:val>
                                        </p:tav>
                                      </p:tavLst>
                                    </p:anim>
                                    <p:anim calcmode="lin" valueType="num">
                                      <p:cBhvr>
                                        <p:cTn id="66" dur="450" fill="hold"/>
                                        <p:tgtEl>
                                          <p:spTgt spid="15"/>
                                        </p:tgtEl>
                                        <p:attrNameLst>
                                          <p:attrName>ppt_y</p:attrName>
                                        </p:attrNameLst>
                                      </p:cBhvr>
                                      <p:tavLst>
                                        <p:tav tm="0">
                                          <p:val>
                                            <p:strVal val="#ppt_y+0.03"/>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450"/>
                                        <p:tgtEl>
                                          <p:spTgt spid="16"/>
                                        </p:tgtEl>
                                      </p:cBhvr>
                                    </p:animEffect>
                                    <p:anim calcmode="lin" valueType="num">
                                      <p:cBhvr>
                                        <p:cTn id="70" dur="450" fill="hold"/>
                                        <p:tgtEl>
                                          <p:spTgt spid="16"/>
                                        </p:tgtEl>
                                        <p:attrNameLst>
                                          <p:attrName>ppt_x</p:attrName>
                                        </p:attrNameLst>
                                      </p:cBhvr>
                                      <p:tavLst>
                                        <p:tav tm="0">
                                          <p:val>
                                            <p:strVal val="#ppt_x"/>
                                          </p:val>
                                        </p:tav>
                                        <p:tav tm="100000">
                                          <p:val>
                                            <p:strVal val="#ppt_x"/>
                                          </p:val>
                                        </p:tav>
                                      </p:tavLst>
                                    </p:anim>
                                    <p:anim calcmode="lin" valueType="num">
                                      <p:cBhvr>
                                        <p:cTn id="71" dur="450" fill="hold"/>
                                        <p:tgtEl>
                                          <p:spTgt spid="16"/>
                                        </p:tgtEl>
                                        <p:attrNameLst>
                                          <p:attrName>ppt_y</p:attrName>
                                        </p:attrNameLst>
                                      </p:cBhvr>
                                      <p:tavLst>
                                        <p:tav tm="0">
                                          <p:val>
                                            <p:strVal val="#ppt_y+0.03"/>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450"/>
                                        <p:tgtEl>
                                          <p:spTgt spid="17"/>
                                        </p:tgtEl>
                                      </p:cBhvr>
                                    </p:animEffect>
                                    <p:anim calcmode="lin" valueType="num">
                                      <p:cBhvr>
                                        <p:cTn id="75" dur="450" fill="hold"/>
                                        <p:tgtEl>
                                          <p:spTgt spid="17"/>
                                        </p:tgtEl>
                                        <p:attrNameLst>
                                          <p:attrName>ppt_x</p:attrName>
                                        </p:attrNameLst>
                                      </p:cBhvr>
                                      <p:tavLst>
                                        <p:tav tm="0">
                                          <p:val>
                                            <p:strVal val="#ppt_x"/>
                                          </p:val>
                                        </p:tav>
                                        <p:tav tm="100000">
                                          <p:val>
                                            <p:strVal val="#ppt_x"/>
                                          </p:val>
                                        </p:tav>
                                      </p:tavLst>
                                    </p:anim>
                                    <p:anim calcmode="lin" valueType="num">
                                      <p:cBhvr>
                                        <p:cTn id="76" dur="450" fill="hold"/>
                                        <p:tgtEl>
                                          <p:spTgt spid="1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02 · STATUS CODE</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자주 만나는 에러 코드</a:t>
            </a:r>
            <a:endParaRPr lang="en-US" sz="3200" dirty="0"/>
          </a:p>
        </p:txBody>
      </p:sp>
      <p:graphicFrame>
        <p:nvGraphicFramePr>
          <p:cNvPr id="4" name="b0-0"/>
          <p:cNvGraphicFramePr>
            <a:graphicFrameLocks noGrp="1"/>
          </p:cNvGraphicFramePr>
          <p:nvPr>
            <p:extLst>
              <p:ext uri="{D42A27DB-BD31-4B8C-83A1-F6EECF244321}">
                <p14:modId xmlns:p14="http://schemas.microsoft.com/office/powerpoint/2010/main" val="1579011935"/>
              </p:ext>
            </p:extLst>
          </p:nvPr>
        </p:nvGraphicFramePr>
        <p:xfrm>
          <a:off x="649224" y="1581912"/>
          <a:ext cx="10890504" cy="914400"/>
        </p:xfrm>
        <a:graphic>
          <a:graphicData uri="http://schemas.openxmlformats.org/drawingml/2006/table">
            <a:tbl>
              <a:tblPr/>
              <a:tblGrid>
                <a:gridCol w="1555786"/>
                <a:gridCol w="3294606"/>
                <a:gridCol w="6040111"/>
              </a:tblGrid>
              <a:tr h="411480">
                <a:tc>
                  <a:txBody>
                    <a:bodyPr/>
                    <a:lstStyle/>
                    <a:p>
                      <a:pPr indent="0" marL="0">
                        <a:buNone/>
                      </a:pPr>
                      <a:r>
                        <a:rPr lang="en-US" sz="1300" dirty="0">
                          <a:solidFill>
                            <a:schemeClr val="accent3"/>
                          </a:solidFill>
                        </a:rPr>
                        <a:t>코드</a:t>
                      </a:r>
                      <a:endParaRPr lang="en-US" sz="13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300" dirty="0">
                          <a:solidFill>
                            <a:schemeClr val="accent3"/>
                          </a:solidFill>
                        </a:rPr>
                        <a:t>이름</a:t>
                      </a:r>
                      <a:endParaRPr lang="en-US" sz="13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300" dirty="0">
                          <a:solidFill>
                            <a:schemeClr val="accent3"/>
                          </a:solidFill>
                        </a:rPr>
                        <a:t>언제 나오나 (블로그 API 예)</a:t>
                      </a:r>
                      <a:endParaRPr lang="en-US" sz="13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411480">
                <a:tc>
                  <a:txBody>
                    <a:bodyPr/>
                    <a:lstStyle/>
                    <a:p>
                      <a:pPr indent="0" marL="0">
                        <a:buNone/>
                      </a:pPr>
                      <a:r>
                        <a:rPr lang="en-US" sz="1600" dirty="0">
                          <a:solidFill>
                            <a:schemeClr val="accent6"/>
                          </a:solidFill>
                        </a:rPr>
                        <a:t>400  자주</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Bad Request</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필수 값 누락, 형식 오류 (빈 제목, 깨진 JSON)</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11480">
                <a:tc>
                  <a:txBody>
                    <a:bodyPr/>
                    <a:lstStyle/>
                    <a:p>
                      <a:pPr indent="0" marL="0">
                        <a:buNone/>
                      </a:pPr>
                      <a:r>
                        <a:rPr lang="en-US" sz="1600" dirty="0">
                          <a:solidFill>
                            <a:schemeClr val="accent6"/>
                          </a:solidFill>
                        </a:rPr>
                        <a:t>401  자주</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Unauthorized</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인증 정보(JWT · 세션)가 없거나 만료됨</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11480">
                <a:tc>
                  <a:txBody>
                    <a:bodyPr/>
                    <a:lstStyle/>
                    <a:p>
                      <a:pPr indent="0" marL="0">
                        <a:buNone/>
                      </a:pPr>
                      <a:r>
                        <a:rPr lang="en-US" sz="1600" dirty="0">
                          <a:solidFill>
                            <a:schemeClr val="accent6"/>
                          </a:solidFill>
                        </a:rPr>
                        <a:t>403</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Forbidden</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로그인했지만 권한 없음 (남의 글 삭제)</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11480">
                <a:tc>
                  <a:txBody>
                    <a:bodyPr/>
                    <a:lstStyle/>
                    <a:p>
                      <a:pPr indent="0" marL="0">
                        <a:buNone/>
                      </a:pPr>
                      <a:r>
                        <a:rPr lang="en-US" sz="1600" dirty="0">
                          <a:solidFill>
                            <a:schemeClr val="accent6"/>
                          </a:solidFill>
                        </a:rPr>
                        <a:t>404  자주</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Not Found</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없는 자원 (/posts/99999), URL 오타</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11480">
                <a:tc>
                  <a:txBody>
                    <a:bodyPr/>
                    <a:lstStyle/>
                    <a:p>
                      <a:pPr indent="0" marL="0">
                        <a:buNone/>
                      </a:pPr>
                      <a:r>
                        <a:rPr lang="en-US" sz="1600" dirty="0">
                          <a:solidFill>
                            <a:schemeClr val="accent6"/>
                          </a:solidFill>
                        </a:rPr>
                        <a:t>409</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Conflict</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중복 (같은 이메일로 가입), 동시 수정</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11480">
                <a:tc>
                  <a:txBody>
                    <a:bodyPr/>
                    <a:lstStyle/>
                    <a:p>
                      <a:pPr indent="0" marL="0">
                        <a:buNone/>
                      </a:pPr>
                      <a:r>
                        <a:rPr lang="en-US" sz="1600" dirty="0">
                          <a:solidFill>
                            <a:schemeClr val="accent6"/>
                          </a:solidFill>
                        </a:rPr>
                        <a:t>500  자주</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Internal Server Error</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처리하지 못한 예외 (NullPointerException 등)</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11480">
                <a:tc>
                  <a:txBody>
                    <a:bodyPr/>
                    <a:lstStyle/>
                    <a:p>
                      <a:pPr indent="0" marL="0">
                        <a:buNone/>
                      </a:pPr>
                      <a:r>
                        <a:rPr lang="en-US" sz="1600" dirty="0">
                          <a:solidFill>
                            <a:schemeClr val="accent6"/>
                          </a:solidFill>
                        </a:rPr>
                        <a:t>502</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Bad Gateway</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게이트웨이가 뒤쪽 서버에서 잘못된 응답을 받음</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11480">
                <a:tc>
                  <a:txBody>
                    <a:bodyPr/>
                    <a:lstStyle/>
                    <a:p>
                      <a:pPr indent="0" marL="0">
                        <a:buNone/>
                      </a:pPr>
                      <a:r>
                        <a:rPr lang="en-US" sz="1600" dirty="0">
                          <a:solidFill>
                            <a:schemeClr val="accent6"/>
                          </a:solidFill>
                        </a:rPr>
                        <a:t>503</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Service Unavailable</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과부하, 점검, 배포 중이라 처리 불가</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11480">
                <a:tc>
                  <a:txBody>
                    <a:bodyPr/>
                    <a:lstStyle/>
                    <a:p>
                      <a:pPr indent="0" marL="0">
                        <a:buNone/>
                      </a:pPr>
                      <a:r>
                        <a:rPr lang="en-US" sz="1600" dirty="0">
                          <a:solidFill>
                            <a:schemeClr val="accent6"/>
                          </a:solidFill>
                        </a:rPr>
                        <a:t>504</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latin typeface="JetBrains Mono" pitchFamily="34" charset="0"/>
                          <a:ea typeface="JetBrains Mono" pitchFamily="34" charset="-122"/>
                          <a:cs typeface="JetBrains Mono" pitchFamily="34" charset="-120"/>
                        </a:rPr>
                        <a:t>Gateway Timeout</a:t>
                      </a:r>
                      <a:endParaRPr lang="en-US" sz="16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뒤쪽 서버가 제한 시간 안에 응답 안 함</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5" name="b1-0"/>
          <p:cNvSpPr txBox="1"/>
          <p:nvPr/>
        </p:nvSpPr>
        <p:spPr>
          <a:xfrm>
            <a:off x="649224" y="5971032"/>
            <a:ext cx="10890504" cy="293370"/>
          </a:xfrm>
          <a:prstGeom prst="rect">
            <a:avLst/>
          </a:prstGeom>
          <a:noFill/>
          <a:ln/>
        </p:spPr>
        <p:txBody>
          <a:bodyPr wrap="square" lIns="0" tIns="0" rIns="0" bIns="0" rtlCol="0" anchor="t"/>
          <a:lstStyle/>
          <a:p>
            <a:pPr algn="l" indent="0" marL="0">
              <a:lnSpc>
                <a:spcPct val="115000"/>
              </a:lnSpc>
              <a:spcAft>
                <a:spcPts val="600"/>
              </a:spcAft>
              <a:buNone/>
            </a:pPr>
            <a:r>
              <a:rPr lang="en-US" sz="1500" dirty="0">
                <a:solidFill>
                  <a:schemeClr val="accent3"/>
                </a:solidFill>
              </a:rPr>
              <a:t>그 밖에: 405 Method Not Allowed (메서드 틀림) · 415 Unsupported Media Type (Content-Type 틀림) · 429 Too Many Requests (요청 과다)</a:t>
            </a:r>
            <a:endParaRPr lang="en-US" sz="1500" dirty="0"/>
          </a:p>
        </p:txBody>
      </p:sp>
      <p:sp>
        <p:nvSpPr>
          <p:cNvPr id="6"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11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49224" y="1920240"/>
            <a:ext cx="2743200" cy="1005840"/>
          </a:xfrm>
          <a:prstGeom prst="rect">
            <a:avLst/>
          </a:prstGeom>
          <a:noFill/>
          <a:ln/>
        </p:spPr>
        <p:txBody>
          <a:bodyPr wrap="square" lIns="0" tIns="0" rIns="0" bIns="0" rtlCol="0" anchor="b"/>
          <a:lstStyle/>
          <a:p>
            <a:pPr algn="l" indent="0" marL="0">
              <a:buNone/>
            </a:pPr>
            <a:r>
              <a:rPr lang="en-US" sz="6000" b="1" dirty="0">
                <a:solidFill>
                  <a:schemeClr val="accent1"/>
                </a:solidFill>
                <a:latin typeface="+mj-lt" pitchFamily="34" charset="0"/>
                <a:ea typeface="+mj-lt" pitchFamily="34" charset="-122"/>
                <a:cs typeface="+mj-lt" pitchFamily="34" charset="-120"/>
              </a:rPr>
              <a:t>03</a:t>
            </a:r>
            <a:endParaRPr lang="en-US" sz="6000" dirty="0"/>
          </a:p>
        </p:txBody>
      </p:sp>
      <p:sp>
        <p:nvSpPr>
          <p:cNvPr id="3" name="Text 0"/>
          <p:cNvSpPr/>
          <p:nvPr>
            <p:ph idx="101" type="title" hasCustomPrompt="1"/>
          </p:nvPr>
        </p:nvSpPr>
        <p:spPr>
          <a:xfrm>
            <a:off x="649224" y="306324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공통 응답과 에러 형식</a:t>
            </a:r>
            <a:endParaRPr lang="en-US" sz="4000" dirty="0"/>
          </a:p>
        </p:txBody>
      </p:sp>
      <p:sp>
        <p:nvSpPr>
          <p:cNvPr id="4" name="Text 0"/>
          <p:cNvSpPr/>
          <p:nvPr>
            <p:ph idx="102" type="body" hasCustomPrompt="1"/>
          </p:nvPr>
        </p:nvSpPr>
        <p:spPr>
          <a:xfrm>
            <a:off x="649224" y="4114800"/>
            <a:ext cx="10058400" cy="548640"/>
          </a:xfrm>
          <a:prstGeom prst="rect">
            <a:avLst/>
          </a:prstGeom>
          <a:noFill/>
          <a:ln/>
        </p:spPr>
        <p:txBody>
          <a:bodyPr wrap="square" lIns="0" tIns="0" rIns="0" bIns="0" rtlCol="0" anchor="t"/>
          <a:lstStyle/>
          <a:p>
            <a:pPr algn="l" indent="0" marL="0">
              <a:buNone/>
            </a:pPr>
            <a:r>
              <a:rPr lang="en-US" sz="2000" dirty="0">
                <a:solidFill>
                  <a:srgbClr val="A09D96"/>
                </a:solidFill>
              </a:rPr>
              <a:t>팀이 정한 한 가지 모양으로 모든 API가 답한다</a:t>
            </a:r>
            <a:endParaRPr lang="en-US" sz="20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03 · RESPONSE · ERROR</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응답 모양은 팀이 정한다</a:t>
            </a:r>
            <a:endParaRPr lang="en-US" sz="3200" dirty="0"/>
          </a:p>
        </p:txBody>
      </p:sp>
      <p:sp>
        <p:nvSpPr>
          <p:cNvPr id="4" name="badge"/>
          <p:cNvSpPr/>
          <p:nvPr/>
        </p:nvSpPr>
        <p:spPr>
          <a:xfrm>
            <a:off x="9848088" y="384048"/>
            <a:ext cx="1691640" cy="310896"/>
          </a:xfrm>
          <a:prstGeom prst="roundRect">
            <a:avLst>
              <a:gd name="adj" fmla="val 50000"/>
            </a:avLst>
          </a:prstGeom>
          <a:solidFill>
            <a:srgbClr val="E8E0D2"/>
          </a:solidFill>
          <a:ln/>
        </p:spPr>
      </p:sp>
      <p:sp>
        <p:nvSpPr>
          <p:cNvPr id="5" name="badge-text"/>
          <p:cNvSpPr txBox="1"/>
          <p:nvPr/>
        </p:nvSpPr>
        <p:spPr>
          <a:xfrm>
            <a:off x="9848088" y="384048"/>
            <a:ext cx="1691640" cy="310896"/>
          </a:xfrm>
          <a:prstGeom prst="rect">
            <a:avLst/>
          </a:prstGeom>
          <a:noFill/>
          <a:ln/>
        </p:spPr>
        <p:txBody>
          <a:bodyPr wrap="square" lIns="0" tIns="0" rIns="0" bIns="0" rtlCol="0" anchor="ctr"/>
          <a:lstStyle/>
          <a:p>
            <a:pPr algn="ctr" indent="0" marL="0">
              <a:buNone/>
            </a:pPr>
            <a:r>
              <a:rPr lang="en-US" sz="1200" dirty="0">
                <a:solidFill>
                  <a:schemeClr val="accent3"/>
                </a:solidFill>
              </a:rPr>
              <a:t>예시 · 팀마다 다름</a:t>
            </a:r>
            <a:endParaRPr lang="en-US" sz="1200" dirty="0"/>
          </a:p>
        </p:txBody>
      </p:sp>
      <p:sp>
        <p:nvSpPr>
          <p:cNvPr id="6" name="b0c0-0"/>
          <p:cNvSpPr/>
          <p:nvPr/>
        </p:nvSpPr>
        <p:spPr>
          <a:xfrm>
            <a:off x="649224" y="1984121"/>
            <a:ext cx="3477768" cy="2795270"/>
          </a:xfrm>
          <a:prstGeom prst="roundRect">
            <a:avLst>
              <a:gd name="adj" fmla="val 3925"/>
            </a:avLst>
          </a:prstGeom>
          <a:solidFill>
            <a:schemeClr val="tx2"/>
          </a:solidFill>
          <a:ln/>
        </p:spPr>
      </p:sp>
      <p:sp>
        <p:nvSpPr>
          <p:cNvPr id="7" name="b0c0-1"/>
          <p:cNvSpPr/>
          <p:nvPr/>
        </p:nvSpPr>
        <p:spPr>
          <a:xfrm>
            <a:off x="850392" y="2130425"/>
            <a:ext cx="100584" cy="100584"/>
          </a:xfrm>
          <a:prstGeom prst="ellipse">
            <a:avLst/>
          </a:prstGeom>
          <a:solidFill>
            <a:srgbClr val="4A4844"/>
          </a:solidFill>
          <a:ln/>
        </p:spPr>
      </p:sp>
      <p:sp>
        <p:nvSpPr>
          <p:cNvPr id="8" name="b0c0-2"/>
          <p:cNvSpPr/>
          <p:nvPr/>
        </p:nvSpPr>
        <p:spPr>
          <a:xfrm>
            <a:off x="1024128" y="2130425"/>
            <a:ext cx="100584" cy="100584"/>
          </a:xfrm>
          <a:prstGeom prst="ellipse">
            <a:avLst/>
          </a:prstGeom>
          <a:solidFill>
            <a:srgbClr val="4A4844"/>
          </a:solidFill>
          <a:ln/>
        </p:spPr>
      </p:sp>
      <p:sp>
        <p:nvSpPr>
          <p:cNvPr id="9" name="b0c0-3"/>
          <p:cNvSpPr/>
          <p:nvPr/>
        </p:nvSpPr>
        <p:spPr>
          <a:xfrm>
            <a:off x="1197864" y="2130425"/>
            <a:ext cx="100584" cy="100584"/>
          </a:xfrm>
          <a:prstGeom prst="ellipse">
            <a:avLst/>
          </a:prstGeom>
          <a:solidFill>
            <a:srgbClr val="4A4844"/>
          </a:solidFill>
          <a:ln/>
        </p:spPr>
      </p:sp>
      <p:sp>
        <p:nvSpPr>
          <p:cNvPr id="10" name="b0c0-4"/>
          <p:cNvSpPr txBox="1"/>
          <p:nvPr/>
        </p:nvSpPr>
        <p:spPr>
          <a:xfrm>
            <a:off x="1472184" y="2075561"/>
            <a:ext cx="2471928"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성공 · 데이터 있음</a:t>
            </a:r>
            <a:endParaRPr lang="en-US" sz="1100" dirty="0"/>
          </a:p>
        </p:txBody>
      </p:sp>
      <p:sp>
        <p:nvSpPr>
          <p:cNvPr id="11" name="b0c0-5"/>
          <p:cNvSpPr txBox="1"/>
          <p:nvPr/>
        </p:nvSpPr>
        <p:spPr>
          <a:xfrm>
            <a:off x="905256" y="2423033"/>
            <a:ext cx="3020568" cy="2246630"/>
          </a:xfrm>
          <a:prstGeom prst="rect">
            <a:avLst/>
          </a:prstGeom>
          <a:noFill/>
          <a:ln/>
        </p:spPr>
        <p:txBody>
          <a:bodyPr wrap="square" lIns="0" tIns="0" rIns="0" bIns="0" rtlCol="0" anchor="t"/>
          <a:lstStyle/>
          <a:p>
            <a:pPr algn="l" indent="0" marL="0">
              <a:lnSpc>
                <a:spcPct val="105000"/>
              </a:lnSpc>
              <a:buNone/>
            </a:pPr>
            <a:r>
              <a:rPr lang="en-US" sz="1300" dirty="0">
                <a:solidFill>
                  <a:srgbClr val="5DB872"/>
                </a:solidFill>
                <a:latin typeface="JetBrains Mono" pitchFamily="34" charset="0"/>
                <a:ea typeface="JetBrains Mono" pitchFamily="34" charset="-122"/>
                <a:cs typeface="JetBrains Mono" pitchFamily="34" charset="-120"/>
              </a:rPr>
              <a:t>HTTP/1.1 200 OK</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"success": true,</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"code": "SUCCESS",</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"message": "조회 성공",</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"data":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"userId": 1,</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"nickname": "슬기짱"</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p:txBody>
      </p:sp>
      <p:sp>
        <p:nvSpPr>
          <p:cNvPr id="12" name="b0c1-6"/>
          <p:cNvSpPr/>
          <p:nvPr/>
        </p:nvSpPr>
        <p:spPr>
          <a:xfrm>
            <a:off x="4355592" y="1984121"/>
            <a:ext cx="3477768" cy="2795270"/>
          </a:xfrm>
          <a:prstGeom prst="roundRect">
            <a:avLst>
              <a:gd name="adj" fmla="val 3925"/>
            </a:avLst>
          </a:prstGeom>
          <a:solidFill>
            <a:schemeClr val="tx2"/>
          </a:solidFill>
          <a:ln/>
        </p:spPr>
      </p:sp>
      <p:sp>
        <p:nvSpPr>
          <p:cNvPr id="13" name="b0c1-7"/>
          <p:cNvSpPr/>
          <p:nvPr/>
        </p:nvSpPr>
        <p:spPr>
          <a:xfrm>
            <a:off x="4556760" y="2130425"/>
            <a:ext cx="100584" cy="100584"/>
          </a:xfrm>
          <a:prstGeom prst="ellipse">
            <a:avLst/>
          </a:prstGeom>
          <a:solidFill>
            <a:srgbClr val="4A4844"/>
          </a:solidFill>
          <a:ln/>
        </p:spPr>
      </p:sp>
      <p:sp>
        <p:nvSpPr>
          <p:cNvPr id="14" name="b0c1-8"/>
          <p:cNvSpPr/>
          <p:nvPr/>
        </p:nvSpPr>
        <p:spPr>
          <a:xfrm>
            <a:off x="4730496" y="2130425"/>
            <a:ext cx="100584" cy="100584"/>
          </a:xfrm>
          <a:prstGeom prst="ellipse">
            <a:avLst/>
          </a:prstGeom>
          <a:solidFill>
            <a:srgbClr val="4A4844"/>
          </a:solidFill>
          <a:ln/>
        </p:spPr>
      </p:sp>
      <p:sp>
        <p:nvSpPr>
          <p:cNvPr id="15" name="b0c1-9"/>
          <p:cNvSpPr/>
          <p:nvPr/>
        </p:nvSpPr>
        <p:spPr>
          <a:xfrm>
            <a:off x="4904232" y="2130425"/>
            <a:ext cx="100584" cy="100584"/>
          </a:xfrm>
          <a:prstGeom prst="ellipse">
            <a:avLst/>
          </a:prstGeom>
          <a:solidFill>
            <a:srgbClr val="4A4844"/>
          </a:solidFill>
          <a:ln/>
        </p:spPr>
      </p:sp>
      <p:sp>
        <p:nvSpPr>
          <p:cNvPr id="16" name="b0c1-10"/>
          <p:cNvSpPr txBox="1"/>
          <p:nvPr/>
        </p:nvSpPr>
        <p:spPr>
          <a:xfrm>
            <a:off x="5178552" y="2075561"/>
            <a:ext cx="2471928"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성공 · 데이터 없음</a:t>
            </a:r>
            <a:endParaRPr lang="en-US" sz="1100" dirty="0"/>
          </a:p>
        </p:txBody>
      </p:sp>
      <p:sp>
        <p:nvSpPr>
          <p:cNvPr id="17" name="b0c1-11"/>
          <p:cNvSpPr txBox="1"/>
          <p:nvPr/>
        </p:nvSpPr>
        <p:spPr>
          <a:xfrm>
            <a:off x="4611624" y="2423033"/>
            <a:ext cx="3020568" cy="2246630"/>
          </a:xfrm>
          <a:prstGeom prst="rect">
            <a:avLst/>
          </a:prstGeom>
          <a:noFill/>
          <a:ln/>
        </p:spPr>
        <p:txBody>
          <a:bodyPr wrap="square" lIns="0" tIns="0" rIns="0" bIns="0" rtlCol="0" anchor="t"/>
          <a:lstStyle/>
          <a:p>
            <a:pPr algn="l" indent="0" marL="0">
              <a:lnSpc>
                <a:spcPct val="105000"/>
              </a:lnSpc>
              <a:buNone/>
            </a:pPr>
            <a:r>
              <a:rPr lang="en-US" sz="1300" dirty="0">
                <a:solidFill>
                  <a:srgbClr val="5DB872"/>
                </a:solidFill>
                <a:latin typeface="JetBrains Mono" pitchFamily="34" charset="0"/>
                <a:ea typeface="JetBrains Mono" pitchFamily="34" charset="-122"/>
                <a:cs typeface="JetBrains Mono" pitchFamily="34" charset="-120"/>
              </a:rPr>
              <a:t>HTTP/1.1 200 OK</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"success": true,</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"code": "SUCCESS",</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"message": "인증 완료",</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"data": null</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p:txBody>
      </p:sp>
      <p:sp>
        <p:nvSpPr>
          <p:cNvPr id="18" name="b0c2-12"/>
          <p:cNvSpPr/>
          <p:nvPr/>
        </p:nvSpPr>
        <p:spPr>
          <a:xfrm>
            <a:off x="8061960" y="1984121"/>
            <a:ext cx="3477768" cy="2795270"/>
          </a:xfrm>
          <a:prstGeom prst="roundRect">
            <a:avLst>
              <a:gd name="adj" fmla="val 3925"/>
            </a:avLst>
          </a:prstGeom>
          <a:solidFill>
            <a:schemeClr val="tx2"/>
          </a:solidFill>
          <a:ln/>
        </p:spPr>
      </p:sp>
      <p:sp>
        <p:nvSpPr>
          <p:cNvPr id="19" name="b0c2-13"/>
          <p:cNvSpPr/>
          <p:nvPr/>
        </p:nvSpPr>
        <p:spPr>
          <a:xfrm>
            <a:off x="8263128" y="2130425"/>
            <a:ext cx="100584" cy="100584"/>
          </a:xfrm>
          <a:prstGeom prst="ellipse">
            <a:avLst/>
          </a:prstGeom>
          <a:solidFill>
            <a:srgbClr val="4A4844"/>
          </a:solidFill>
          <a:ln/>
        </p:spPr>
      </p:sp>
      <p:sp>
        <p:nvSpPr>
          <p:cNvPr id="20" name="b0c2-14"/>
          <p:cNvSpPr/>
          <p:nvPr/>
        </p:nvSpPr>
        <p:spPr>
          <a:xfrm>
            <a:off x="8436864" y="2130425"/>
            <a:ext cx="100584" cy="100584"/>
          </a:xfrm>
          <a:prstGeom prst="ellipse">
            <a:avLst/>
          </a:prstGeom>
          <a:solidFill>
            <a:srgbClr val="4A4844"/>
          </a:solidFill>
          <a:ln/>
        </p:spPr>
      </p:sp>
      <p:sp>
        <p:nvSpPr>
          <p:cNvPr id="21" name="b0c2-15"/>
          <p:cNvSpPr/>
          <p:nvPr/>
        </p:nvSpPr>
        <p:spPr>
          <a:xfrm>
            <a:off x="8610600" y="2130425"/>
            <a:ext cx="100584" cy="100584"/>
          </a:xfrm>
          <a:prstGeom prst="ellipse">
            <a:avLst/>
          </a:prstGeom>
          <a:solidFill>
            <a:srgbClr val="4A4844"/>
          </a:solidFill>
          <a:ln/>
        </p:spPr>
      </p:sp>
      <p:sp>
        <p:nvSpPr>
          <p:cNvPr id="22" name="b0c2-16"/>
          <p:cNvSpPr txBox="1"/>
          <p:nvPr/>
        </p:nvSpPr>
        <p:spPr>
          <a:xfrm>
            <a:off x="8884920" y="2075561"/>
            <a:ext cx="2471928"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실패 · 업무 예외</a:t>
            </a:r>
            <a:endParaRPr lang="en-US" sz="1100" dirty="0"/>
          </a:p>
        </p:txBody>
      </p:sp>
      <p:sp>
        <p:nvSpPr>
          <p:cNvPr id="23" name="b0c2-17"/>
          <p:cNvSpPr txBox="1"/>
          <p:nvPr/>
        </p:nvSpPr>
        <p:spPr>
          <a:xfrm>
            <a:off x="8317992" y="2423033"/>
            <a:ext cx="3020568" cy="2246630"/>
          </a:xfrm>
          <a:prstGeom prst="rect">
            <a:avLst/>
          </a:prstGeom>
          <a:noFill/>
          <a:ln/>
        </p:spPr>
        <p:txBody>
          <a:bodyPr wrap="square" lIns="0" tIns="0" rIns="0" bIns="0" rtlCol="0" anchor="t"/>
          <a:lstStyle/>
          <a:p>
            <a:pPr algn="l" indent="0" marL="0">
              <a:lnSpc>
                <a:spcPct val="105000"/>
              </a:lnSpc>
              <a:buNone/>
            </a:pPr>
            <a:r>
              <a:rPr lang="en-US" sz="1300" dirty="0">
                <a:solidFill>
                  <a:srgbClr val="E5806F"/>
                </a:solidFill>
                <a:latin typeface="JetBrains Mono" pitchFamily="34" charset="0"/>
                <a:ea typeface="JetBrains Mono" pitchFamily="34" charset="-122"/>
                <a:cs typeface="JetBrains Mono" pitchFamily="34" charset="-120"/>
              </a:rPr>
              <a:t>HTTP/1.1 409 Conflict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"success": false,</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"code": "USER_001",</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"message": "이미 가입됨",</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"data": null</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p:txBody>
      </p:sp>
      <p:sp>
        <p:nvSpPr>
          <p:cNvPr id="24" name="b1-0"/>
          <p:cNvSpPr txBox="1"/>
          <p:nvPr/>
        </p:nvSpPr>
        <p:spPr>
          <a:xfrm>
            <a:off x="649224" y="5007991"/>
            <a:ext cx="10890504" cy="716280"/>
          </a:xfrm>
          <a:prstGeom prst="rect">
            <a:avLst/>
          </a:prstGeom>
          <a:noFill/>
          <a:ln/>
        </p:spPr>
        <p:txBody>
          <a:bodyPr wrap="square" lIns="0" tIns="0" rIns="0" bIns="0" rtlCol="0" anchor="t"/>
          <a:lstStyle/>
          <a:p>
            <a:pPr algn="l" indent="0" marL="0">
              <a:lnSpc>
                <a:spcPct val="115000"/>
              </a:lnSpc>
              <a:spcAft>
                <a:spcPts val="600"/>
              </a:spcAft>
              <a:buNone/>
            </a:pPr>
            <a:r>
              <a:rPr lang="en-US" sz="1800" b="1" dirty="0">
                <a:solidFill>
                  <a:srgbClr val="3D3D3A"/>
                </a:solidFill>
                <a:latin typeface="Pretendard" pitchFamily="34" charset="0"/>
                <a:ea typeface="Pretendard" pitchFamily="34" charset="-122"/>
                <a:cs typeface="Pretendard" pitchFamily="34" charset="-120"/>
              </a:rPr>
              <a:t>팀이 정할 것  </a:t>
            </a:r>
            <a:pPr algn="l" indent="0" marL="0">
              <a:lnSpc>
                <a:spcPct val="115000"/>
              </a:lnSpc>
              <a:spcAft>
                <a:spcPts val="600"/>
              </a:spcAft>
              <a:buNone/>
            </a:pPr>
            <a:r>
              <a:rPr lang="en-US" sz="1800" dirty="0">
                <a:solidFill>
                  <a:srgbClr val="3D3D3A"/>
                </a:solidFill>
              </a:rPr>
              <a:t>칸 이름 (success · code · message · data) · 성공도 감쌀지 · 에러 코드 규칙</a:t>
            </a:r>
            <a:endParaRPr lang="en-US" sz="1800" dirty="0"/>
          </a:p>
          <a:p>
            <a:pPr algn="l" indent="0" marL="0">
              <a:lnSpc>
                <a:spcPct val="115000"/>
              </a:lnSpc>
              <a:spcAft>
                <a:spcPts val="600"/>
              </a:spcAft>
              <a:buNone/>
            </a:pPr>
            <a:r>
              <a:rPr lang="en-US" sz="1800" b="1" dirty="0">
                <a:solidFill>
                  <a:srgbClr val="3D3D3A"/>
                </a:solidFill>
                <a:latin typeface="Pretendard" pitchFamily="34" charset="0"/>
                <a:ea typeface="Pretendard" pitchFamily="34" charset="-122"/>
                <a:cs typeface="Pretendard" pitchFamily="34" charset="-120"/>
              </a:rPr>
              <a:t>정했으면  </a:t>
            </a:r>
            <a:pPr algn="l" indent="0" marL="0">
              <a:lnSpc>
                <a:spcPct val="115000"/>
              </a:lnSpc>
              <a:spcAft>
                <a:spcPts val="600"/>
              </a:spcAft>
              <a:buNone/>
            </a:pPr>
            <a:r>
              <a:rPr lang="en-US" sz="1800" dirty="0">
                <a:solidFill>
                  <a:srgbClr val="3D3D3A"/>
                </a:solidFill>
              </a:rPr>
              <a:t>문서에 적고 모든 API가 따른다 · 실패할 때도 상태 코드는 409처럼 맞게</a:t>
            </a:r>
            <a:endParaRPr lang="en-US" sz="1800" dirty="0"/>
          </a:p>
        </p:txBody>
      </p:sp>
      <p:sp>
        <p:nvSpPr>
          <p:cNvPr id="25"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50"/>
                                        <p:tgtEl>
                                          <p:spTgt spid="24"/>
                                        </p:tgtEl>
                                      </p:cBhvr>
                                    </p:animEffect>
                                    <p:anim calcmode="lin" valueType="num">
                                      <p:cBhvr>
                                        <p:cTn id="8" dur="450" fill="hold"/>
                                        <p:tgtEl>
                                          <p:spTgt spid="24"/>
                                        </p:tgtEl>
                                        <p:attrNameLst>
                                          <p:attrName>ppt_x</p:attrName>
                                        </p:attrNameLst>
                                      </p:cBhvr>
                                      <p:tavLst>
                                        <p:tav tm="0">
                                          <p:val>
                                            <p:strVal val="#ppt_x"/>
                                          </p:val>
                                        </p:tav>
                                        <p:tav tm="100000">
                                          <p:val>
                                            <p:strVal val="#ppt_x"/>
                                          </p:val>
                                        </p:tav>
                                      </p:tavLst>
                                    </p:anim>
                                    <p:anim calcmode="lin" valueType="num">
                                      <p:cBhvr>
                                        <p:cTn id="9" dur="450" fill="hold"/>
                                        <p:tgtEl>
                                          <p:spTgt spid="24"/>
                                        </p:tgtEl>
                                        <p:attrNameLst>
                                          <p:attrName>ppt_y</p:attrName>
                                        </p:attrNameLst>
                                      </p:cBhvr>
                                      <p:tavLst>
                                        <p:tav tm="0">
                                          <p:val>
                                            <p:strVal val="#ppt_y+0.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anim calcmode="lin" valueType="num">
                                      <p:cBhvr>
                                        <p:cTn id="15" dur="450" fill="hold"/>
                                        <p:tgtEl>
                                          <p:spTgt spid="6"/>
                                        </p:tgtEl>
                                        <p:attrNameLst>
                                          <p:attrName>ppt_x</p:attrName>
                                        </p:attrNameLst>
                                      </p:cBhvr>
                                      <p:tavLst>
                                        <p:tav tm="0">
                                          <p:val>
                                            <p:strVal val="#ppt_x"/>
                                          </p:val>
                                        </p:tav>
                                        <p:tav tm="100000">
                                          <p:val>
                                            <p:strVal val="#ppt_x"/>
                                          </p:val>
                                        </p:tav>
                                      </p:tavLst>
                                    </p:anim>
                                    <p:anim calcmode="lin" valueType="num">
                                      <p:cBhvr>
                                        <p:cTn id="16" dur="450" fill="hold"/>
                                        <p:tgtEl>
                                          <p:spTgt spid="6"/>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anim calcmode="lin" valueType="num">
                                      <p:cBhvr>
                                        <p:cTn id="20" dur="450" fill="hold"/>
                                        <p:tgtEl>
                                          <p:spTgt spid="7"/>
                                        </p:tgtEl>
                                        <p:attrNameLst>
                                          <p:attrName>ppt_x</p:attrName>
                                        </p:attrNameLst>
                                      </p:cBhvr>
                                      <p:tavLst>
                                        <p:tav tm="0">
                                          <p:val>
                                            <p:strVal val="#ppt_x"/>
                                          </p:val>
                                        </p:tav>
                                        <p:tav tm="100000">
                                          <p:val>
                                            <p:strVal val="#ppt_x"/>
                                          </p:val>
                                        </p:tav>
                                      </p:tavLst>
                                    </p:anim>
                                    <p:anim calcmode="lin" valueType="num">
                                      <p:cBhvr>
                                        <p:cTn id="21" dur="450" fill="hold"/>
                                        <p:tgtEl>
                                          <p:spTgt spid="7"/>
                                        </p:tgtEl>
                                        <p:attrNameLst>
                                          <p:attrName>ppt_y</p:attrName>
                                        </p:attrNameLst>
                                      </p:cBhvr>
                                      <p:tavLst>
                                        <p:tav tm="0">
                                          <p:val>
                                            <p:strVal val="#ppt_y+0.03"/>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50"/>
                                        <p:tgtEl>
                                          <p:spTgt spid="8"/>
                                        </p:tgtEl>
                                      </p:cBhvr>
                                    </p:animEffect>
                                    <p:anim calcmode="lin" valueType="num">
                                      <p:cBhvr>
                                        <p:cTn id="25" dur="450" fill="hold"/>
                                        <p:tgtEl>
                                          <p:spTgt spid="8"/>
                                        </p:tgtEl>
                                        <p:attrNameLst>
                                          <p:attrName>ppt_x</p:attrName>
                                        </p:attrNameLst>
                                      </p:cBhvr>
                                      <p:tavLst>
                                        <p:tav tm="0">
                                          <p:val>
                                            <p:strVal val="#ppt_x"/>
                                          </p:val>
                                        </p:tav>
                                        <p:tav tm="100000">
                                          <p:val>
                                            <p:strVal val="#ppt_x"/>
                                          </p:val>
                                        </p:tav>
                                      </p:tavLst>
                                    </p:anim>
                                    <p:anim calcmode="lin" valueType="num">
                                      <p:cBhvr>
                                        <p:cTn id="26" dur="450" fill="hold"/>
                                        <p:tgtEl>
                                          <p:spTgt spid="8"/>
                                        </p:tgtEl>
                                        <p:attrNameLst>
                                          <p:attrName>ppt_y</p:attrName>
                                        </p:attrNameLst>
                                      </p:cBhvr>
                                      <p:tavLst>
                                        <p:tav tm="0">
                                          <p:val>
                                            <p:strVal val="#ppt_y+0.03"/>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50"/>
                                        <p:tgtEl>
                                          <p:spTgt spid="9"/>
                                        </p:tgtEl>
                                      </p:cBhvr>
                                    </p:animEffect>
                                    <p:anim calcmode="lin" valueType="num">
                                      <p:cBhvr>
                                        <p:cTn id="30" dur="450" fill="hold"/>
                                        <p:tgtEl>
                                          <p:spTgt spid="9"/>
                                        </p:tgtEl>
                                        <p:attrNameLst>
                                          <p:attrName>ppt_x</p:attrName>
                                        </p:attrNameLst>
                                      </p:cBhvr>
                                      <p:tavLst>
                                        <p:tav tm="0">
                                          <p:val>
                                            <p:strVal val="#ppt_x"/>
                                          </p:val>
                                        </p:tav>
                                        <p:tav tm="100000">
                                          <p:val>
                                            <p:strVal val="#ppt_x"/>
                                          </p:val>
                                        </p:tav>
                                      </p:tavLst>
                                    </p:anim>
                                    <p:anim calcmode="lin" valueType="num">
                                      <p:cBhvr>
                                        <p:cTn id="31" dur="450" fill="hold"/>
                                        <p:tgtEl>
                                          <p:spTgt spid="9"/>
                                        </p:tgtEl>
                                        <p:attrNameLst>
                                          <p:attrName>ppt_y</p:attrName>
                                        </p:attrNameLst>
                                      </p:cBhvr>
                                      <p:tavLst>
                                        <p:tav tm="0">
                                          <p:val>
                                            <p:strVal val="#ppt_y+0.03"/>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50"/>
                                        <p:tgtEl>
                                          <p:spTgt spid="10"/>
                                        </p:tgtEl>
                                      </p:cBhvr>
                                    </p:animEffect>
                                    <p:anim calcmode="lin" valueType="num">
                                      <p:cBhvr>
                                        <p:cTn id="35" dur="450" fill="hold"/>
                                        <p:tgtEl>
                                          <p:spTgt spid="10"/>
                                        </p:tgtEl>
                                        <p:attrNameLst>
                                          <p:attrName>ppt_x</p:attrName>
                                        </p:attrNameLst>
                                      </p:cBhvr>
                                      <p:tavLst>
                                        <p:tav tm="0">
                                          <p:val>
                                            <p:strVal val="#ppt_x"/>
                                          </p:val>
                                        </p:tav>
                                        <p:tav tm="100000">
                                          <p:val>
                                            <p:strVal val="#ppt_x"/>
                                          </p:val>
                                        </p:tav>
                                      </p:tavLst>
                                    </p:anim>
                                    <p:anim calcmode="lin" valueType="num">
                                      <p:cBhvr>
                                        <p:cTn id="36" dur="450" fill="hold"/>
                                        <p:tgtEl>
                                          <p:spTgt spid="10"/>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450"/>
                                        <p:tgtEl>
                                          <p:spTgt spid="11"/>
                                        </p:tgtEl>
                                      </p:cBhvr>
                                    </p:animEffect>
                                    <p:anim calcmode="lin" valueType="num">
                                      <p:cBhvr>
                                        <p:cTn id="40" dur="450" fill="hold"/>
                                        <p:tgtEl>
                                          <p:spTgt spid="11"/>
                                        </p:tgtEl>
                                        <p:attrNameLst>
                                          <p:attrName>ppt_x</p:attrName>
                                        </p:attrNameLst>
                                      </p:cBhvr>
                                      <p:tavLst>
                                        <p:tav tm="0">
                                          <p:val>
                                            <p:strVal val="#ppt_x"/>
                                          </p:val>
                                        </p:tav>
                                        <p:tav tm="100000">
                                          <p:val>
                                            <p:strVal val="#ppt_x"/>
                                          </p:val>
                                        </p:tav>
                                      </p:tavLst>
                                    </p:anim>
                                    <p:anim calcmode="lin" valueType="num">
                                      <p:cBhvr>
                                        <p:cTn id="41" dur="450" fill="hold"/>
                                        <p:tgtEl>
                                          <p:spTgt spid="11"/>
                                        </p:tgtEl>
                                        <p:attrNameLst>
                                          <p:attrName>ppt_y</p:attrName>
                                        </p:attrNameLst>
                                      </p:cBhvr>
                                      <p:tavLst>
                                        <p:tav tm="0">
                                          <p:val>
                                            <p:strVal val="#ppt_y+0.03"/>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50"/>
                                        <p:tgtEl>
                                          <p:spTgt spid="12"/>
                                        </p:tgtEl>
                                      </p:cBhvr>
                                    </p:animEffect>
                                    <p:anim calcmode="lin" valueType="num">
                                      <p:cBhvr>
                                        <p:cTn id="47" dur="450" fill="hold"/>
                                        <p:tgtEl>
                                          <p:spTgt spid="12"/>
                                        </p:tgtEl>
                                        <p:attrNameLst>
                                          <p:attrName>ppt_x</p:attrName>
                                        </p:attrNameLst>
                                      </p:cBhvr>
                                      <p:tavLst>
                                        <p:tav tm="0">
                                          <p:val>
                                            <p:strVal val="#ppt_x"/>
                                          </p:val>
                                        </p:tav>
                                        <p:tav tm="100000">
                                          <p:val>
                                            <p:strVal val="#ppt_x"/>
                                          </p:val>
                                        </p:tav>
                                      </p:tavLst>
                                    </p:anim>
                                    <p:anim calcmode="lin" valueType="num">
                                      <p:cBhvr>
                                        <p:cTn id="48" dur="450" fill="hold"/>
                                        <p:tgtEl>
                                          <p:spTgt spid="12"/>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50"/>
                                        <p:tgtEl>
                                          <p:spTgt spid="13"/>
                                        </p:tgtEl>
                                      </p:cBhvr>
                                    </p:animEffect>
                                    <p:anim calcmode="lin" valueType="num">
                                      <p:cBhvr>
                                        <p:cTn id="52" dur="450" fill="hold"/>
                                        <p:tgtEl>
                                          <p:spTgt spid="13"/>
                                        </p:tgtEl>
                                        <p:attrNameLst>
                                          <p:attrName>ppt_x</p:attrName>
                                        </p:attrNameLst>
                                      </p:cBhvr>
                                      <p:tavLst>
                                        <p:tav tm="0">
                                          <p:val>
                                            <p:strVal val="#ppt_x"/>
                                          </p:val>
                                        </p:tav>
                                        <p:tav tm="100000">
                                          <p:val>
                                            <p:strVal val="#ppt_x"/>
                                          </p:val>
                                        </p:tav>
                                      </p:tavLst>
                                    </p:anim>
                                    <p:anim calcmode="lin" valueType="num">
                                      <p:cBhvr>
                                        <p:cTn id="53" dur="450" fill="hold"/>
                                        <p:tgtEl>
                                          <p:spTgt spid="13"/>
                                        </p:tgtEl>
                                        <p:attrNameLst>
                                          <p:attrName>ppt_y</p:attrName>
                                        </p:attrNameLst>
                                      </p:cBhvr>
                                      <p:tavLst>
                                        <p:tav tm="0">
                                          <p:val>
                                            <p:strVal val="#ppt_y+0.03"/>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450"/>
                                        <p:tgtEl>
                                          <p:spTgt spid="14"/>
                                        </p:tgtEl>
                                      </p:cBhvr>
                                    </p:animEffect>
                                    <p:anim calcmode="lin" valueType="num">
                                      <p:cBhvr>
                                        <p:cTn id="57" dur="450" fill="hold"/>
                                        <p:tgtEl>
                                          <p:spTgt spid="14"/>
                                        </p:tgtEl>
                                        <p:attrNameLst>
                                          <p:attrName>ppt_x</p:attrName>
                                        </p:attrNameLst>
                                      </p:cBhvr>
                                      <p:tavLst>
                                        <p:tav tm="0">
                                          <p:val>
                                            <p:strVal val="#ppt_x"/>
                                          </p:val>
                                        </p:tav>
                                        <p:tav tm="100000">
                                          <p:val>
                                            <p:strVal val="#ppt_x"/>
                                          </p:val>
                                        </p:tav>
                                      </p:tavLst>
                                    </p:anim>
                                    <p:anim calcmode="lin" valueType="num">
                                      <p:cBhvr>
                                        <p:cTn id="58" dur="450" fill="hold"/>
                                        <p:tgtEl>
                                          <p:spTgt spid="14"/>
                                        </p:tgtEl>
                                        <p:attrNameLst>
                                          <p:attrName>ppt_y</p:attrName>
                                        </p:attrNameLst>
                                      </p:cBhvr>
                                      <p:tavLst>
                                        <p:tav tm="0">
                                          <p:val>
                                            <p:strVal val="#ppt_y+0.03"/>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50"/>
                                        <p:tgtEl>
                                          <p:spTgt spid="15"/>
                                        </p:tgtEl>
                                      </p:cBhvr>
                                    </p:animEffect>
                                    <p:anim calcmode="lin" valueType="num">
                                      <p:cBhvr>
                                        <p:cTn id="62" dur="450" fill="hold"/>
                                        <p:tgtEl>
                                          <p:spTgt spid="15"/>
                                        </p:tgtEl>
                                        <p:attrNameLst>
                                          <p:attrName>ppt_x</p:attrName>
                                        </p:attrNameLst>
                                      </p:cBhvr>
                                      <p:tavLst>
                                        <p:tav tm="0">
                                          <p:val>
                                            <p:strVal val="#ppt_x"/>
                                          </p:val>
                                        </p:tav>
                                        <p:tav tm="100000">
                                          <p:val>
                                            <p:strVal val="#ppt_x"/>
                                          </p:val>
                                        </p:tav>
                                      </p:tavLst>
                                    </p:anim>
                                    <p:anim calcmode="lin" valueType="num">
                                      <p:cBhvr>
                                        <p:cTn id="63" dur="450" fill="hold"/>
                                        <p:tgtEl>
                                          <p:spTgt spid="15"/>
                                        </p:tgtEl>
                                        <p:attrNameLst>
                                          <p:attrName>ppt_y</p:attrName>
                                        </p:attrNameLst>
                                      </p:cBhvr>
                                      <p:tavLst>
                                        <p:tav tm="0">
                                          <p:val>
                                            <p:strVal val="#ppt_y+0.03"/>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450"/>
                                        <p:tgtEl>
                                          <p:spTgt spid="16"/>
                                        </p:tgtEl>
                                      </p:cBhvr>
                                    </p:animEffect>
                                    <p:anim calcmode="lin" valueType="num">
                                      <p:cBhvr>
                                        <p:cTn id="67" dur="450" fill="hold"/>
                                        <p:tgtEl>
                                          <p:spTgt spid="16"/>
                                        </p:tgtEl>
                                        <p:attrNameLst>
                                          <p:attrName>ppt_x</p:attrName>
                                        </p:attrNameLst>
                                      </p:cBhvr>
                                      <p:tavLst>
                                        <p:tav tm="0">
                                          <p:val>
                                            <p:strVal val="#ppt_x"/>
                                          </p:val>
                                        </p:tav>
                                        <p:tav tm="100000">
                                          <p:val>
                                            <p:strVal val="#ppt_x"/>
                                          </p:val>
                                        </p:tav>
                                      </p:tavLst>
                                    </p:anim>
                                    <p:anim calcmode="lin" valueType="num">
                                      <p:cBhvr>
                                        <p:cTn id="68" dur="45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450"/>
                                        <p:tgtEl>
                                          <p:spTgt spid="17"/>
                                        </p:tgtEl>
                                      </p:cBhvr>
                                    </p:animEffect>
                                    <p:anim calcmode="lin" valueType="num">
                                      <p:cBhvr>
                                        <p:cTn id="72" dur="450" fill="hold"/>
                                        <p:tgtEl>
                                          <p:spTgt spid="17"/>
                                        </p:tgtEl>
                                        <p:attrNameLst>
                                          <p:attrName>ppt_x</p:attrName>
                                        </p:attrNameLst>
                                      </p:cBhvr>
                                      <p:tavLst>
                                        <p:tav tm="0">
                                          <p:val>
                                            <p:strVal val="#ppt_x"/>
                                          </p:val>
                                        </p:tav>
                                        <p:tav tm="100000">
                                          <p:val>
                                            <p:strVal val="#ppt_x"/>
                                          </p:val>
                                        </p:tav>
                                      </p:tavLst>
                                    </p:anim>
                                    <p:anim calcmode="lin" valueType="num">
                                      <p:cBhvr>
                                        <p:cTn id="73" dur="450" fill="hold"/>
                                        <p:tgtEl>
                                          <p:spTgt spid="17"/>
                                        </p:tgtEl>
                                        <p:attrNameLst>
                                          <p:attrName>ppt_y</p:attrName>
                                        </p:attrNameLst>
                                      </p:cBhvr>
                                      <p:tavLst>
                                        <p:tav tm="0">
                                          <p:val>
                                            <p:strVal val="#ppt_y+0.03"/>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450"/>
                                        <p:tgtEl>
                                          <p:spTgt spid="18"/>
                                        </p:tgtEl>
                                      </p:cBhvr>
                                    </p:animEffect>
                                    <p:anim calcmode="lin" valueType="num">
                                      <p:cBhvr>
                                        <p:cTn id="79" dur="450" fill="hold"/>
                                        <p:tgtEl>
                                          <p:spTgt spid="18"/>
                                        </p:tgtEl>
                                        <p:attrNameLst>
                                          <p:attrName>ppt_x</p:attrName>
                                        </p:attrNameLst>
                                      </p:cBhvr>
                                      <p:tavLst>
                                        <p:tav tm="0">
                                          <p:val>
                                            <p:strVal val="#ppt_x"/>
                                          </p:val>
                                        </p:tav>
                                        <p:tav tm="100000">
                                          <p:val>
                                            <p:strVal val="#ppt_x"/>
                                          </p:val>
                                        </p:tav>
                                      </p:tavLst>
                                    </p:anim>
                                    <p:anim calcmode="lin" valueType="num">
                                      <p:cBhvr>
                                        <p:cTn id="80" dur="450" fill="hold"/>
                                        <p:tgtEl>
                                          <p:spTgt spid="18"/>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450"/>
                                        <p:tgtEl>
                                          <p:spTgt spid="19"/>
                                        </p:tgtEl>
                                      </p:cBhvr>
                                    </p:animEffect>
                                    <p:anim calcmode="lin" valueType="num">
                                      <p:cBhvr>
                                        <p:cTn id="84" dur="450" fill="hold"/>
                                        <p:tgtEl>
                                          <p:spTgt spid="19"/>
                                        </p:tgtEl>
                                        <p:attrNameLst>
                                          <p:attrName>ppt_x</p:attrName>
                                        </p:attrNameLst>
                                      </p:cBhvr>
                                      <p:tavLst>
                                        <p:tav tm="0">
                                          <p:val>
                                            <p:strVal val="#ppt_x"/>
                                          </p:val>
                                        </p:tav>
                                        <p:tav tm="100000">
                                          <p:val>
                                            <p:strVal val="#ppt_x"/>
                                          </p:val>
                                        </p:tav>
                                      </p:tavLst>
                                    </p:anim>
                                    <p:anim calcmode="lin" valueType="num">
                                      <p:cBhvr>
                                        <p:cTn id="85" dur="450" fill="hold"/>
                                        <p:tgtEl>
                                          <p:spTgt spid="19"/>
                                        </p:tgtEl>
                                        <p:attrNameLst>
                                          <p:attrName>ppt_y</p:attrName>
                                        </p:attrNameLst>
                                      </p:cBhvr>
                                      <p:tavLst>
                                        <p:tav tm="0">
                                          <p:val>
                                            <p:strVal val="#ppt_y+0.03"/>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450"/>
                                        <p:tgtEl>
                                          <p:spTgt spid="20"/>
                                        </p:tgtEl>
                                      </p:cBhvr>
                                    </p:animEffect>
                                    <p:anim calcmode="lin" valueType="num">
                                      <p:cBhvr>
                                        <p:cTn id="89" dur="450" fill="hold"/>
                                        <p:tgtEl>
                                          <p:spTgt spid="20"/>
                                        </p:tgtEl>
                                        <p:attrNameLst>
                                          <p:attrName>ppt_x</p:attrName>
                                        </p:attrNameLst>
                                      </p:cBhvr>
                                      <p:tavLst>
                                        <p:tav tm="0">
                                          <p:val>
                                            <p:strVal val="#ppt_x"/>
                                          </p:val>
                                        </p:tav>
                                        <p:tav tm="100000">
                                          <p:val>
                                            <p:strVal val="#ppt_x"/>
                                          </p:val>
                                        </p:tav>
                                      </p:tavLst>
                                    </p:anim>
                                    <p:anim calcmode="lin" valueType="num">
                                      <p:cBhvr>
                                        <p:cTn id="90" dur="450" fill="hold"/>
                                        <p:tgtEl>
                                          <p:spTgt spid="20"/>
                                        </p:tgtEl>
                                        <p:attrNameLst>
                                          <p:attrName>ppt_y</p:attrName>
                                        </p:attrNameLst>
                                      </p:cBhvr>
                                      <p:tavLst>
                                        <p:tav tm="0">
                                          <p:val>
                                            <p:strVal val="#ppt_y+0.03"/>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450"/>
                                        <p:tgtEl>
                                          <p:spTgt spid="21"/>
                                        </p:tgtEl>
                                      </p:cBhvr>
                                    </p:animEffect>
                                    <p:anim calcmode="lin" valueType="num">
                                      <p:cBhvr>
                                        <p:cTn id="94" dur="450" fill="hold"/>
                                        <p:tgtEl>
                                          <p:spTgt spid="21"/>
                                        </p:tgtEl>
                                        <p:attrNameLst>
                                          <p:attrName>ppt_x</p:attrName>
                                        </p:attrNameLst>
                                      </p:cBhvr>
                                      <p:tavLst>
                                        <p:tav tm="0">
                                          <p:val>
                                            <p:strVal val="#ppt_x"/>
                                          </p:val>
                                        </p:tav>
                                        <p:tav tm="100000">
                                          <p:val>
                                            <p:strVal val="#ppt_x"/>
                                          </p:val>
                                        </p:tav>
                                      </p:tavLst>
                                    </p:anim>
                                    <p:anim calcmode="lin" valueType="num">
                                      <p:cBhvr>
                                        <p:cTn id="95" dur="450" fill="hold"/>
                                        <p:tgtEl>
                                          <p:spTgt spid="21"/>
                                        </p:tgtEl>
                                        <p:attrNameLst>
                                          <p:attrName>ppt_y</p:attrName>
                                        </p:attrNameLst>
                                      </p:cBhvr>
                                      <p:tavLst>
                                        <p:tav tm="0">
                                          <p:val>
                                            <p:strVal val="#ppt_y+0.03"/>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450"/>
                                        <p:tgtEl>
                                          <p:spTgt spid="22"/>
                                        </p:tgtEl>
                                      </p:cBhvr>
                                    </p:animEffect>
                                    <p:anim calcmode="lin" valueType="num">
                                      <p:cBhvr>
                                        <p:cTn id="99" dur="450" fill="hold"/>
                                        <p:tgtEl>
                                          <p:spTgt spid="22"/>
                                        </p:tgtEl>
                                        <p:attrNameLst>
                                          <p:attrName>ppt_x</p:attrName>
                                        </p:attrNameLst>
                                      </p:cBhvr>
                                      <p:tavLst>
                                        <p:tav tm="0">
                                          <p:val>
                                            <p:strVal val="#ppt_x"/>
                                          </p:val>
                                        </p:tav>
                                        <p:tav tm="100000">
                                          <p:val>
                                            <p:strVal val="#ppt_x"/>
                                          </p:val>
                                        </p:tav>
                                      </p:tavLst>
                                    </p:anim>
                                    <p:anim calcmode="lin" valueType="num">
                                      <p:cBhvr>
                                        <p:cTn id="100" dur="450" fill="hold"/>
                                        <p:tgtEl>
                                          <p:spTgt spid="22"/>
                                        </p:tgtEl>
                                        <p:attrNameLst>
                                          <p:attrName>ppt_y</p:attrName>
                                        </p:attrNameLst>
                                      </p:cBhvr>
                                      <p:tavLst>
                                        <p:tav tm="0">
                                          <p:val>
                                            <p:strVal val="#ppt_y+0.03"/>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450"/>
                                        <p:tgtEl>
                                          <p:spTgt spid="23"/>
                                        </p:tgtEl>
                                      </p:cBhvr>
                                    </p:animEffect>
                                    <p:anim calcmode="lin" valueType="num">
                                      <p:cBhvr>
                                        <p:cTn id="104" dur="450" fill="hold"/>
                                        <p:tgtEl>
                                          <p:spTgt spid="23"/>
                                        </p:tgtEl>
                                        <p:attrNameLst>
                                          <p:attrName>ppt_x</p:attrName>
                                        </p:attrNameLst>
                                      </p:cBhvr>
                                      <p:tavLst>
                                        <p:tav tm="0">
                                          <p:val>
                                            <p:strVal val="#ppt_x"/>
                                          </p:val>
                                        </p:tav>
                                        <p:tav tm="100000">
                                          <p:val>
                                            <p:strVal val="#ppt_x"/>
                                          </p:val>
                                        </p:tav>
                                      </p:tavLst>
                                    </p:anim>
                                    <p:anim calcmode="lin" valueType="num">
                                      <p:cBhvr>
                                        <p:cTn id="105" dur="450" fill="hold"/>
                                        <p:tgtEl>
                                          <p:spTgt spid="23"/>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03 · RESPONSE · ERROR</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응답과 에러 형식을 하나로</a:t>
            </a:r>
            <a:endParaRPr lang="en-US" sz="3200" dirty="0"/>
          </a:p>
        </p:txBody>
      </p:sp>
      <p:sp>
        <p:nvSpPr>
          <p:cNvPr id="4" name="b0c0-0"/>
          <p:cNvSpPr/>
          <p:nvPr/>
        </p:nvSpPr>
        <p:spPr>
          <a:xfrm>
            <a:off x="649224" y="2238121"/>
            <a:ext cx="5330952" cy="2287270"/>
          </a:xfrm>
          <a:prstGeom prst="roundRect">
            <a:avLst>
              <a:gd name="adj" fmla="val 4797"/>
            </a:avLst>
          </a:prstGeom>
          <a:solidFill>
            <a:schemeClr val="tx2"/>
          </a:solidFill>
          <a:ln/>
        </p:spPr>
      </p:sp>
      <p:sp>
        <p:nvSpPr>
          <p:cNvPr id="5" name="b0c0-1"/>
          <p:cNvSpPr/>
          <p:nvPr/>
        </p:nvSpPr>
        <p:spPr>
          <a:xfrm>
            <a:off x="850392" y="2384425"/>
            <a:ext cx="100584" cy="100584"/>
          </a:xfrm>
          <a:prstGeom prst="ellipse">
            <a:avLst/>
          </a:prstGeom>
          <a:solidFill>
            <a:srgbClr val="4A4844"/>
          </a:solidFill>
          <a:ln/>
        </p:spPr>
      </p:sp>
      <p:sp>
        <p:nvSpPr>
          <p:cNvPr id="6" name="b0c0-2"/>
          <p:cNvSpPr/>
          <p:nvPr/>
        </p:nvSpPr>
        <p:spPr>
          <a:xfrm>
            <a:off x="1024128" y="2384425"/>
            <a:ext cx="100584" cy="100584"/>
          </a:xfrm>
          <a:prstGeom prst="ellipse">
            <a:avLst/>
          </a:prstGeom>
          <a:solidFill>
            <a:srgbClr val="4A4844"/>
          </a:solidFill>
          <a:ln/>
        </p:spPr>
      </p:sp>
      <p:sp>
        <p:nvSpPr>
          <p:cNvPr id="7" name="b0c0-3"/>
          <p:cNvSpPr/>
          <p:nvPr/>
        </p:nvSpPr>
        <p:spPr>
          <a:xfrm>
            <a:off x="1197864" y="2384425"/>
            <a:ext cx="100584" cy="100584"/>
          </a:xfrm>
          <a:prstGeom prst="ellipse">
            <a:avLst/>
          </a:prstGeom>
          <a:solidFill>
            <a:srgbClr val="4A4844"/>
          </a:solidFill>
          <a:ln/>
        </p:spPr>
      </p:sp>
      <p:sp>
        <p:nvSpPr>
          <p:cNvPr id="8" name="b0c0-4"/>
          <p:cNvSpPr txBox="1"/>
          <p:nvPr/>
        </p:nvSpPr>
        <p:spPr>
          <a:xfrm>
            <a:off x="1472184" y="2329561"/>
            <a:ext cx="4325112"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통일 전: API마다 에러 모양이 다르다</a:t>
            </a:r>
            <a:endParaRPr lang="en-US" sz="1100" dirty="0"/>
          </a:p>
        </p:txBody>
      </p:sp>
      <p:sp>
        <p:nvSpPr>
          <p:cNvPr id="9" name="b0c0-5"/>
          <p:cNvSpPr txBox="1"/>
          <p:nvPr/>
        </p:nvSpPr>
        <p:spPr>
          <a:xfrm>
            <a:off x="905256" y="2677033"/>
            <a:ext cx="4873752" cy="1738630"/>
          </a:xfrm>
          <a:prstGeom prst="rect">
            <a:avLst/>
          </a:prstGeom>
          <a:noFill/>
          <a:ln/>
        </p:spPr>
        <p:txBody>
          <a:bodyPr wrap="square" lIns="0" tIns="0" rIns="0" bIns="0" rtlCol="0" anchor="t"/>
          <a:lstStyle/>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글 API    404  { "error": "not found"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댓글 API  400  { "result": false, "msg": "실패" }</a:t>
            </a:r>
            <a:endParaRPr lang="en-US" sz="1300" dirty="0"/>
          </a:p>
          <a:p>
            <a:pPr algn="l" indent="0" marL="0">
              <a:lnSpc>
                <a:spcPct val="105000"/>
              </a:lnSpc>
              <a:buNone/>
            </a:pPr>
            <a:r>
              <a:rPr lang="en-US" sz="1300" dirty="0">
                <a:solidFill>
                  <a:srgbClr val="E5806F"/>
                </a:solidFill>
                <a:latin typeface="JetBrains Mono" pitchFamily="34" charset="0"/>
                <a:ea typeface="JetBrains Mono" pitchFamily="34" charset="-122"/>
                <a:cs typeface="JetBrains Mono" pitchFamily="34" charset="-120"/>
              </a:rPr>
              <a:t>회원 API  200  "FAIL"          ← 실패인데 200</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t>
            </a:r>
            <a:endParaRPr lang="en-US" sz="1300" dirty="0"/>
          </a:p>
          <a:p>
            <a:pPr algn="l" indent="0" marL="0">
              <a:lnSpc>
                <a:spcPct val="105000"/>
              </a:lnSpc>
              <a:buNone/>
            </a:pPr>
            <a:r>
              <a:rPr lang="en-US" sz="1300" dirty="0">
                <a:solidFill>
                  <a:srgbClr val="A09D96"/>
                </a:solidFill>
                <a:latin typeface="JetBrains Mono" pitchFamily="34" charset="0"/>
                <a:ea typeface="JetBrains Mono" pitchFamily="34" charset="-122"/>
                <a:cs typeface="JetBrains Mono" pitchFamily="34" charset="-120"/>
              </a:rPr>
              <a:t>→ 화면 개발자가 에러 모양 3가지를 따로 처리</a:t>
            </a:r>
            <a:endParaRPr lang="en-US" sz="1300" dirty="0"/>
          </a:p>
        </p:txBody>
      </p:sp>
      <p:sp>
        <p:nvSpPr>
          <p:cNvPr id="10" name="b0c1-6"/>
          <p:cNvSpPr/>
          <p:nvPr/>
        </p:nvSpPr>
        <p:spPr>
          <a:xfrm>
            <a:off x="6208776" y="2238121"/>
            <a:ext cx="5330952" cy="2287270"/>
          </a:xfrm>
          <a:prstGeom prst="roundRect">
            <a:avLst>
              <a:gd name="adj" fmla="val 4797"/>
            </a:avLst>
          </a:prstGeom>
          <a:solidFill>
            <a:schemeClr val="tx2"/>
          </a:solidFill>
          <a:ln/>
        </p:spPr>
      </p:sp>
      <p:sp>
        <p:nvSpPr>
          <p:cNvPr id="11" name="b0c1-7"/>
          <p:cNvSpPr/>
          <p:nvPr/>
        </p:nvSpPr>
        <p:spPr>
          <a:xfrm>
            <a:off x="6409944" y="2384425"/>
            <a:ext cx="100584" cy="100584"/>
          </a:xfrm>
          <a:prstGeom prst="ellipse">
            <a:avLst/>
          </a:prstGeom>
          <a:solidFill>
            <a:srgbClr val="4A4844"/>
          </a:solidFill>
          <a:ln/>
        </p:spPr>
      </p:sp>
      <p:sp>
        <p:nvSpPr>
          <p:cNvPr id="12" name="b0c1-8"/>
          <p:cNvSpPr/>
          <p:nvPr/>
        </p:nvSpPr>
        <p:spPr>
          <a:xfrm>
            <a:off x="6583680" y="2384425"/>
            <a:ext cx="100584" cy="100584"/>
          </a:xfrm>
          <a:prstGeom prst="ellipse">
            <a:avLst/>
          </a:prstGeom>
          <a:solidFill>
            <a:srgbClr val="4A4844"/>
          </a:solidFill>
          <a:ln/>
        </p:spPr>
      </p:sp>
      <p:sp>
        <p:nvSpPr>
          <p:cNvPr id="13" name="b0c1-9"/>
          <p:cNvSpPr/>
          <p:nvPr/>
        </p:nvSpPr>
        <p:spPr>
          <a:xfrm>
            <a:off x="6757416" y="2384425"/>
            <a:ext cx="100584" cy="100584"/>
          </a:xfrm>
          <a:prstGeom prst="ellipse">
            <a:avLst/>
          </a:prstGeom>
          <a:solidFill>
            <a:srgbClr val="4A4844"/>
          </a:solidFill>
          <a:ln/>
        </p:spPr>
      </p:sp>
      <p:sp>
        <p:nvSpPr>
          <p:cNvPr id="14" name="b0c1-10"/>
          <p:cNvSpPr txBox="1"/>
          <p:nvPr/>
        </p:nvSpPr>
        <p:spPr>
          <a:xfrm>
            <a:off x="7031736" y="2329561"/>
            <a:ext cx="4325112"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통일 후: 글결 실제 404 응답 (REST Docs)</a:t>
            </a:r>
            <a:endParaRPr lang="en-US" sz="1100" dirty="0"/>
          </a:p>
        </p:txBody>
      </p:sp>
      <p:sp>
        <p:nvSpPr>
          <p:cNvPr id="15" name="b0c1-11"/>
          <p:cNvSpPr txBox="1"/>
          <p:nvPr/>
        </p:nvSpPr>
        <p:spPr>
          <a:xfrm>
            <a:off x="6464808" y="2677033"/>
            <a:ext cx="4873752" cy="1738630"/>
          </a:xfrm>
          <a:prstGeom prst="rect">
            <a:avLst/>
          </a:prstGeom>
          <a:noFill/>
          <a:ln/>
        </p:spPr>
        <p:txBody>
          <a:bodyPr wrap="square" lIns="0" tIns="0" rIns="0" bIns="0" rtlCol="0" anchor="t"/>
          <a:lstStyle/>
          <a:p>
            <a:pPr algn="l" indent="0" marL="0">
              <a:lnSpc>
                <a:spcPct val="105000"/>
              </a:lnSpc>
              <a:buNone/>
            </a:pPr>
            <a:r>
              <a:rPr lang="en-US" sz="1400" dirty="0">
                <a:solidFill>
                  <a:srgbClr val="E5806F"/>
                </a:solidFill>
                <a:latin typeface="JetBrains Mono" pitchFamily="34" charset="0"/>
                <a:ea typeface="JetBrains Mono" pitchFamily="34" charset="-122"/>
                <a:cs typeface="JetBrains Mono" pitchFamily="34" charset="-120"/>
              </a:rPr>
              <a:t>HTTP/1.1 404 Not Found</a:t>
            </a:r>
            <a:endParaRPr lang="en-US" sz="1400" dirty="0"/>
          </a:p>
          <a:p>
            <a:pPr algn="l" indent="0" marL="0">
              <a:lnSpc>
                <a:spcPct val="105000"/>
              </a:lnSpc>
              <a:buNone/>
            </a:pPr>
            <a:r>
              <a:rPr lang="en-US" sz="1400" dirty="0">
                <a:solidFill>
                  <a:srgbClr val="A09D96"/>
                </a:solidFill>
                <a:latin typeface="JetBrains Mono" pitchFamily="34" charset="0"/>
                <a:ea typeface="JetBrains Mono" pitchFamily="34" charset="-122"/>
                <a:cs typeface="JetBrains Mono" pitchFamily="34" charset="-120"/>
              </a:rPr>
              <a:t>Content-Type: application/json</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"code" : "POST_NOT_FOUND",</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"message" : "존재하지 않는 글입니다"</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a:t>
            </a:r>
            <a:endParaRPr lang="en-US" sz="1400" dirty="0"/>
          </a:p>
        </p:txBody>
      </p:sp>
      <p:sp>
        <p:nvSpPr>
          <p:cNvPr id="16" name="b1-0"/>
          <p:cNvSpPr txBox="1"/>
          <p:nvPr/>
        </p:nvSpPr>
        <p:spPr>
          <a:xfrm>
            <a:off x="649224" y="4753991"/>
            <a:ext cx="10890504" cy="716280"/>
          </a:xfrm>
          <a:prstGeom prst="rect">
            <a:avLst/>
          </a:prstGeom>
          <a:noFill/>
          <a:ln/>
        </p:spPr>
        <p:txBody>
          <a:bodyPr wrap="square" lIns="0" tIns="0" rIns="0" bIns="0" rtlCol="0" anchor="t"/>
          <a:lstStyle/>
          <a:p>
            <a:pPr algn="l" indent="0" marL="0">
              <a:lnSpc>
                <a:spcPct val="115000"/>
              </a:lnSpc>
              <a:spcAft>
                <a:spcPts val="600"/>
              </a:spcAft>
              <a:buNone/>
            </a:pPr>
            <a:r>
              <a:rPr lang="en-US" sz="1800" b="1" dirty="0">
                <a:solidFill>
                  <a:srgbClr val="3D3D3A"/>
                </a:solidFill>
                <a:latin typeface="Pretendard" pitchFamily="34" charset="0"/>
                <a:ea typeface="Pretendard" pitchFamily="34" charset="-122"/>
                <a:cs typeface="Pretendard" pitchFamily="34" charset="-120"/>
              </a:rPr>
              <a:t>팀이 정한 모양  </a:t>
            </a:r>
            <a:pPr algn="l" indent="0" marL="0">
              <a:lnSpc>
                <a:spcPct val="115000"/>
              </a:lnSpc>
              <a:spcAft>
                <a:spcPts val="600"/>
              </a:spcAft>
              <a:buNone/>
            </a:pPr>
            <a:r>
              <a:rPr lang="en-US" sz="1800" dirty="0">
                <a:solidFill>
                  <a:srgbClr val="3D3D3A"/>
                </a:solidFill>
              </a:rPr>
              <a:t>글결은 code · message 두 칸 (입력값 오류면 fieldErrors 추가)</a:t>
            </a:r>
            <a:endParaRPr lang="en-US" sz="1800" dirty="0"/>
          </a:p>
          <a:p>
            <a:pPr algn="l" indent="0" marL="0">
              <a:lnSpc>
                <a:spcPct val="115000"/>
              </a:lnSpc>
              <a:spcAft>
                <a:spcPts val="600"/>
              </a:spcAft>
              <a:buNone/>
            </a:pPr>
            <a:r>
              <a:rPr lang="en-US" sz="1800" b="1" dirty="0">
                <a:solidFill>
                  <a:srgbClr val="3D3D3A"/>
                </a:solidFill>
                <a:latin typeface="Pretendard" pitchFamily="34" charset="0"/>
                <a:ea typeface="Pretendard" pitchFamily="34" charset="-122"/>
                <a:cs typeface="Pretendard" pitchFamily="34" charset="-120"/>
              </a:rPr>
              <a:t>화면은  </a:t>
            </a:r>
            <a:pPr algn="l" indent="0" marL="0">
              <a:lnSpc>
                <a:spcPct val="115000"/>
              </a:lnSpc>
              <a:spcAft>
                <a:spcPts val="600"/>
              </a:spcAft>
              <a:buNone/>
            </a:pPr>
            <a:r>
              <a:rPr lang="en-US" sz="1800" dirty="0">
                <a:solidFill>
                  <a:srgbClr val="3D3D3A"/>
                </a:solidFill>
              </a:rPr>
              <a:t>code 하나만 보고 분기하고, message는 보여 주기만 한다</a:t>
            </a:r>
            <a:endParaRPr lang="en-US" sz="1800" dirty="0"/>
          </a:p>
        </p:txBody>
      </p:sp>
      <p:sp>
        <p:nvSpPr>
          <p:cNvPr id="17"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50"/>
                                        <p:tgtEl>
                                          <p:spTgt spid="16"/>
                                        </p:tgtEl>
                                      </p:cBhvr>
                                    </p:animEffect>
                                    <p:anim calcmode="lin" valueType="num">
                                      <p:cBhvr>
                                        <p:cTn id="8" dur="450" fill="hold"/>
                                        <p:tgtEl>
                                          <p:spTgt spid="16"/>
                                        </p:tgtEl>
                                        <p:attrNameLst>
                                          <p:attrName>ppt_x</p:attrName>
                                        </p:attrNameLst>
                                      </p:cBhvr>
                                      <p:tavLst>
                                        <p:tav tm="0">
                                          <p:val>
                                            <p:strVal val="#ppt_x"/>
                                          </p:val>
                                        </p:tav>
                                        <p:tav tm="100000">
                                          <p:val>
                                            <p:strVal val="#ppt_x"/>
                                          </p:val>
                                        </p:tav>
                                      </p:tavLst>
                                    </p:anim>
                                    <p:anim calcmode="lin" valueType="num">
                                      <p:cBhvr>
                                        <p:cTn id="9" dur="450" fill="hold"/>
                                        <p:tgtEl>
                                          <p:spTgt spid="16"/>
                                        </p:tgtEl>
                                        <p:attrNameLst>
                                          <p:attrName>ppt_y</p:attrName>
                                        </p:attrNameLst>
                                      </p:cBhvr>
                                      <p:tavLst>
                                        <p:tav tm="0">
                                          <p:val>
                                            <p:strVal val="#ppt_y+0.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50"/>
                                        <p:tgtEl>
                                          <p:spTgt spid="4"/>
                                        </p:tgtEl>
                                      </p:cBhvr>
                                    </p:animEffect>
                                    <p:anim calcmode="lin" valueType="num">
                                      <p:cBhvr>
                                        <p:cTn id="15" dur="450" fill="hold"/>
                                        <p:tgtEl>
                                          <p:spTgt spid="4"/>
                                        </p:tgtEl>
                                        <p:attrNameLst>
                                          <p:attrName>ppt_x</p:attrName>
                                        </p:attrNameLst>
                                      </p:cBhvr>
                                      <p:tavLst>
                                        <p:tav tm="0">
                                          <p:val>
                                            <p:strVal val="#ppt_x"/>
                                          </p:val>
                                        </p:tav>
                                        <p:tav tm="100000">
                                          <p:val>
                                            <p:strVal val="#ppt_x"/>
                                          </p:val>
                                        </p:tav>
                                      </p:tavLst>
                                    </p:anim>
                                    <p:anim calcmode="lin" valueType="num">
                                      <p:cBhvr>
                                        <p:cTn id="16" dur="450" fill="hold"/>
                                        <p:tgtEl>
                                          <p:spTgt spid="4"/>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50"/>
                                        <p:tgtEl>
                                          <p:spTgt spid="5"/>
                                        </p:tgtEl>
                                      </p:cBhvr>
                                    </p:animEffect>
                                    <p:anim calcmode="lin" valueType="num">
                                      <p:cBhvr>
                                        <p:cTn id="20" dur="450" fill="hold"/>
                                        <p:tgtEl>
                                          <p:spTgt spid="5"/>
                                        </p:tgtEl>
                                        <p:attrNameLst>
                                          <p:attrName>ppt_x</p:attrName>
                                        </p:attrNameLst>
                                      </p:cBhvr>
                                      <p:tavLst>
                                        <p:tav tm="0">
                                          <p:val>
                                            <p:strVal val="#ppt_x"/>
                                          </p:val>
                                        </p:tav>
                                        <p:tav tm="100000">
                                          <p:val>
                                            <p:strVal val="#ppt_x"/>
                                          </p:val>
                                        </p:tav>
                                      </p:tavLst>
                                    </p:anim>
                                    <p:anim calcmode="lin" valueType="num">
                                      <p:cBhvr>
                                        <p:cTn id="21" dur="450" fill="hold"/>
                                        <p:tgtEl>
                                          <p:spTgt spid="5"/>
                                        </p:tgtEl>
                                        <p:attrNameLst>
                                          <p:attrName>ppt_y</p:attrName>
                                        </p:attrNameLst>
                                      </p:cBhvr>
                                      <p:tavLst>
                                        <p:tav tm="0">
                                          <p:val>
                                            <p:strVal val="#ppt_y+0.03"/>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50"/>
                                        <p:tgtEl>
                                          <p:spTgt spid="6"/>
                                        </p:tgtEl>
                                      </p:cBhvr>
                                    </p:animEffect>
                                    <p:anim calcmode="lin" valueType="num">
                                      <p:cBhvr>
                                        <p:cTn id="25" dur="450" fill="hold"/>
                                        <p:tgtEl>
                                          <p:spTgt spid="6"/>
                                        </p:tgtEl>
                                        <p:attrNameLst>
                                          <p:attrName>ppt_x</p:attrName>
                                        </p:attrNameLst>
                                      </p:cBhvr>
                                      <p:tavLst>
                                        <p:tav tm="0">
                                          <p:val>
                                            <p:strVal val="#ppt_x"/>
                                          </p:val>
                                        </p:tav>
                                        <p:tav tm="100000">
                                          <p:val>
                                            <p:strVal val="#ppt_x"/>
                                          </p:val>
                                        </p:tav>
                                      </p:tavLst>
                                    </p:anim>
                                    <p:anim calcmode="lin" valueType="num">
                                      <p:cBhvr>
                                        <p:cTn id="26" dur="450" fill="hold"/>
                                        <p:tgtEl>
                                          <p:spTgt spid="6"/>
                                        </p:tgtEl>
                                        <p:attrNameLst>
                                          <p:attrName>ppt_y</p:attrName>
                                        </p:attrNameLst>
                                      </p:cBhvr>
                                      <p:tavLst>
                                        <p:tav tm="0">
                                          <p:val>
                                            <p:strVal val="#ppt_y+0.03"/>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450"/>
                                        <p:tgtEl>
                                          <p:spTgt spid="7"/>
                                        </p:tgtEl>
                                      </p:cBhvr>
                                    </p:animEffect>
                                    <p:anim calcmode="lin" valueType="num">
                                      <p:cBhvr>
                                        <p:cTn id="30" dur="450" fill="hold"/>
                                        <p:tgtEl>
                                          <p:spTgt spid="7"/>
                                        </p:tgtEl>
                                        <p:attrNameLst>
                                          <p:attrName>ppt_x</p:attrName>
                                        </p:attrNameLst>
                                      </p:cBhvr>
                                      <p:tavLst>
                                        <p:tav tm="0">
                                          <p:val>
                                            <p:strVal val="#ppt_x"/>
                                          </p:val>
                                        </p:tav>
                                        <p:tav tm="100000">
                                          <p:val>
                                            <p:strVal val="#ppt_x"/>
                                          </p:val>
                                        </p:tav>
                                      </p:tavLst>
                                    </p:anim>
                                    <p:anim calcmode="lin" valueType="num">
                                      <p:cBhvr>
                                        <p:cTn id="31" dur="450" fill="hold"/>
                                        <p:tgtEl>
                                          <p:spTgt spid="7"/>
                                        </p:tgtEl>
                                        <p:attrNameLst>
                                          <p:attrName>ppt_y</p:attrName>
                                        </p:attrNameLst>
                                      </p:cBhvr>
                                      <p:tavLst>
                                        <p:tav tm="0">
                                          <p:val>
                                            <p:strVal val="#ppt_y+0.03"/>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50"/>
                                        <p:tgtEl>
                                          <p:spTgt spid="8"/>
                                        </p:tgtEl>
                                      </p:cBhvr>
                                    </p:animEffect>
                                    <p:anim calcmode="lin" valueType="num">
                                      <p:cBhvr>
                                        <p:cTn id="35" dur="450" fill="hold"/>
                                        <p:tgtEl>
                                          <p:spTgt spid="8"/>
                                        </p:tgtEl>
                                        <p:attrNameLst>
                                          <p:attrName>ppt_x</p:attrName>
                                        </p:attrNameLst>
                                      </p:cBhvr>
                                      <p:tavLst>
                                        <p:tav tm="0">
                                          <p:val>
                                            <p:strVal val="#ppt_x"/>
                                          </p:val>
                                        </p:tav>
                                        <p:tav tm="100000">
                                          <p:val>
                                            <p:strVal val="#ppt_x"/>
                                          </p:val>
                                        </p:tav>
                                      </p:tavLst>
                                    </p:anim>
                                    <p:anim calcmode="lin" valueType="num">
                                      <p:cBhvr>
                                        <p:cTn id="36" dur="45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450"/>
                                        <p:tgtEl>
                                          <p:spTgt spid="9"/>
                                        </p:tgtEl>
                                      </p:cBhvr>
                                    </p:animEffect>
                                    <p:anim calcmode="lin" valueType="num">
                                      <p:cBhvr>
                                        <p:cTn id="40" dur="450" fill="hold"/>
                                        <p:tgtEl>
                                          <p:spTgt spid="9"/>
                                        </p:tgtEl>
                                        <p:attrNameLst>
                                          <p:attrName>ppt_x</p:attrName>
                                        </p:attrNameLst>
                                      </p:cBhvr>
                                      <p:tavLst>
                                        <p:tav tm="0">
                                          <p:val>
                                            <p:strVal val="#ppt_x"/>
                                          </p:val>
                                        </p:tav>
                                        <p:tav tm="100000">
                                          <p:val>
                                            <p:strVal val="#ppt_x"/>
                                          </p:val>
                                        </p:tav>
                                      </p:tavLst>
                                    </p:anim>
                                    <p:anim calcmode="lin" valueType="num">
                                      <p:cBhvr>
                                        <p:cTn id="41" dur="450" fill="hold"/>
                                        <p:tgtEl>
                                          <p:spTgt spid="9"/>
                                        </p:tgtEl>
                                        <p:attrNameLst>
                                          <p:attrName>ppt_y</p:attrName>
                                        </p:attrNameLst>
                                      </p:cBhvr>
                                      <p:tavLst>
                                        <p:tav tm="0">
                                          <p:val>
                                            <p:strVal val="#ppt_y+0.03"/>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450"/>
                                        <p:tgtEl>
                                          <p:spTgt spid="10"/>
                                        </p:tgtEl>
                                      </p:cBhvr>
                                    </p:animEffect>
                                    <p:anim calcmode="lin" valueType="num">
                                      <p:cBhvr>
                                        <p:cTn id="47" dur="450" fill="hold"/>
                                        <p:tgtEl>
                                          <p:spTgt spid="10"/>
                                        </p:tgtEl>
                                        <p:attrNameLst>
                                          <p:attrName>ppt_x</p:attrName>
                                        </p:attrNameLst>
                                      </p:cBhvr>
                                      <p:tavLst>
                                        <p:tav tm="0">
                                          <p:val>
                                            <p:strVal val="#ppt_x"/>
                                          </p:val>
                                        </p:tav>
                                        <p:tav tm="100000">
                                          <p:val>
                                            <p:strVal val="#ppt_x"/>
                                          </p:val>
                                        </p:tav>
                                      </p:tavLst>
                                    </p:anim>
                                    <p:anim calcmode="lin" valueType="num">
                                      <p:cBhvr>
                                        <p:cTn id="48" dur="450" fill="hold"/>
                                        <p:tgtEl>
                                          <p:spTgt spid="10"/>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450"/>
                                        <p:tgtEl>
                                          <p:spTgt spid="11"/>
                                        </p:tgtEl>
                                      </p:cBhvr>
                                    </p:animEffect>
                                    <p:anim calcmode="lin" valueType="num">
                                      <p:cBhvr>
                                        <p:cTn id="52" dur="450" fill="hold"/>
                                        <p:tgtEl>
                                          <p:spTgt spid="11"/>
                                        </p:tgtEl>
                                        <p:attrNameLst>
                                          <p:attrName>ppt_x</p:attrName>
                                        </p:attrNameLst>
                                      </p:cBhvr>
                                      <p:tavLst>
                                        <p:tav tm="0">
                                          <p:val>
                                            <p:strVal val="#ppt_x"/>
                                          </p:val>
                                        </p:tav>
                                        <p:tav tm="100000">
                                          <p:val>
                                            <p:strVal val="#ppt_x"/>
                                          </p:val>
                                        </p:tav>
                                      </p:tavLst>
                                    </p:anim>
                                    <p:anim calcmode="lin" valueType="num">
                                      <p:cBhvr>
                                        <p:cTn id="53" dur="450" fill="hold"/>
                                        <p:tgtEl>
                                          <p:spTgt spid="11"/>
                                        </p:tgtEl>
                                        <p:attrNameLst>
                                          <p:attrName>ppt_y</p:attrName>
                                        </p:attrNameLst>
                                      </p:cBhvr>
                                      <p:tavLst>
                                        <p:tav tm="0">
                                          <p:val>
                                            <p:strVal val="#ppt_y+0.03"/>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450"/>
                                        <p:tgtEl>
                                          <p:spTgt spid="12"/>
                                        </p:tgtEl>
                                      </p:cBhvr>
                                    </p:animEffect>
                                    <p:anim calcmode="lin" valueType="num">
                                      <p:cBhvr>
                                        <p:cTn id="57" dur="450" fill="hold"/>
                                        <p:tgtEl>
                                          <p:spTgt spid="12"/>
                                        </p:tgtEl>
                                        <p:attrNameLst>
                                          <p:attrName>ppt_x</p:attrName>
                                        </p:attrNameLst>
                                      </p:cBhvr>
                                      <p:tavLst>
                                        <p:tav tm="0">
                                          <p:val>
                                            <p:strVal val="#ppt_x"/>
                                          </p:val>
                                        </p:tav>
                                        <p:tav tm="100000">
                                          <p:val>
                                            <p:strVal val="#ppt_x"/>
                                          </p:val>
                                        </p:tav>
                                      </p:tavLst>
                                    </p:anim>
                                    <p:anim calcmode="lin" valueType="num">
                                      <p:cBhvr>
                                        <p:cTn id="58" dur="450" fill="hold"/>
                                        <p:tgtEl>
                                          <p:spTgt spid="12"/>
                                        </p:tgtEl>
                                        <p:attrNameLst>
                                          <p:attrName>ppt_y</p:attrName>
                                        </p:attrNameLst>
                                      </p:cBhvr>
                                      <p:tavLst>
                                        <p:tav tm="0">
                                          <p:val>
                                            <p:strVal val="#ppt_y+0.03"/>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450"/>
                                        <p:tgtEl>
                                          <p:spTgt spid="13"/>
                                        </p:tgtEl>
                                      </p:cBhvr>
                                    </p:animEffect>
                                    <p:anim calcmode="lin" valueType="num">
                                      <p:cBhvr>
                                        <p:cTn id="62" dur="450" fill="hold"/>
                                        <p:tgtEl>
                                          <p:spTgt spid="13"/>
                                        </p:tgtEl>
                                        <p:attrNameLst>
                                          <p:attrName>ppt_x</p:attrName>
                                        </p:attrNameLst>
                                      </p:cBhvr>
                                      <p:tavLst>
                                        <p:tav tm="0">
                                          <p:val>
                                            <p:strVal val="#ppt_x"/>
                                          </p:val>
                                        </p:tav>
                                        <p:tav tm="100000">
                                          <p:val>
                                            <p:strVal val="#ppt_x"/>
                                          </p:val>
                                        </p:tav>
                                      </p:tavLst>
                                    </p:anim>
                                    <p:anim calcmode="lin" valueType="num">
                                      <p:cBhvr>
                                        <p:cTn id="63" dur="450" fill="hold"/>
                                        <p:tgtEl>
                                          <p:spTgt spid="13"/>
                                        </p:tgtEl>
                                        <p:attrNameLst>
                                          <p:attrName>ppt_y</p:attrName>
                                        </p:attrNameLst>
                                      </p:cBhvr>
                                      <p:tavLst>
                                        <p:tav tm="0">
                                          <p:val>
                                            <p:strVal val="#ppt_y+0.03"/>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450"/>
                                        <p:tgtEl>
                                          <p:spTgt spid="14"/>
                                        </p:tgtEl>
                                      </p:cBhvr>
                                    </p:animEffect>
                                    <p:anim calcmode="lin" valueType="num">
                                      <p:cBhvr>
                                        <p:cTn id="67" dur="450" fill="hold"/>
                                        <p:tgtEl>
                                          <p:spTgt spid="14"/>
                                        </p:tgtEl>
                                        <p:attrNameLst>
                                          <p:attrName>ppt_x</p:attrName>
                                        </p:attrNameLst>
                                      </p:cBhvr>
                                      <p:tavLst>
                                        <p:tav tm="0">
                                          <p:val>
                                            <p:strVal val="#ppt_x"/>
                                          </p:val>
                                        </p:tav>
                                        <p:tav tm="100000">
                                          <p:val>
                                            <p:strVal val="#ppt_x"/>
                                          </p:val>
                                        </p:tav>
                                      </p:tavLst>
                                    </p:anim>
                                    <p:anim calcmode="lin" valueType="num">
                                      <p:cBhvr>
                                        <p:cTn id="68" dur="450" fill="hold"/>
                                        <p:tgtEl>
                                          <p:spTgt spid="14"/>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450"/>
                                        <p:tgtEl>
                                          <p:spTgt spid="15"/>
                                        </p:tgtEl>
                                      </p:cBhvr>
                                    </p:animEffect>
                                    <p:anim calcmode="lin" valueType="num">
                                      <p:cBhvr>
                                        <p:cTn id="72" dur="450" fill="hold"/>
                                        <p:tgtEl>
                                          <p:spTgt spid="15"/>
                                        </p:tgtEl>
                                        <p:attrNameLst>
                                          <p:attrName>ppt_x</p:attrName>
                                        </p:attrNameLst>
                                      </p:cBhvr>
                                      <p:tavLst>
                                        <p:tav tm="0">
                                          <p:val>
                                            <p:strVal val="#ppt_x"/>
                                          </p:val>
                                        </p:tav>
                                        <p:tav tm="100000">
                                          <p:val>
                                            <p:strVal val="#ppt_x"/>
                                          </p:val>
                                        </p:tav>
                                      </p:tavLst>
                                    </p:anim>
                                    <p:anim calcmode="lin" valueType="num">
                                      <p:cBhvr>
                                        <p:cTn id="73" dur="450" fill="hold"/>
                                        <p:tgtEl>
                                          <p:spTgt spid="15"/>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03 · RESPONSE · ERROR</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글결 팀이 정한 에러 형식</a:t>
            </a:r>
            <a:endParaRPr lang="en-US" sz="3200" dirty="0"/>
          </a:p>
        </p:txBody>
      </p:sp>
      <p:sp>
        <p:nvSpPr>
          <p:cNvPr id="4" name="badge"/>
          <p:cNvSpPr/>
          <p:nvPr/>
        </p:nvSpPr>
        <p:spPr>
          <a:xfrm>
            <a:off x="9848088" y="384048"/>
            <a:ext cx="1691640" cy="310896"/>
          </a:xfrm>
          <a:prstGeom prst="roundRect">
            <a:avLst>
              <a:gd name="adj" fmla="val 50000"/>
            </a:avLst>
          </a:prstGeom>
          <a:solidFill>
            <a:srgbClr val="E8E0D2"/>
          </a:solidFill>
          <a:ln/>
        </p:spPr>
      </p:sp>
      <p:sp>
        <p:nvSpPr>
          <p:cNvPr id="5" name="badge-text"/>
          <p:cNvSpPr txBox="1"/>
          <p:nvPr/>
        </p:nvSpPr>
        <p:spPr>
          <a:xfrm>
            <a:off x="9848088" y="384048"/>
            <a:ext cx="1691640" cy="310896"/>
          </a:xfrm>
          <a:prstGeom prst="rect">
            <a:avLst/>
          </a:prstGeom>
          <a:noFill/>
          <a:ln/>
        </p:spPr>
        <p:txBody>
          <a:bodyPr wrap="square" lIns="0" tIns="0" rIns="0" bIns="0" rtlCol="0" anchor="ctr"/>
          <a:lstStyle/>
          <a:p>
            <a:pPr algn="ctr" indent="0" marL="0">
              <a:buNone/>
            </a:pPr>
            <a:r>
              <a:rPr lang="en-US" sz="1200" dirty="0">
                <a:solidFill>
                  <a:schemeClr val="accent3"/>
                </a:solidFill>
              </a:rPr>
              <a:t>글결 · 재구성 화면</a:t>
            </a:r>
            <a:endParaRPr lang="en-US" sz="1200" dirty="0"/>
          </a:p>
        </p:txBody>
      </p:sp>
      <p:pic>
        <p:nvPicPr>
          <p:cNvPr id="6" name="b0-0" descr="/tmp/ccp-1581-x37aaym4in.png">    </p:cNvPr>
          <p:cNvPicPr>
            <a:picLocks noChangeAspect="1"/>
          </p:cNvPicPr>
          <p:nvPr/>
        </p:nvPicPr>
        <p:blipFill>
          <a:blip r:embed="rId1"/>
          <a:stretch>
            <a:fillRect/>
          </a:stretch>
        </p:blipFill>
        <p:spPr>
          <a:xfrm>
            <a:off x="649224" y="1581912"/>
            <a:ext cx="10890504" cy="3825290"/>
          </a:xfrm>
          <a:prstGeom prst="rect">
            <a:avLst/>
          </a:prstGeom>
        </p:spPr>
      </p:pic>
      <p:sp>
        <p:nvSpPr>
          <p:cNvPr id="7" name="b0-1"/>
          <p:cNvSpPr/>
          <p:nvPr/>
        </p:nvSpPr>
        <p:spPr>
          <a:xfrm>
            <a:off x="649224" y="1581912"/>
            <a:ext cx="10890504" cy="3825290"/>
          </a:xfrm>
          <a:prstGeom prst="rect">
            <a:avLst/>
          </a:prstGeom>
          <a:ln w="9525">
            <a:solidFill>
              <a:srgbClr val="E6DFD8"/>
            </a:solidFill>
            <a:prstDash val="solid"/>
          </a:ln>
        </p:spPr>
      </p:sp>
      <p:sp>
        <p:nvSpPr>
          <p:cNvPr id="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anim calcmode="lin" valueType="num">
                                      <p:cBhvr>
                                        <p:cTn id="8" dur="450" fill="hold"/>
                                        <p:tgtEl>
                                          <p:spTgt spid="6"/>
                                        </p:tgtEl>
                                        <p:attrNameLst>
                                          <p:attrName>ppt_x</p:attrName>
                                        </p:attrNameLst>
                                      </p:cBhvr>
                                      <p:tavLst>
                                        <p:tav tm="0">
                                          <p:val>
                                            <p:strVal val="#ppt_x"/>
                                          </p:val>
                                        </p:tav>
                                        <p:tav tm="100000">
                                          <p:val>
                                            <p:strVal val="#ppt_x"/>
                                          </p:val>
                                        </p:tav>
                                      </p:tavLst>
                                    </p:anim>
                                    <p:anim calcmode="lin" valueType="num">
                                      <p:cBhvr>
                                        <p:cTn id="9" dur="450" fill="hold"/>
                                        <p:tgtEl>
                                          <p:spTgt spid="6"/>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p:cTn id="13" dur="450" fill="hold"/>
                                        <p:tgtEl>
                                          <p:spTgt spid="7"/>
                                        </p:tgtEl>
                                        <p:attrNameLst>
                                          <p:attrName>ppt_x</p:attrName>
                                        </p:attrNameLst>
                                      </p:cBhvr>
                                      <p:tavLst>
                                        <p:tav tm="0">
                                          <p:val>
                                            <p:strVal val="#ppt_x"/>
                                          </p:val>
                                        </p:tav>
                                        <p:tav tm="100000">
                                          <p:val>
                                            <p:strVal val="#ppt_x"/>
                                          </p:val>
                                        </p:tav>
                                      </p:tavLst>
                                    </p:anim>
                                    <p:anim calcmode="lin" valueType="num">
                                      <p:cBhvr>
                                        <p:cTn id="14" dur="450" fill="hold"/>
                                        <p:tgtEl>
                                          <p:spTgt spid="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49224" y="1920240"/>
            <a:ext cx="2743200" cy="1005840"/>
          </a:xfrm>
          <a:prstGeom prst="rect">
            <a:avLst/>
          </a:prstGeom>
          <a:noFill/>
          <a:ln/>
        </p:spPr>
        <p:txBody>
          <a:bodyPr wrap="square" lIns="0" tIns="0" rIns="0" bIns="0" rtlCol="0" anchor="b"/>
          <a:lstStyle/>
          <a:p>
            <a:pPr algn="l" indent="0" marL="0">
              <a:buNone/>
            </a:pPr>
            <a:r>
              <a:rPr lang="en-US" sz="6000" b="1" dirty="0">
                <a:solidFill>
                  <a:schemeClr val="accent1"/>
                </a:solidFill>
                <a:latin typeface="+mj-lt" pitchFamily="34" charset="0"/>
                <a:ea typeface="+mj-lt" pitchFamily="34" charset="-122"/>
                <a:cs typeface="+mj-lt" pitchFamily="34" charset="-120"/>
              </a:rPr>
              <a:t>04</a:t>
            </a:r>
            <a:endParaRPr lang="en-US" sz="6000" dirty="0"/>
          </a:p>
        </p:txBody>
      </p:sp>
      <p:sp>
        <p:nvSpPr>
          <p:cNvPr id="3" name="Text 0"/>
          <p:cNvSpPr/>
          <p:nvPr>
            <p:ph idx="101" type="title" hasCustomPrompt="1"/>
          </p:nvPr>
        </p:nvSpPr>
        <p:spPr>
          <a:xfrm>
            <a:off x="649224" y="306324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전역 예외 처리와 입력 검증</a:t>
            </a:r>
            <a:endParaRPr lang="en-US" sz="4000" dirty="0"/>
          </a:p>
        </p:txBody>
      </p:sp>
      <p:sp>
        <p:nvSpPr>
          <p:cNvPr id="4" name="Text 0"/>
          <p:cNvSpPr/>
          <p:nvPr>
            <p:ph idx="102" type="body" hasCustomPrompt="1"/>
          </p:nvPr>
        </p:nvSpPr>
        <p:spPr>
          <a:xfrm>
            <a:off x="649224" y="4114800"/>
            <a:ext cx="10058400" cy="548640"/>
          </a:xfrm>
          <a:prstGeom prst="rect">
            <a:avLst/>
          </a:prstGeom>
          <a:noFill/>
          <a:ln/>
        </p:spPr>
        <p:txBody>
          <a:bodyPr wrap="square" lIns="0" tIns="0" rIns="0" bIns="0" rtlCol="0" anchor="t"/>
          <a:lstStyle/>
          <a:p>
            <a:pPr algn="l" indent="0" marL="0">
              <a:buNone/>
            </a:pPr>
            <a:r>
              <a:rPr lang="en-US" sz="2000" dirty="0">
                <a:solidFill>
                  <a:srgbClr val="A09D96"/>
                </a:solidFill>
              </a:rPr>
              <a:t>검증은 앞에서, 예외는 한곳에서</a:t>
            </a:r>
            <a:endParaRPr lang="en-US" sz="20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04 · EXCEPTION · VALIDATION</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요청이 지나가는 길, 예외가 모이는 곳</a:t>
            </a:r>
            <a:endParaRPr lang="en-US" sz="3200" dirty="0"/>
          </a:p>
        </p:txBody>
      </p:sp>
      <p:sp>
        <p:nvSpPr>
          <p:cNvPr id="4" name="b0c0-0"/>
          <p:cNvSpPr/>
          <p:nvPr/>
        </p:nvSpPr>
        <p:spPr>
          <a:xfrm>
            <a:off x="649224" y="2084832"/>
            <a:ext cx="1848917" cy="1234440"/>
          </a:xfrm>
          <a:prstGeom prst="roundRect">
            <a:avLst>
              <a:gd name="adj" fmla="val 8889"/>
            </a:avLst>
          </a:prstGeom>
          <a:solidFill>
            <a:schemeClr val="bg2"/>
          </a:solidFill>
          <a:ln/>
        </p:spPr>
      </p:sp>
      <p:sp>
        <p:nvSpPr>
          <p:cNvPr id="5" name="b0c0-1"/>
          <p:cNvSpPr txBox="1"/>
          <p:nvPr/>
        </p:nvSpPr>
        <p:spPr>
          <a:xfrm>
            <a:off x="740664" y="2084832"/>
            <a:ext cx="1666037" cy="1234440"/>
          </a:xfrm>
          <a:prstGeom prst="rect">
            <a:avLst/>
          </a:prstGeom>
          <a:noFill/>
          <a:ln/>
        </p:spPr>
        <p:txBody>
          <a:bodyPr wrap="square" lIns="0" tIns="0" rIns="0" bIns="0" rtlCol="0" anchor="ctr"/>
          <a:lstStyle/>
          <a:p>
            <a:pPr algn="ctr" indent="0" marL="0">
              <a:lnSpc>
                <a:spcPct val="115000"/>
              </a:lnSpc>
              <a:spcAft>
                <a:spcPts val="200"/>
              </a:spcAft>
              <a:buNone/>
            </a:pPr>
            <a:r>
              <a:rPr lang="en-US" sz="1700" b="1" dirty="0">
                <a:solidFill>
                  <a:schemeClr val="tx1"/>
                </a:solidFill>
                <a:latin typeface="Pretendard" pitchFamily="34" charset="0"/>
                <a:ea typeface="Pretendard" pitchFamily="34" charset="-122"/>
                <a:cs typeface="Pretendard" pitchFamily="34" charset="-120"/>
              </a:rPr>
              <a:t>클라이언트</a:t>
            </a:r>
            <a:endParaRPr lang="en-US" sz="1700" dirty="0"/>
          </a:p>
          <a:p>
            <a:pPr algn="ctr" indent="0" marL="0">
              <a:lnSpc>
                <a:spcPct val="115000"/>
              </a:lnSpc>
              <a:spcAft>
                <a:spcPts val="200"/>
              </a:spcAft>
              <a:buNone/>
            </a:pPr>
            <a:r>
              <a:rPr lang="en-US" sz="1400" dirty="0">
                <a:solidFill>
                  <a:schemeClr val="accent3"/>
                </a:solidFill>
              </a:rPr>
              <a:t>브라우저 · 앱</a:t>
            </a:r>
            <a:endParaRPr lang="en-US" sz="1700" dirty="0"/>
          </a:p>
        </p:txBody>
      </p:sp>
      <p:sp>
        <p:nvSpPr>
          <p:cNvPr id="6" name="b0c0-2"/>
          <p:cNvSpPr/>
          <p:nvPr/>
        </p:nvSpPr>
        <p:spPr>
          <a:xfrm>
            <a:off x="2543861" y="2702052"/>
            <a:ext cx="320040" cy="0"/>
          </a:xfrm>
          <a:prstGeom prst="line">
            <a:avLst/>
          </a:prstGeom>
          <a:noFill/>
          <a:ln w="19050">
            <a:solidFill>
              <a:schemeClr val="accent3"/>
            </a:solidFill>
            <a:prstDash val="solid"/>
            <a:tailEnd type="triangle"/>
          </a:ln>
        </p:spPr>
      </p:sp>
      <p:sp>
        <p:nvSpPr>
          <p:cNvPr id="7" name="b0c1-3"/>
          <p:cNvSpPr/>
          <p:nvPr/>
        </p:nvSpPr>
        <p:spPr>
          <a:xfrm>
            <a:off x="2909621" y="2084832"/>
            <a:ext cx="1848917" cy="1234440"/>
          </a:xfrm>
          <a:prstGeom prst="roundRect">
            <a:avLst>
              <a:gd name="adj" fmla="val 8889"/>
            </a:avLst>
          </a:prstGeom>
          <a:solidFill>
            <a:schemeClr val="bg2"/>
          </a:solidFill>
          <a:ln/>
        </p:spPr>
      </p:sp>
      <p:sp>
        <p:nvSpPr>
          <p:cNvPr id="8" name="b0c1-4"/>
          <p:cNvSpPr txBox="1"/>
          <p:nvPr/>
        </p:nvSpPr>
        <p:spPr>
          <a:xfrm>
            <a:off x="3001061" y="2084832"/>
            <a:ext cx="1666037" cy="1234440"/>
          </a:xfrm>
          <a:prstGeom prst="rect">
            <a:avLst/>
          </a:prstGeom>
          <a:noFill/>
          <a:ln/>
        </p:spPr>
        <p:txBody>
          <a:bodyPr wrap="square" lIns="0" tIns="0" rIns="0" bIns="0" rtlCol="0" anchor="ctr"/>
          <a:lstStyle/>
          <a:p>
            <a:pPr algn="ctr" indent="0" marL="0">
              <a:lnSpc>
                <a:spcPct val="115000"/>
              </a:lnSpc>
              <a:spcAft>
                <a:spcPts val="200"/>
              </a:spcAft>
              <a:buNone/>
            </a:pPr>
            <a:r>
              <a:rPr lang="en-US" sz="1700" b="1" dirty="0">
                <a:solidFill>
                  <a:schemeClr val="tx1"/>
                </a:solidFill>
                <a:latin typeface="Pretendard" pitchFamily="34" charset="0"/>
                <a:ea typeface="Pretendard" pitchFamily="34" charset="-122"/>
                <a:cs typeface="Pretendard" pitchFamily="34" charset="-120"/>
              </a:rPr>
              <a:t>① 입력 검증</a:t>
            </a:r>
            <a:endParaRPr lang="en-US" sz="1700" dirty="0"/>
          </a:p>
          <a:p>
            <a:pPr algn="ctr" indent="0" marL="0">
              <a:lnSpc>
                <a:spcPct val="115000"/>
              </a:lnSpc>
              <a:spcAft>
                <a:spcPts val="200"/>
              </a:spcAft>
              <a:buNone/>
            </a:pPr>
            <a:r>
              <a:rPr lang="en-US" sz="1400" dirty="0">
                <a:solidFill>
                  <a:schemeClr val="accent3"/>
                </a:solidFill>
              </a:rPr>
              <a:t>@Valid · DTO</a:t>
            </a:r>
            <a:endParaRPr lang="en-US" sz="1700" dirty="0"/>
          </a:p>
        </p:txBody>
      </p:sp>
      <p:sp>
        <p:nvSpPr>
          <p:cNvPr id="9" name="b0c1-5"/>
          <p:cNvSpPr/>
          <p:nvPr/>
        </p:nvSpPr>
        <p:spPr>
          <a:xfrm>
            <a:off x="4804258" y="2702052"/>
            <a:ext cx="320040" cy="0"/>
          </a:xfrm>
          <a:prstGeom prst="line">
            <a:avLst/>
          </a:prstGeom>
          <a:noFill/>
          <a:ln w="19050">
            <a:solidFill>
              <a:schemeClr val="accent3"/>
            </a:solidFill>
            <a:prstDash val="solid"/>
            <a:tailEnd type="triangle"/>
          </a:ln>
        </p:spPr>
      </p:sp>
      <p:sp>
        <p:nvSpPr>
          <p:cNvPr id="10" name="b0c2-6"/>
          <p:cNvSpPr/>
          <p:nvPr/>
        </p:nvSpPr>
        <p:spPr>
          <a:xfrm>
            <a:off x="5170018" y="2084832"/>
            <a:ext cx="1848917" cy="1234440"/>
          </a:xfrm>
          <a:prstGeom prst="roundRect">
            <a:avLst>
              <a:gd name="adj" fmla="val 8889"/>
            </a:avLst>
          </a:prstGeom>
          <a:solidFill>
            <a:schemeClr val="bg2"/>
          </a:solidFill>
          <a:ln/>
        </p:spPr>
      </p:sp>
      <p:sp>
        <p:nvSpPr>
          <p:cNvPr id="11" name="b0c2-7"/>
          <p:cNvSpPr txBox="1"/>
          <p:nvPr/>
        </p:nvSpPr>
        <p:spPr>
          <a:xfrm>
            <a:off x="5261458" y="2084832"/>
            <a:ext cx="1666037" cy="1234440"/>
          </a:xfrm>
          <a:prstGeom prst="rect">
            <a:avLst/>
          </a:prstGeom>
          <a:noFill/>
          <a:ln/>
        </p:spPr>
        <p:txBody>
          <a:bodyPr wrap="square" lIns="0" tIns="0" rIns="0" bIns="0" rtlCol="0" anchor="ctr"/>
          <a:lstStyle/>
          <a:p>
            <a:pPr algn="ctr" indent="0" marL="0">
              <a:lnSpc>
                <a:spcPct val="115000"/>
              </a:lnSpc>
              <a:spcAft>
                <a:spcPts val="200"/>
              </a:spcAft>
              <a:buNone/>
            </a:pPr>
            <a:r>
              <a:rPr lang="en-US" sz="1700" b="1" dirty="0">
                <a:solidFill>
                  <a:schemeClr val="tx1"/>
                </a:solidFill>
                <a:latin typeface="Pretendard" pitchFamily="34" charset="0"/>
                <a:ea typeface="Pretendard" pitchFamily="34" charset="-122"/>
                <a:cs typeface="Pretendard" pitchFamily="34" charset="-120"/>
              </a:rPr>
              <a:t>② 컨트롤러</a:t>
            </a:r>
            <a:endParaRPr lang="en-US" sz="1700" dirty="0"/>
          </a:p>
          <a:p>
            <a:pPr algn="ctr" indent="0" marL="0">
              <a:lnSpc>
                <a:spcPct val="115000"/>
              </a:lnSpc>
              <a:spcAft>
                <a:spcPts val="200"/>
              </a:spcAft>
              <a:buNone/>
            </a:pPr>
            <a:r>
              <a:rPr lang="en-US" sz="1400" dirty="0">
                <a:solidFill>
                  <a:schemeClr val="accent3"/>
                </a:solidFill>
              </a:rPr>
              <a:t>잡지 않고 통과</a:t>
            </a:r>
            <a:endParaRPr lang="en-US" sz="1700" dirty="0"/>
          </a:p>
        </p:txBody>
      </p:sp>
      <p:sp>
        <p:nvSpPr>
          <p:cNvPr id="12" name="b0c2-8"/>
          <p:cNvSpPr/>
          <p:nvPr/>
        </p:nvSpPr>
        <p:spPr>
          <a:xfrm>
            <a:off x="7064654" y="2702052"/>
            <a:ext cx="320040" cy="0"/>
          </a:xfrm>
          <a:prstGeom prst="line">
            <a:avLst/>
          </a:prstGeom>
          <a:noFill/>
          <a:ln w="19050">
            <a:solidFill>
              <a:schemeClr val="accent3"/>
            </a:solidFill>
            <a:prstDash val="solid"/>
            <a:tailEnd type="triangle"/>
          </a:ln>
        </p:spPr>
      </p:sp>
      <p:sp>
        <p:nvSpPr>
          <p:cNvPr id="13" name="b0c3-9"/>
          <p:cNvSpPr/>
          <p:nvPr/>
        </p:nvSpPr>
        <p:spPr>
          <a:xfrm>
            <a:off x="7430414" y="2084832"/>
            <a:ext cx="1848917" cy="1234440"/>
          </a:xfrm>
          <a:prstGeom prst="roundRect">
            <a:avLst>
              <a:gd name="adj" fmla="val 8889"/>
            </a:avLst>
          </a:prstGeom>
          <a:solidFill>
            <a:schemeClr val="bg2"/>
          </a:solidFill>
          <a:ln/>
        </p:spPr>
      </p:sp>
      <p:sp>
        <p:nvSpPr>
          <p:cNvPr id="14" name="b0c3-10"/>
          <p:cNvSpPr txBox="1"/>
          <p:nvPr/>
        </p:nvSpPr>
        <p:spPr>
          <a:xfrm>
            <a:off x="7521854" y="2084832"/>
            <a:ext cx="1666037" cy="1234440"/>
          </a:xfrm>
          <a:prstGeom prst="rect">
            <a:avLst/>
          </a:prstGeom>
          <a:noFill/>
          <a:ln/>
        </p:spPr>
        <p:txBody>
          <a:bodyPr wrap="square" lIns="0" tIns="0" rIns="0" bIns="0" rtlCol="0" anchor="ctr"/>
          <a:lstStyle/>
          <a:p>
            <a:pPr algn="ctr" indent="0" marL="0">
              <a:lnSpc>
                <a:spcPct val="115000"/>
              </a:lnSpc>
              <a:spcAft>
                <a:spcPts val="200"/>
              </a:spcAft>
              <a:buNone/>
            </a:pPr>
            <a:r>
              <a:rPr lang="en-US" sz="1700" b="1" dirty="0">
                <a:solidFill>
                  <a:schemeClr val="tx1"/>
                </a:solidFill>
                <a:latin typeface="Pretendard" pitchFamily="34" charset="0"/>
                <a:ea typeface="Pretendard" pitchFamily="34" charset="-122"/>
                <a:cs typeface="Pretendard" pitchFamily="34" charset="-120"/>
              </a:rPr>
              <a:t>③ 서비스</a:t>
            </a:r>
            <a:endParaRPr lang="en-US" sz="1700" dirty="0"/>
          </a:p>
          <a:p>
            <a:pPr algn="ctr" indent="0" marL="0">
              <a:lnSpc>
                <a:spcPct val="115000"/>
              </a:lnSpc>
              <a:spcAft>
                <a:spcPts val="200"/>
              </a:spcAft>
              <a:buNone/>
            </a:pPr>
            <a:r>
              <a:rPr lang="en-US" sz="1400" dirty="0">
                <a:solidFill>
                  <a:schemeClr val="accent3"/>
                </a:solidFill>
              </a:rPr>
              <a:t>업무 규칙 검사</a:t>
            </a:r>
            <a:endParaRPr lang="en-US" sz="1700" dirty="0"/>
          </a:p>
        </p:txBody>
      </p:sp>
      <p:sp>
        <p:nvSpPr>
          <p:cNvPr id="15" name="b0c3-11"/>
          <p:cNvSpPr/>
          <p:nvPr/>
        </p:nvSpPr>
        <p:spPr>
          <a:xfrm>
            <a:off x="9325051" y="2702052"/>
            <a:ext cx="320040" cy="0"/>
          </a:xfrm>
          <a:prstGeom prst="line">
            <a:avLst/>
          </a:prstGeom>
          <a:noFill/>
          <a:ln w="19050">
            <a:solidFill>
              <a:schemeClr val="accent3"/>
            </a:solidFill>
            <a:prstDash val="solid"/>
            <a:tailEnd type="triangle"/>
          </a:ln>
        </p:spPr>
      </p:sp>
      <p:sp>
        <p:nvSpPr>
          <p:cNvPr id="16" name="b0c4-12"/>
          <p:cNvSpPr/>
          <p:nvPr/>
        </p:nvSpPr>
        <p:spPr>
          <a:xfrm>
            <a:off x="9690811" y="2084832"/>
            <a:ext cx="1848917" cy="1234440"/>
          </a:xfrm>
          <a:prstGeom prst="roundRect">
            <a:avLst>
              <a:gd name="adj" fmla="val 8889"/>
            </a:avLst>
          </a:prstGeom>
          <a:solidFill>
            <a:schemeClr val="bg2"/>
          </a:solidFill>
          <a:ln/>
        </p:spPr>
      </p:sp>
      <p:sp>
        <p:nvSpPr>
          <p:cNvPr id="17" name="b0c4-13"/>
          <p:cNvSpPr txBox="1"/>
          <p:nvPr/>
        </p:nvSpPr>
        <p:spPr>
          <a:xfrm>
            <a:off x="9782251" y="2084832"/>
            <a:ext cx="1666037" cy="1234440"/>
          </a:xfrm>
          <a:prstGeom prst="rect">
            <a:avLst/>
          </a:prstGeom>
          <a:noFill/>
          <a:ln/>
        </p:spPr>
        <p:txBody>
          <a:bodyPr wrap="square" lIns="0" tIns="0" rIns="0" bIns="0" rtlCol="0" anchor="ctr"/>
          <a:lstStyle/>
          <a:p>
            <a:pPr algn="ctr" indent="0" marL="0">
              <a:lnSpc>
                <a:spcPct val="115000"/>
              </a:lnSpc>
              <a:spcAft>
                <a:spcPts val="200"/>
              </a:spcAft>
              <a:buNone/>
            </a:pPr>
            <a:r>
              <a:rPr lang="en-US" sz="1700" b="1" dirty="0">
                <a:solidFill>
                  <a:schemeClr val="tx1"/>
                </a:solidFill>
                <a:latin typeface="Pretendard" pitchFamily="34" charset="0"/>
                <a:ea typeface="Pretendard" pitchFamily="34" charset="-122"/>
                <a:cs typeface="Pretendard" pitchFamily="34" charset="-120"/>
              </a:rPr>
              <a:t>④ DB</a:t>
            </a:r>
            <a:endParaRPr lang="en-US" sz="1700" dirty="0"/>
          </a:p>
          <a:p>
            <a:pPr algn="ctr" indent="0" marL="0">
              <a:lnSpc>
                <a:spcPct val="115000"/>
              </a:lnSpc>
              <a:spcAft>
                <a:spcPts val="200"/>
              </a:spcAft>
              <a:buNone/>
            </a:pPr>
            <a:r>
              <a:rPr lang="en-US" sz="1400" dirty="0">
                <a:solidFill>
                  <a:schemeClr val="accent3"/>
                </a:solidFill>
              </a:rPr>
              <a:t>읽기 · 쓰기</a:t>
            </a:r>
            <a:endParaRPr lang="en-US" sz="1700" dirty="0"/>
          </a:p>
        </p:txBody>
      </p:sp>
      <p:sp>
        <p:nvSpPr>
          <p:cNvPr id="18" name="b0c5-14"/>
          <p:cNvSpPr/>
          <p:nvPr/>
        </p:nvSpPr>
        <p:spPr>
          <a:xfrm flipV="1">
            <a:off x="6094476" y="1810512"/>
            <a:ext cx="0" cy="274320"/>
          </a:xfrm>
          <a:prstGeom prst="line">
            <a:avLst/>
          </a:prstGeom>
          <a:noFill/>
          <a:ln w="19050">
            <a:solidFill>
              <a:schemeClr val="accent3"/>
            </a:solidFill>
            <a:prstDash val="solid"/>
          </a:ln>
        </p:spPr>
      </p:sp>
      <p:sp>
        <p:nvSpPr>
          <p:cNvPr id="19" name="b0c5-15"/>
          <p:cNvSpPr/>
          <p:nvPr/>
        </p:nvSpPr>
        <p:spPr>
          <a:xfrm flipH="1">
            <a:off x="1573682" y="1810512"/>
            <a:ext cx="4520794" cy="0"/>
          </a:xfrm>
          <a:prstGeom prst="line">
            <a:avLst/>
          </a:prstGeom>
          <a:noFill/>
          <a:ln w="19050">
            <a:solidFill>
              <a:schemeClr val="accent3"/>
            </a:solidFill>
            <a:prstDash val="solid"/>
          </a:ln>
        </p:spPr>
      </p:sp>
      <p:sp>
        <p:nvSpPr>
          <p:cNvPr id="20" name="b0c5-16"/>
          <p:cNvSpPr/>
          <p:nvPr/>
        </p:nvSpPr>
        <p:spPr>
          <a:xfrm>
            <a:off x="1573682" y="1810512"/>
            <a:ext cx="0" cy="256032"/>
          </a:xfrm>
          <a:prstGeom prst="line">
            <a:avLst/>
          </a:prstGeom>
          <a:noFill/>
          <a:ln w="19050">
            <a:solidFill>
              <a:schemeClr val="accent3"/>
            </a:solidFill>
            <a:prstDash val="solid"/>
            <a:tailEnd type="triangle"/>
          </a:ln>
        </p:spPr>
      </p:sp>
      <p:sp>
        <p:nvSpPr>
          <p:cNvPr id="21" name="b0c5-17"/>
          <p:cNvSpPr txBox="1"/>
          <p:nvPr/>
        </p:nvSpPr>
        <p:spPr>
          <a:xfrm>
            <a:off x="1710842" y="1472184"/>
            <a:ext cx="4246474" cy="292608"/>
          </a:xfrm>
          <a:prstGeom prst="rect">
            <a:avLst/>
          </a:prstGeom>
          <a:noFill/>
          <a:ln/>
        </p:spPr>
        <p:txBody>
          <a:bodyPr wrap="square" lIns="0" tIns="0" rIns="0" bIns="0" rtlCol="0" anchor="t"/>
          <a:lstStyle/>
          <a:p>
            <a:pPr algn="ctr" indent="0" marL="0">
              <a:lnSpc>
                <a:spcPct val="115000"/>
              </a:lnSpc>
              <a:spcAft>
                <a:spcPts val="600"/>
              </a:spcAft>
              <a:buNone/>
            </a:pPr>
            <a:r>
              <a:rPr lang="en-US" sz="1400" dirty="0">
                <a:solidFill>
                  <a:schemeClr val="accent3"/>
                </a:solidFill>
              </a:rPr>
              <a:t>성공하면 200 · 201 · 204</a:t>
            </a:r>
            <a:endParaRPr lang="en-US" sz="1400" dirty="0"/>
          </a:p>
        </p:txBody>
      </p:sp>
      <p:sp>
        <p:nvSpPr>
          <p:cNvPr id="22" name="b0c6-18"/>
          <p:cNvSpPr/>
          <p:nvPr/>
        </p:nvSpPr>
        <p:spPr>
          <a:xfrm>
            <a:off x="3834079" y="3346704"/>
            <a:ext cx="0" cy="1042416"/>
          </a:xfrm>
          <a:prstGeom prst="line">
            <a:avLst/>
          </a:prstGeom>
          <a:noFill/>
          <a:ln w="19050">
            <a:solidFill>
              <a:schemeClr val="accent6"/>
            </a:solidFill>
            <a:prstDash val="solid"/>
            <a:tailEnd type="triangle"/>
          </a:ln>
        </p:spPr>
      </p:sp>
      <p:sp>
        <p:nvSpPr>
          <p:cNvPr id="23" name="b0c6-19"/>
          <p:cNvSpPr txBox="1"/>
          <p:nvPr/>
        </p:nvSpPr>
        <p:spPr>
          <a:xfrm>
            <a:off x="3943807" y="3429000"/>
            <a:ext cx="947318" cy="914400"/>
          </a:xfrm>
          <a:prstGeom prst="rect">
            <a:avLst/>
          </a:prstGeom>
          <a:noFill/>
          <a:ln/>
        </p:spPr>
        <p:txBody>
          <a:bodyPr wrap="square" lIns="0" tIns="0" rIns="0" bIns="0" rtlCol="0" anchor="t"/>
          <a:lstStyle/>
          <a:p>
            <a:pPr algn="l" indent="0" marL="0">
              <a:lnSpc>
                <a:spcPct val="115000"/>
              </a:lnSpc>
              <a:buNone/>
            </a:pPr>
            <a:r>
              <a:rPr lang="en-US" sz="1400" dirty="0">
                <a:solidFill>
                  <a:srgbClr val="3D3D3A"/>
                </a:solidFill>
              </a:rPr>
              <a:t>형식 오류</a:t>
            </a:r>
            <a:endParaRPr lang="en-US" sz="1400" dirty="0"/>
          </a:p>
          <a:p>
            <a:pPr algn="l" indent="0" marL="0">
              <a:lnSpc>
                <a:spcPct val="115000"/>
              </a:lnSpc>
              <a:buNone/>
            </a:pPr>
            <a:r>
              <a:rPr lang="en-US" sz="1400" dirty="0">
                <a:solidFill>
                  <a:srgbClr val="3D3D3A"/>
                </a:solidFill>
              </a:rPr>
              <a:t>(빈 제목)</a:t>
            </a:r>
            <a:endParaRPr lang="en-US" sz="1400" dirty="0"/>
          </a:p>
          <a:p>
            <a:pPr algn="l" indent="0" marL="0">
              <a:lnSpc>
                <a:spcPct val="115000"/>
              </a:lnSpc>
              <a:buNone/>
            </a:pPr>
            <a:r>
              <a:rPr lang="en-US" sz="1500" b="1" dirty="0">
                <a:solidFill>
                  <a:schemeClr val="accent6"/>
                </a:solidFill>
                <a:latin typeface="Pretendard" pitchFamily="34" charset="0"/>
                <a:ea typeface="Pretendard" pitchFamily="34" charset="-122"/>
                <a:cs typeface="Pretendard" pitchFamily="34" charset="-120"/>
              </a:rPr>
              <a:t>→ 400</a:t>
            </a:r>
            <a:endParaRPr lang="en-US" sz="1400" dirty="0"/>
          </a:p>
        </p:txBody>
      </p:sp>
      <p:sp>
        <p:nvSpPr>
          <p:cNvPr id="24" name="b0c7-20"/>
          <p:cNvSpPr/>
          <p:nvPr/>
        </p:nvSpPr>
        <p:spPr>
          <a:xfrm>
            <a:off x="8354873" y="3346704"/>
            <a:ext cx="0" cy="1042416"/>
          </a:xfrm>
          <a:prstGeom prst="line">
            <a:avLst/>
          </a:prstGeom>
          <a:noFill/>
          <a:ln w="19050">
            <a:solidFill>
              <a:schemeClr val="accent6"/>
            </a:solidFill>
            <a:prstDash val="solid"/>
            <a:tailEnd type="triangle"/>
          </a:ln>
        </p:spPr>
      </p:sp>
      <p:sp>
        <p:nvSpPr>
          <p:cNvPr id="25" name="b0c7-21"/>
          <p:cNvSpPr txBox="1"/>
          <p:nvPr/>
        </p:nvSpPr>
        <p:spPr>
          <a:xfrm>
            <a:off x="8464601" y="3429000"/>
            <a:ext cx="1234440" cy="914400"/>
          </a:xfrm>
          <a:prstGeom prst="rect">
            <a:avLst/>
          </a:prstGeom>
          <a:noFill/>
          <a:ln/>
        </p:spPr>
        <p:txBody>
          <a:bodyPr wrap="square" lIns="0" tIns="0" rIns="0" bIns="0" rtlCol="0" anchor="t"/>
          <a:lstStyle/>
          <a:p>
            <a:pPr algn="l" indent="0" marL="0">
              <a:lnSpc>
                <a:spcPct val="115000"/>
              </a:lnSpc>
              <a:buNone/>
            </a:pPr>
            <a:r>
              <a:rPr lang="en-US" sz="1400" dirty="0">
                <a:solidFill>
                  <a:srgbClr val="3D3D3A"/>
                </a:solidFill>
              </a:rPr>
              <a:t>글 없음</a:t>
            </a:r>
            <a:endParaRPr lang="en-US" sz="1400" dirty="0"/>
          </a:p>
          <a:p>
            <a:pPr algn="l" indent="0" marL="0">
              <a:lnSpc>
                <a:spcPct val="115000"/>
              </a:lnSpc>
              <a:buNone/>
            </a:pPr>
            <a:r>
              <a:rPr lang="en-US" sz="1400" dirty="0">
                <a:solidFill>
                  <a:srgbClr val="3D3D3A"/>
                </a:solidFill>
              </a:rPr>
              <a:t>중복 제목</a:t>
            </a:r>
            <a:endParaRPr lang="en-US" sz="1400" dirty="0"/>
          </a:p>
          <a:p>
            <a:pPr algn="l" indent="0" marL="0">
              <a:lnSpc>
                <a:spcPct val="115000"/>
              </a:lnSpc>
              <a:buNone/>
            </a:pPr>
            <a:r>
              <a:rPr lang="en-US" sz="1500" b="1" dirty="0">
                <a:solidFill>
                  <a:schemeClr val="accent6"/>
                </a:solidFill>
                <a:latin typeface="Pretendard" pitchFamily="34" charset="0"/>
                <a:ea typeface="Pretendard" pitchFamily="34" charset="-122"/>
                <a:cs typeface="Pretendard" pitchFamily="34" charset="-120"/>
              </a:rPr>
              <a:t>→ 404 · 409</a:t>
            </a:r>
            <a:endParaRPr lang="en-US" sz="1400" dirty="0"/>
          </a:p>
        </p:txBody>
      </p:sp>
      <p:sp>
        <p:nvSpPr>
          <p:cNvPr id="26" name="b0c8-22"/>
          <p:cNvSpPr/>
          <p:nvPr/>
        </p:nvSpPr>
        <p:spPr>
          <a:xfrm>
            <a:off x="11072470" y="3346704"/>
            <a:ext cx="0" cy="1042416"/>
          </a:xfrm>
          <a:prstGeom prst="line">
            <a:avLst/>
          </a:prstGeom>
          <a:noFill/>
          <a:ln w="19050">
            <a:solidFill>
              <a:schemeClr val="accent6"/>
            </a:solidFill>
            <a:prstDash val="solid"/>
            <a:tailEnd type="triangle"/>
          </a:ln>
        </p:spPr>
      </p:sp>
      <p:sp>
        <p:nvSpPr>
          <p:cNvPr id="27" name="b0c8-23"/>
          <p:cNvSpPr txBox="1"/>
          <p:nvPr/>
        </p:nvSpPr>
        <p:spPr>
          <a:xfrm>
            <a:off x="10002622" y="3429000"/>
            <a:ext cx="960120" cy="914400"/>
          </a:xfrm>
          <a:prstGeom prst="rect">
            <a:avLst/>
          </a:prstGeom>
          <a:noFill/>
          <a:ln/>
        </p:spPr>
        <p:txBody>
          <a:bodyPr wrap="square" lIns="0" tIns="0" rIns="0" bIns="0" rtlCol="0" anchor="t"/>
          <a:lstStyle/>
          <a:p>
            <a:pPr algn="r" indent="0" marL="0">
              <a:lnSpc>
                <a:spcPct val="115000"/>
              </a:lnSpc>
              <a:buNone/>
            </a:pPr>
            <a:r>
              <a:rPr lang="en-US" sz="1400" dirty="0">
                <a:solidFill>
                  <a:srgbClr val="3D3D3A"/>
                </a:solidFill>
              </a:rPr>
              <a:t>예상 못 한</a:t>
            </a:r>
            <a:endParaRPr lang="en-US" sz="1400" dirty="0"/>
          </a:p>
          <a:p>
            <a:pPr algn="r" indent="0" marL="0">
              <a:lnSpc>
                <a:spcPct val="115000"/>
              </a:lnSpc>
              <a:buNone/>
            </a:pPr>
            <a:r>
              <a:rPr lang="en-US" sz="1400" dirty="0">
                <a:solidFill>
                  <a:srgbClr val="3D3D3A"/>
                </a:solidFill>
              </a:rPr>
              <a:t>오류 (로그)</a:t>
            </a:r>
            <a:endParaRPr lang="en-US" sz="1400" dirty="0"/>
          </a:p>
          <a:p>
            <a:pPr algn="r" indent="0" marL="0">
              <a:lnSpc>
                <a:spcPct val="115000"/>
              </a:lnSpc>
              <a:buNone/>
            </a:pPr>
            <a:r>
              <a:rPr lang="en-US" sz="1500" b="1" dirty="0">
                <a:solidFill>
                  <a:schemeClr val="accent6"/>
                </a:solidFill>
                <a:latin typeface="Pretendard" pitchFamily="34" charset="0"/>
                <a:ea typeface="Pretendard" pitchFamily="34" charset="-122"/>
                <a:cs typeface="Pretendard" pitchFamily="34" charset="-120"/>
              </a:rPr>
              <a:t>→ 500</a:t>
            </a:r>
            <a:endParaRPr lang="en-US" sz="1400" dirty="0"/>
          </a:p>
        </p:txBody>
      </p:sp>
      <p:sp>
        <p:nvSpPr>
          <p:cNvPr id="28" name="b0c9-24"/>
          <p:cNvSpPr/>
          <p:nvPr/>
        </p:nvSpPr>
        <p:spPr>
          <a:xfrm>
            <a:off x="2909621" y="4416552"/>
            <a:ext cx="8630107" cy="1389888"/>
          </a:xfrm>
          <a:prstGeom prst="roundRect">
            <a:avLst>
              <a:gd name="adj" fmla="val 7895"/>
            </a:avLst>
          </a:prstGeom>
          <a:solidFill>
            <a:schemeClr val="tx2"/>
          </a:solidFill>
          <a:ln/>
        </p:spPr>
      </p:sp>
      <p:sp>
        <p:nvSpPr>
          <p:cNvPr id="29" name="b0c9-25"/>
          <p:cNvSpPr txBox="1"/>
          <p:nvPr/>
        </p:nvSpPr>
        <p:spPr>
          <a:xfrm>
            <a:off x="3229661" y="4416552"/>
            <a:ext cx="7990027" cy="1389888"/>
          </a:xfrm>
          <a:prstGeom prst="rect">
            <a:avLst/>
          </a:prstGeom>
          <a:noFill/>
          <a:ln/>
        </p:spPr>
        <p:txBody>
          <a:bodyPr wrap="square" lIns="0" tIns="0" rIns="0" bIns="0" rtlCol="0" anchor="ctr"/>
          <a:lstStyle/>
          <a:p>
            <a:pPr algn="l" indent="0" marL="0">
              <a:lnSpc>
                <a:spcPct val="115000"/>
              </a:lnSpc>
              <a:spcAft>
                <a:spcPts val="200"/>
              </a:spcAft>
              <a:buNone/>
            </a:pPr>
            <a:r>
              <a:rPr lang="en-US" sz="1800" b="1" dirty="0">
                <a:solidFill>
                  <a:srgbClr val="FAF9F5"/>
                </a:solidFill>
                <a:latin typeface="Pretendard" pitchFamily="34" charset="0"/>
                <a:ea typeface="Pretendard" pitchFamily="34" charset="-122"/>
                <a:cs typeface="Pretendard" pitchFamily="34" charset="-120"/>
              </a:rPr>
              <a:t>전역 예외 처리기</a:t>
            </a:r>
            <a:pPr algn="l" indent="0" marL="0">
              <a:lnSpc>
                <a:spcPct val="115000"/>
              </a:lnSpc>
              <a:spcAft>
                <a:spcPts val="200"/>
              </a:spcAft>
              <a:buNone/>
            </a:pPr>
            <a:r>
              <a:rPr lang="en-US" sz="1500" dirty="0">
                <a:solidFill>
                  <a:schemeClr val="accent4"/>
                </a:solidFill>
                <a:latin typeface="JetBrains Mono" pitchFamily="34" charset="0"/>
                <a:ea typeface="JetBrains Mono" pitchFamily="34" charset="-122"/>
                <a:cs typeface="JetBrains Mono" pitchFamily="34" charset="-120"/>
              </a:rPr>
              <a:t>   @RestControllerAdvice</a:t>
            </a:r>
            <a:endParaRPr lang="en-US" sz="1800" dirty="0"/>
          </a:p>
          <a:p>
            <a:pPr algn="l" indent="0" marL="0">
              <a:lnSpc>
                <a:spcPct val="115000"/>
              </a:lnSpc>
              <a:spcAft>
                <a:spcPts val="200"/>
              </a:spcAft>
              <a:buNone/>
            </a:pPr>
            <a:r>
              <a:rPr lang="en-US" sz="1300" dirty="0">
                <a:solidFill>
                  <a:srgbClr val="FAF9F5"/>
                </a:solidFill>
                <a:latin typeface="JetBrains Mono" pitchFamily="34" charset="0"/>
                <a:ea typeface="JetBrains Mono" pitchFamily="34" charset="-122"/>
                <a:cs typeface="JetBrains Mono" pitchFamily="34" charset="-120"/>
              </a:rPr>
              <a:t>MethodArgumentNotValidException</a:t>
            </a:r>
            <a:pPr algn="l" indent="0" marL="0">
              <a:lnSpc>
                <a:spcPct val="115000"/>
              </a:lnSpc>
              <a:spcAft>
                <a:spcPts val="200"/>
              </a:spcAft>
              <a:buNone/>
            </a:pPr>
            <a:r>
              <a:rPr lang="en-US" sz="1400" dirty="0">
                <a:solidFill>
                  <a:schemeClr val="accent4"/>
                </a:solidFill>
              </a:rPr>
              <a:t>   → 400 + 틀린 칸</a:t>
            </a:r>
            <a:endParaRPr lang="en-US" sz="1800" dirty="0"/>
          </a:p>
          <a:p>
            <a:pPr algn="l" indent="0" marL="0">
              <a:lnSpc>
                <a:spcPct val="115000"/>
              </a:lnSpc>
              <a:spcAft>
                <a:spcPts val="200"/>
              </a:spcAft>
              <a:buNone/>
            </a:pPr>
            <a:r>
              <a:rPr lang="en-US" sz="1400" dirty="0">
                <a:solidFill>
                  <a:srgbClr val="FAF9F5"/>
                </a:solidFill>
              </a:rPr>
              <a:t>업무 예외 (글 없음 · 중복 제목)</a:t>
            </a:r>
            <a:pPr algn="l" indent="0" marL="0">
              <a:lnSpc>
                <a:spcPct val="115000"/>
              </a:lnSpc>
              <a:spcAft>
                <a:spcPts val="200"/>
              </a:spcAft>
              <a:buNone/>
            </a:pPr>
            <a:r>
              <a:rPr lang="en-US" sz="1400" dirty="0">
                <a:solidFill>
                  <a:schemeClr val="accent4"/>
                </a:solidFill>
              </a:rPr>
              <a:t>   → 404 · 409</a:t>
            </a:r>
            <a:endParaRPr lang="en-US" sz="1800" dirty="0"/>
          </a:p>
          <a:p>
            <a:pPr algn="l" indent="0" marL="0">
              <a:lnSpc>
                <a:spcPct val="115000"/>
              </a:lnSpc>
              <a:spcAft>
                <a:spcPts val="200"/>
              </a:spcAft>
              <a:buNone/>
            </a:pPr>
            <a:r>
              <a:rPr lang="en-US" sz="1400" dirty="0">
                <a:solidFill>
                  <a:srgbClr val="FAF9F5"/>
                </a:solidFill>
              </a:rPr>
              <a:t>그 밖의 예외</a:t>
            </a:r>
            <a:pPr algn="l" indent="0" marL="0">
              <a:lnSpc>
                <a:spcPct val="115000"/>
              </a:lnSpc>
              <a:spcAft>
                <a:spcPts val="200"/>
              </a:spcAft>
              <a:buNone/>
            </a:pPr>
            <a:r>
              <a:rPr lang="en-US" sz="1400" dirty="0">
                <a:solidFill>
                  <a:schemeClr val="accent4"/>
                </a:solidFill>
              </a:rPr>
              <a:t>   → 500 + 로그</a:t>
            </a:r>
            <a:endParaRPr lang="en-US" sz="1800" dirty="0"/>
          </a:p>
        </p:txBody>
      </p:sp>
      <p:sp>
        <p:nvSpPr>
          <p:cNvPr id="30" name="b0c9-26"/>
          <p:cNvSpPr/>
          <p:nvPr/>
        </p:nvSpPr>
        <p:spPr>
          <a:xfrm flipH="1">
            <a:off x="1573682" y="5111496"/>
            <a:ext cx="1308506" cy="0"/>
          </a:xfrm>
          <a:prstGeom prst="line">
            <a:avLst/>
          </a:prstGeom>
          <a:noFill/>
          <a:ln w="19050">
            <a:solidFill>
              <a:schemeClr val="tx1"/>
            </a:solidFill>
            <a:prstDash val="solid"/>
          </a:ln>
        </p:spPr>
      </p:sp>
      <p:sp>
        <p:nvSpPr>
          <p:cNvPr id="31" name="b0c9-27"/>
          <p:cNvSpPr/>
          <p:nvPr/>
        </p:nvSpPr>
        <p:spPr>
          <a:xfrm flipV="1">
            <a:off x="1573682" y="3346704"/>
            <a:ext cx="0" cy="1764792"/>
          </a:xfrm>
          <a:prstGeom prst="line">
            <a:avLst/>
          </a:prstGeom>
          <a:noFill/>
          <a:ln w="19050">
            <a:solidFill>
              <a:schemeClr val="tx1"/>
            </a:solidFill>
            <a:prstDash val="solid"/>
            <a:tailEnd type="triangle"/>
          </a:ln>
        </p:spPr>
      </p:sp>
      <p:sp>
        <p:nvSpPr>
          <p:cNvPr id="32" name="b0c9-28"/>
          <p:cNvSpPr txBox="1"/>
          <p:nvPr/>
        </p:nvSpPr>
        <p:spPr>
          <a:xfrm>
            <a:off x="1683410" y="4782312"/>
            <a:ext cx="1153058" cy="292608"/>
          </a:xfrm>
          <a:prstGeom prst="rect">
            <a:avLst/>
          </a:prstGeom>
          <a:noFill/>
          <a:ln/>
        </p:spPr>
        <p:txBody>
          <a:bodyPr wrap="square" lIns="0" tIns="0" rIns="0" bIns="0" rtlCol="0" anchor="t"/>
          <a:lstStyle/>
          <a:p>
            <a:pPr algn="l" indent="0" marL="0">
              <a:lnSpc>
                <a:spcPct val="115000"/>
              </a:lnSpc>
              <a:spcAft>
                <a:spcPts val="600"/>
              </a:spcAft>
              <a:buNone/>
            </a:pPr>
            <a:r>
              <a:rPr lang="en-US" sz="1400" dirty="0">
                <a:solidFill>
                  <a:schemeClr val="tx1"/>
                </a:solidFill>
              </a:rPr>
              <a:t>에러 응답</a:t>
            </a:r>
            <a:endParaRPr lang="en-US" sz="1400" dirty="0"/>
          </a:p>
        </p:txBody>
      </p:sp>
      <p:sp>
        <p:nvSpPr>
          <p:cNvPr id="33" name="b1-0"/>
          <p:cNvSpPr txBox="1"/>
          <p:nvPr/>
        </p:nvSpPr>
        <p:spPr>
          <a:xfrm>
            <a:off x="649224" y="6035040"/>
            <a:ext cx="10890504" cy="326390"/>
          </a:xfrm>
          <a:prstGeom prst="rect">
            <a:avLst/>
          </a:prstGeom>
          <a:noFill/>
          <a:ln/>
        </p:spPr>
        <p:txBody>
          <a:bodyPr wrap="square" lIns="0" tIns="0" rIns="0" bIns="0" rtlCol="0" anchor="t"/>
          <a:lstStyle/>
          <a:p>
            <a:pPr algn="l" indent="0" marL="0">
              <a:lnSpc>
                <a:spcPct val="115000"/>
              </a:lnSpc>
              <a:spcAft>
                <a:spcPts val="600"/>
              </a:spcAft>
              <a:buNone/>
            </a:pPr>
            <a:r>
              <a:rPr lang="en-US" sz="1700" b="1" dirty="0">
                <a:solidFill>
                  <a:srgbClr val="3D3D3A"/>
                </a:solidFill>
                <a:latin typeface="Pretendard" pitchFamily="34" charset="0"/>
                <a:ea typeface="Pretendard" pitchFamily="34" charset="-122"/>
                <a:cs typeface="Pretendard" pitchFamily="34" charset="-120"/>
              </a:rPr>
              <a:t>컨트롤러 · 서비스는  </a:t>
            </a:r>
            <a:pPr algn="l" indent="0" marL="0">
              <a:lnSpc>
                <a:spcPct val="115000"/>
              </a:lnSpc>
              <a:spcAft>
                <a:spcPts val="600"/>
              </a:spcAft>
              <a:buNone/>
            </a:pPr>
            <a:r>
              <a:rPr lang="en-US" sz="1700" dirty="0">
                <a:solidFill>
                  <a:srgbClr val="3D3D3A"/>
                </a:solidFill>
              </a:rPr>
              <a:t>에러 응답을 만들지 않고 예외를 던지기만 한다 → 처리기 한 곳이 팀 형식으로 바꾼다</a:t>
            </a:r>
            <a:endParaRPr lang="en-US" sz="1700" dirty="0"/>
          </a:p>
        </p:txBody>
      </p:sp>
      <p:sp>
        <p:nvSpPr>
          <p:cNvPr id="34"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fill="hold"/>
                                        <p:tgtEl>
                                          <p:spTgt spid="7"/>
                                        </p:tgtEl>
                                        <p:attrNameLst>
                                          <p:attrName>ppt_x</p:attrName>
                                        </p:attrNameLst>
                                      </p:cBhvr>
                                      <p:tavLst>
                                        <p:tav tm="0">
                                          <p:val>
                                            <p:strVal val="#ppt_x"/>
                                          </p:val>
                                        </p:tav>
                                        <p:tav tm="100000">
                                          <p:val>
                                            <p:strVal val="#ppt_x"/>
                                          </p:val>
                                        </p:tav>
                                      </p:tavLst>
                                    </p:anim>
                                    <p:anim calcmode="lin" valueType="num">
                                      <p:cBhvr>
                                        <p:cTn id="24" dur="450" fill="hold"/>
                                        <p:tgtEl>
                                          <p:spTgt spid="7"/>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anim calcmode="lin" valueType="num">
                                      <p:cBhvr>
                                        <p:cTn id="28" dur="450" fill="hold"/>
                                        <p:tgtEl>
                                          <p:spTgt spid="8"/>
                                        </p:tgtEl>
                                        <p:attrNameLst>
                                          <p:attrName>ppt_x</p:attrName>
                                        </p:attrNameLst>
                                      </p:cBhvr>
                                      <p:tavLst>
                                        <p:tav tm="0">
                                          <p:val>
                                            <p:strVal val="#ppt_x"/>
                                          </p:val>
                                        </p:tav>
                                        <p:tav tm="100000">
                                          <p:val>
                                            <p:strVal val="#ppt_x"/>
                                          </p:val>
                                        </p:tav>
                                      </p:tavLst>
                                    </p:anim>
                                    <p:anim calcmode="lin" valueType="num">
                                      <p:cBhvr>
                                        <p:cTn id="29" dur="450" fill="hold"/>
                                        <p:tgtEl>
                                          <p:spTgt spid="8"/>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anim calcmode="lin" valueType="num">
                                      <p:cBhvr>
                                        <p:cTn id="33" dur="450" fill="hold"/>
                                        <p:tgtEl>
                                          <p:spTgt spid="9"/>
                                        </p:tgtEl>
                                        <p:attrNameLst>
                                          <p:attrName>ppt_x</p:attrName>
                                        </p:attrNameLst>
                                      </p:cBhvr>
                                      <p:tavLst>
                                        <p:tav tm="0">
                                          <p:val>
                                            <p:strVal val="#ppt_x"/>
                                          </p:val>
                                        </p:tav>
                                        <p:tav tm="100000">
                                          <p:val>
                                            <p:strVal val="#ppt_x"/>
                                          </p:val>
                                        </p:tav>
                                      </p:tavLst>
                                    </p:anim>
                                    <p:anim calcmode="lin" valueType="num">
                                      <p:cBhvr>
                                        <p:cTn id="34" dur="450" fill="hold"/>
                                        <p:tgtEl>
                                          <p:spTgt spid="9"/>
                                        </p:tgtEl>
                                        <p:attrNameLst>
                                          <p:attrName>ppt_y</p:attrName>
                                        </p:attrNameLst>
                                      </p:cBhvr>
                                      <p:tavLst>
                                        <p:tav tm="0">
                                          <p:val>
                                            <p:strVal val="#ppt_y+0.03"/>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50"/>
                                        <p:tgtEl>
                                          <p:spTgt spid="10"/>
                                        </p:tgtEl>
                                      </p:cBhvr>
                                    </p:animEffect>
                                    <p:anim calcmode="lin" valueType="num">
                                      <p:cBhvr>
                                        <p:cTn id="38" dur="450" fill="hold"/>
                                        <p:tgtEl>
                                          <p:spTgt spid="10"/>
                                        </p:tgtEl>
                                        <p:attrNameLst>
                                          <p:attrName>ppt_x</p:attrName>
                                        </p:attrNameLst>
                                      </p:cBhvr>
                                      <p:tavLst>
                                        <p:tav tm="0">
                                          <p:val>
                                            <p:strVal val="#ppt_x"/>
                                          </p:val>
                                        </p:tav>
                                        <p:tav tm="100000">
                                          <p:val>
                                            <p:strVal val="#ppt_x"/>
                                          </p:val>
                                        </p:tav>
                                      </p:tavLst>
                                    </p:anim>
                                    <p:anim calcmode="lin" valueType="num">
                                      <p:cBhvr>
                                        <p:cTn id="39" dur="450" fill="hold"/>
                                        <p:tgtEl>
                                          <p:spTgt spid="10"/>
                                        </p:tgtEl>
                                        <p:attrNameLst>
                                          <p:attrName>ppt_y</p:attrName>
                                        </p:attrNameLst>
                                      </p:cBhvr>
                                      <p:tavLst>
                                        <p:tav tm="0">
                                          <p:val>
                                            <p:strVal val="#ppt_y+0.03"/>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450"/>
                                        <p:tgtEl>
                                          <p:spTgt spid="11"/>
                                        </p:tgtEl>
                                      </p:cBhvr>
                                    </p:animEffect>
                                    <p:anim calcmode="lin" valueType="num">
                                      <p:cBhvr>
                                        <p:cTn id="43" dur="450" fill="hold"/>
                                        <p:tgtEl>
                                          <p:spTgt spid="11"/>
                                        </p:tgtEl>
                                        <p:attrNameLst>
                                          <p:attrName>ppt_x</p:attrName>
                                        </p:attrNameLst>
                                      </p:cBhvr>
                                      <p:tavLst>
                                        <p:tav tm="0">
                                          <p:val>
                                            <p:strVal val="#ppt_x"/>
                                          </p:val>
                                        </p:tav>
                                        <p:tav tm="100000">
                                          <p:val>
                                            <p:strVal val="#ppt_x"/>
                                          </p:val>
                                        </p:tav>
                                      </p:tavLst>
                                    </p:anim>
                                    <p:anim calcmode="lin" valueType="num">
                                      <p:cBhvr>
                                        <p:cTn id="44" dur="450" fill="hold"/>
                                        <p:tgtEl>
                                          <p:spTgt spid="11"/>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50"/>
                                        <p:tgtEl>
                                          <p:spTgt spid="12"/>
                                        </p:tgtEl>
                                      </p:cBhvr>
                                    </p:animEffect>
                                    <p:anim calcmode="lin" valueType="num">
                                      <p:cBhvr>
                                        <p:cTn id="48" dur="450" fill="hold"/>
                                        <p:tgtEl>
                                          <p:spTgt spid="12"/>
                                        </p:tgtEl>
                                        <p:attrNameLst>
                                          <p:attrName>ppt_x</p:attrName>
                                        </p:attrNameLst>
                                      </p:cBhvr>
                                      <p:tavLst>
                                        <p:tav tm="0">
                                          <p:val>
                                            <p:strVal val="#ppt_x"/>
                                          </p:val>
                                        </p:tav>
                                        <p:tav tm="100000">
                                          <p:val>
                                            <p:strVal val="#ppt_x"/>
                                          </p:val>
                                        </p:tav>
                                      </p:tavLst>
                                    </p:anim>
                                    <p:anim calcmode="lin" valueType="num">
                                      <p:cBhvr>
                                        <p:cTn id="49" dur="450" fill="hold"/>
                                        <p:tgtEl>
                                          <p:spTgt spid="12"/>
                                        </p:tgtEl>
                                        <p:attrNameLst>
                                          <p:attrName>ppt_y</p:attrName>
                                        </p:attrNameLst>
                                      </p:cBhvr>
                                      <p:tavLst>
                                        <p:tav tm="0">
                                          <p:val>
                                            <p:strVal val="#ppt_y+0.03"/>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450"/>
                                        <p:tgtEl>
                                          <p:spTgt spid="13"/>
                                        </p:tgtEl>
                                      </p:cBhvr>
                                    </p:animEffect>
                                    <p:anim calcmode="lin" valueType="num">
                                      <p:cBhvr>
                                        <p:cTn id="53" dur="450" fill="hold"/>
                                        <p:tgtEl>
                                          <p:spTgt spid="13"/>
                                        </p:tgtEl>
                                        <p:attrNameLst>
                                          <p:attrName>ppt_x</p:attrName>
                                        </p:attrNameLst>
                                      </p:cBhvr>
                                      <p:tavLst>
                                        <p:tav tm="0">
                                          <p:val>
                                            <p:strVal val="#ppt_x"/>
                                          </p:val>
                                        </p:tav>
                                        <p:tav tm="100000">
                                          <p:val>
                                            <p:strVal val="#ppt_x"/>
                                          </p:val>
                                        </p:tav>
                                      </p:tavLst>
                                    </p:anim>
                                    <p:anim calcmode="lin" valueType="num">
                                      <p:cBhvr>
                                        <p:cTn id="54" dur="450" fill="hold"/>
                                        <p:tgtEl>
                                          <p:spTgt spid="13"/>
                                        </p:tgtEl>
                                        <p:attrNameLst>
                                          <p:attrName>ppt_y</p:attrName>
                                        </p:attrNameLst>
                                      </p:cBhvr>
                                      <p:tavLst>
                                        <p:tav tm="0">
                                          <p:val>
                                            <p:strVal val="#ppt_y+0.03"/>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50"/>
                                        <p:tgtEl>
                                          <p:spTgt spid="14"/>
                                        </p:tgtEl>
                                      </p:cBhvr>
                                    </p:animEffect>
                                    <p:anim calcmode="lin" valueType="num">
                                      <p:cBhvr>
                                        <p:cTn id="58" dur="450" fill="hold"/>
                                        <p:tgtEl>
                                          <p:spTgt spid="14"/>
                                        </p:tgtEl>
                                        <p:attrNameLst>
                                          <p:attrName>ppt_x</p:attrName>
                                        </p:attrNameLst>
                                      </p:cBhvr>
                                      <p:tavLst>
                                        <p:tav tm="0">
                                          <p:val>
                                            <p:strVal val="#ppt_x"/>
                                          </p:val>
                                        </p:tav>
                                        <p:tav tm="100000">
                                          <p:val>
                                            <p:strVal val="#ppt_x"/>
                                          </p:val>
                                        </p:tav>
                                      </p:tavLst>
                                    </p:anim>
                                    <p:anim calcmode="lin" valueType="num">
                                      <p:cBhvr>
                                        <p:cTn id="59" dur="450" fill="hold"/>
                                        <p:tgtEl>
                                          <p:spTgt spid="14"/>
                                        </p:tgtEl>
                                        <p:attrNameLst>
                                          <p:attrName>ppt_y</p:attrName>
                                        </p:attrNameLst>
                                      </p:cBhvr>
                                      <p:tavLst>
                                        <p:tav tm="0">
                                          <p:val>
                                            <p:strVal val="#ppt_y+0.03"/>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450"/>
                                        <p:tgtEl>
                                          <p:spTgt spid="15"/>
                                        </p:tgtEl>
                                      </p:cBhvr>
                                    </p:animEffect>
                                    <p:anim calcmode="lin" valueType="num">
                                      <p:cBhvr>
                                        <p:cTn id="63" dur="450" fill="hold"/>
                                        <p:tgtEl>
                                          <p:spTgt spid="15"/>
                                        </p:tgtEl>
                                        <p:attrNameLst>
                                          <p:attrName>ppt_x</p:attrName>
                                        </p:attrNameLst>
                                      </p:cBhvr>
                                      <p:tavLst>
                                        <p:tav tm="0">
                                          <p:val>
                                            <p:strVal val="#ppt_x"/>
                                          </p:val>
                                        </p:tav>
                                        <p:tav tm="100000">
                                          <p:val>
                                            <p:strVal val="#ppt_x"/>
                                          </p:val>
                                        </p:tav>
                                      </p:tavLst>
                                    </p:anim>
                                    <p:anim calcmode="lin" valueType="num">
                                      <p:cBhvr>
                                        <p:cTn id="64" dur="45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50"/>
                                        <p:tgtEl>
                                          <p:spTgt spid="16"/>
                                        </p:tgtEl>
                                      </p:cBhvr>
                                    </p:animEffect>
                                    <p:anim calcmode="lin" valueType="num">
                                      <p:cBhvr>
                                        <p:cTn id="68" dur="450" fill="hold"/>
                                        <p:tgtEl>
                                          <p:spTgt spid="16"/>
                                        </p:tgtEl>
                                        <p:attrNameLst>
                                          <p:attrName>ppt_x</p:attrName>
                                        </p:attrNameLst>
                                      </p:cBhvr>
                                      <p:tavLst>
                                        <p:tav tm="0">
                                          <p:val>
                                            <p:strVal val="#ppt_x"/>
                                          </p:val>
                                        </p:tav>
                                        <p:tav tm="100000">
                                          <p:val>
                                            <p:strVal val="#ppt_x"/>
                                          </p:val>
                                        </p:tav>
                                      </p:tavLst>
                                    </p:anim>
                                    <p:anim calcmode="lin" valueType="num">
                                      <p:cBhvr>
                                        <p:cTn id="69" dur="450" fill="hold"/>
                                        <p:tgtEl>
                                          <p:spTgt spid="16"/>
                                        </p:tgtEl>
                                        <p:attrNameLst>
                                          <p:attrName>ppt_y</p:attrName>
                                        </p:attrNameLst>
                                      </p:cBhvr>
                                      <p:tavLst>
                                        <p:tav tm="0">
                                          <p:val>
                                            <p:strVal val="#ppt_y+0.03"/>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50"/>
                                        <p:tgtEl>
                                          <p:spTgt spid="17"/>
                                        </p:tgtEl>
                                      </p:cBhvr>
                                    </p:animEffect>
                                    <p:anim calcmode="lin" valueType="num">
                                      <p:cBhvr>
                                        <p:cTn id="73" dur="450" fill="hold"/>
                                        <p:tgtEl>
                                          <p:spTgt spid="17"/>
                                        </p:tgtEl>
                                        <p:attrNameLst>
                                          <p:attrName>ppt_x</p:attrName>
                                        </p:attrNameLst>
                                      </p:cBhvr>
                                      <p:tavLst>
                                        <p:tav tm="0">
                                          <p:val>
                                            <p:strVal val="#ppt_x"/>
                                          </p:val>
                                        </p:tav>
                                        <p:tav tm="100000">
                                          <p:val>
                                            <p:strVal val="#ppt_x"/>
                                          </p:val>
                                        </p:tav>
                                      </p:tavLst>
                                    </p:anim>
                                    <p:anim calcmode="lin" valueType="num">
                                      <p:cBhvr>
                                        <p:cTn id="74" dur="450" fill="hold"/>
                                        <p:tgtEl>
                                          <p:spTgt spid="17"/>
                                        </p:tgtEl>
                                        <p:attrNameLst>
                                          <p:attrName>ppt_y</p:attrName>
                                        </p:attrNameLst>
                                      </p:cBhvr>
                                      <p:tavLst>
                                        <p:tav tm="0">
                                          <p:val>
                                            <p:strVal val="#ppt_y+0.03"/>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450"/>
                                        <p:tgtEl>
                                          <p:spTgt spid="18"/>
                                        </p:tgtEl>
                                      </p:cBhvr>
                                    </p:animEffect>
                                    <p:anim calcmode="lin" valueType="num">
                                      <p:cBhvr>
                                        <p:cTn id="78" dur="450" fill="hold"/>
                                        <p:tgtEl>
                                          <p:spTgt spid="18"/>
                                        </p:tgtEl>
                                        <p:attrNameLst>
                                          <p:attrName>ppt_x</p:attrName>
                                        </p:attrNameLst>
                                      </p:cBhvr>
                                      <p:tavLst>
                                        <p:tav tm="0">
                                          <p:val>
                                            <p:strVal val="#ppt_x"/>
                                          </p:val>
                                        </p:tav>
                                        <p:tav tm="100000">
                                          <p:val>
                                            <p:strVal val="#ppt_x"/>
                                          </p:val>
                                        </p:tav>
                                      </p:tavLst>
                                    </p:anim>
                                    <p:anim calcmode="lin" valueType="num">
                                      <p:cBhvr>
                                        <p:cTn id="79" dur="450" fill="hold"/>
                                        <p:tgtEl>
                                          <p:spTgt spid="18"/>
                                        </p:tgtEl>
                                        <p:attrNameLst>
                                          <p:attrName>ppt_y</p:attrName>
                                        </p:attrNameLst>
                                      </p:cBhvr>
                                      <p:tavLst>
                                        <p:tav tm="0">
                                          <p:val>
                                            <p:strVal val="#ppt_y+0.03"/>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50"/>
                                        <p:tgtEl>
                                          <p:spTgt spid="19"/>
                                        </p:tgtEl>
                                      </p:cBhvr>
                                    </p:animEffect>
                                    <p:anim calcmode="lin" valueType="num">
                                      <p:cBhvr>
                                        <p:cTn id="83" dur="450" fill="hold"/>
                                        <p:tgtEl>
                                          <p:spTgt spid="19"/>
                                        </p:tgtEl>
                                        <p:attrNameLst>
                                          <p:attrName>ppt_x</p:attrName>
                                        </p:attrNameLst>
                                      </p:cBhvr>
                                      <p:tavLst>
                                        <p:tav tm="0">
                                          <p:val>
                                            <p:strVal val="#ppt_x"/>
                                          </p:val>
                                        </p:tav>
                                        <p:tav tm="100000">
                                          <p:val>
                                            <p:strVal val="#ppt_x"/>
                                          </p:val>
                                        </p:tav>
                                      </p:tavLst>
                                    </p:anim>
                                    <p:anim calcmode="lin" valueType="num">
                                      <p:cBhvr>
                                        <p:cTn id="84" dur="450" fill="hold"/>
                                        <p:tgtEl>
                                          <p:spTgt spid="19"/>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50"/>
                                        <p:tgtEl>
                                          <p:spTgt spid="20"/>
                                        </p:tgtEl>
                                      </p:cBhvr>
                                    </p:animEffect>
                                    <p:anim calcmode="lin" valueType="num">
                                      <p:cBhvr>
                                        <p:cTn id="88" dur="450" fill="hold"/>
                                        <p:tgtEl>
                                          <p:spTgt spid="20"/>
                                        </p:tgtEl>
                                        <p:attrNameLst>
                                          <p:attrName>ppt_x</p:attrName>
                                        </p:attrNameLst>
                                      </p:cBhvr>
                                      <p:tavLst>
                                        <p:tav tm="0">
                                          <p:val>
                                            <p:strVal val="#ppt_x"/>
                                          </p:val>
                                        </p:tav>
                                        <p:tav tm="100000">
                                          <p:val>
                                            <p:strVal val="#ppt_x"/>
                                          </p:val>
                                        </p:tav>
                                      </p:tavLst>
                                    </p:anim>
                                    <p:anim calcmode="lin" valueType="num">
                                      <p:cBhvr>
                                        <p:cTn id="89" dur="450" fill="hold"/>
                                        <p:tgtEl>
                                          <p:spTgt spid="20"/>
                                        </p:tgtEl>
                                        <p:attrNameLst>
                                          <p:attrName>ppt_y</p:attrName>
                                        </p:attrNameLst>
                                      </p:cBhvr>
                                      <p:tavLst>
                                        <p:tav tm="0">
                                          <p:val>
                                            <p:strVal val="#ppt_y+0.03"/>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450"/>
                                        <p:tgtEl>
                                          <p:spTgt spid="21"/>
                                        </p:tgtEl>
                                      </p:cBhvr>
                                    </p:animEffect>
                                    <p:anim calcmode="lin" valueType="num">
                                      <p:cBhvr>
                                        <p:cTn id="93" dur="450" fill="hold"/>
                                        <p:tgtEl>
                                          <p:spTgt spid="21"/>
                                        </p:tgtEl>
                                        <p:attrNameLst>
                                          <p:attrName>ppt_x</p:attrName>
                                        </p:attrNameLst>
                                      </p:cBhvr>
                                      <p:tavLst>
                                        <p:tav tm="0">
                                          <p:val>
                                            <p:strVal val="#ppt_x"/>
                                          </p:val>
                                        </p:tav>
                                        <p:tav tm="100000">
                                          <p:val>
                                            <p:strVal val="#ppt_x"/>
                                          </p:val>
                                        </p:tav>
                                      </p:tavLst>
                                    </p:anim>
                                    <p:anim calcmode="lin" valueType="num">
                                      <p:cBhvr>
                                        <p:cTn id="94" dur="450" fill="hold"/>
                                        <p:tgtEl>
                                          <p:spTgt spid="21"/>
                                        </p:tgtEl>
                                        <p:attrNameLst>
                                          <p:attrName>ppt_y</p:attrName>
                                        </p:attrNameLst>
                                      </p:cBhvr>
                                      <p:tavLst>
                                        <p:tav tm="0">
                                          <p:val>
                                            <p:strVal val="#ppt_y+0.03"/>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grpId="0" nodeType="click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450"/>
                                        <p:tgtEl>
                                          <p:spTgt spid="22"/>
                                        </p:tgtEl>
                                      </p:cBhvr>
                                    </p:animEffect>
                                    <p:anim calcmode="lin" valueType="num">
                                      <p:cBhvr>
                                        <p:cTn id="100" dur="450" fill="hold"/>
                                        <p:tgtEl>
                                          <p:spTgt spid="22"/>
                                        </p:tgtEl>
                                        <p:attrNameLst>
                                          <p:attrName>ppt_x</p:attrName>
                                        </p:attrNameLst>
                                      </p:cBhvr>
                                      <p:tavLst>
                                        <p:tav tm="0">
                                          <p:val>
                                            <p:strVal val="#ppt_x"/>
                                          </p:val>
                                        </p:tav>
                                        <p:tav tm="100000">
                                          <p:val>
                                            <p:strVal val="#ppt_x"/>
                                          </p:val>
                                        </p:tav>
                                      </p:tavLst>
                                    </p:anim>
                                    <p:anim calcmode="lin" valueType="num">
                                      <p:cBhvr>
                                        <p:cTn id="101" dur="450" fill="hold"/>
                                        <p:tgtEl>
                                          <p:spTgt spid="22"/>
                                        </p:tgtEl>
                                        <p:attrNameLst>
                                          <p:attrName>ppt_y</p:attrName>
                                        </p:attrNameLst>
                                      </p:cBhvr>
                                      <p:tavLst>
                                        <p:tav tm="0">
                                          <p:val>
                                            <p:strVal val="#ppt_y+0.03"/>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450"/>
                                        <p:tgtEl>
                                          <p:spTgt spid="23"/>
                                        </p:tgtEl>
                                      </p:cBhvr>
                                    </p:animEffect>
                                    <p:anim calcmode="lin" valueType="num">
                                      <p:cBhvr>
                                        <p:cTn id="105" dur="450" fill="hold"/>
                                        <p:tgtEl>
                                          <p:spTgt spid="23"/>
                                        </p:tgtEl>
                                        <p:attrNameLst>
                                          <p:attrName>ppt_x</p:attrName>
                                        </p:attrNameLst>
                                      </p:cBhvr>
                                      <p:tavLst>
                                        <p:tav tm="0">
                                          <p:val>
                                            <p:strVal val="#ppt_x"/>
                                          </p:val>
                                        </p:tav>
                                        <p:tav tm="100000">
                                          <p:val>
                                            <p:strVal val="#ppt_x"/>
                                          </p:val>
                                        </p:tav>
                                      </p:tavLst>
                                    </p:anim>
                                    <p:anim calcmode="lin" valueType="num">
                                      <p:cBhvr>
                                        <p:cTn id="106" dur="450" fill="hold"/>
                                        <p:tgtEl>
                                          <p:spTgt spid="23"/>
                                        </p:tgtEl>
                                        <p:attrNameLst>
                                          <p:attrName>ppt_y</p:attrName>
                                        </p:attrNameLst>
                                      </p:cBhvr>
                                      <p:tavLst>
                                        <p:tav tm="0">
                                          <p:val>
                                            <p:strVal val="#ppt_y+0.03"/>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24"/>
                                        </p:tgtEl>
                                        <p:attrNameLst>
                                          <p:attrName>style.visibility</p:attrName>
                                        </p:attrNameLst>
                                      </p:cBhvr>
                                      <p:to>
                                        <p:strVal val="visible"/>
                                      </p:to>
                                    </p:set>
                                    <p:animEffect transition="in" filter="fade">
                                      <p:cBhvr>
                                        <p:cTn id="111" dur="450"/>
                                        <p:tgtEl>
                                          <p:spTgt spid="24"/>
                                        </p:tgtEl>
                                      </p:cBhvr>
                                    </p:animEffect>
                                    <p:anim calcmode="lin" valueType="num">
                                      <p:cBhvr>
                                        <p:cTn id="112" dur="450" fill="hold"/>
                                        <p:tgtEl>
                                          <p:spTgt spid="24"/>
                                        </p:tgtEl>
                                        <p:attrNameLst>
                                          <p:attrName>ppt_x</p:attrName>
                                        </p:attrNameLst>
                                      </p:cBhvr>
                                      <p:tavLst>
                                        <p:tav tm="0">
                                          <p:val>
                                            <p:strVal val="#ppt_x"/>
                                          </p:val>
                                        </p:tav>
                                        <p:tav tm="100000">
                                          <p:val>
                                            <p:strVal val="#ppt_x"/>
                                          </p:val>
                                        </p:tav>
                                      </p:tavLst>
                                    </p:anim>
                                    <p:anim calcmode="lin" valueType="num">
                                      <p:cBhvr>
                                        <p:cTn id="113" dur="450" fill="hold"/>
                                        <p:tgtEl>
                                          <p:spTgt spid="24"/>
                                        </p:tgtEl>
                                        <p:attrNameLst>
                                          <p:attrName>ppt_y</p:attrName>
                                        </p:attrNameLst>
                                      </p:cBhvr>
                                      <p:tavLst>
                                        <p:tav tm="0">
                                          <p:val>
                                            <p:strVal val="#ppt_y+0.03"/>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450"/>
                                        <p:tgtEl>
                                          <p:spTgt spid="25"/>
                                        </p:tgtEl>
                                      </p:cBhvr>
                                    </p:animEffect>
                                    <p:anim calcmode="lin" valueType="num">
                                      <p:cBhvr>
                                        <p:cTn id="117" dur="450" fill="hold"/>
                                        <p:tgtEl>
                                          <p:spTgt spid="25"/>
                                        </p:tgtEl>
                                        <p:attrNameLst>
                                          <p:attrName>ppt_x</p:attrName>
                                        </p:attrNameLst>
                                      </p:cBhvr>
                                      <p:tavLst>
                                        <p:tav tm="0">
                                          <p:val>
                                            <p:strVal val="#ppt_x"/>
                                          </p:val>
                                        </p:tav>
                                        <p:tav tm="100000">
                                          <p:val>
                                            <p:strVal val="#ppt_x"/>
                                          </p:val>
                                        </p:tav>
                                      </p:tavLst>
                                    </p:anim>
                                    <p:anim calcmode="lin" valueType="num">
                                      <p:cBhvr>
                                        <p:cTn id="118" dur="450" fill="hold"/>
                                        <p:tgtEl>
                                          <p:spTgt spid="25"/>
                                        </p:tgtEl>
                                        <p:attrNameLst>
                                          <p:attrName>ppt_y</p:attrName>
                                        </p:attrNameLst>
                                      </p:cBhvr>
                                      <p:tavLst>
                                        <p:tav tm="0">
                                          <p:val>
                                            <p:strVal val="#ppt_y+0.03"/>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28"/>
                                        </p:tgtEl>
                                        <p:attrNameLst>
                                          <p:attrName>style.visibility</p:attrName>
                                        </p:attrNameLst>
                                      </p:cBhvr>
                                      <p:to>
                                        <p:strVal val="visible"/>
                                      </p:to>
                                    </p:set>
                                    <p:animEffect transition="in" filter="fade">
                                      <p:cBhvr>
                                        <p:cTn id="123" dur="450"/>
                                        <p:tgtEl>
                                          <p:spTgt spid="28"/>
                                        </p:tgtEl>
                                      </p:cBhvr>
                                    </p:animEffect>
                                    <p:anim calcmode="lin" valueType="num">
                                      <p:cBhvr>
                                        <p:cTn id="124" dur="450" fill="hold"/>
                                        <p:tgtEl>
                                          <p:spTgt spid="28"/>
                                        </p:tgtEl>
                                        <p:attrNameLst>
                                          <p:attrName>ppt_x</p:attrName>
                                        </p:attrNameLst>
                                      </p:cBhvr>
                                      <p:tavLst>
                                        <p:tav tm="0">
                                          <p:val>
                                            <p:strVal val="#ppt_x"/>
                                          </p:val>
                                        </p:tav>
                                        <p:tav tm="100000">
                                          <p:val>
                                            <p:strVal val="#ppt_x"/>
                                          </p:val>
                                        </p:tav>
                                      </p:tavLst>
                                    </p:anim>
                                    <p:anim calcmode="lin" valueType="num">
                                      <p:cBhvr>
                                        <p:cTn id="125" dur="450" fill="hold"/>
                                        <p:tgtEl>
                                          <p:spTgt spid="28"/>
                                        </p:tgtEl>
                                        <p:attrNameLst>
                                          <p:attrName>ppt_y</p:attrName>
                                        </p:attrNameLst>
                                      </p:cBhvr>
                                      <p:tavLst>
                                        <p:tav tm="0">
                                          <p:val>
                                            <p:strVal val="#ppt_y+0.03"/>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29"/>
                                        </p:tgtEl>
                                        <p:attrNameLst>
                                          <p:attrName>style.visibility</p:attrName>
                                        </p:attrNameLst>
                                      </p:cBhvr>
                                      <p:to>
                                        <p:strVal val="visible"/>
                                      </p:to>
                                    </p:set>
                                    <p:animEffect transition="in" filter="fade">
                                      <p:cBhvr>
                                        <p:cTn id="128" dur="450"/>
                                        <p:tgtEl>
                                          <p:spTgt spid="29"/>
                                        </p:tgtEl>
                                      </p:cBhvr>
                                    </p:animEffect>
                                    <p:anim calcmode="lin" valueType="num">
                                      <p:cBhvr>
                                        <p:cTn id="129" dur="450" fill="hold"/>
                                        <p:tgtEl>
                                          <p:spTgt spid="29"/>
                                        </p:tgtEl>
                                        <p:attrNameLst>
                                          <p:attrName>ppt_x</p:attrName>
                                        </p:attrNameLst>
                                      </p:cBhvr>
                                      <p:tavLst>
                                        <p:tav tm="0">
                                          <p:val>
                                            <p:strVal val="#ppt_x"/>
                                          </p:val>
                                        </p:tav>
                                        <p:tav tm="100000">
                                          <p:val>
                                            <p:strVal val="#ppt_x"/>
                                          </p:val>
                                        </p:tav>
                                      </p:tavLst>
                                    </p:anim>
                                    <p:anim calcmode="lin" valueType="num">
                                      <p:cBhvr>
                                        <p:cTn id="130" dur="450" fill="hold"/>
                                        <p:tgtEl>
                                          <p:spTgt spid="29"/>
                                        </p:tgtEl>
                                        <p:attrNameLst>
                                          <p:attrName>ppt_y</p:attrName>
                                        </p:attrNameLst>
                                      </p:cBhvr>
                                      <p:tavLst>
                                        <p:tav tm="0">
                                          <p:val>
                                            <p:strVal val="#ppt_y+0.03"/>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30"/>
                                        </p:tgtEl>
                                        <p:attrNameLst>
                                          <p:attrName>style.visibility</p:attrName>
                                        </p:attrNameLst>
                                      </p:cBhvr>
                                      <p:to>
                                        <p:strVal val="visible"/>
                                      </p:to>
                                    </p:set>
                                    <p:animEffect transition="in" filter="fade">
                                      <p:cBhvr>
                                        <p:cTn id="133" dur="450"/>
                                        <p:tgtEl>
                                          <p:spTgt spid="30"/>
                                        </p:tgtEl>
                                      </p:cBhvr>
                                    </p:animEffect>
                                    <p:anim calcmode="lin" valueType="num">
                                      <p:cBhvr>
                                        <p:cTn id="134" dur="450" fill="hold"/>
                                        <p:tgtEl>
                                          <p:spTgt spid="30"/>
                                        </p:tgtEl>
                                        <p:attrNameLst>
                                          <p:attrName>ppt_x</p:attrName>
                                        </p:attrNameLst>
                                      </p:cBhvr>
                                      <p:tavLst>
                                        <p:tav tm="0">
                                          <p:val>
                                            <p:strVal val="#ppt_x"/>
                                          </p:val>
                                        </p:tav>
                                        <p:tav tm="100000">
                                          <p:val>
                                            <p:strVal val="#ppt_x"/>
                                          </p:val>
                                        </p:tav>
                                      </p:tavLst>
                                    </p:anim>
                                    <p:anim calcmode="lin" valueType="num">
                                      <p:cBhvr>
                                        <p:cTn id="135" dur="450" fill="hold"/>
                                        <p:tgtEl>
                                          <p:spTgt spid="30"/>
                                        </p:tgtEl>
                                        <p:attrNameLst>
                                          <p:attrName>ppt_y</p:attrName>
                                        </p:attrNameLst>
                                      </p:cBhvr>
                                      <p:tavLst>
                                        <p:tav tm="0">
                                          <p:val>
                                            <p:strVal val="#ppt_y+0.03"/>
                                          </p:val>
                                        </p:tav>
                                        <p:tav tm="100000">
                                          <p:val>
                                            <p:strVal val="#ppt_y"/>
                                          </p:val>
                                        </p:tav>
                                      </p:tavLst>
                                    </p:anim>
                                  </p:childTnLst>
                                </p:cTn>
                              </p:par>
                              <p:par>
                                <p:cTn id="136" presetID="42" presetClass="entr" presetSubtype="0" fill="hold" grpId="0" nodeType="withEffect">
                                  <p:stCondLst>
                                    <p:cond delay="0"/>
                                  </p:stCondLst>
                                  <p:childTnLst>
                                    <p:set>
                                      <p:cBhvr>
                                        <p:cTn id="137" dur="1" fill="hold">
                                          <p:stCondLst>
                                            <p:cond delay="0"/>
                                          </p:stCondLst>
                                        </p:cTn>
                                        <p:tgtEl>
                                          <p:spTgt spid="31"/>
                                        </p:tgtEl>
                                        <p:attrNameLst>
                                          <p:attrName>style.visibility</p:attrName>
                                        </p:attrNameLst>
                                      </p:cBhvr>
                                      <p:to>
                                        <p:strVal val="visible"/>
                                      </p:to>
                                    </p:set>
                                    <p:animEffect transition="in" filter="fade">
                                      <p:cBhvr>
                                        <p:cTn id="138" dur="450"/>
                                        <p:tgtEl>
                                          <p:spTgt spid="31"/>
                                        </p:tgtEl>
                                      </p:cBhvr>
                                    </p:animEffect>
                                    <p:anim calcmode="lin" valueType="num">
                                      <p:cBhvr>
                                        <p:cTn id="139" dur="450" fill="hold"/>
                                        <p:tgtEl>
                                          <p:spTgt spid="31"/>
                                        </p:tgtEl>
                                        <p:attrNameLst>
                                          <p:attrName>ppt_x</p:attrName>
                                        </p:attrNameLst>
                                      </p:cBhvr>
                                      <p:tavLst>
                                        <p:tav tm="0">
                                          <p:val>
                                            <p:strVal val="#ppt_x"/>
                                          </p:val>
                                        </p:tav>
                                        <p:tav tm="100000">
                                          <p:val>
                                            <p:strVal val="#ppt_x"/>
                                          </p:val>
                                        </p:tav>
                                      </p:tavLst>
                                    </p:anim>
                                    <p:anim calcmode="lin" valueType="num">
                                      <p:cBhvr>
                                        <p:cTn id="140" dur="450" fill="hold"/>
                                        <p:tgtEl>
                                          <p:spTgt spid="31"/>
                                        </p:tgtEl>
                                        <p:attrNameLst>
                                          <p:attrName>ppt_y</p:attrName>
                                        </p:attrNameLst>
                                      </p:cBhvr>
                                      <p:tavLst>
                                        <p:tav tm="0">
                                          <p:val>
                                            <p:strVal val="#ppt_y+0.03"/>
                                          </p:val>
                                        </p:tav>
                                        <p:tav tm="100000">
                                          <p:val>
                                            <p:strVal val="#ppt_y"/>
                                          </p:val>
                                        </p:tav>
                                      </p:tavLst>
                                    </p:anim>
                                  </p:childTnLst>
                                </p:cTn>
                              </p:par>
                              <p:par>
                                <p:cTn id="141" presetID="42" presetClass="entr" presetSubtype="0" fill="hold" grpId="0" nodeType="withEffect">
                                  <p:stCondLst>
                                    <p:cond delay="0"/>
                                  </p:stCondLst>
                                  <p:childTnLst>
                                    <p:set>
                                      <p:cBhvr>
                                        <p:cTn id="142" dur="1" fill="hold">
                                          <p:stCondLst>
                                            <p:cond delay="0"/>
                                          </p:stCondLst>
                                        </p:cTn>
                                        <p:tgtEl>
                                          <p:spTgt spid="32"/>
                                        </p:tgtEl>
                                        <p:attrNameLst>
                                          <p:attrName>style.visibility</p:attrName>
                                        </p:attrNameLst>
                                      </p:cBhvr>
                                      <p:to>
                                        <p:strVal val="visible"/>
                                      </p:to>
                                    </p:set>
                                    <p:animEffect transition="in" filter="fade">
                                      <p:cBhvr>
                                        <p:cTn id="143" dur="450"/>
                                        <p:tgtEl>
                                          <p:spTgt spid="32"/>
                                        </p:tgtEl>
                                      </p:cBhvr>
                                    </p:animEffect>
                                    <p:anim calcmode="lin" valueType="num">
                                      <p:cBhvr>
                                        <p:cTn id="144" dur="450" fill="hold"/>
                                        <p:tgtEl>
                                          <p:spTgt spid="32"/>
                                        </p:tgtEl>
                                        <p:attrNameLst>
                                          <p:attrName>ppt_x</p:attrName>
                                        </p:attrNameLst>
                                      </p:cBhvr>
                                      <p:tavLst>
                                        <p:tav tm="0">
                                          <p:val>
                                            <p:strVal val="#ppt_x"/>
                                          </p:val>
                                        </p:tav>
                                        <p:tav tm="100000">
                                          <p:val>
                                            <p:strVal val="#ppt_x"/>
                                          </p:val>
                                        </p:tav>
                                      </p:tavLst>
                                    </p:anim>
                                    <p:anim calcmode="lin" valueType="num">
                                      <p:cBhvr>
                                        <p:cTn id="145" dur="450" fill="hold"/>
                                        <p:tgtEl>
                                          <p:spTgt spid="32"/>
                                        </p:tgtEl>
                                        <p:attrNameLst>
                                          <p:attrName>ppt_y</p:attrName>
                                        </p:attrNameLst>
                                      </p:cBhvr>
                                      <p:tavLst>
                                        <p:tav tm="0">
                                          <p:val>
                                            <p:strVal val="#ppt_y+0.03"/>
                                          </p:val>
                                        </p:tav>
                                        <p:tav tm="100000">
                                          <p:val>
                                            <p:strVal val="#ppt_y"/>
                                          </p:val>
                                        </p:tav>
                                      </p:tavLst>
                                    </p:anim>
                                  </p:childTnLst>
                                </p:cTn>
                              </p:par>
                            </p:childTnLst>
                          </p:cTn>
                        </p:par>
                      </p:childTnLst>
                    </p:cTn>
                  </p:par>
                  <p:par>
                    <p:cTn id="146" fill="hold">
                      <p:stCondLst>
                        <p:cond delay="indefinite"/>
                      </p:stCondLst>
                      <p:childTnLst>
                        <p:par>
                          <p:cTn id="147" fill="hold">
                            <p:stCondLst>
                              <p:cond delay="0"/>
                            </p:stCondLst>
                            <p:childTnLst>
                              <p:par>
                                <p:cTn id="148" presetID="42" presetClass="entr" presetSubtype="0" fill="hold" grpId="0" nodeType="clickEffect">
                                  <p:stCondLst>
                                    <p:cond delay="0"/>
                                  </p:stCondLst>
                                  <p:childTnLst>
                                    <p:set>
                                      <p:cBhvr>
                                        <p:cTn id="149" dur="1" fill="hold">
                                          <p:stCondLst>
                                            <p:cond delay="0"/>
                                          </p:stCondLst>
                                        </p:cTn>
                                        <p:tgtEl>
                                          <p:spTgt spid="26"/>
                                        </p:tgtEl>
                                        <p:attrNameLst>
                                          <p:attrName>style.visibility</p:attrName>
                                        </p:attrNameLst>
                                      </p:cBhvr>
                                      <p:to>
                                        <p:strVal val="visible"/>
                                      </p:to>
                                    </p:set>
                                    <p:animEffect transition="in" filter="fade">
                                      <p:cBhvr>
                                        <p:cTn id="150" dur="450"/>
                                        <p:tgtEl>
                                          <p:spTgt spid="26"/>
                                        </p:tgtEl>
                                      </p:cBhvr>
                                    </p:animEffect>
                                    <p:anim calcmode="lin" valueType="num">
                                      <p:cBhvr>
                                        <p:cTn id="151" dur="450" fill="hold"/>
                                        <p:tgtEl>
                                          <p:spTgt spid="26"/>
                                        </p:tgtEl>
                                        <p:attrNameLst>
                                          <p:attrName>ppt_x</p:attrName>
                                        </p:attrNameLst>
                                      </p:cBhvr>
                                      <p:tavLst>
                                        <p:tav tm="0">
                                          <p:val>
                                            <p:strVal val="#ppt_x"/>
                                          </p:val>
                                        </p:tav>
                                        <p:tav tm="100000">
                                          <p:val>
                                            <p:strVal val="#ppt_x"/>
                                          </p:val>
                                        </p:tav>
                                      </p:tavLst>
                                    </p:anim>
                                    <p:anim calcmode="lin" valueType="num">
                                      <p:cBhvr>
                                        <p:cTn id="152" dur="450" fill="hold"/>
                                        <p:tgtEl>
                                          <p:spTgt spid="26"/>
                                        </p:tgtEl>
                                        <p:attrNameLst>
                                          <p:attrName>ppt_y</p:attrName>
                                        </p:attrNameLst>
                                      </p:cBhvr>
                                      <p:tavLst>
                                        <p:tav tm="0">
                                          <p:val>
                                            <p:strVal val="#ppt_y+0.03"/>
                                          </p:val>
                                        </p:tav>
                                        <p:tav tm="100000">
                                          <p:val>
                                            <p:strVal val="#ppt_y"/>
                                          </p:val>
                                        </p:tav>
                                      </p:tavLst>
                                    </p:anim>
                                  </p:childTnLst>
                                </p:cTn>
                              </p:par>
                              <p:par>
                                <p:cTn id="153" presetID="42" presetClass="entr" presetSubtype="0" fill="hold" grpId="0" nodeType="withEffect">
                                  <p:stCondLst>
                                    <p:cond delay="0"/>
                                  </p:stCondLst>
                                  <p:childTnLst>
                                    <p:set>
                                      <p:cBhvr>
                                        <p:cTn id="154" dur="1" fill="hold">
                                          <p:stCondLst>
                                            <p:cond delay="0"/>
                                          </p:stCondLst>
                                        </p:cTn>
                                        <p:tgtEl>
                                          <p:spTgt spid="27"/>
                                        </p:tgtEl>
                                        <p:attrNameLst>
                                          <p:attrName>style.visibility</p:attrName>
                                        </p:attrNameLst>
                                      </p:cBhvr>
                                      <p:to>
                                        <p:strVal val="visible"/>
                                      </p:to>
                                    </p:set>
                                    <p:animEffect transition="in" filter="fade">
                                      <p:cBhvr>
                                        <p:cTn id="155" dur="450"/>
                                        <p:tgtEl>
                                          <p:spTgt spid="27"/>
                                        </p:tgtEl>
                                      </p:cBhvr>
                                    </p:animEffect>
                                    <p:anim calcmode="lin" valueType="num">
                                      <p:cBhvr>
                                        <p:cTn id="156" dur="450" fill="hold"/>
                                        <p:tgtEl>
                                          <p:spTgt spid="27"/>
                                        </p:tgtEl>
                                        <p:attrNameLst>
                                          <p:attrName>ppt_x</p:attrName>
                                        </p:attrNameLst>
                                      </p:cBhvr>
                                      <p:tavLst>
                                        <p:tav tm="0">
                                          <p:val>
                                            <p:strVal val="#ppt_x"/>
                                          </p:val>
                                        </p:tav>
                                        <p:tav tm="100000">
                                          <p:val>
                                            <p:strVal val="#ppt_x"/>
                                          </p:val>
                                        </p:tav>
                                      </p:tavLst>
                                    </p:anim>
                                    <p:anim calcmode="lin" valueType="num">
                                      <p:cBhvr>
                                        <p:cTn id="157" dur="450" fill="hold"/>
                                        <p:tgtEl>
                                          <p:spTgt spid="27"/>
                                        </p:tgtEl>
                                        <p:attrNameLst>
                                          <p:attrName>ppt_y</p:attrName>
                                        </p:attrNameLst>
                                      </p:cBhvr>
                                      <p:tavLst>
                                        <p:tav tm="0">
                                          <p:val>
                                            <p:strVal val="#ppt_y+0.03"/>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33"/>
                                        </p:tgtEl>
                                        <p:attrNameLst>
                                          <p:attrName>style.visibility</p:attrName>
                                        </p:attrNameLst>
                                      </p:cBhvr>
                                      <p:to>
                                        <p:strVal val="visible"/>
                                      </p:to>
                                    </p:set>
                                    <p:animEffect transition="in" filter="fade">
                                      <p:cBhvr>
                                        <p:cTn id="160" dur="450"/>
                                        <p:tgtEl>
                                          <p:spTgt spid="33"/>
                                        </p:tgtEl>
                                      </p:cBhvr>
                                    </p:animEffect>
                                    <p:anim calcmode="lin" valueType="num">
                                      <p:cBhvr>
                                        <p:cTn id="161" dur="450" fill="hold"/>
                                        <p:tgtEl>
                                          <p:spTgt spid="33"/>
                                        </p:tgtEl>
                                        <p:attrNameLst>
                                          <p:attrName>ppt_x</p:attrName>
                                        </p:attrNameLst>
                                      </p:cBhvr>
                                      <p:tavLst>
                                        <p:tav tm="0">
                                          <p:val>
                                            <p:strVal val="#ppt_x"/>
                                          </p:val>
                                        </p:tav>
                                        <p:tav tm="100000">
                                          <p:val>
                                            <p:strVal val="#ppt_x"/>
                                          </p:val>
                                        </p:tav>
                                      </p:tavLst>
                                    </p:anim>
                                    <p:anim calcmode="lin" valueType="num">
                                      <p:cBhvr>
                                        <p:cTn id="162" dur="450" fill="hold"/>
                                        <p:tgtEl>
                                          <p:spTgt spid="33"/>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8" grpId="0" animBg="1"/>
      <p:bldP spid="29" grpId="0" animBg="1"/>
      <p:bldP spid="30" grpId="0" animBg="1"/>
      <p:bldP spid="31" grpId="0" animBg="1"/>
      <p:bldP spid="32" grpId="0" animBg="1"/>
      <p:bldP spid="26" grpId="0" animBg="1"/>
      <p:bldP spid="27" grpId="0" animBg="1"/>
      <p:bldP spid="3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04 · EXCEPTION · VALIDATION</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@Valid: 규칙은 DTO에 적고, 검사는 Spring이</a:t>
            </a:r>
            <a:endParaRPr lang="en-US" sz="3200" dirty="0"/>
          </a:p>
        </p:txBody>
      </p:sp>
      <p:sp>
        <p:nvSpPr>
          <p:cNvPr id="4" name="b0c0-0"/>
          <p:cNvSpPr/>
          <p:nvPr/>
        </p:nvSpPr>
        <p:spPr>
          <a:xfrm>
            <a:off x="649224" y="2008251"/>
            <a:ext cx="5330952" cy="2287270"/>
          </a:xfrm>
          <a:prstGeom prst="roundRect">
            <a:avLst>
              <a:gd name="adj" fmla="val 4797"/>
            </a:avLst>
          </a:prstGeom>
          <a:solidFill>
            <a:schemeClr val="tx2"/>
          </a:solidFill>
          <a:ln/>
        </p:spPr>
      </p:sp>
      <p:sp>
        <p:nvSpPr>
          <p:cNvPr id="5" name="b0c0-1"/>
          <p:cNvSpPr/>
          <p:nvPr/>
        </p:nvSpPr>
        <p:spPr>
          <a:xfrm>
            <a:off x="850392" y="2154555"/>
            <a:ext cx="100584" cy="100584"/>
          </a:xfrm>
          <a:prstGeom prst="ellipse">
            <a:avLst/>
          </a:prstGeom>
          <a:solidFill>
            <a:srgbClr val="4A4844"/>
          </a:solidFill>
          <a:ln/>
        </p:spPr>
      </p:sp>
      <p:sp>
        <p:nvSpPr>
          <p:cNvPr id="6" name="b0c0-2"/>
          <p:cNvSpPr/>
          <p:nvPr/>
        </p:nvSpPr>
        <p:spPr>
          <a:xfrm>
            <a:off x="1024128" y="2154555"/>
            <a:ext cx="100584" cy="100584"/>
          </a:xfrm>
          <a:prstGeom prst="ellipse">
            <a:avLst/>
          </a:prstGeom>
          <a:solidFill>
            <a:srgbClr val="4A4844"/>
          </a:solidFill>
          <a:ln/>
        </p:spPr>
      </p:sp>
      <p:sp>
        <p:nvSpPr>
          <p:cNvPr id="7" name="b0c0-3"/>
          <p:cNvSpPr/>
          <p:nvPr/>
        </p:nvSpPr>
        <p:spPr>
          <a:xfrm>
            <a:off x="1197864" y="2154555"/>
            <a:ext cx="100584" cy="100584"/>
          </a:xfrm>
          <a:prstGeom prst="ellipse">
            <a:avLst/>
          </a:prstGeom>
          <a:solidFill>
            <a:srgbClr val="4A4844"/>
          </a:solidFill>
          <a:ln/>
        </p:spPr>
      </p:sp>
      <p:sp>
        <p:nvSpPr>
          <p:cNvPr id="8" name="b0c0-4"/>
          <p:cNvSpPr txBox="1"/>
          <p:nvPr/>
        </p:nvSpPr>
        <p:spPr>
          <a:xfrm>
            <a:off x="1472184" y="2099691"/>
            <a:ext cx="4325112"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요청 DTO: 칸마다 규칙을 적는다</a:t>
            </a:r>
            <a:endParaRPr lang="en-US" sz="1100" dirty="0"/>
          </a:p>
        </p:txBody>
      </p:sp>
      <p:sp>
        <p:nvSpPr>
          <p:cNvPr id="9" name="b0c0-5"/>
          <p:cNvSpPr txBox="1"/>
          <p:nvPr/>
        </p:nvSpPr>
        <p:spPr>
          <a:xfrm>
            <a:off x="905256" y="2447163"/>
            <a:ext cx="4873752" cy="1738630"/>
          </a:xfrm>
          <a:prstGeom prst="rect">
            <a:avLst/>
          </a:prstGeom>
          <a:noFill/>
          <a:ln/>
        </p:spPr>
        <p:txBody>
          <a:bodyPr wrap="square" lIns="0" tIns="0" rIns="0" bIns="0" rtlCol="0" anchor="t"/>
          <a:lstStyle/>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record CreatePostRequest(</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@NotBlank @Size(max = 100)</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String title,      // 필수, 100자까지</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@NotBlank</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String content     // 필수</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a:t>
            </a:r>
            <a:endParaRPr lang="en-US" sz="1400" dirty="0"/>
          </a:p>
        </p:txBody>
      </p:sp>
      <p:sp>
        <p:nvSpPr>
          <p:cNvPr id="10" name="b0c1-6"/>
          <p:cNvSpPr/>
          <p:nvPr/>
        </p:nvSpPr>
        <p:spPr>
          <a:xfrm>
            <a:off x="6208776" y="2008251"/>
            <a:ext cx="5330952" cy="2287270"/>
          </a:xfrm>
          <a:prstGeom prst="roundRect">
            <a:avLst>
              <a:gd name="adj" fmla="val 4797"/>
            </a:avLst>
          </a:prstGeom>
          <a:solidFill>
            <a:schemeClr val="tx2"/>
          </a:solidFill>
          <a:ln/>
        </p:spPr>
      </p:sp>
      <p:sp>
        <p:nvSpPr>
          <p:cNvPr id="11" name="b0c1-7"/>
          <p:cNvSpPr/>
          <p:nvPr/>
        </p:nvSpPr>
        <p:spPr>
          <a:xfrm>
            <a:off x="6409944" y="2154555"/>
            <a:ext cx="100584" cy="100584"/>
          </a:xfrm>
          <a:prstGeom prst="ellipse">
            <a:avLst/>
          </a:prstGeom>
          <a:solidFill>
            <a:srgbClr val="4A4844"/>
          </a:solidFill>
          <a:ln/>
        </p:spPr>
      </p:sp>
      <p:sp>
        <p:nvSpPr>
          <p:cNvPr id="12" name="b0c1-8"/>
          <p:cNvSpPr/>
          <p:nvPr/>
        </p:nvSpPr>
        <p:spPr>
          <a:xfrm>
            <a:off x="6583680" y="2154555"/>
            <a:ext cx="100584" cy="100584"/>
          </a:xfrm>
          <a:prstGeom prst="ellipse">
            <a:avLst/>
          </a:prstGeom>
          <a:solidFill>
            <a:srgbClr val="4A4844"/>
          </a:solidFill>
          <a:ln/>
        </p:spPr>
      </p:sp>
      <p:sp>
        <p:nvSpPr>
          <p:cNvPr id="13" name="b0c1-9"/>
          <p:cNvSpPr/>
          <p:nvPr/>
        </p:nvSpPr>
        <p:spPr>
          <a:xfrm>
            <a:off x="6757416" y="2154555"/>
            <a:ext cx="100584" cy="100584"/>
          </a:xfrm>
          <a:prstGeom prst="ellipse">
            <a:avLst/>
          </a:prstGeom>
          <a:solidFill>
            <a:srgbClr val="4A4844"/>
          </a:solidFill>
          <a:ln/>
        </p:spPr>
      </p:sp>
      <p:sp>
        <p:nvSpPr>
          <p:cNvPr id="14" name="b0c1-10"/>
          <p:cNvSpPr txBox="1"/>
          <p:nvPr/>
        </p:nvSpPr>
        <p:spPr>
          <a:xfrm>
            <a:off x="7031736" y="2099691"/>
            <a:ext cx="4325112"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컨트롤러: 매개변수 앞에 @Valid</a:t>
            </a:r>
            <a:endParaRPr lang="en-US" sz="1100" dirty="0"/>
          </a:p>
        </p:txBody>
      </p:sp>
      <p:sp>
        <p:nvSpPr>
          <p:cNvPr id="15" name="b0c1-11"/>
          <p:cNvSpPr txBox="1"/>
          <p:nvPr/>
        </p:nvSpPr>
        <p:spPr>
          <a:xfrm>
            <a:off x="6464808" y="2447163"/>
            <a:ext cx="4873752" cy="1738630"/>
          </a:xfrm>
          <a:prstGeom prst="rect">
            <a:avLst/>
          </a:prstGeom>
          <a:noFill/>
          <a:ln/>
        </p:spPr>
        <p:txBody>
          <a:bodyPr wrap="square" lIns="0" tIns="0" rIns="0" bIns="0" rtlCol="0" anchor="t"/>
          <a:lstStyle/>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@PostMapping</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public ResponseEntity&lt;PostResponse&gt; create(</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@Valid @RequestBody</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CreatePostRequest req) {</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 여기까지 왔다면 이미 검사를 통과</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a:t>
            </a:r>
            <a:endParaRPr lang="en-US" sz="1400" dirty="0"/>
          </a:p>
        </p:txBody>
      </p:sp>
      <p:sp>
        <p:nvSpPr>
          <p:cNvPr id="16" name="b1-0"/>
          <p:cNvSpPr/>
          <p:nvPr/>
        </p:nvSpPr>
        <p:spPr>
          <a:xfrm>
            <a:off x="649224" y="4524121"/>
            <a:ext cx="10890504" cy="1176020"/>
          </a:xfrm>
          <a:prstGeom prst="roundRect">
            <a:avLst>
              <a:gd name="adj" fmla="val 9330"/>
            </a:avLst>
          </a:prstGeom>
          <a:solidFill>
            <a:schemeClr val="tx2"/>
          </a:solidFill>
          <a:ln/>
        </p:spPr>
      </p:sp>
      <p:sp>
        <p:nvSpPr>
          <p:cNvPr id="17" name="b1-1"/>
          <p:cNvSpPr/>
          <p:nvPr/>
        </p:nvSpPr>
        <p:spPr>
          <a:xfrm>
            <a:off x="850392" y="4670425"/>
            <a:ext cx="100584" cy="100584"/>
          </a:xfrm>
          <a:prstGeom prst="ellipse">
            <a:avLst/>
          </a:prstGeom>
          <a:solidFill>
            <a:srgbClr val="4A4844"/>
          </a:solidFill>
          <a:ln/>
        </p:spPr>
      </p:sp>
      <p:sp>
        <p:nvSpPr>
          <p:cNvPr id="18" name="b1-2"/>
          <p:cNvSpPr/>
          <p:nvPr/>
        </p:nvSpPr>
        <p:spPr>
          <a:xfrm>
            <a:off x="1024128" y="4670425"/>
            <a:ext cx="100584" cy="100584"/>
          </a:xfrm>
          <a:prstGeom prst="ellipse">
            <a:avLst/>
          </a:prstGeom>
          <a:solidFill>
            <a:srgbClr val="4A4844"/>
          </a:solidFill>
          <a:ln/>
        </p:spPr>
      </p:sp>
      <p:sp>
        <p:nvSpPr>
          <p:cNvPr id="19" name="b1-3"/>
          <p:cNvSpPr/>
          <p:nvPr/>
        </p:nvSpPr>
        <p:spPr>
          <a:xfrm>
            <a:off x="1197864" y="4670425"/>
            <a:ext cx="100584" cy="100584"/>
          </a:xfrm>
          <a:prstGeom prst="ellipse">
            <a:avLst/>
          </a:prstGeom>
          <a:solidFill>
            <a:srgbClr val="4A4844"/>
          </a:solidFill>
          <a:ln/>
        </p:spPr>
      </p:sp>
      <p:sp>
        <p:nvSpPr>
          <p:cNvPr id="20" name="b1-4"/>
          <p:cNvSpPr txBox="1"/>
          <p:nvPr/>
        </p:nvSpPr>
        <p:spPr>
          <a:xfrm>
            <a:off x="1472184" y="4615561"/>
            <a:ext cx="9884664"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제목을 비워서 보내면</a:t>
            </a:r>
            <a:endParaRPr lang="en-US" sz="1100" dirty="0"/>
          </a:p>
        </p:txBody>
      </p:sp>
      <p:sp>
        <p:nvSpPr>
          <p:cNvPr id="21" name="b1-5"/>
          <p:cNvSpPr txBox="1"/>
          <p:nvPr/>
        </p:nvSpPr>
        <p:spPr>
          <a:xfrm>
            <a:off x="905256" y="4963033"/>
            <a:ext cx="10433304" cy="627380"/>
          </a:xfrm>
          <a:prstGeom prst="rect">
            <a:avLst/>
          </a:prstGeom>
          <a:noFill/>
          <a:ln/>
        </p:spPr>
        <p:txBody>
          <a:bodyPr wrap="square" lIns="0" tIns="0" rIns="0" bIns="0" rtlCol="0" anchor="t"/>
          <a:lstStyle/>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curl -X POST /api/v1/posts -d '{"title": "", "content": "부산 맛집 후기"}'</a:t>
            </a:r>
            <a:endParaRPr lang="en-US" sz="1400" dirty="0"/>
          </a:p>
          <a:p>
            <a:pPr algn="l" indent="0" marL="0">
              <a:lnSpc>
                <a:spcPct val="105000"/>
              </a:lnSpc>
              <a:buNone/>
            </a:pPr>
            <a:r>
              <a:rPr lang="en-US" sz="1400" dirty="0">
                <a:solidFill>
                  <a:srgbClr val="E5806F"/>
                </a:solidFill>
                <a:latin typeface="JetBrains Mono" pitchFamily="34" charset="0"/>
                <a:ea typeface="JetBrains Mono" pitchFamily="34" charset="-122"/>
                <a:cs typeface="JetBrains Mono" pitchFamily="34" charset="-120"/>
              </a:rPr>
              <a:t>→ 컨트롤러 코드가 실행되기 전에 막히고, MethodArgumentNotValidException이 던져진다</a:t>
            </a:r>
            <a:endParaRPr lang="en-US" sz="1400" dirty="0"/>
          </a:p>
        </p:txBody>
      </p:sp>
      <p:sp>
        <p:nvSpPr>
          <p:cNvPr id="22"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fill="hold"/>
                                        <p:tgtEl>
                                          <p:spTgt spid="7"/>
                                        </p:tgtEl>
                                        <p:attrNameLst>
                                          <p:attrName>ppt_x</p:attrName>
                                        </p:attrNameLst>
                                      </p:cBhvr>
                                      <p:tavLst>
                                        <p:tav tm="0">
                                          <p:val>
                                            <p:strVal val="#ppt_x"/>
                                          </p:val>
                                        </p:tav>
                                        <p:tav tm="100000">
                                          <p:val>
                                            <p:strVal val="#ppt_x"/>
                                          </p:val>
                                        </p:tav>
                                      </p:tavLst>
                                    </p:anim>
                                    <p:anim calcmode="lin" valueType="num">
                                      <p:cBhvr>
                                        <p:cTn id="24" dur="450" fill="hold"/>
                                        <p:tgtEl>
                                          <p:spTgt spid="7"/>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anim calcmode="lin" valueType="num">
                                      <p:cBhvr>
                                        <p:cTn id="28" dur="450" fill="hold"/>
                                        <p:tgtEl>
                                          <p:spTgt spid="8"/>
                                        </p:tgtEl>
                                        <p:attrNameLst>
                                          <p:attrName>ppt_x</p:attrName>
                                        </p:attrNameLst>
                                      </p:cBhvr>
                                      <p:tavLst>
                                        <p:tav tm="0">
                                          <p:val>
                                            <p:strVal val="#ppt_x"/>
                                          </p:val>
                                        </p:tav>
                                        <p:tav tm="100000">
                                          <p:val>
                                            <p:strVal val="#ppt_x"/>
                                          </p:val>
                                        </p:tav>
                                      </p:tavLst>
                                    </p:anim>
                                    <p:anim calcmode="lin" valueType="num">
                                      <p:cBhvr>
                                        <p:cTn id="29" dur="450" fill="hold"/>
                                        <p:tgtEl>
                                          <p:spTgt spid="8"/>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anim calcmode="lin" valueType="num">
                                      <p:cBhvr>
                                        <p:cTn id="33" dur="450" fill="hold"/>
                                        <p:tgtEl>
                                          <p:spTgt spid="9"/>
                                        </p:tgtEl>
                                        <p:attrNameLst>
                                          <p:attrName>ppt_x</p:attrName>
                                        </p:attrNameLst>
                                      </p:cBhvr>
                                      <p:tavLst>
                                        <p:tav tm="0">
                                          <p:val>
                                            <p:strVal val="#ppt_x"/>
                                          </p:val>
                                        </p:tav>
                                        <p:tav tm="100000">
                                          <p:val>
                                            <p:strVal val="#ppt_x"/>
                                          </p:val>
                                        </p:tav>
                                      </p:tavLst>
                                    </p:anim>
                                    <p:anim calcmode="lin" valueType="num">
                                      <p:cBhvr>
                                        <p:cTn id="34" dur="450" fill="hold"/>
                                        <p:tgtEl>
                                          <p:spTgt spid="9"/>
                                        </p:tgtEl>
                                        <p:attrNameLst>
                                          <p:attrName>ppt_y</p:attrName>
                                        </p:attrNameLst>
                                      </p:cBhvr>
                                      <p:tavLst>
                                        <p:tav tm="0">
                                          <p:val>
                                            <p:strVal val="#ppt_y+0.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50"/>
                                        <p:tgtEl>
                                          <p:spTgt spid="10"/>
                                        </p:tgtEl>
                                      </p:cBhvr>
                                    </p:animEffect>
                                    <p:anim calcmode="lin" valueType="num">
                                      <p:cBhvr>
                                        <p:cTn id="40" dur="450" fill="hold"/>
                                        <p:tgtEl>
                                          <p:spTgt spid="10"/>
                                        </p:tgtEl>
                                        <p:attrNameLst>
                                          <p:attrName>ppt_x</p:attrName>
                                        </p:attrNameLst>
                                      </p:cBhvr>
                                      <p:tavLst>
                                        <p:tav tm="0">
                                          <p:val>
                                            <p:strVal val="#ppt_x"/>
                                          </p:val>
                                        </p:tav>
                                        <p:tav tm="100000">
                                          <p:val>
                                            <p:strVal val="#ppt_x"/>
                                          </p:val>
                                        </p:tav>
                                      </p:tavLst>
                                    </p:anim>
                                    <p:anim calcmode="lin" valueType="num">
                                      <p:cBhvr>
                                        <p:cTn id="41" dur="450" fill="hold"/>
                                        <p:tgtEl>
                                          <p:spTgt spid="10"/>
                                        </p:tgtEl>
                                        <p:attrNameLst>
                                          <p:attrName>ppt_y</p:attrName>
                                        </p:attrNameLst>
                                      </p:cBhvr>
                                      <p:tavLst>
                                        <p:tav tm="0">
                                          <p:val>
                                            <p:strVal val="#ppt_y+0.03"/>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50"/>
                                        <p:tgtEl>
                                          <p:spTgt spid="11"/>
                                        </p:tgtEl>
                                      </p:cBhvr>
                                    </p:animEffect>
                                    <p:anim calcmode="lin" valueType="num">
                                      <p:cBhvr>
                                        <p:cTn id="45" dur="450" fill="hold"/>
                                        <p:tgtEl>
                                          <p:spTgt spid="11"/>
                                        </p:tgtEl>
                                        <p:attrNameLst>
                                          <p:attrName>ppt_x</p:attrName>
                                        </p:attrNameLst>
                                      </p:cBhvr>
                                      <p:tavLst>
                                        <p:tav tm="0">
                                          <p:val>
                                            <p:strVal val="#ppt_x"/>
                                          </p:val>
                                        </p:tav>
                                        <p:tav tm="100000">
                                          <p:val>
                                            <p:strVal val="#ppt_x"/>
                                          </p:val>
                                        </p:tav>
                                      </p:tavLst>
                                    </p:anim>
                                    <p:anim calcmode="lin" valueType="num">
                                      <p:cBhvr>
                                        <p:cTn id="46" dur="450" fill="hold"/>
                                        <p:tgtEl>
                                          <p:spTgt spid="11"/>
                                        </p:tgtEl>
                                        <p:attrNameLst>
                                          <p:attrName>ppt_y</p:attrName>
                                        </p:attrNameLst>
                                      </p:cBhvr>
                                      <p:tavLst>
                                        <p:tav tm="0">
                                          <p:val>
                                            <p:strVal val="#ppt_y+0.03"/>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450"/>
                                        <p:tgtEl>
                                          <p:spTgt spid="12"/>
                                        </p:tgtEl>
                                      </p:cBhvr>
                                    </p:animEffect>
                                    <p:anim calcmode="lin" valueType="num">
                                      <p:cBhvr>
                                        <p:cTn id="50" dur="450" fill="hold"/>
                                        <p:tgtEl>
                                          <p:spTgt spid="12"/>
                                        </p:tgtEl>
                                        <p:attrNameLst>
                                          <p:attrName>ppt_x</p:attrName>
                                        </p:attrNameLst>
                                      </p:cBhvr>
                                      <p:tavLst>
                                        <p:tav tm="0">
                                          <p:val>
                                            <p:strVal val="#ppt_x"/>
                                          </p:val>
                                        </p:tav>
                                        <p:tav tm="100000">
                                          <p:val>
                                            <p:strVal val="#ppt_x"/>
                                          </p:val>
                                        </p:tav>
                                      </p:tavLst>
                                    </p:anim>
                                    <p:anim calcmode="lin" valueType="num">
                                      <p:cBhvr>
                                        <p:cTn id="51" dur="450" fill="hold"/>
                                        <p:tgtEl>
                                          <p:spTgt spid="12"/>
                                        </p:tgtEl>
                                        <p:attrNameLst>
                                          <p:attrName>ppt_y</p:attrName>
                                        </p:attrNameLst>
                                      </p:cBhvr>
                                      <p:tavLst>
                                        <p:tav tm="0">
                                          <p:val>
                                            <p:strVal val="#ppt_y+0.03"/>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450"/>
                                        <p:tgtEl>
                                          <p:spTgt spid="13"/>
                                        </p:tgtEl>
                                      </p:cBhvr>
                                    </p:animEffect>
                                    <p:anim calcmode="lin" valueType="num">
                                      <p:cBhvr>
                                        <p:cTn id="55" dur="450" fill="hold"/>
                                        <p:tgtEl>
                                          <p:spTgt spid="13"/>
                                        </p:tgtEl>
                                        <p:attrNameLst>
                                          <p:attrName>ppt_x</p:attrName>
                                        </p:attrNameLst>
                                      </p:cBhvr>
                                      <p:tavLst>
                                        <p:tav tm="0">
                                          <p:val>
                                            <p:strVal val="#ppt_x"/>
                                          </p:val>
                                        </p:tav>
                                        <p:tav tm="100000">
                                          <p:val>
                                            <p:strVal val="#ppt_x"/>
                                          </p:val>
                                        </p:tav>
                                      </p:tavLst>
                                    </p:anim>
                                    <p:anim calcmode="lin" valueType="num">
                                      <p:cBhvr>
                                        <p:cTn id="56" dur="45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450"/>
                                        <p:tgtEl>
                                          <p:spTgt spid="14"/>
                                        </p:tgtEl>
                                      </p:cBhvr>
                                    </p:animEffect>
                                    <p:anim calcmode="lin" valueType="num">
                                      <p:cBhvr>
                                        <p:cTn id="60" dur="450" fill="hold"/>
                                        <p:tgtEl>
                                          <p:spTgt spid="14"/>
                                        </p:tgtEl>
                                        <p:attrNameLst>
                                          <p:attrName>ppt_x</p:attrName>
                                        </p:attrNameLst>
                                      </p:cBhvr>
                                      <p:tavLst>
                                        <p:tav tm="0">
                                          <p:val>
                                            <p:strVal val="#ppt_x"/>
                                          </p:val>
                                        </p:tav>
                                        <p:tav tm="100000">
                                          <p:val>
                                            <p:strVal val="#ppt_x"/>
                                          </p:val>
                                        </p:tav>
                                      </p:tavLst>
                                    </p:anim>
                                    <p:anim calcmode="lin" valueType="num">
                                      <p:cBhvr>
                                        <p:cTn id="61" dur="450" fill="hold"/>
                                        <p:tgtEl>
                                          <p:spTgt spid="14"/>
                                        </p:tgtEl>
                                        <p:attrNameLst>
                                          <p:attrName>ppt_y</p:attrName>
                                        </p:attrNameLst>
                                      </p:cBhvr>
                                      <p:tavLst>
                                        <p:tav tm="0">
                                          <p:val>
                                            <p:strVal val="#ppt_y+0.03"/>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450"/>
                                        <p:tgtEl>
                                          <p:spTgt spid="15"/>
                                        </p:tgtEl>
                                      </p:cBhvr>
                                    </p:animEffect>
                                    <p:anim calcmode="lin" valueType="num">
                                      <p:cBhvr>
                                        <p:cTn id="65" dur="450" fill="hold"/>
                                        <p:tgtEl>
                                          <p:spTgt spid="15"/>
                                        </p:tgtEl>
                                        <p:attrNameLst>
                                          <p:attrName>ppt_x</p:attrName>
                                        </p:attrNameLst>
                                      </p:cBhvr>
                                      <p:tavLst>
                                        <p:tav tm="0">
                                          <p:val>
                                            <p:strVal val="#ppt_x"/>
                                          </p:val>
                                        </p:tav>
                                        <p:tav tm="100000">
                                          <p:val>
                                            <p:strVal val="#ppt_x"/>
                                          </p:val>
                                        </p:tav>
                                      </p:tavLst>
                                    </p:anim>
                                    <p:anim calcmode="lin" valueType="num">
                                      <p:cBhvr>
                                        <p:cTn id="66" dur="450" fill="hold"/>
                                        <p:tgtEl>
                                          <p:spTgt spid="15"/>
                                        </p:tgtEl>
                                        <p:attrNameLst>
                                          <p:attrName>ppt_y</p:attrName>
                                        </p:attrNameLst>
                                      </p:cBhvr>
                                      <p:tavLst>
                                        <p:tav tm="0">
                                          <p:val>
                                            <p:strVal val="#ppt_y+0.03"/>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450"/>
                                        <p:tgtEl>
                                          <p:spTgt spid="16"/>
                                        </p:tgtEl>
                                      </p:cBhvr>
                                    </p:animEffect>
                                    <p:anim calcmode="lin" valueType="num">
                                      <p:cBhvr>
                                        <p:cTn id="72" dur="450" fill="hold"/>
                                        <p:tgtEl>
                                          <p:spTgt spid="16"/>
                                        </p:tgtEl>
                                        <p:attrNameLst>
                                          <p:attrName>ppt_x</p:attrName>
                                        </p:attrNameLst>
                                      </p:cBhvr>
                                      <p:tavLst>
                                        <p:tav tm="0">
                                          <p:val>
                                            <p:strVal val="#ppt_x"/>
                                          </p:val>
                                        </p:tav>
                                        <p:tav tm="100000">
                                          <p:val>
                                            <p:strVal val="#ppt_x"/>
                                          </p:val>
                                        </p:tav>
                                      </p:tavLst>
                                    </p:anim>
                                    <p:anim calcmode="lin" valueType="num">
                                      <p:cBhvr>
                                        <p:cTn id="73" dur="450" fill="hold"/>
                                        <p:tgtEl>
                                          <p:spTgt spid="16"/>
                                        </p:tgtEl>
                                        <p:attrNameLst>
                                          <p:attrName>ppt_y</p:attrName>
                                        </p:attrNameLst>
                                      </p:cBhvr>
                                      <p:tavLst>
                                        <p:tav tm="0">
                                          <p:val>
                                            <p:strVal val="#ppt_y+0.03"/>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450"/>
                                        <p:tgtEl>
                                          <p:spTgt spid="17"/>
                                        </p:tgtEl>
                                      </p:cBhvr>
                                    </p:animEffect>
                                    <p:anim calcmode="lin" valueType="num">
                                      <p:cBhvr>
                                        <p:cTn id="77" dur="450" fill="hold"/>
                                        <p:tgtEl>
                                          <p:spTgt spid="17"/>
                                        </p:tgtEl>
                                        <p:attrNameLst>
                                          <p:attrName>ppt_x</p:attrName>
                                        </p:attrNameLst>
                                      </p:cBhvr>
                                      <p:tavLst>
                                        <p:tav tm="0">
                                          <p:val>
                                            <p:strVal val="#ppt_x"/>
                                          </p:val>
                                        </p:tav>
                                        <p:tav tm="100000">
                                          <p:val>
                                            <p:strVal val="#ppt_x"/>
                                          </p:val>
                                        </p:tav>
                                      </p:tavLst>
                                    </p:anim>
                                    <p:anim calcmode="lin" valueType="num">
                                      <p:cBhvr>
                                        <p:cTn id="78" dur="450" fill="hold"/>
                                        <p:tgtEl>
                                          <p:spTgt spid="17"/>
                                        </p:tgtEl>
                                        <p:attrNameLst>
                                          <p:attrName>ppt_y</p:attrName>
                                        </p:attrNameLst>
                                      </p:cBhvr>
                                      <p:tavLst>
                                        <p:tav tm="0">
                                          <p:val>
                                            <p:strVal val="#ppt_y+0.03"/>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450"/>
                                        <p:tgtEl>
                                          <p:spTgt spid="18"/>
                                        </p:tgtEl>
                                      </p:cBhvr>
                                    </p:animEffect>
                                    <p:anim calcmode="lin" valueType="num">
                                      <p:cBhvr>
                                        <p:cTn id="82" dur="450" fill="hold"/>
                                        <p:tgtEl>
                                          <p:spTgt spid="18"/>
                                        </p:tgtEl>
                                        <p:attrNameLst>
                                          <p:attrName>ppt_x</p:attrName>
                                        </p:attrNameLst>
                                      </p:cBhvr>
                                      <p:tavLst>
                                        <p:tav tm="0">
                                          <p:val>
                                            <p:strVal val="#ppt_x"/>
                                          </p:val>
                                        </p:tav>
                                        <p:tav tm="100000">
                                          <p:val>
                                            <p:strVal val="#ppt_x"/>
                                          </p:val>
                                        </p:tav>
                                      </p:tavLst>
                                    </p:anim>
                                    <p:anim calcmode="lin" valueType="num">
                                      <p:cBhvr>
                                        <p:cTn id="83" dur="450" fill="hold"/>
                                        <p:tgtEl>
                                          <p:spTgt spid="18"/>
                                        </p:tgtEl>
                                        <p:attrNameLst>
                                          <p:attrName>ppt_y</p:attrName>
                                        </p:attrNameLst>
                                      </p:cBhvr>
                                      <p:tavLst>
                                        <p:tav tm="0">
                                          <p:val>
                                            <p:strVal val="#ppt_y+0.03"/>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450"/>
                                        <p:tgtEl>
                                          <p:spTgt spid="19"/>
                                        </p:tgtEl>
                                      </p:cBhvr>
                                    </p:animEffect>
                                    <p:anim calcmode="lin" valueType="num">
                                      <p:cBhvr>
                                        <p:cTn id="87" dur="450" fill="hold"/>
                                        <p:tgtEl>
                                          <p:spTgt spid="19"/>
                                        </p:tgtEl>
                                        <p:attrNameLst>
                                          <p:attrName>ppt_x</p:attrName>
                                        </p:attrNameLst>
                                      </p:cBhvr>
                                      <p:tavLst>
                                        <p:tav tm="0">
                                          <p:val>
                                            <p:strVal val="#ppt_x"/>
                                          </p:val>
                                        </p:tav>
                                        <p:tav tm="100000">
                                          <p:val>
                                            <p:strVal val="#ppt_x"/>
                                          </p:val>
                                        </p:tav>
                                      </p:tavLst>
                                    </p:anim>
                                    <p:anim calcmode="lin" valueType="num">
                                      <p:cBhvr>
                                        <p:cTn id="88" dur="450" fill="hold"/>
                                        <p:tgtEl>
                                          <p:spTgt spid="19"/>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450"/>
                                        <p:tgtEl>
                                          <p:spTgt spid="20"/>
                                        </p:tgtEl>
                                      </p:cBhvr>
                                    </p:animEffect>
                                    <p:anim calcmode="lin" valueType="num">
                                      <p:cBhvr>
                                        <p:cTn id="92" dur="450" fill="hold"/>
                                        <p:tgtEl>
                                          <p:spTgt spid="20"/>
                                        </p:tgtEl>
                                        <p:attrNameLst>
                                          <p:attrName>ppt_x</p:attrName>
                                        </p:attrNameLst>
                                      </p:cBhvr>
                                      <p:tavLst>
                                        <p:tav tm="0">
                                          <p:val>
                                            <p:strVal val="#ppt_x"/>
                                          </p:val>
                                        </p:tav>
                                        <p:tav tm="100000">
                                          <p:val>
                                            <p:strVal val="#ppt_x"/>
                                          </p:val>
                                        </p:tav>
                                      </p:tavLst>
                                    </p:anim>
                                    <p:anim calcmode="lin" valueType="num">
                                      <p:cBhvr>
                                        <p:cTn id="93" dur="450" fill="hold"/>
                                        <p:tgtEl>
                                          <p:spTgt spid="20"/>
                                        </p:tgtEl>
                                        <p:attrNameLst>
                                          <p:attrName>ppt_y</p:attrName>
                                        </p:attrNameLst>
                                      </p:cBhvr>
                                      <p:tavLst>
                                        <p:tav tm="0">
                                          <p:val>
                                            <p:strVal val="#ppt_y+0.03"/>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1"/>
                                        </p:tgtEl>
                                        <p:attrNameLst>
                                          <p:attrName>style.visibility</p:attrName>
                                        </p:attrNameLst>
                                      </p:cBhvr>
                                      <p:to>
                                        <p:strVal val="visible"/>
                                      </p:to>
                                    </p:set>
                                    <p:animEffect transition="in" filter="fade">
                                      <p:cBhvr>
                                        <p:cTn id="96" dur="450"/>
                                        <p:tgtEl>
                                          <p:spTgt spid="21"/>
                                        </p:tgtEl>
                                      </p:cBhvr>
                                    </p:animEffect>
                                    <p:anim calcmode="lin" valueType="num">
                                      <p:cBhvr>
                                        <p:cTn id="97" dur="450" fill="hold"/>
                                        <p:tgtEl>
                                          <p:spTgt spid="21"/>
                                        </p:tgtEl>
                                        <p:attrNameLst>
                                          <p:attrName>ppt_x</p:attrName>
                                        </p:attrNameLst>
                                      </p:cBhvr>
                                      <p:tavLst>
                                        <p:tav tm="0">
                                          <p:val>
                                            <p:strVal val="#ppt_x"/>
                                          </p:val>
                                        </p:tav>
                                        <p:tav tm="100000">
                                          <p:val>
                                            <p:strVal val="#ppt_x"/>
                                          </p:val>
                                        </p:tav>
                                      </p:tavLst>
                                    </p:anim>
                                    <p:anim calcmode="lin" valueType="num">
                                      <p:cBhvr>
                                        <p:cTn id="98" dur="450" fill="hold"/>
                                        <p:tgtEl>
                                          <p:spTgt spid="21"/>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04 · EXCEPTION · VALIDATION</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처리기가 없으면: Spring 기본 에러 응답</a:t>
            </a:r>
            <a:endParaRPr lang="en-US" sz="3200" dirty="0"/>
          </a:p>
        </p:txBody>
      </p:sp>
      <p:sp>
        <p:nvSpPr>
          <p:cNvPr id="4" name="badge"/>
          <p:cNvSpPr/>
          <p:nvPr/>
        </p:nvSpPr>
        <p:spPr>
          <a:xfrm>
            <a:off x="9774936" y="384048"/>
            <a:ext cx="1764792" cy="310896"/>
          </a:xfrm>
          <a:prstGeom prst="roundRect">
            <a:avLst>
              <a:gd name="adj" fmla="val 50000"/>
            </a:avLst>
          </a:prstGeom>
          <a:solidFill>
            <a:srgbClr val="E8E0D2"/>
          </a:solidFill>
          <a:ln/>
        </p:spPr>
      </p:sp>
      <p:sp>
        <p:nvSpPr>
          <p:cNvPr id="5" name="badge-text"/>
          <p:cNvSpPr txBox="1"/>
          <p:nvPr/>
        </p:nvSpPr>
        <p:spPr>
          <a:xfrm>
            <a:off x="9774936" y="384048"/>
            <a:ext cx="1764792" cy="310896"/>
          </a:xfrm>
          <a:prstGeom prst="rect">
            <a:avLst/>
          </a:prstGeom>
          <a:noFill/>
          <a:ln/>
        </p:spPr>
        <p:txBody>
          <a:bodyPr wrap="square" lIns="0" tIns="0" rIns="0" bIns="0" rtlCol="0" anchor="ctr"/>
          <a:lstStyle/>
          <a:p>
            <a:pPr algn="ctr" indent="0" marL="0">
              <a:buNone/>
            </a:pPr>
            <a:r>
              <a:rPr lang="en-US" sz="1200" dirty="0">
                <a:solidFill>
                  <a:schemeClr val="accent3"/>
                </a:solidFill>
              </a:rPr>
              <a:t>예제 서버 실제 응답</a:t>
            </a:r>
            <a:endParaRPr lang="en-US" sz="1200" dirty="0"/>
          </a:p>
        </p:txBody>
      </p:sp>
      <p:sp>
        <p:nvSpPr>
          <p:cNvPr id="6" name="b0c0-0"/>
          <p:cNvSpPr/>
          <p:nvPr/>
        </p:nvSpPr>
        <p:spPr>
          <a:xfrm>
            <a:off x="649224" y="1581912"/>
            <a:ext cx="4181139" cy="4343400"/>
          </a:xfrm>
          <a:prstGeom prst="roundRect">
            <a:avLst>
              <a:gd name="adj" fmla="val 2624"/>
            </a:avLst>
          </a:prstGeom>
          <a:solidFill>
            <a:schemeClr val="tx2"/>
          </a:solidFill>
          <a:ln/>
        </p:spPr>
      </p:sp>
      <p:sp>
        <p:nvSpPr>
          <p:cNvPr id="7" name="b0c0-1"/>
          <p:cNvSpPr/>
          <p:nvPr/>
        </p:nvSpPr>
        <p:spPr>
          <a:xfrm>
            <a:off x="850392" y="1728216"/>
            <a:ext cx="100584" cy="100584"/>
          </a:xfrm>
          <a:prstGeom prst="ellipse">
            <a:avLst/>
          </a:prstGeom>
          <a:solidFill>
            <a:srgbClr val="4A4844"/>
          </a:solidFill>
          <a:ln/>
        </p:spPr>
      </p:sp>
      <p:sp>
        <p:nvSpPr>
          <p:cNvPr id="8" name="b0c0-2"/>
          <p:cNvSpPr/>
          <p:nvPr/>
        </p:nvSpPr>
        <p:spPr>
          <a:xfrm>
            <a:off x="1024128" y="1728216"/>
            <a:ext cx="100584" cy="100584"/>
          </a:xfrm>
          <a:prstGeom prst="ellipse">
            <a:avLst/>
          </a:prstGeom>
          <a:solidFill>
            <a:srgbClr val="4A4844"/>
          </a:solidFill>
          <a:ln/>
        </p:spPr>
      </p:sp>
      <p:sp>
        <p:nvSpPr>
          <p:cNvPr id="9" name="b0c0-3"/>
          <p:cNvSpPr/>
          <p:nvPr/>
        </p:nvSpPr>
        <p:spPr>
          <a:xfrm>
            <a:off x="1197864" y="1728216"/>
            <a:ext cx="100584" cy="100584"/>
          </a:xfrm>
          <a:prstGeom prst="ellipse">
            <a:avLst/>
          </a:prstGeom>
          <a:solidFill>
            <a:srgbClr val="4A4844"/>
          </a:solidFill>
          <a:ln/>
        </p:spPr>
      </p:sp>
      <p:sp>
        <p:nvSpPr>
          <p:cNvPr id="10" name="b0c0-4"/>
          <p:cNvSpPr txBox="1"/>
          <p:nvPr/>
        </p:nvSpPr>
        <p:spPr>
          <a:xfrm>
            <a:off x="1472184" y="1673352"/>
            <a:ext cx="3175299"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기본값: 어느 칸이 틀렸는지 없다</a:t>
            </a:r>
            <a:endParaRPr lang="en-US" sz="1100" dirty="0"/>
          </a:p>
        </p:txBody>
      </p:sp>
      <p:sp>
        <p:nvSpPr>
          <p:cNvPr id="11" name="b0c0-5"/>
          <p:cNvSpPr txBox="1"/>
          <p:nvPr/>
        </p:nvSpPr>
        <p:spPr>
          <a:xfrm>
            <a:off x="905256" y="2020824"/>
            <a:ext cx="3723939" cy="3794760"/>
          </a:xfrm>
          <a:prstGeom prst="rect">
            <a:avLst/>
          </a:prstGeom>
          <a:noFill/>
          <a:ln/>
        </p:spPr>
        <p:txBody>
          <a:bodyPr wrap="square" lIns="0" tIns="0" rIns="0" bIns="0" rtlCol="0" anchor="t"/>
          <a:lstStyle/>
          <a:p>
            <a:pPr algn="l" indent="0" marL="0">
              <a:lnSpc>
                <a:spcPct val="105000"/>
              </a:lnSpc>
              <a:buNone/>
            </a:pPr>
            <a:r>
              <a:rPr lang="en-US" sz="1300" dirty="0">
                <a:solidFill>
                  <a:srgbClr val="E5806F"/>
                </a:solidFill>
                <a:latin typeface="JetBrains Mono" pitchFamily="34" charset="0"/>
                <a:ea typeface="JetBrains Mono" pitchFamily="34" charset="-122"/>
                <a:cs typeface="JetBrains Mono" pitchFamily="34" charset="-120"/>
              </a:rPr>
              <a:t>HTTP/1.1 400</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"timestamp": "2026-10-15T14:11…",</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"status": 400,</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"error": "Bad Request",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"path": "/api/v1/posts"</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t>
            </a:r>
            <a:endParaRPr lang="en-US" sz="1300" dirty="0"/>
          </a:p>
          <a:p>
            <a:pPr algn="l" indent="0" marL="0">
              <a:lnSpc>
                <a:spcPct val="105000"/>
              </a:lnSpc>
              <a:buNone/>
            </a:pPr>
            <a:r>
              <a:rPr lang="en-US" sz="1300" dirty="0">
                <a:solidFill>
                  <a:srgbClr val="A09D96"/>
                </a:solidFill>
                <a:latin typeface="JetBrains Mono" pitchFamily="34" charset="0"/>
                <a:ea typeface="JetBrains Mono" pitchFamily="34" charset="-122"/>
                <a:cs typeface="JetBrains Mono" pitchFamily="34" charset="-120"/>
              </a:rPr>
              <a:t>→ 화면은 무엇을 고쳐야 할지 모른다</a:t>
            </a:r>
            <a:endParaRPr lang="en-US" sz="1300" dirty="0"/>
          </a:p>
        </p:txBody>
      </p:sp>
      <p:sp>
        <p:nvSpPr>
          <p:cNvPr id="12" name="b0c1-6"/>
          <p:cNvSpPr/>
          <p:nvPr/>
        </p:nvSpPr>
        <p:spPr>
          <a:xfrm>
            <a:off x="5058963" y="1581912"/>
            <a:ext cx="6480765" cy="4343400"/>
          </a:xfrm>
          <a:prstGeom prst="roundRect">
            <a:avLst>
              <a:gd name="adj" fmla="val 2526"/>
            </a:avLst>
          </a:prstGeom>
          <a:solidFill>
            <a:schemeClr val="tx2"/>
          </a:solidFill>
          <a:ln/>
        </p:spPr>
      </p:sp>
      <p:sp>
        <p:nvSpPr>
          <p:cNvPr id="13" name="b0c1-7"/>
          <p:cNvSpPr/>
          <p:nvPr/>
        </p:nvSpPr>
        <p:spPr>
          <a:xfrm>
            <a:off x="5260131" y="1728216"/>
            <a:ext cx="100584" cy="100584"/>
          </a:xfrm>
          <a:prstGeom prst="ellipse">
            <a:avLst/>
          </a:prstGeom>
          <a:solidFill>
            <a:srgbClr val="4A4844"/>
          </a:solidFill>
          <a:ln/>
        </p:spPr>
      </p:sp>
      <p:sp>
        <p:nvSpPr>
          <p:cNvPr id="14" name="b0c1-8"/>
          <p:cNvSpPr/>
          <p:nvPr/>
        </p:nvSpPr>
        <p:spPr>
          <a:xfrm>
            <a:off x="5433867" y="1728216"/>
            <a:ext cx="100584" cy="100584"/>
          </a:xfrm>
          <a:prstGeom prst="ellipse">
            <a:avLst/>
          </a:prstGeom>
          <a:solidFill>
            <a:srgbClr val="4A4844"/>
          </a:solidFill>
          <a:ln/>
        </p:spPr>
      </p:sp>
      <p:sp>
        <p:nvSpPr>
          <p:cNvPr id="15" name="b0c1-9"/>
          <p:cNvSpPr/>
          <p:nvPr/>
        </p:nvSpPr>
        <p:spPr>
          <a:xfrm>
            <a:off x="5607603" y="1728216"/>
            <a:ext cx="100584" cy="100584"/>
          </a:xfrm>
          <a:prstGeom prst="ellipse">
            <a:avLst/>
          </a:prstGeom>
          <a:solidFill>
            <a:srgbClr val="4A4844"/>
          </a:solidFill>
          <a:ln/>
        </p:spPr>
      </p:sp>
      <p:sp>
        <p:nvSpPr>
          <p:cNvPr id="16" name="b0c1-10"/>
          <p:cNvSpPr txBox="1"/>
          <p:nvPr/>
        </p:nvSpPr>
        <p:spPr>
          <a:xfrm>
            <a:off x="5881923" y="1673352"/>
            <a:ext cx="5474925"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자세히 켜면: 너무 길고 복잡하다 (일부 생략)</a:t>
            </a:r>
            <a:endParaRPr lang="en-US" sz="1100" dirty="0"/>
          </a:p>
        </p:txBody>
      </p:sp>
      <p:sp>
        <p:nvSpPr>
          <p:cNvPr id="17" name="b0c1-11"/>
          <p:cNvSpPr txBox="1"/>
          <p:nvPr/>
        </p:nvSpPr>
        <p:spPr>
          <a:xfrm>
            <a:off x="5314995" y="2020824"/>
            <a:ext cx="6023565" cy="3794760"/>
          </a:xfrm>
          <a:prstGeom prst="rect">
            <a:avLst/>
          </a:prstGeom>
          <a:noFill/>
          <a:ln/>
        </p:spPr>
        <p:txBody>
          <a:bodyPr wrap="square" lIns="0" tIns="0" rIns="0" bIns="0" rtlCol="0" anchor="t"/>
          <a:lstStyle/>
          <a:p>
            <a:pPr algn="l" indent="0" marL="0">
              <a:lnSpc>
                <a:spcPct val="105000"/>
              </a:lnSpc>
              <a:buNone/>
            </a:pPr>
            <a:r>
              <a:rPr lang="en-US" sz="1300" dirty="0">
                <a:solidFill>
                  <a:srgbClr val="E5806F"/>
                </a:solidFill>
                <a:latin typeface="JetBrains Mono" pitchFamily="34" charset="0"/>
                <a:ea typeface="JetBrains Mono" pitchFamily="34" charset="-122"/>
                <a:cs typeface="JetBrains Mono" pitchFamily="34" charset="-120"/>
              </a:rPr>
              <a:t>HTTP/1.1 400</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"status": 400, "error": "Bad Request",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"message": "Validation failed for object=…",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"errors": [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"codes": [ "NotBlank.createPostRequest.title",</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"NotBlank.title", …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"arguments": [ { "codes": [ … ], … }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"defaultMessage": "must not be blank",</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"objectName": "createPostRequest",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"field": "title",</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"rejectedValue":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"bindingFailure": false,</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"code": "NotBlank"</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"path": "/api/v1/posts"</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p:txBody>
      </p:sp>
      <p:sp>
        <p:nvSpPr>
          <p:cNvPr id="1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anim calcmode="lin" valueType="num">
                                      <p:cBhvr>
                                        <p:cTn id="8" dur="450" fill="hold"/>
                                        <p:tgtEl>
                                          <p:spTgt spid="6"/>
                                        </p:tgtEl>
                                        <p:attrNameLst>
                                          <p:attrName>ppt_x</p:attrName>
                                        </p:attrNameLst>
                                      </p:cBhvr>
                                      <p:tavLst>
                                        <p:tav tm="0">
                                          <p:val>
                                            <p:strVal val="#ppt_x"/>
                                          </p:val>
                                        </p:tav>
                                        <p:tav tm="100000">
                                          <p:val>
                                            <p:strVal val="#ppt_x"/>
                                          </p:val>
                                        </p:tav>
                                      </p:tavLst>
                                    </p:anim>
                                    <p:anim calcmode="lin" valueType="num">
                                      <p:cBhvr>
                                        <p:cTn id="9" dur="450" fill="hold"/>
                                        <p:tgtEl>
                                          <p:spTgt spid="6"/>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p:cTn id="13" dur="450" fill="hold"/>
                                        <p:tgtEl>
                                          <p:spTgt spid="7"/>
                                        </p:tgtEl>
                                        <p:attrNameLst>
                                          <p:attrName>ppt_x</p:attrName>
                                        </p:attrNameLst>
                                      </p:cBhvr>
                                      <p:tavLst>
                                        <p:tav tm="0">
                                          <p:val>
                                            <p:strVal val="#ppt_x"/>
                                          </p:val>
                                        </p:tav>
                                        <p:tav tm="100000">
                                          <p:val>
                                            <p:strVal val="#ppt_x"/>
                                          </p:val>
                                        </p:tav>
                                      </p:tavLst>
                                    </p:anim>
                                    <p:anim calcmode="lin" valueType="num">
                                      <p:cBhvr>
                                        <p:cTn id="14" dur="450" fill="hold"/>
                                        <p:tgtEl>
                                          <p:spTgt spid="7"/>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anim calcmode="lin" valueType="num">
                                      <p:cBhvr>
                                        <p:cTn id="18" dur="450" fill="hold"/>
                                        <p:tgtEl>
                                          <p:spTgt spid="8"/>
                                        </p:tgtEl>
                                        <p:attrNameLst>
                                          <p:attrName>ppt_x</p:attrName>
                                        </p:attrNameLst>
                                      </p:cBhvr>
                                      <p:tavLst>
                                        <p:tav tm="0">
                                          <p:val>
                                            <p:strVal val="#ppt_x"/>
                                          </p:val>
                                        </p:tav>
                                        <p:tav tm="100000">
                                          <p:val>
                                            <p:strVal val="#ppt_x"/>
                                          </p:val>
                                        </p:tav>
                                      </p:tavLst>
                                    </p:anim>
                                    <p:anim calcmode="lin" valueType="num">
                                      <p:cBhvr>
                                        <p:cTn id="19" dur="45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anim calcmode="lin" valueType="num">
                                      <p:cBhvr>
                                        <p:cTn id="23" dur="450" fill="hold"/>
                                        <p:tgtEl>
                                          <p:spTgt spid="9"/>
                                        </p:tgtEl>
                                        <p:attrNameLst>
                                          <p:attrName>ppt_x</p:attrName>
                                        </p:attrNameLst>
                                      </p:cBhvr>
                                      <p:tavLst>
                                        <p:tav tm="0">
                                          <p:val>
                                            <p:strVal val="#ppt_x"/>
                                          </p:val>
                                        </p:tav>
                                        <p:tav tm="100000">
                                          <p:val>
                                            <p:strVal val="#ppt_x"/>
                                          </p:val>
                                        </p:tav>
                                      </p:tavLst>
                                    </p:anim>
                                    <p:anim calcmode="lin" valueType="num">
                                      <p:cBhvr>
                                        <p:cTn id="24" dur="450" fill="hold"/>
                                        <p:tgtEl>
                                          <p:spTgt spid="9"/>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anim calcmode="lin" valueType="num">
                                      <p:cBhvr>
                                        <p:cTn id="28" dur="450" fill="hold"/>
                                        <p:tgtEl>
                                          <p:spTgt spid="10"/>
                                        </p:tgtEl>
                                        <p:attrNameLst>
                                          <p:attrName>ppt_x</p:attrName>
                                        </p:attrNameLst>
                                      </p:cBhvr>
                                      <p:tavLst>
                                        <p:tav tm="0">
                                          <p:val>
                                            <p:strVal val="#ppt_x"/>
                                          </p:val>
                                        </p:tav>
                                        <p:tav tm="100000">
                                          <p:val>
                                            <p:strVal val="#ppt_x"/>
                                          </p:val>
                                        </p:tav>
                                      </p:tavLst>
                                    </p:anim>
                                    <p:anim calcmode="lin" valueType="num">
                                      <p:cBhvr>
                                        <p:cTn id="29" dur="450" fill="hold"/>
                                        <p:tgtEl>
                                          <p:spTgt spid="10"/>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anim calcmode="lin" valueType="num">
                                      <p:cBhvr>
                                        <p:cTn id="33" dur="450" fill="hold"/>
                                        <p:tgtEl>
                                          <p:spTgt spid="11"/>
                                        </p:tgtEl>
                                        <p:attrNameLst>
                                          <p:attrName>ppt_x</p:attrName>
                                        </p:attrNameLst>
                                      </p:cBhvr>
                                      <p:tavLst>
                                        <p:tav tm="0">
                                          <p:val>
                                            <p:strVal val="#ppt_x"/>
                                          </p:val>
                                        </p:tav>
                                        <p:tav tm="100000">
                                          <p:val>
                                            <p:strVal val="#ppt_x"/>
                                          </p:val>
                                        </p:tav>
                                      </p:tavLst>
                                    </p:anim>
                                    <p:anim calcmode="lin" valueType="num">
                                      <p:cBhvr>
                                        <p:cTn id="34" dur="450" fill="hold"/>
                                        <p:tgtEl>
                                          <p:spTgt spid="11"/>
                                        </p:tgtEl>
                                        <p:attrNameLst>
                                          <p:attrName>ppt_y</p:attrName>
                                        </p:attrNameLst>
                                      </p:cBhvr>
                                      <p:tavLst>
                                        <p:tav tm="0">
                                          <p:val>
                                            <p:strVal val="#ppt_y+0.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50"/>
                                        <p:tgtEl>
                                          <p:spTgt spid="12"/>
                                        </p:tgtEl>
                                      </p:cBhvr>
                                    </p:animEffect>
                                    <p:anim calcmode="lin" valueType="num">
                                      <p:cBhvr>
                                        <p:cTn id="40" dur="450" fill="hold"/>
                                        <p:tgtEl>
                                          <p:spTgt spid="12"/>
                                        </p:tgtEl>
                                        <p:attrNameLst>
                                          <p:attrName>ppt_x</p:attrName>
                                        </p:attrNameLst>
                                      </p:cBhvr>
                                      <p:tavLst>
                                        <p:tav tm="0">
                                          <p:val>
                                            <p:strVal val="#ppt_x"/>
                                          </p:val>
                                        </p:tav>
                                        <p:tav tm="100000">
                                          <p:val>
                                            <p:strVal val="#ppt_x"/>
                                          </p:val>
                                        </p:tav>
                                      </p:tavLst>
                                    </p:anim>
                                    <p:anim calcmode="lin" valueType="num">
                                      <p:cBhvr>
                                        <p:cTn id="41" dur="450" fill="hold"/>
                                        <p:tgtEl>
                                          <p:spTgt spid="12"/>
                                        </p:tgtEl>
                                        <p:attrNameLst>
                                          <p:attrName>ppt_y</p:attrName>
                                        </p:attrNameLst>
                                      </p:cBhvr>
                                      <p:tavLst>
                                        <p:tav tm="0">
                                          <p:val>
                                            <p:strVal val="#ppt_y+0.03"/>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50"/>
                                        <p:tgtEl>
                                          <p:spTgt spid="13"/>
                                        </p:tgtEl>
                                      </p:cBhvr>
                                    </p:animEffect>
                                    <p:anim calcmode="lin" valueType="num">
                                      <p:cBhvr>
                                        <p:cTn id="45" dur="450" fill="hold"/>
                                        <p:tgtEl>
                                          <p:spTgt spid="13"/>
                                        </p:tgtEl>
                                        <p:attrNameLst>
                                          <p:attrName>ppt_x</p:attrName>
                                        </p:attrNameLst>
                                      </p:cBhvr>
                                      <p:tavLst>
                                        <p:tav tm="0">
                                          <p:val>
                                            <p:strVal val="#ppt_x"/>
                                          </p:val>
                                        </p:tav>
                                        <p:tav tm="100000">
                                          <p:val>
                                            <p:strVal val="#ppt_x"/>
                                          </p:val>
                                        </p:tav>
                                      </p:tavLst>
                                    </p:anim>
                                    <p:anim calcmode="lin" valueType="num">
                                      <p:cBhvr>
                                        <p:cTn id="46" dur="450" fill="hold"/>
                                        <p:tgtEl>
                                          <p:spTgt spid="13"/>
                                        </p:tgtEl>
                                        <p:attrNameLst>
                                          <p:attrName>ppt_y</p:attrName>
                                        </p:attrNameLst>
                                      </p:cBhvr>
                                      <p:tavLst>
                                        <p:tav tm="0">
                                          <p:val>
                                            <p:strVal val="#ppt_y+0.03"/>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450"/>
                                        <p:tgtEl>
                                          <p:spTgt spid="14"/>
                                        </p:tgtEl>
                                      </p:cBhvr>
                                    </p:animEffect>
                                    <p:anim calcmode="lin" valueType="num">
                                      <p:cBhvr>
                                        <p:cTn id="50" dur="450" fill="hold"/>
                                        <p:tgtEl>
                                          <p:spTgt spid="14"/>
                                        </p:tgtEl>
                                        <p:attrNameLst>
                                          <p:attrName>ppt_x</p:attrName>
                                        </p:attrNameLst>
                                      </p:cBhvr>
                                      <p:tavLst>
                                        <p:tav tm="0">
                                          <p:val>
                                            <p:strVal val="#ppt_x"/>
                                          </p:val>
                                        </p:tav>
                                        <p:tav tm="100000">
                                          <p:val>
                                            <p:strVal val="#ppt_x"/>
                                          </p:val>
                                        </p:tav>
                                      </p:tavLst>
                                    </p:anim>
                                    <p:anim calcmode="lin" valueType="num">
                                      <p:cBhvr>
                                        <p:cTn id="51" dur="450" fill="hold"/>
                                        <p:tgtEl>
                                          <p:spTgt spid="14"/>
                                        </p:tgtEl>
                                        <p:attrNameLst>
                                          <p:attrName>ppt_y</p:attrName>
                                        </p:attrNameLst>
                                      </p:cBhvr>
                                      <p:tavLst>
                                        <p:tav tm="0">
                                          <p:val>
                                            <p:strVal val="#ppt_y+0.03"/>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450"/>
                                        <p:tgtEl>
                                          <p:spTgt spid="15"/>
                                        </p:tgtEl>
                                      </p:cBhvr>
                                    </p:animEffect>
                                    <p:anim calcmode="lin" valueType="num">
                                      <p:cBhvr>
                                        <p:cTn id="55" dur="450" fill="hold"/>
                                        <p:tgtEl>
                                          <p:spTgt spid="15"/>
                                        </p:tgtEl>
                                        <p:attrNameLst>
                                          <p:attrName>ppt_x</p:attrName>
                                        </p:attrNameLst>
                                      </p:cBhvr>
                                      <p:tavLst>
                                        <p:tav tm="0">
                                          <p:val>
                                            <p:strVal val="#ppt_x"/>
                                          </p:val>
                                        </p:tav>
                                        <p:tav tm="100000">
                                          <p:val>
                                            <p:strVal val="#ppt_x"/>
                                          </p:val>
                                        </p:tav>
                                      </p:tavLst>
                                    </p:anim>
                                    <p:anim calcmode="lin" valueType="num">
                                      <p:cBhvr>
                                        <p:cTn id="56" dur="450" fill="hold"/>
                                        <p:tgtEl>
                                          <p:spTgt spid="15"/>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450"/>
                                        <p:tgtEl>
                                          <p:spTgt spid="16"/>
                                        </p:tgtEl>
                                      </p:cBhvr>
                                    </p:animEffect>
                                    <p:anim calcmode="lin" valueType="num">
                                      <p:cBhvr>
                                        <p:cTn id="60" dur="450" fill="hold"/>
                                        <p:tgtEl>
                                          <p:spTgt spid="16"/>
                                        </p:tgtEl>
                                        <p:attrNameLst>
                                          <p:attrName>ppt_x</p:attrName>
                                        </p:attrNameLst>
                                      </p:cBhvr>
                                      <p:tavLst>
                                        <p:tav tm="0">
                                          <p:val>
                                            <p:strVal val="#ppt_x"/>
                                          </p:val>
                                        </p:tav>
                                        <p:tav tm="100000">
                                          <p:val>
                                            <p:strVal val="#ppt_x"/>
                                          </p:val>
                                        </p:tav>
                                      </p:tavLst>
                                    </p:anim>
                                    <p:anim calcmode="lin" valueType="num">
                                      <p:cBhvr>
                                        <p:cTn id="61" dur="450" fill="hold"/>
                                        <p:tgtEl>
                                          <p:spTgt spid="16"/>
                                        </p:tgtEl>
                                        <p:attrNameLst>
                                          <p:attrName>ppt_y</p:attrName>
                                        </p:attrNameLst>
                                      </p:cBhvr>
                                      <p:tavLst>
                                        <p:tav tm="0">
                                          <p:val>
                                            <p:strVal val="#ppt_y+0.03"/>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450"/>
                                        <p:tgtEl>
                                          <p:spTgt spid="17"/>
                                        </p:tgtEl>
                                      </p:cBhvr>
                                    </p:animEffect>
                                    <p:anim calcmode="lin" valueType="num">
                                      <p:cBhvr>
                                        <p:cTn id="65" dur="450" fill="hold"/>
                                        <p:tgtEl>
                                          <p:spTgt spid="17"/>
                                        </p:tgtEl>
                                        <p:attrNameLst>
                                          <p:attrName>ppt_x</p:attrName>
                                        </p:attrNameLst>
                                      </p:cBhvr>
                                      <p:tavLst>
                                        <p:tav tm="0">
                                          <p:val>
                                            <p:strVal val="#ppt_x"/>
                                          </p:val>
                                        </p:tav>
                                        <p:tav tm="100000">
                                          <p:val>
                                            <p:strVal val="#ppt_x"/>
                                          </p:val>
                                        </p:tav>
                                      </p:tavLst>
                                    </p:anim>
                                    <p:anim calcmode="lin" valueType="num">
                                      <p:cBhvr>
                                        <p:cTn id="66" dur="450" fill="hold"/>
                                        <p:tgtEl>
                                          <p:spTgt spid="1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04 · EXCEPTION · VALIDATION</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처리기가 있으면: 팀 형식으로 짧게</a:t>
            </a:r>
            <a:endParaRPr lang="en-US" sz="3200" dirty="0"/>
          </a:p>
        </p:txBody>
      </p:sp>
      <p:sp>
        <p:nvSpPr>
          <p:cNvPr id="4" name="badge"/>
          <p:cNvSpPr/>
          <p:nvPr/>
        </p:nvSpPr>
        <p:spPr>
          <a:xfrm>
            <a:off x="9217152" y="384048"/>
            <a:ext cx="2322576" cy="310896"/>
          </a:xfrm>
          <a:prstGeom prst="roundRect">
            <a:avLst>
              <a:gd name="adj" fmla="val 50000"/>
            </a:avLst>
          </a:prstGeom>
          <a:solidFill>
            <a:srgbClr val="E8E0D2"/>
          </a:solidFill>
          <a:ln/>
        </p:spPr>
      </p:sp>
      <p:sp>
        <p:nvSpPr>
          <p:cNvPr id="5" name="badge-text"/>
          <p:cNvSpPr txBox="1"/>
          <p:nvPr/>
        </p:nvSpPr>
        <p:spPr>
          <a:xfrm>
            <a:off x="9217152" y="384048"/>
            <a:ext cx="2322576" cy="310896"/>
          </a:xfrm>
          <a:prstGeom prst="rect">
            <a:avLst/>
          </a:prstGeom>
          <a:noFill/>
          <a:ln/>
        </p:spPr>
        <p:txBody>
          <a:bodyPr wrap="square" lIns="0" tIns="0" rIns="0" bIns="0" rtlCol="0" anchor="ctr"/>
          <a:lstStyle/>
          <a:p>
            <a:pPr algn="ctr" indent="0" marL="0">
              <a:buNone/>
            </a:pPr>
            <a:r>
              <a:rPr lang="en-US" sz="1200" dirty="0">
                <a:solidFill>
                  <a:schemeClr val="accent3"/>
                </a:solidFill>
              </a:rPr>
              <a:t>예제 서버 실제 코드 · 응답</a:t>
            </a:r>
            <a:endParaRPr lang="en-US" sz="1200" dirty="0"/>
          </a:p>
        </p:txBody>
      </p:sp>
      <p:sp>
        <p:nvSpPr>
          <p:cNvPr id="6" name="b0c0-0"/>
          <p:cNvSpPr/>
          <p:nvPr/>
        </p:nvSpPr>
        <p:spPr>
          <a:xfrm>
            <a:off x="649224" y="1581912"/>
            <a:ext cx="6310106" cy="4526280"/>
          </a:xfrm>
          <a:prstGeom prst="roundRect">
            <a:avLst>
              <a:gd name="adj" fmla="val 2424"/>
            </a:avLst>
          </a:prstGeom>
          <a:solidFill>
            <a:schemeClr val="tx2"/>
          </a:solidFill>
          <a:ln/>
        </p:spPr>
      </p:sp>
      <p:sp>
        <p:nvSpPr>
          <p:cNvPr id="7" name="b0c0-1"/>
          <p:cNvSpPr/>
          <p:nvPr/>
        </p:nvSpPr>
        <p:spPr>
          <a:xfrm>
            <a:off x="850392" y="1728216"/>
            <a:ext cx="100584" cy="100584"/>
          </a:xfrm>
          <a:prstGeom prst="ellipse">
            <a:avLst/>
          </a:prstGeom>
          <a:solidFill>
            <a:srgbClr val="4A4844"/>
          </a:solidFill>
          <a:ln/>
        </p:spPr>
      </p:sp>
      <p:sp>
        <p:nvSpPr>
          <p:cNvPr id="8" name="b0c0-2"/>
          <p:cNvSpPr/>
          <p:nvPr/>
        </p:nvSpPr>
        <p:spPr>
          <a:xfrm>
            <a:off x="1024128" y="1728216"/>
            <a:ext cx="100584" cy="100584"/>
          </a:xfrm>
          <a:prstGeom prst="ellipse">
            <a:avLst/>
          </a:prstGeom>
          <a:solidFill>
            <a:srgbClr val="4A4844"/>
          </a:solidFill>
          <a:ln/>
        </p:spPr>
      </p:sp>
      <p:sp>
        <p:nvSpPr>
          <p:cNvPr id="9" name="b0c0-3"/>
          <p:cNvSpPr/>
          <p:nvPr/>
        </p:nvSpPr>
        <p:spPr>
          <a:xfrm>
            <a:off x="1197864" y="1728216"/>
            <a:ext cx="100584" cy="100584"/>
          </a:xfrm>
          <a:prstGeom prst="ellipse">
            <a:avLst/>
          </a:prstGeom>
          <a:solidFill>
            <a:srgbClr val="4A4844"/>
          </a:solidFill>
          <a:ln/>
        </p:spPr>
      </p:sp>
      <p:sp>
        <p:nvSpPr>
          <p:cNvPr id="10" name="b0c0-4"/>
          <p:cNvSpPr txBox="1"/>
          <p:nvPr/>
        </p:nvSpPr>
        <p:spPr>
          <a:xfrm>
            <a:off x="1472184" y="1673352"/>
            <a:ext cx="5304266"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GlobalExceptionHandler.java (줄임)</a:t>
            </a:r>
            <a:endParaRPr lang="en-US" sz="1100" dirty="0"/>
          </a:p>
        </p:txBody>
      </p:sp>
      <p:sp>
        <p:nvSpPr>
          <p:cNvPr id="11" name="b0c0-5"/>
          <p:cNvSpPr txBox="1"/>
          <p:nvPr/>
        </p:nvSpPr>
        <p:spPr>
          <a:xfrm>
            <a:off x="905256" y="2020824"/>
            <a:ext cx="5852906" cy="3977640"/>
          </a:xfrm>
          <a:prstGeom prst="rect">
            <a:avLst/>
          </a:prstGeom>
          <a:noFill/>
          <a:ln/>
        </p:spPr>
        <p:txBody>
          <a:bodyPr wrap="square" lIns="0" tIns="0" rIns="0" bIns="0" rtlCol="0" anchor="t"/>
          <a:lstStyle/>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@RestControllerAdvice</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class GlobalExceptionHandler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@ExceptionHandler(MethodArgumentNotValidException.class)</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ResponseEntity&lt;ProblemDetail&gt; handleInvalid(…) {</a:t>
            </a:r>
            <a:endParaRPr lang="en-US" sz="1300" dirty="0"/>
          </a:p>
          <a:p>
            <a:pPr algn="l" indent="0" marL="0">
              <a:lnSpc>
                <a:spcPct val="105000"/>
              </a:lnSpc>
              <a:buNone/>
            </a:pPr>
            <a:r>
              <a:rPr lang="en-US" sz="1300" dirty="0">
                <a:solidFill>
                  <a:srgbClr val="A09D96"/>
                </a:solidFill>
                <a:latin typeface="JetBrains Mono" pitchFamily="34" charset="0"/>
                <a:ea typeface="JetBrains Mono" pitchFamily="34" charset="-122"/>
                <a:cs typeface="JetBrains Mono" pitchFamily="34" charset="-120"/>
              </a:rPr>
              <a:t>  // 틀린 칸 이름과 이유만 뽑는다</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errors = [ { field, reason }, …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body.setProperty("code", "INVALID_INPUT");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body.setProperty("errors", errors);</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return ResponseEntity.badRequest().body(body);</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@ExceptionHandler(ApiException.class)   // 404 · 409</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ResponseEntity&lt;ProblemDetail&gt; handleApi(…) { …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p:txBody>
      </p:sp>
      <p:sp>
        <p:nvSpPr>
          <p:cNvPr id="12" name="b0c1-6"/>
          <p:cNvSpPr/>
          <p:nvPr/>
        </p:nvSpPr>
        <p:spPr>
          <a:xfrm>
            <a:off x="7187930" y="1581912"/>
            <a:ext cx="4351798" cy="4526280"/>
          </a:xfrm>
          <a:prstGeom prst="roundRect">
            <a:avLst>
              <a:gd name="adj" fmla="val 2521"/>
            </a:avLst>
          </a:prstGeom>
          <a:solidFill>
            <a:schemeClr val="tx2"/>
          </a:solidFill>
          <a:ln/>
        </p:spPr>
      </p:sp>
      <p:sp>
        <p:nvSpPr>
          <p:cNvPr id="13" name="b0c1-7"/>
          <p:cNvSpPr/>
          <p:nvPr/>
        </p:nvSpPr>
        <p:spPr>
          <a:xfrm>
            <a:off x="7389098" y="1728216"/>
            <a:ext cx="100584" cy="100584"/>
          </a:xfrm>
          <a:prstGeom prst="ellipse">
            <a:avLst/>
          </a:prstGeom>
          <a:solidFill>
            <a:srgbClr val="4A4844"/>
          </a:solidFill>
          <a:ln/>
        </p:spPr>
      </p:sp>
      <p:sp>
        <p:nvSpPr>
          <p:cNvPr id="14" name="b0c1-8"/>
          <p:cNvSpPr/>
          <p:nvPr/>
        </p:nvSpPr>
        <p:spPr>
          <a:xfrm>
            <a:off x="7562834" y="1728216"/>
            <a:ext cx="100584" cy="100584"/>
          </a:xfrm>
          <a:prstGeom prst="ellipse">
            <a:avLst/>
          </a:prstGeom>
          <a:solidFill>
            <a:srgbClr val="4A4844"/>
          </a:solidFill>
          <a:ln/>
        </p:spPr>
      </p:sp>
      <p:sp>
        <p:nvSpPr>
          <p:cNvPr id="15" name="b0c1-9"/>
          <p:cNvSpPr/>
          <p:nvPr/>
        </p:nvSpPr>
        <p:spPr>
          <a:xfrm>
            <a:off x="7736570" y="1728216"/>
            <a:ext cx="100584" cy="100584"/>
          </a:xfrm>
          <a:prstGeom prst="ellipse">
            <a:avLst/>
          </a:prstGeom>
          <a:solidFill>
            <a:srgbClr val="4A4844"/>
          </a:solidFill>
          <a:ln/>
        </p:spPr>
      </p:sp>
      <p:sp>
        <p:nvSpPr>
          <p:cNvPr id="16" name="b0c1-10"/>
          <p:cNvSpPr txBox="1"/>
          <p:nvPr/>
        </p:nvSpPr>
        <p:spPr>
          <a:xfrm>
            <a:off x="8010890" y="1673352"/>
            <a:ext cx="3345958"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같은 요청의 응답</a:t>
            </a:r>
            <a:endParaRPr lang="en-US" sz="1100" dirty="0"/>
          </a:p>
        </p:txBody>
      </p:sp>
      <p:sp>
        <p:nvSpPr>
          <p:cNvPr id="17" name="b0c1-11"/>
          <p:cNvSpPr txBox="1"/>
          <p:nvPr/>
        </p:nvSpPr>
        <p:spPr>
          <a:xfrm>
            <a:off x="7443962" y="2020824"/>
            <a:ext cx="3894598" cy="3977640"/>
          </a:xfrm>
          <a:prstGeom prst="rect">
            <a:avLst/>
          </a:prstGeom>
          <a:noFill/>
          <a:ln/>
        </p:spPr>
        <p:txBody>
          <a:bodyPr wrap="square" lIns="0" tIns="0" rIns="0" bIns="0" rtlCol="0" anchor="t"/>
          <a:lstStyle/>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curl -X POST /api/v1/posts</a:t>
            </a:r>
            <a:endParaRPr lang="en-US" sz="1300" dirty="0"/>
          </a:p>
          <a:p>
            <a:pPr algn="l" indent="0" marL="0">
              <a:lnSpc>
                <a:spcPct val="105000"/>
              </a:lnSpc>
              <a:buNone/>
            </a:pPr>
            <a:r>
              <a:rPr lang="en-US" sz="1300" dirty="0">
                <a:solidFill>
                  <a:srgbClr val="E5806F"/>
                </a:solidFill>
                <a:latin typeface="JetBrains Mono" pitchFamily="34" charset="0"/>
                <a:ea typeface="JetBrains Mono" pitchFamily="34" charset="-122"/>
                <a:cs typeface="JetBrains Mono" pitchFamily="34" charset="-120"/>
              </a:rPr>
              <a:t>HTTP/1.1 400</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"type": "about:blank",</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"title": "잘못된 요청입니다",</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"status": 400,</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"detail": "입력값을 확인해 주세요.",</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"instance": "/api/v1/posts",</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"code": "INVALID_INPUT",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"errors":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"field": "title",</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"reason": "must not be blank"</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p:txBody>
      </p:sp>
      <p:sp>
        <p:nvSpPr>
          <p:cNvPr id="1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anim calcmode="lin" valueType="num">
                                      <p:cBhvr>
                                        <p:cTn id="8" dur="450" fill="hold"/>
                                        <p:tgtEl>
                                          <p:spTgt spid="6"/>
                                        </p:tgtEl>
                                        <p:attrNameLst>
                                          <p:attrName>ppt_x</p:attrName>
                                        </p:attrNameLst>
                                      </p:cBhvr>
                                      <p:tavLst>
                                        <p:tav tm="0">
                                          <p:val>
                                            <p:strVal val="#ppt_x"/>
                                          </p:val>
                                        </p:tav>
                                        <p:tav tm="100000">
                                          <p:val>
                                            <p:strVal val="#ppt_x"/>
                                          </p:val>
                                        </p:tav>
                                      </p:tavLst>
                                    </p:anim>
                                    <p:anim calcmode="lin" valueType="num">
                                      <p:cBhvr>
                                        <p:cTn id="9" dur="450" fill="hold"/>
                                        <p:tgtEl>
                                          <p:spTgt spid="6"/>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p:cTn id="13" dur="450" fill="hold"/>
                                        <p:tgtEl>
                                          <p:spTgt spid="7"/>
                                        </p:tgtEl>
                                        <p:attrNameLst>
                                          <p:attrName>ppt_x</p:attrName>
                                        </p:attrNameLst>
                                      </p:cBhvr>
                                      <p:tavLst>
                                        <p:tav tm="0">
                                          <p:val>
                                            <p:strVal val="#ppt_x"/>
                                          </p:val>
                                        </p:tav>
                                        <p:tav tm="100000">
                                          <p:val>
                                            <p:strVal val="#ppt_x"/>
                                          </p:val>
                                        </p:tav>
                                      </p:tavLst>
                                    </p:anim>
                                    <p:anim calcmode="lin" valueType="num">
                                      <p:cBhvr>
                                        <p:cTn id="14" dur="450" fill="hold"/>
                                        <p:tgtEl>
                                          <p:spTgt spid="7"/>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anim calcmode="lin" valueType="num">
                                      <p:cBhvr>
                                        <p:cTn id="18" dur="450" fill="hold"/>
                                        <p:tgtEl>
                                          <p:spTgt spid="8"/>
                                        </p:tgtEl>
                                        <p:attrNameLst>
                                          <p:attrName>ppt_x</p:attrName>
                                        </p:attrNameLst>
                                      </p:cBhvr>
                                      <p:tavLst>
                                        <p:tav tm="0">
                                          <p:val>
                                            <p:strVal val="#ppt_x"/>
                                          </p:val>
                                        </p:tav>
                                        <p:tav tm="100000">
                                          <p:val>
                                            <p:strVal val="#ppt_x"/>
                                          </p:val>
                                        </p:tav>
                                      </p:tavLst>
                                    </p:anim>
                                    <p:anim calcmode="lin" valueType="num">
                                      <p:cBhvr>
                                        <p:cTn id="19" dur="45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anim calcmode="lin" valueType="num">
                                      <p:cBhvr>
                                        <p:cTn id="23" dur="450" fill="hold"/>
                                        <p:tgtEl>
                                          <p:spTgt spid="9"/>
                                        </p:tgtEl>
                                        <p:attrNameLst>
                                          <p:attrName>ppt_x</p:attrName>
                                        </p:attrNameLst>
                                      </p:cBhvr>
                                      <p:tavLst>
                                        <p:tav tm="0">
                                          <p:val>
                                            <p:strVal val="#ppt_x"/>
                                          </p:val>
                                        </p:tav>
                                        <p:tav tm="100000">
                                          <p:val>
                                            <p:strVal val="#ppt_x"/>
                                          </p:val>
                                        </p:tav>
                                      </p:tavLst>
                                    </p:anim>
                                    <p:anim calcmode="lin" valueType="num">
                                      <p:cBhvr>
                                        <p:cTn id="24" dur="450" fill="hold"/>
                                        <p:tgtEl>
                                          <p:spTgt spid="9"/>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anim calcmode="lin" valueType="num">
                                      <p:cBhvr>
                                        <p:cTn id="28" dur="450" fill="hold"/>
                                        <p:tgtEl>
                                          <p:spTgt spid="10"/>
                                        </p:tgtEl>
                                        <p:attrNameLst>
                                          <p:attrName>ppt_x</p:attrName>
                                        </p:attrNameLst>
                                      </p:cBhvr>
                                      <p:tavLst>
                                        <p:tav tm="0">
                                          <p:val>
                                            <p:strVal val="#ppt_x"/>
                                          </p:val>
                                        </p:tav>
                                        <p:tav tm="100000">
                                          <p:val>
                                            <p:strVal val="#ppt_x"/>
                                          </p:val>
                                        </p:tav>
                                      </p:tavLst>
                                    </p:anim>
                                    <p:anim calcmode="lin" valueType="num">
                                      <p:cBhvr>
                                        <p:cTn id="29" dur="450" fill="hold"/>
                                        <p:tgtEl>
                                          <p:spTgt spid="10"/>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anim calcmode="lin" valueType="num">
                                      <p:cBhvr>
                                        <p:cTn id="33" dur="450" fill="hold"/>
                                        <p:tgtEl>
                                          <p:spTgt spid="11"/>
                                        </p:tgtEl>
                                        <p:attrNameLst>
                                          <p:attrName>ppt_x</p:attrName>
                                        </p:attrNameLst>
                                      </p:cBhvr>
                                      <p:tavLst>
                                        <p:tav tm="0">
                                          <p:val>
                                            <p:strVal val="#ppt_x"/>
                                          </p:val>
                                        </p:tav>
                                        <p:tav tm="100000">
                                          <p:val>
                                            <p:strVal val="#ppt_x"/>
                                          </p:val>
                                        </p:tav>
                                      </p:tavLst>
                                    </p:anim>
                                    <p:anim calcmode="lin" valueType="num">
                                      <p:cBhvr>
                                        <p:cTn id="34" dur="450" fill="hold"/>
                                        <p:tgtEl>
                                          <p:spTgt spid="11"/>
                                        </p:tgtEl>
                                        <p:attrNameLst>
                                          <p:attrName>ppt_y</p:attrName>
                                        </p:attrNameLst>
                                      </p:cBhvr>
                                      <p:tavLst>
                                        <p:tav tm="0">
                                          <p:val>
                                            <p:strVal val="#ppt_y+0.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50"/>
                                        <p:tgtEl>
                                          <p:spTgt spid="12"/>
                                        </p:tgtEl>
                                      </p:cBhvr>
                                    </p:animEffect>
                                    <p:anim calcmode="lin" valueType="num">
                                      <p:cBhvr>
                                        <p:cTn id="40" dur="450" fill="hold"/>
                                        <p:tgtEl>
                                          <p:spTgt spid="12"/>
                                        </p:tgtEl>
                                        <p:attrNameLst>
                                          <p:attrName>ppt_x</p:attrName>
                                        </p:attrNameLst>
                                      </p:cBhvr>
                                      <p:tavLst>
                                        <p:tav tm="0">
                                          <p:val>
                                            <p:strVal val="#ppt_x"/>
                                          </p:val>
                                        </p:tav>
                                        <p:tav tm="100000">
                                          <p:val>
                                            <p:strVal val="#ppt_x"/>
                                          </p:val>
                                        </p:tav>
                                      </p:tavLst>
                                    </p:anim>
                                    <p:anim calcmode="lin" valueType="num">
                                      <p:cBhvr>
                                        <p:cTn id="41" dur="450" fill="hold"/>
                                        <p:tgtEl>
                                          <p:spTgt spid="12"/>
                                        </p:tgtEl>
                                        <p:attrNameLst>
                                          <p:attrName>ppt_y</p:attrName>
                                        </p:attrNameLst>
                                      </p:cBhvr>
                                      <p:tavLst>
                                        <p:tav tm="0">
                                          <p:val>
                                            <p:strVal val="#ppt_y+0.03"/>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50"/>
                                        <p:tgtEl>
                                          <p:spTgt spid="13"/>
                                        </p:tgtEl>
                                      </p:cBhvr>
                                    </p:animEffect>
                                    <p:anim calcmode="lin" valueType="num">
                                      <p:cBhvr>
                                        <p:cTn id="45" dur="450" fill="hold"/>
                                        <p:tgtEl>
                                          <p:spTgt spid="13"/>
                                        </p:tgtEl>
                                        <p:attrNameLst>
                                          <p:attrName>ppt_x</p:attrName>
                                        </p:attrNameLst>
                                      </p:cBhvr>
                                      <p:tavLst>
                                        <p:tav tm="0">
                                          <p:val>
                                            <p:strVal val="#ppt_x"/>
                                          </p:val>
                                        </p:tav>
                                        <p:tav tm="100000">
                                          <p:val>
                                            <p:strVal val="#ppt_x"/>
                                          </p:val>
                                        </p:tav>
                                      </p:tavLst>
                                    </p:anim>
                                    <p:anim calcmode="lin" valueType="num">
                                      <p:cBhvr>
                                        <p:cTn id="46" dur="450" fill="hold"/>
                                        <p:tgtEl>
                                          <p:spTgt spid="13"/>
                                        </p:tgtEl>
                                        <p:attrNameLst>
                                          <p:attrName>ppt_y</p:attrName>
                                        </p:attrNameLst>
                                      </p:cBhvr>
                                      <p:tavLst>
                                        <p:tav tm="0">
                                          <p:val>
                                            <p:strVal val="#ppt_y+0.03"/>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450"/>
                                        <p:tgtEl>
                                          <p:spTgt spid="14"/>
                                        </p:tgtEl>
                                      </p:cBhvr>
                                    </p:animEffect>
                                    <p:anim calcmode="lin" valueType="num">
                                      <p:cBhvr>
                                        <p:cTn id="50" dur="450" fill="hold"/>
                                        <p:tgtEl>
                                          <p:spTgt spid="14"/>
                                        </p:tgtEl>
                                        <p:attrNameLst>
                                          <p:attrName>ppt_x</p:attrName>
                                        </p:attrNameLst>
                                      </p:cBhvr>
                                      <p:tavLst>
                                        <p:tav tm="0">
                                          <p:val>
                                            <p:strVal val="#ppt_x"/>
                                          </p:val>
                                        </p:tav>
                                        <p:tav tm="100000">
                                          <p:val>
                                            <p:strVal val="#ppt_x"/>
                                          </p:val>
                                        </p:tav>
                                      </p:tavLst>
                                    </p:anim>
                                    <p:anim calcmode="lin" valueType="num">
                                      <p:cBhvr>
                                        <p:cTn id="51" dur="450" fill="hold"/>
                                        <p:tgtEl>
                                          <p:spTgt spid="14"/>
                                        </p:tgtEl>
                                        <p:attrNameLst>
                                          <p:attrName>ppt_y</p:attrName>
                                        </p:attrNameLst>
                                      </p:cBhvr>
                                      <p:tavLst>
                                        <p:tav tm="0">
                                          <p:val>
                                            <p:strVal val="#ppt_y+0.03"/>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450"/>
                                        <p:tgtEl>
                                          <p:spTgt spid="15"/>
                                        </p:tgtEl>
                                      </p:cBhvr>
                                    </p:animEffect>
                                    <p:anim calcmode="lin" valueType="num">
                                      <p:cBhvr>
                                        <p:cTn id="55" dur="450" fill="hold"/>
                                        <p:tgtEl>
                                          <p:spTgt spid="15"/>
                                        </p:tgtEl>
                                        <p:attrNameLst>
                                          <p:attrName>ppt_x</p:attrName>
                                        </p:attrNameLst>
                                      </p:cBhvr>
                                      <p:tavLst>
                                        <p:tav tm="0">
                                          <p:val>
                                            <p:strVal val="#ppt_x"/>
                                          </p:val>
                                        </p:tav>
                                        <p:tav tm="100000">
                                          <p:val>
                                            <p:strVal val="#ppt_x"/>
                                          </p:val>
                                        </p:tav>
                                      </p:tavLst>
                                    </p:anim>
                                    <p:anim calcmode="lin" valueType="num">
                                      <p:cBhvr>
                                        <p:cTn id="56" dur="450" fill="hold"/>
                                        <p:tgtEl>
                                          <p:spTgt spid="15"/>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450"/>
                                        <p:tgtEl>
                                          <p:spTgt spid="16"/>
                                        </p:tgtEl>
                                      </p:cBhvr>
                                    </p:animEffect>
                                    <p:anim calcmode="lin" valueType="num">
                                      <p:cBhvr>
                                        <p:cTn id="60" dur="450" fill="hold"/>
                                        <p:tgtEl>
                                          <p:spTgt spid="16"/>
                                        </p:tgtEl>
                                        <p:attrNameLst>
                                          <p:attrName>ppt_x</p:attrName>
                                        </p:attrNameLst>
                                      </p:cBhvr>
                                      <p:tavLst>
                                        <p:tav tm="0">
                                          <p:val>
                                            <p:strVal val="#ppt_x"/>
                                          </p:val>
                                        </p:tav>
                                        <p:tav tm="100000">
                                          <p:val>
                                            <p:strVal val="#ppt_x"/>
                                          </p:val>
                                        </p:tav>
                                      </p:tavLst>
                                    </p:anim>
                                    <p:anim calcmode="lin" valueType="num">
                                      <p:cBhvr>
                                        <p:cTn id="61" dur="450" fill="hold"/>
                                        <p:tgtEl>
                                          <p:spTgt spid="16"/>
                                        </p:tgtEl>
                                        <p:attrNameLst>
                                          <p:attrName>ppt_y</p:attrName>
                                        </p:attrNameLst>
                                      </p:cBhvr>
                                      <p:tavLst>
                                        <p:tav tm="0">
                                          <p:val>
                                            <p:strVal val="#ppt_y+0.03"/>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450"/>
                                        <p:tgtEl>
                                          <p:spTgt spid="17"/>
                                        </p:tgtEl>
                                      </p:cBhvr>
                                    </p:animEffect>
                                    <p:anim calcmode="lin" valueType="num">
                                      <p:cBhvr>
                                        <p:cTn id="65" dur="450" fill="hold"/>
                                        <p:tgtEl>
                                          <p:spTgt spid="17"/>
                                        </p:tgtEl>
                                        <p:attrNameLst>
                                          <p:attrName>ppt_x</p:attrName>
                                        </p:attrNameLst>
                                      </p:cBhvr>
                                      <p:tavLst>
                                        <p:tav tm="0">
                                          <p:val>
                                            <p:strVal val="#ppt_x"/>
                                          </p:val>
                                        </p:tav>
                                        <p:tav tm="100000">
                                          <p:val>
                                            <p:strVal val="#ppt_x"/>
                                          </p:val>
                                        </p:tav>
                                      </p:tavLst>
                                    </p:anim>
                                    <p:anim calcmode="lin" valueType="num">
                                      <p:cBhvr>
                                        <p:cTn id="66" dur="450" fill="hold"/>
                                        <p:tgtEl>
                                          <p:spTgt spid="1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49224" y="1920240"/>
            <a:ext cx="2743200" cy="1005840"/>
          </a:xfrm>
          <a:prstGeom prst="rect">
            <a:avLst/>
          </a:prstGeom>
          <a:noFill/>
          <a:ln/>
        </p:spPr>
        <p:txBody>
          <a:bodyPr wrap="square" lIns="0" tIns="0" rIns="0" bIns="0" rtlCol="0" anchor="b"/>
          <a:lstStyle/>
          <a:p>
            <a:pPr algn="l" indent="0" marL="0">
              <a:buNone/>
            </a:pPr>
            <a:r>
              <a:rPr lang="en-US" sz="6000" b="1" dirty="0">
                <a:solidFill>
                  <a:schemeClr val="accent1"/>
                </a:solidFill>
                <a:latin typeface="+mj-lt" pitchFamily="34" charset="0"/>
                <a:ea typeface="+mj-lt" pitchFamily="34" charset="-122"/>
                <a:cs typeface="+mj-lt" pitchFamily="34" charset="-120"/>
              </a:rPr>
              <a:t>05</a:t>
            </a:r>
            <a:endParaRPr lang="en-US" sz="6000" dirty="0"/>
          </a:p>
        </p:txBody>
      </p:sp>
      <p:sp>
        <p:nvSpPr>
          <p:cNvPr id="3" name="Text 0"/>
          <p:cNvSpPr/>
          <p:nvPr>
            <p:ph idx="101" type="title" hasCustomPrompt="1"/>
          </p:nvPr>
        </p:nvSpPr>
        <p:spPr>
          <a:xfrm>
            <a:off x="649224" y="306324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페이징 · 검색 · 정렬</a:t>
            </a:r>
            <a:endParaRPr lang="en-US" sz="4000" dirty="0"/>
          </a:p>
        </p:txBody>
      </p:sp>
      <p:sp>
        <p:nvSpPr>
          <p:cNvPr id="4" name="Text 0"/>
          <p:cNvSpPr/>
          <p:nvPr>
            <p:ph idx="102" type="body" hasCustomPrompt="1"/>
          </p:nvPr>
        </p:nvSpPr>
        <p:spPr>
          <a:xfrm>
            <a:off x="649224" y="4114800"/>
            <a:ext cx="10058400" cy="548640"/>
          </a:xfrm>
          <a:prstGeom prst="rect">
            <a:avLst/>
          </a:prstGeom>
          <a:noFill/>
          <a:ln/>
        </p:spPr>
        <p:txBody>
          <a:bodyPr wrap="square" lIns="0" tIns="0" rIns="0" bIns="0" rtlCol="0" anchor="t"/>
          <a:lstStyle/>
          <a:p>
            <a:pPr algn="l" indent="0" marL="0">
              <a:buNone/>
            </a:pPr>
            <a:r>
              <a:rPr lang="en-US" sz="2000" dirty="0">
                <a:solidFill>
                  <a:srgbClr val="A09D96"/>
                </a:solidFill>
              </a:rPr>
              <a:t>조건은 쿼리로 받고, 한도는 서버가 정한다</a:t>
            </a:r>
            <a:endParaRPr lang="en-US" sz="20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05 · PAGINATION</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목록은 쿼리로: 검색 · 정렬 · 페이징</a:t>
            </a:r>
            <a:endParaRPr lang="en-US" sz="3200" dirty="0"/>
          </a:p>
        </p:txBody>
      </p:sp>
      <p:sp>
        <p:nvSpPr>
          <p:cNvPr id="4" name="badge"/>
          <p:cNvSpPr/>
          <p:nvPr/>
        </p:nvSpPr>
        <p:spPr>
          <a:xfrm>
            <a:off x="10853928" y="384048"/>
            <a:ext cx="685800" cy="310896"/>
          </a:xfrm>
          <a:prstGeom prst="roundRect">
            <a:avLst>
              <a:gd name="adj" fmla="val 50000"/>
            </a:avLst>
          </a:prstGeom>
          <a:solidFill>
            <a:srgbClr val="E8E0D2"/>
          </a:solidFill>
          <a:ln/>
        </p:spPr>
      </p:sp>
      <p:sp>
        <p:nvSpPr>
          <p:cNvPr id="5" name="badge-text"/>
          <p:cNvSpPr txBox="1"/>
          <p:nvPr/>
        </p:nvSpPr>
        <p:spPr>
          <a:xfrm>
            <a:off x="10853928" y="384048"/>
            <a:ext cx="685800" cy="310896"/>
          </a:xfrm>
          <a:prstGeom prst="rect">
            <a:avLst/>
          </a:prstGeom>
          <a:noFill/>
          <a:ln/>
        </p:spPr>
        <p:txBody>
          <a:bodyPr wrap="square" lIns="0" tIns="0" rIns="0" bIns="0" rtlCol="0" anchor="ctr"/>
          <a:lstStyle/>
          <a:p>
            <a:pPr algn="ctr" indent="0" marL="0">
              <a:buNone/>
            </a:pPr>
            <a:r>
              <a:rPr lang="en-US" sz="1200" dirty="0">
                <a:solidFill>
                  <a:schemeClr val="accent3"/>
                </a:solidFill>
              </a:rPr>
              <a:t>1 / 4</a:t>
            </a:r>
            <a:endParaRPr lang="en-US" sz="1200" dirty="0"/>
          </a:p>
        </p:txBody>
      </p:sp>
      <p:sp>
        <p:nvSpPr>
          <p:cNvPr id="6" name="!!b0-0"/>
          <p:cNvSpPr/>
          <p:nvPr/>
        </p:nvSpPr>
        <p:spPr>
          <a:xfrm>
            <a:off x="649224" y="1581912"/>
            <a:ext cx="10890504" cy="594868"/>
          </a:xfrm>
          <a:prstGeom prst="roundRect">
            <a:avLst>
              <a:gd name="adj" fmla="val 18446"/>
            </a:avLst>
          </a:prstGeom>
          <a:solidFill>
            <a:schemeClr val="bg2"/>
          </a:solidFill>
          <a:ln/>
        </p:spPr>
      </p:sp>
      <p:sp>
        <p:nvSpPr>
          <p:cNvPr id="7" name="!!b0-1"/>
          <p:cNvSpPr txBox="1"/>
          <p:nvPr/>
        </p:nvSpPr>
        <p:spPr>
          <a:xfrm>
            <a:off x="877824" y="1581912"/>
            <a:ext cx="10433304" cy="594868"/>
          </a:xfrm>
          <a:prstGeom prst="rect">
            <a:avLst/>
          </a:prstGeom>
          <a:noFill/>
          <a:ln/>
        </p:spPr>
        <p:txBody>
          <a:bodyPr wrap="square" lIns="0" tIns="0" rIns="0" bIns="0" rtlCol="0" anchor="ctr"/>
          <a:lstStyle/>
          <a:p>
            <a:pPr algn="l" indent="0" marL="0">
              <a:lnSpc>
                <a:spcPct val="100000"/>
              </a:lnSpc>
              <a:buNone/>
            </a:pPr>
            <a:r>
              <a:rPr lang="en-US" sz="1700" dirty="0">
                <a:solidFill>
                  <a:schemeClr val="tx1"/>
                </a:solidFill>
                <a:latin typeface="JetBrains Mono" pitchFamily="34" charset="0"/>
                <a:ea typeface="JetBrains Mono" pitchFamily="34" charset="-122"/>
                <a:cs typeface="JetBrains Mono" pitchFamily="34" charset="-120"/>
              </a:rPr>
              <a:t>GET /api/v1/posts</a:t>
            </a:r>
            <a:endParaRPr lang="en-US" sz="1700" dirty="0"/>
          </a:p>
        </p:txBody>
      </p:sp>
      <p:graphicFrame>
        <p:nvGraphicFramePr>
          <p:cNvPr id="8" name="!!b1-0"/>
          <p:cNvGraphicFramePr>
            <a:graphicFrameLocks noGrp="1"/>
          </p:cNvGraphicFramePr>
          <p:nvPr>
            <p:extLst>
              <p:ext uri="{D42A27DB-BD31-4B8C-83A1-F6EECF244321}">
                <p14:modId xmlns:p14="http://schemas.microsoft.com/office/powerpoint/2010/main" val="1579011935"/>
              </p:ext>
            </p:extLst>
          </p:nvPr>
        </p:nvGraphicFramePr>
        <p:xfrm>
          <a:off x="649224" y="2405380"/>
          <a:ext cx="10890504" cy="914400"/>
        </p:xfrm>
        <a:graphic>
          <a:graphicData uri="http://schemas.openxmlformats.org/drawingml/2006/table">
            <a:tbl>
              <a:tblPr/>
              <a:tblGrid>
                <a:gridCol w="2013370"/>
                <a:gridCol w="4758876"/>
                <a:gridCol w="4118258"/>
              </a:tblGrid>
              <a:tr h="475488">
                <a:tc>
                  <a:txBody>
                    <a:bodyPr/>
                    <a:lstStyle/>
                    <a:p>
                      <a:pPr indent="0" marL="0">
                        <a:buNone/>
                      </a:pPr>
                      <a:r>
                        <a:rPr lang="en-US" sz="1400" dirty="0">
                          <a:solidFill>
                            <a:schemeClr val="accent3"/>
                          </a:solidFill>
                        </a:rPr>
                        <a:t>부분</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파라미터</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정하는 것</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475488">
                <a:tc>
                  <a:txBody>
                    <a:bodyPr/>
                    <a:lstStyle/>
                    <a:p>
                      <a:pPr indent="0" marL="0">
                        <a:buNone/>
                      </a:pPr>
                      <a:r>
                        <a:rPr lang="en-US" sz="1700" dirty="0">
                          <a:solidFill>
                            <a:schemeClr val="tx1"/>
                          </a:solidFill>
                        </a:rPr>
                        <a:t>어떤 자원</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/api/v1/posts</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경로</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9"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anim calcmode="lin" valueType="num">
                                      <p:cBhvr>
                                        <p:cTn id="8" dur="450" fill="hold"/>
                                        <p:tgtEl>
                                          <p:spTgt spid="6"/>
                                        </p:tgtEl>
                                        <p:attrNameLst>
                                          <p:attrName>ppt_x</p:attrName>
                                        </p:attrNameLst>
                                      </p:cBhvr>
                                      <p:tavLst>
                                        <p:tav tm="0">
                                          <p:val>
                                            <p:strVal val="#ppt_x"/>
                                          </p:val>
                                        </p:tav>
                                        <p:tav tm="100000">
                                          <p:val>
                                            <p:strVal val="#ppt_x"/>
                                          </p:val>
                                        </p:tav>
                                      </p:tavLst>
                                    </p:anim>
                                    <p:anim calcmode="lin" valueType="num">
                                      <p:cBhvr>
                                        <p:cTn id="9" dur="450" fill="hold"/>
                                        <p:tgtEl>
                                          <p:spTgt spid="6"/>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p:cTn id="13" dur="450" fill="hold"/>
                                        <p:tgtEl>
                                          <p:spTgt spid="7"/>
                                        </p:tgtEl>
                                        <p:attrNameLst>
                                          <p:attrName>ppt_x</p:attrName>
                                        </p:attrNameLst>
                                      </p:cBhvr>
                                      <p:tavLst>
                                        <p:tav tm="0">
                                          <p:val>
                                            <p:strVal val="#ppt_x"/>
                                          </p:val>
                                        </p:tav>
                                        <p:tav tm="100000">
                                          <p:val>
                                            <p:strVal val="#ppt_x"/>
                                          </p:val>
                                        </p:tav>
                                      </p:tavLst>
                                    </p:anim>
                                    <p:anim calcmode="lin" valueType="num">
                                      <p:cBhvr>
                                        <p:cTn id="14" dur="450" fill="hold"/>
                                        <p:tgtEl>
                                          <p:spTgt spid="7"/>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anim calcmode="lin" valueType="num">
                                      <p:cBhvr>
                                        <p:cTn id="18" dur="450" fill="hold"/>
                                        <p:tgtEl>
                                          <p:spTgt spid="8"/>
                                        </p:tgtEl>
                                        <p:attrNameLst>
                                          <p:attrName>ppt_x</p:attrName>
                                        </p:attrNameLst>
                                      </p:cBhvr>
                                      <p:tavLst>
                                        <p:tav tm="0">
                                          <p:val>
                                            <p:strVal val="#ppt_x"/>
                                          </p:val>
                                        </p:tav>
                                        <p:tav tm="100000">
                                          <p:val>
                                            <p:strVal val="#ppt_x"/>
                                          </p:val>
                                        </p:tav>
                                      </p:tavLst>
                                    </p:anim>
                                    <p:anim calcmode="lin" valueType="num">
                                      <p:cBhvr>
                                        <p:cTn id="19" dur="450" fill="hold"/>
                                        <p:tgtEl>
                                          <p:spTgt spid="8"/>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Graphic spid="8" grpId="0">
        <p:bldAsOne/>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05 · PAGINATION</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목록은 쿼리로: 검색 · 정렬 · 페이징</a:t>
            </a:r>
            <a:endParaRPr lang="en-US" sz="3200" dirty="0"/>
          </a:p>
        </p:txBody>
      </p:sp>
      <p:sp>
        <p:nvSpPr>
          <p:cNvPr id="4" name="badge"/>
          <p:cNvSpPr/>
          <p:nvPr/>
        </p:nvSpPr>
        <p:spPr>
          <a:xfrm>
            <a:off x="10853928" y="384048"/>
            <a:ext cx="685800" cy="310896"/>
          </a:xfrm>
          <a:prstGeom prst="roundRect">
            <a:avLst>
              <a:gd name="adj" fmla="val 50000"/>
            </a:avLst>
          </a:prstGeom>
          <a:solidFill>
            <a:srgbClr val="E8E0D2"/>
          </a:solidFill>
          <a:ln/>
        </p:spPr>
      </p:sp>
      <p:sp>
        <p:nvSpPr>
          <p:cNvPr id="5" name="badge-text"/>
          <p:cNvSpPr txBox="1"/>
          <p:nvPr/>
        </p:nvSpPr>
        <p:spPr>
          <a:xfrm>
            <a:off x="10853928" y="384048"/>
            <a:ext cx="685800" cy="310896"/>
          </a:xfrm>
          <a:prstGeom prst="rect">
            <a:avLst/>
          </a:prstGeom>
          <a:noFill/>
          <a:ln/>
        </p:spPr>
        <p:txBody>
          <a:bodyPr wrap="square" lIns="0" tIns="0" rIns="0" bIns="0" rtlCol="0" anchor="ctr"/>
          <a:lstStyle/>
          <a:p>
            <a:pPr algn="ctr" indent="0" marL="0">
              <a:buNone/>
            </a:pPr>
            <a:r>
              <a:rPr lang="en-US" sz="1200" dirty="0">
                <a:solidFill>
                  <a:schemeClr val="accent3"/>
                </a:solidFill>
              </a:rPr>
              <a:t>2 / 4</a:t>
            </a:r>
            <a:endParaRPr lang="en-US" sz="1200" dirty="0"/>
          </a:p>
        </p:txBody>
      </p:sp>
      <p:sp>
        <p:nvSpPr>
          <p:cNvPr id="6" name="!!b0-0"/>
          <p:cNvSpPr/>
          <p:nvPr/>
        </p:nvSpPr>
        <p:spPr>
          <a:xfrm>
            <a:off x="649224" y="1581912"/>
            <a:ext cx="10890504" cy="594868"/>
          </a:xfrm>
          <a:prstGeom prst="roundRect">
            <a:avLst>
              <a:gd name="adj" fmla="val 18446"/>
            </a:avLst>
          </a:prstGeom>
          <a:solidFill>
            <a:schemeClr val="bg2"/>
          </a:solidFill>
          <a:ln/>
        </p:spPr>
      </p:sp>
      <p:sp>
        <p:nvSpPr>
          <p:cNvPr id="7" name="!!b0-1"/>
          <p:cNvSpPr txBox="1"/>
          <p:nvPr/>
        </p:nvSpPr>
        <p:spPr>
          <a:xfrm>
            <a:off x="877824" y="1581912"/>
            <a:ext cx="10433304" cy="594868"/>
          </a:xfrm>
          <a:prstGeom prst="rect">
            <a:avLst/>
          </a:prstGeom>
          <a:noFill/>
          <a:ln/>
        </p:spPr>
        <p:txBody>
          <a:bodyPr wrap="square" lIns="0" tIns="0" rIns="0" bIns="0" rtlCol="0" anchor="ctr"/>
          <a:lstStyle/>
          <a:p>
            <a:pPr algn="l" indent="0" marL="0">
              <a:lnSpc>
                <a:spcPct val="100000"/>
              </a:lnSpc>
              <a:buNone/>
            </a:pPr>
            <a:r>
              <a:rPr lang="en-US" sz="1700" dirty="0">
                <a:solidFill>
                  <a:schemeClr val="tx1"/>
                </a:solidFill>
                <a:latin typeface="JetBrains Mono" pitchFamily="34" charset="0"/>
                <a:ea typeface="JetBrains Mono" pitchFamily="34" charset="-122"/>
                <a:cs typeface="JetBrains Mono" pitchFamily="34" charset="-120"/>
              </a:rPr>
              <a:t>GET /api/v1/posts?topic=TRAVEL&amp;keyword=제주</a:t>
            </a:r>
            <a:endParaRPr lang="en-US" sz="1700" dirty="0"/>
          </a:p>
        </p:txBody>
      </p:sp>
      <p:graphicFrame>
        <p:nvGraphicFramePr>
          <p:cNvPr id="8" name="!!b1-0"/>
          <p:cNvGraphicFramePr>
            <a:graphicFrameLocks noGrp="1"/>
          </p:cNvGraphicFramePr>
          <p:nvPr>
            <p:extLst>
              <p:ext uri="{D42A27DB-BD31-4B8C-83A1-F6EECF244321}">
                <p14:modId xmlns:p14="http://schemas.microsoft.com/office/powerpoint/2010/main" val="1579011935"/>
              </p:ext>
            </p:extLst>
          </p:nvPr>
        </p:nvGraphicFramePr>
        <p:xfrm>
          <a:off x="649224" y="2405380"/>
          <a:ext cx="10890504" cy="914400"/>
        </p:xfrm>
        <a:graphic>
          <a:graphicData uri="http://schemas.openxmlformats.org/drawingml/2006/table">
            <a:tbl>
              <a:tblPr/>
              <a:tblGrid>
                <a:gridCol w="2013370"/>
                <a:gridCol w="4758876"/>
                <a:gridCol w="4118258"/>
              </a:tblGrid>
              <a:tr h="475488">
                <a:tc>
                  <a:txBody>
                    <a:bodyPr/>
                    <a:lstStyle/>
                    <a:p>
                      <a:pPr indent="0" marL="0">
                        <a:buNone/>
                      </a:pPr>
                      <a:r>
                        <a:rPr lang="en-US" sz="1400" dirty="0">
                          <a:solidFill>
                            <a:schemeClr val="accent3"/>
                          </a:solidFill>
                        </a:rPr>
                        <a:t>부분</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파라미터</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정하는 것</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475488">
                <a:tc>
                  <a:txBody>
                    <a:bodyPr/>
                    <a:lstStyle/>
                    <a:p>
                      <a:pPr indent="0" marL="0">
                        <a:buNone/>
                      </a:pPr>
                      <a:r>
                        <a:rPr lang="en-US" sz="1700" dirty="0">
                          <a:solidFill>
                            <a:schemeClr val="tx1"/>
                          </a:solidFill>
                        </a:rPr>
                        <a:t>어떤 자원</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/api/v1/posts</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경로</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700" dirty="0">
                          <a:solidFill>
                            <a:schemeClr val="tx1"/>
                          </a:solidFill>
                        </a:rPr>
                        <a:t>검색</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topic=TRAVEL&amp;keyword=제주</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어떤 글만?</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9"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05 · PAGINATION</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목록은 쿼리로: 검색 · 정렬 · 페이징</a:t>
            </a:r>
            <a:endParaRPr lang="en-US" sz="3200" dirty="0"/>
          </a:p>
        </p:txBody>
      </p:sp>
      <p:sp>
        <p:nvSpPr>
          <p:cNvPr id="4" name="badge"/>
          <p:cNvSpPr/>
          <p:nvPr/>
        </p:nvSpPr>
        <p:spPr>
          <a:xfrm>
            <a:off x="10853928" y="384048"/>
            <a:ext cx="685800" cy="310896"/>
          </a:xfrm>
          <a:prstGeom prst="roundRect">
            <a:avLst>
              <a:gd name="adj" fmla="val 50000"/>
            </a:avLst>
          </a:prstGeom>
          <a:solidFill>
            <a:srgbClr val="E8E0D2"/>
          </a:solidFill>
          <a:ln/>
        </p:spPr>
      </p:sp>
      <p:sp>
        <p:nvSpPr>
          <p:cNvPr id="5" name="badge-text"/>
          <p:cNvSpPr txBox="1"/>
          <p:nvPr/>
        </p:nvSpPr>
        <p:spPr>
          <a:xfrm>
            <a:off x="10853928" y="384048"/>
            <a:ext cx="685800" cy="310896"/>
          </a:xfrm>
          <a:prstGeom prst="rect">
            <a:avLst/>
          </a:prstGeom>
          <a:noFill/>
          <a:ln/>
        </p:spPr>
        <p:txBody>
          <a:bodyPr wrap="square" lIns="0" tIns="0" rIns="0" bIns="0" rtlCol="0" anchor="ctr"/>
          <a:lstStyle/>
          <a:p>
            <a:pPr algn="ctr" indent="0" marL="0">
              <a:buNone/>
            </a:pPr>
            <a:r>
              <a:rPr lang="en-US" sz="1200" dirty="0">
                <a:solidFill>
                  <a:schemeClr val="accent3"/>
                </a:solidFill>
              </a:rPr>
              <a:t>3 / 4</a:t>
            </a:r>
            <a:endParaRPr lang="en-US" sz="1200" dirty="0"/>
          </a:p>
        </p:txBody>
      </p:sp>
      <p:sp>
        <p:nvSpPr>
          <p:cNvPr id="6" name="!!b0-0"/>
          <p:cNvSpPr/>
          <p:nvPr/>
        </p:nvSpPr>
        <p:spPr>
          <a:xfrm>
            <a:off x="649224" y="1581912"/>
            <a:ext cx="10890504" cy="594868"/>
          </a:xfrm>
          <a:prstGeom prst="roundRect">
            <a:avLst>
              <a:gd name="adj" fmla="val 18446"/>
            </a:avLst>
          </a:prstGeom>
          <a:solidFill>
            <a:schemeClr val="bg2"/>
          </a:solidFill>
          <a:ln/>
        </p:spPr>
      </p:sp>
      <p:sp>
        <p:nvSpPr>
          <p:cNvPr id="7" name="!!b0-1"/>
          <p:cNvSpPr txBox="1"/>
          <p:nvPr/>
        </p:nvSpPr>
        <p:spPr>
          <a:xfrm>
            <a:off x="877824" y="1581912"/>
            <a:ext cx="10433304" cy="594868"/>
          </a:xfrm>
          <a:prstGeom prst="rect">
            <a:avLst/>
          </a:prstGeom>
          <a:noFill/>
          <a:ln/>
        </p:spPr>
        <p:txBody>
          <a:bodyPr wrap="square" lIns="0" tIns="0" rIns="0" bIns="0" rtlCol="0" anchor="ctr"/>
          <a:lstStyle/>
          <a:p>
            <a:pPr algn="l" indent="0" marL="0">
              <a:lnSpc>
                <a:spcPct val="100000"/>
              </a:lnSpc>
              <a:buNone/>
            </a:pPr>
            <a:r>
              <a:rPr lang="en-US" sz="1700" dirty="0">
                <a:solidFill>
                  <a:schemeClr val="tx1"/>
                </a:solidFill>
                <a:latin typeface="JetBrains Mono" pitchFamily="34" charset="0"/>
                <a:ea typeface="JetBrains Mono" pitchFamily="34" charset="-122"/>
                <a:cs typeface="JetBrains Mono" pitchFamily="34" charset="-120"/>
              </a:rPr>
              <a:t>GET /api/v1/posts?topic=TRAVEL&amp;keyword=제주&amp;sort=createdAt,desc</a:t>
            </a:r>
            <a:endParaRPr lang="en-US" sz="1700" dirty="0"/>
          </a:p>
        </p:txBody>
      </p:sp>
      <p:graphicFrame>
        <p:nvGraphicFramePr>
          <p:cNvPr id="8" name="!!b1-0"/>
          <p:cNvGraphicFramePr>
            <a:graphicFrameLocks noGrp="1"/>
          </p:cNvGraphicFramePr>
          <p:nvPr>
            <p:extLst>
              <p:ext uri="{D42A27DB-BD31-4B8C-83A1-F6EECF244321}">
                <p14:modId xmlns:p14="http://schemas.microsoft.com/office/powerpoint/2010/main" val="1579011935"/>
              </p:ext>
            </p:extLst>
          </p:nvPr>
        </p:nvGraphicFramePr>
        <p:xfrm>
          <a:off x="649224" y="2405380"/>
          <a:ext cx="10890504" cy="914400"/>
        </p:xfrm>
        <a:graphic>
          <a:graphicData uri="http://schemas.openxmlformats.org/drawingml/2006/table">
            <a:tbl>
              <a:tblPr/>
              <a:tblGrid>
                <a:gridCol w="2013370"/>
                <a:gridCol w="4758876"/>
                <a:gridCol w="4118258"/>
              </a:tblGrid>
              <a:tr h="475488">
                <a:tc>
                  <a:txBody>
                    <a:bodyPr/>
                    <a:lstStyle/>
                    <a:p>
                      <a:pPr indent="0" marL="0">
                        <a:buNone/>
                      </a:pPr>
                      <a:r>
                        <a:rPr lang="en-US" sz="1400" dirty="0">
                          <a:solidFill>
                            <a:schemeClr val="accent3"/>
                          </a:solidFill>
                        </a:rPr>
                        <a:t>부분</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파라미터</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정하는 것</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475488">
                <a:tc>
                  <a:txBody>
                    <a:bodyPr/>
                    <a:lstStyle/>
                    <a:p>
                      <a:pPr indent="0" marL="0">
                        <a:buNone/>
                      </a:pPr>
                      <a:r>
                        <a:rPr lang="en-US" sz="1700" dirty="0">
                          <a:solidFill>
                            <a:schemeClr val="tx1"/>
                          </a:solidFill>
                        </a:rPr>
                        <a:t>어떤 자원</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/api/v1/posts</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경로</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700" dirty="0">
                          <a:solidFill>
                            <a:schemeClr val="tx1"/>
                          </a:solidFill>
                        </a:rPr>
                        <a:t>검색</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topic=TRAVEL&amp;keyword=제주</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어떤 글만?</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700" dirty="0">
                          <a:solidFill>
                            <a:schemeClr val="tx1"/>
                          </a:solidFill>
                        </a:rPr>
                        <a:t>정렬</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sort=createdAt,desc</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어떤 순서로?</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9"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05 · PAGINATION</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목록은 쿼리로: 검색 · 정렬 · 페이징</a:t>
            </a:r>
            <a:endParaRPr lang="en-US" sz="3200" dirty="0"/>
          </a:p>
        </p:txBody>
      </p:sp>
      <p:sp>
        <p:nvSpPr>
          <p:cNvPr id="4" name="badge"/>
          <p:cNvSpPr/>
          <p:nvPr/>
        </p:nvSpPr>
        <p:spPr>
          <a:xfrm>
            <a:off x="10853928" y="384048"/>
            <a:ext cx="685800" cy="310896"/>
          </a:xfrm>
          <a:prstGeom prst="roundRect">
            <a:avLst>
              <a:gd name="adj" fmla="val 50000"/>
            </a:avLst>
          </a:prstGeom>
          <a:solidFill>
            <a:srgbClr val="E8E0D2"/>
          </a:solidFill>
          <a:ln/>
        </p:spPr>
      </p:sp>
      <p:sp>
        <p:nvSpPr>
          <p:cNvPr id="5" name="badge-text"/>
          <p:cNvSpPr txBox="1"/>
          <p:nvPr/>
        </p:nvSpPr>
        <p:spPr>
          <a:xfrm>
            <a:off x="10853928" y="384048"/>
            <a:ext cx="685800" cy="310896"/>
          </a:xfrm>
          <a:prstGeom prst="rect">
            <a:avLst/>
          </a:prstGeom>
          <a:noFill/>
          <a:ln/>
        </p:spPr>
        <p:txBody>
          <a:bodyPr wrap="square" lIns="0" tIns="0" rIns="0" bIns="0" rtlCol="0" anchor="ctr"/>
          <a:lstStyle/>
          <a:p>
            <a:pPr algn="ctr" indent="0" marL="0">
              <a:buNone/>
            </a:pPr>
            <a:r>
              <a:rPr lang="en-US" sz="1200" dirty="0">
                <a:solidFill>
                  <a:schemeClr val="accent3"/>
                </a:solidFill>
              </a:rPr>
              <a:t>4 / 4</a:t>
            </a:r>
            <a:endParaRPr lang="en-US" sz="1200" dirty="0"/>
          </a:p>
        </p:txBody>
      </p:sp>
      <p:sp>
        <p:nvSpPr>
          <p:cNvPr id="6" name="!!b0-0"/>
          <p:cNvSpPr/>
          <p:nvPr/>
        </p:nvSpPr>
        <p:spPr>
          <a:xfrm>
            <a:off x="649224" y="1581912"/>
            <a:ext cx="10890504" cy="594868"/>
          </a:xfrm>
          <a:prstGeom prst="roundRect">
            <a:avLst>
              <a:gd name="adj" fmla="val 18446"/>
            </a:avLst>
          </a:prstGeom>
          <a:solidFill>
            <a:schemeClr val="bg2"/>
          </a:solidFill>
          <a:ln/>
        </p:spPr>
      </p:sp>
      <p:sp>
        <p:nvSpPr>
          <p:cNvPr id="7" name="!!b0-1"/>
          <p:cNvSpPr txBox="1"/>
          <p:nvPr/>
        </p:nvSpPr>
        <p:spPr>
          <a:xfrm>
            <a:off x="877824" y="1581912"/>
            <a:ext cx="10433304" cy="594868"/>
          </a:xfrm>
          <a:prstGeom prst="rect">
            <a:avLst/>
          </a:prstGeom>
          <a:noFill/>
          <a:ln/>
        </p:spPr>
        <p:txBody>
          <a:bodyPr wrap="square" lIns="0" tIns="0" rIns="0" bIns="0" rtlCol="0" anchor="ctr"/>
          <a:lstStyle/>
          <a:p>
            <a:pPr algn="l" indent="0" marL="0">
              <a:lnSpc>
                <a:spcPct val="100000"/>
              </a:lnSpc>
              <a:buNone/>
            </a:pPr>
            <a:r>
              <a:rPr lang="en-US" sz="1700" dirty="0">
                <a:solidFill>
                  <a:schemeClr val="tx1"/>
                </a:solidFill>
                <a:latin typeface="JetBrains Mono" pitchFamily="34" charset="0"/>
                <a:ea typeface="JetBrains Mono" pitchFamily="34" charset="-122"/>
                <a:cs typeface="JetBrains Mono" pitchFamily="34" charset="-120"/>
              </a:rPr>
              <a:t>GET /api/v1/posts?topic=TRAVEL&amp;keyword=제주&amp;sort=createdAt,desc&amp;page=0&amp;size=20</a:t>
            </a:r>
            <a:endParaRPr lang="en-US" sz="1700" dirty="0"/>
          </a:p>
        </p:txBody>
      </p:sp>
      <p:graphicFrame>
        <p:nvGraphicFramePr>
          <p:cNvPr id="8" name="!!b1-0"/>
          <p:cNvGraphicFramePr>
            <a:graphicFrameLocks noGrp="1"/>
          </p:cNvGraphicFramePr>
          <p:nvPr>
            <p:extLst>
              <p:ext uri="{D42A27DB-BD31-4B8C-83A1-F6EECF244321}">
                <p14:modId xmlns:p14="http://schemas.microsoft.com/office/powerpoint/2010/main" val="1579011935"/>
              </p:ext>
            </p:extLst>
          </p:nvPr>
        </p:nvGraphicFramePr>
        <p:xfrm>
          <a:off x="649224" y="2405380"/>
          <a:ext cx="10890504" cy="914400"/>
        </p:xfrm>
        <a:graphic>
          <a:graphicData uri="http://schemas.openxmlformats.org/drawingml/2006/table">
            <a:tbl>
              <a:tblPr/>
              <a:tblGrid>
                <a:gridCol w="2013370"/>
                <a:gridCol w="4758876"/>
                <a:gridCol w="4118258"/>
              </a:tblGrid>
              <a:tr h="475488">
                <a:tc>
                  <a:txBody>
                    <a:bodyPr/>
                    <a:lstStyle/>
                    <a:p>
                      <a:pPr indent="0" marL="0">
                        <a:buNone/>
                      </a:pPr>
                      <a:r>
                        <a:rPr lang="en-US" sz="1400" dirty="0">
                          <a:solidFill>
                            <a:schemeClr val="accent3"/>
                          </a:solidFill>
                        </a:rPr>
                        <a:t>부분</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파라미터</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정하는 것</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475488">
                <a:tc>
                  <a:txBody>
                    <a:bodyPr/>
                    <a:lstStyle/>
                    <a:p>
                      <a:pPr indent="0" marL="0">
                        <a:buNone/>
                      </a:pPr>
                      <a:r>
                        <a:rPr lang="en-US" sz="1700" dirty="0">
                          <a:solidFill>
                            <a:schemeClr val="tx1"/>
                          </a:solidFill>
                        </a:rPr>
                        <a:t>어떤 자원</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/api/v1/posts</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경로</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700" dirty="0">
                          <a:solidFill>
                            <a:schemeClr val="tx1"/>
                          </a:solidFill>
                        </a:rPr>
                        <a:t>검색</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topic=TRAVEL&amp;keyword=제주</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어떤 글만?</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700" dirty="0">
                          <a:solidFill>
                            <a:schemeClr val="tx1"/>
                          </a:solidFill>
                        </a:rPr>
                        <a:t>정렬</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sort=createdAt,desc</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어떤 순서로?</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700" dirty="0">
                          <a:solidFill>
                            <a:schemeClr val="tx1"/>
                          </a:solidFill>
                        </a:rPr>
                        <a:t>페이징</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latin typeface="JetBrains Mono" pitchFamily="34" charset="0"/>
                          <a:ea typeface="JetBrains Mono" pitchFamily="34" charset="-122"/>
                          <a:cs typeface="JetBrains Mono" pitchFamily="34" charset="-120"/>
                        </a:rPr>
                        <a:t>page=0&amp;size=20</a:t>
                      </a:r>
                      <a:endParaRPr lang="en-US" sz="17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몇 개씩, 몇 번째 묶음?</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9" name="!!b2-0"/>
          <p:cNvSpPr txBox="1"/>
          <p:nvPr/>
        </p:nvSpPr>
        <p:spPr>
          <a:xfrm>
            <a:off x="649224" y="5057140"/>
            <a:ext cx="10890504" cy="342900"/>
          </a:xfrm>
          <a:prstGeom prst="rect">
            <a:avLst/>
          </a:prstGeom>
          <a:noFill/>
          <a:ln/>
        </p:spPr>
        <p:txBody>
          <a:bodyPr wrap="square" lIns="0" tIns="0" rIns="0" bIns="0" rtlCol="0" anchor="t"/>
          <a:lstStyle/>
          <a:p>
            <a:pPr algn="l" indent="0" marL="0">
              <a:lnSpc>
                <a:spcPct val="115000"/>
              </a:lnSpc>
              <a:spcAft>
                <a:spcPts val="600"/>
              </a:spcAft>
              <a:buNone/>
            </a:pPr>
            <a:r>
              <a:rPr lang="en-US" sz="1800" dirty="0">
                <a:solidFill>
                  <a:srgbClr val="3D3D3A"/>
                </a:solidFill>
              </a:rPr>
              <a:t>조건은 모두 물음표(?) 뒤에 이름=값으로 · 안 보내면 기본값 (최신순, 20개)</a:t>
            </a:r>
            <a:endParaRPr lang="en-US" sz="1800" dirty="0"/>
          </a:p>
        </p:txBody>
      </p:sp>
      <p:sp>
        <p:nvSpPr>
          <p:cNvPr id="10"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05 · PAGINATION</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목록 응답에는 페이지 정보를 같이</a:t>
            </a:r>
            <a:endParaRPr lang="en-US" sz="3200" dirty="0"/>
          </a:p>
        </p:txBody>
      </p:sp>
      <p:sp>
        <p:nvSpPr>
          <p:cNvPr id="4" name="b0c0-0"/>
          <p:cNvSpPr/>
          <p:nvPr/>
        </p:nvSpPr>
        <p:spPr>
          <a:xfrm>
            <a:off x="649224" y="1581912"/>
            <a:ext cx="5584807" cy="3414395"/>
          </a:xfrm>
          <a:prstGeom prst="roundRect">
            <a:avLst>
              <a:gd name="adj" fmla="val 3214"/>
            </a:avLst>
          </a:prstGeom>
          <a:solidFill>
            <a:schemeClr val="tx2"/>
          </a:solidFill>
          <a:ln/>
        </p:spPr>
      </p:sp>
      <p:sp>
        <p:nvSpPr>
          <p:cNvPr id="5" name="b0c0-1"/>
          <p:cNvSpPr/>
          <p:nvPr/>
        </p:nvSpPr>
        <p:spPr>
          <a:xfrm>
            <a:off x="850392" y="1728216"/>
            <a:ext cx="100584" cy="100584"/>
          </a:xfrm>
          <a:prstGeom prst="ellipse">
            <a:avLst/>
          </a:prstGeom>
          <a:solidFill>
            <a:srgbClr val="4A4844"/>
          </a:solidFill>
          <a:ln/>
        </p:spPr>
      </p:sp>
      <p:sp>
        <p:nvSpPr>
          <p:cNvPr id="6" name="b0c0-2"/>
          <p:cNvSpPr/>
          <p:nvPr/>
        </p:nvSpPr>
        <p:spPr>
          <a:xfrm>
            <a:off x="1024128" y="1728216"/>
            <a:ext cx="100584" cy="100584"/>
          </a:xfrm>
          <a:prstGeom prst="ellipse">
            <a:avLst/>
          </a:prstGeom>
          <a:solidFill>
            <a:srgbClr val="4A4844"/>
          </a:solidFill>
          <a:ln/>
        </p:spPr>
      </p:sp>
      <p:sp>
        <p:nvSpPr>
          <p:cNvPr id="7" name="b0c0-3"/>
          <p:cNvSpPr/>
          <p:nvPr/>
        </p:nvSpPr>
        <p:spPr>
          <a:xfrm>
            <a:off x="1197864" y="1728216"/>
            <a:ext cx="100584" cy="100584"/>
          </a:xfrm>
          <a:prstGeom prst="ellipse">
            <a:avLst/>
          </a:prstGeom>
          <a:solidFill>
            <a:srgbClr val="4A4844"/>
          </a:solidFill>
          <a:ln/>
        </p:spPr>
      </p:sp>
      <p:sp>
        <p:nvSpPr>
          <p:cNvPr id="8" name="b0c0-4"/>
          <p:cNvSpPr txBox="1"/>
          <p:nvPr/>
        </p:nvSpPr>
        <p:spPr>
          <a:xfrm>
            <a:off x="1472184" y="1673352"/>
            <a:ext cx="4578967"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GET /api/v1/posts?page=1&amp;size=20</a:t>
            </a:r>
            <a:endParaRPr lang="en-US" sz="1100" dirty="0"/>
          </a:p>
        </p:txBody>
      </p:sp>
      <p:sp>
        <p:nvSpPr>
          <p:cNvPr id="9" name="b0c0-5"/>
          <p:cNvSpPr txBox="1"/>
          <p:nvPr/>
        </p:nvSpPr>
        <p:spPr>
          <a:xfrm>
            <a:off x="905256" y="2020824"/>
            <a:ext cx="5127607" cy="2865755"/>
          </a:xfrm>
          <a:prstGeom prst="rect">
            <a:avLst/>
          </a:prstGeom>
          <a:noFill/>
          <a:ln/>
        </p:spPr>
        <p:txBody>
          <a:bodyPr wrap="square" lIns="0" tIns="0" rIns="0" bIns="0" rtlCol="0" anchor="t"/>
          <a:lstStyle/>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"content":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 "id": 37, "title": "부산 맛집", ...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 "id": 36, "title": "제주 여행", ... },</a:t>
            </a:r>
            <a:endParaRPr lang="en-US" sz="1300" dirty="0"/>
          </a:p>
          <a:p>
            <a:pPr algn="l" indent="0" marL="0">
              <a:lnSpc>
                <a:spcPct val="105000"/>
              </a:lnSpc>
              <a:buNone/>
            </a:pPr>
            <a:r>
              <a:rPr lang="en-US" sz="1300" dirty="0">
                <a:solidFill>
                  <a:srgbClr val="A09D96"/>
                </a:solidFill>
                <a:latin typeface="JetBrains Mono" pitchFamily="34" charset="0"/>
                <a:ea typeface="JetBrains Mono" pitchFamily="34" charset="-122"/>
                <a:cs typeface="JetBrains Mono" pitchFamily="34" charset="-120"/>
              </a:rPr>
              <a:t>    ... 모두 20개</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"page":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"number": 1,</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"size": 20,</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"totalElements": 57,</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"totalPages": 3</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  }</a:t>
            </a:r>
            <a:endParaRPr lang="en-US" sz="1300" dirty="0"/>
          </a:p>
          <a:p>
            <a:pPr algn="l" indent="0" marL="0">
              <a:lnSpc>
                <a:spcPct val="105000"/>
              </a:lnSpc>
              <a:buNone/>
            </a:pPr>
            <a:r>
              <a:rPr lang="en-US" sz="1300" dirty="0">
                <a:solidFill>
                  <a:srgbClr val="FAF9F5"/>
                </a:solidFill>
                <a:latin typeface="JetBrains Mono" pitchFamily="34" charset="0"/>
                <a:ea typeface="JetBrains Mono" pitchFamily="34" charset="-122"/>
                <a:cs typeface="JetBrains Mono" pitchFamily="34" charset="-120"/>
              </a:rPr>
              <a:t>}</a:t>
            </a:r>
            <a:endParaRPr lang="en-US" sz="1300" dirty="0"/>
          </a:p>
        </p:txBody>
      </p:sp>
      <p:graphicFrame>
        <p:nvGraphicFramePr>
          <p:cNvPr id="10" name="b0c1-6"/>
          <p:cNvGraphicFramePr>
            <a:graphicFrameLocks noGrp="1"/>
          </p:cNvGraphicFramePr>
          <p:nvPr>
            <p:extLst>
              <p:ext uri="{D42A27DB-BD31-4B8C-83A1-F6EECF244321}">
                <p14:modId xmlns:p14="http://schemas.microsoft.com/office/powerpoint/2010/main" val="1579011935"/>
              </p:ext>
            </p:extLst>
          </p:nvPr>
        </p:nvGraphicFramePr>
        <p:xfrm>
          <a:off x="6462631" y="1581912"/>
          <a:ext cx="5077097" cy="914400"/>
        </p:xfrm>
        <a:graphic>
          <a:graphicData uri="http://schemas.openxmlformats.org/drawingml/2006/table">
            <a:tbl>
              <a:tblPr/>
              <a:tblGrid>
                <a:gridCol w="1659820"/>
                <a:gridCol w="3417277"/>
              </a:tblGrid>
              <a:tr h="502920">
                <a:tc>
                  <a:txBody>
                    <a:bodyPr/>
                    <a:lstStyle/>
                    <a:p>
                      <a:pPr indent="0" marL="0">
                        <a:buNone/>
                      </a:pPr>
                      <a:r>
                        <a:rPr lang="en-US" sz="1200" dirty="0">
                          <a:solidFill>
                            <a:schemeClr val="accent3"/>
                          </a:solidFill>
                        </a:rPr>
                        <a:t>칸</a:t>
                      </a:r>
                      <a:endParaRPr lang="en-US" sz="12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200" dirty="0">
                          <a:solidFill>
                            <a:schemeClr val="accent3"/>
                          </a:solidFill>
                        </a:rPr>
                        <a:t>뜻</a:t>
                      </a:r>
                      <a:endParaRPr lang="en-US" sz="12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502920">
                <a:tc>
                  <a:txBody>
                    <a:bodyPr/>
                    <a:lstStyle/>
                    <a:p>
                      <a:pPr indent="0" marL="0">
                        <a:buNone/>
                      </a:pPr>
                      <a:r>
                        <a:rPr lang="en-US" sz="1500" dirty="0">
                          <a:solidFill>
                            <a:schemeClr val="tx1"/>
                          </a:solidFill>
                          <a:latin typeface="JetBrains Mono" pitchFamily="34" charset="0"/>
                          <a:ea typeface="JetBrains Mono" pitchFamily="34" charset="-122"/>
                          <a:cs typeface="JetBrains Mono" pitchFamily="34" charset="-120"/>
                        </a:rPr>
                        <a:t>content</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이번 묶음의 글 목록 (없으면 빈 배열 [])</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02920">
                <a:tc>
                  <a:txBody>
                    <a:bodyPr/>
                    <a:lstStyle/>
                    <a:p>
                      <a:pPr indent="0" marL="0">
                        <a:buNone/>
                      </a:pPr>
                      <a:r>
                        <a:rPr lang="en-US" sz="1500" dirty="0">
                          <a:solidFill>
                            <a:schemeClr val="tx1"/>
                          </a:solidFill>
                          <a:latin typeface="JetBrains Mono" pitchFamily="34" charset="0"/>
                          <a:ea typeface="JetBrains Mono" pitchFamily="34" charset="-122"/>
                          <a:cs typeface="JetBrains Mono" pitchFamily="34" charset="-120"/>
                        </a:rPr>
                        <a:t>number</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지금 몇 번째 묶음 (0부터 → 화면엔 2쪽)</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02920">
                <a:tc>
                  <a:txBody>
                    <a:bodyPr/>
                    <a:lstStyle/>
                    <a:p>
                      <a:pPr indent="0" marL="0">
                        <a:buNone/>
                      </a:pPr>
                      <a:r>
                        <a:rPr lang="en-US" sz="1500" dirty="0">
                          <a:solidFill>
                            <a:schemeClr val="tx1"/>
                          </a:solidFill>
                          <a:latin typeface="JetBrains Mono" pitchFamily="34" charset="0"/>
                          <a:ea typeface="JetBrains Mono" pitchFamily="34" charset="-122"/>
                          <a:cs typeface="JetBrains Mono" pitchFamily="34" charset="-120"/>
                        </a:rPr>
                        <a:t>size</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한 묶음에 몇 개</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02920">
                <a:tc>
                  <a:txBody>
                    <a:bodyPr/>
                    <a:lstStyle/>
                    <a:p>
                      <a:pPr indent="0" marL="0">
                        <a:buNone/>
                      </a:pPr>
                      <a:r>
                        <a:rPr lang="en-US" sz="1500" dirty="0">
                          <a:solidFill>
                            <a:schemeClr val="tx1"/>
                          </a:solidFill>
                          <a:latin typeface="JetBrains Mono" pitchFamily="34" charset="0"/>
                          <a:ea typeface="JetBrains Mono" pitchFamily="34" charset="-122"/>
                          <a:cs typeface="JetBrains Mono" pitchFamily="34" charset="-120"/>
                        </a:rPr>
                        <a:t>totalElements</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전체 글 수</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02920">
                <a:tc>
                  <a:txBody>
                    <a:bodyPr/>
                    <a:lstStyle/>
                    <a:p>
                      <a:pPr indent="0" marL="0">
                        <a:buNone/>
                      </a:pPr>
                      <a:r>
                        <a:rPr lang="en-US" sz="1500" dirty="0">
                          <a:solidFill>
                            <a:schemeClr val="tx1"/>
                          </a:solidFill>
                          <a:latin typeface="JetBrains Mono" pitchFamily="34" charset="0"/>
                          <a:ea typeface="JetBrains Mono" pitchFamily="34" charset="-122"/>
                          <a:cs typeface="JetBrains Mono" pitchFamily="34" charset="-120"/>
                        </a:rPr>
                        <a:t>totalPages</a:t>
                      </a:r>
                      <a:endParaRPr lang="en-US" sz="1500" dirty="0">
                        <a:latin typeface="JetBrains Mono" charset="0"/>
                        <a:ea typeface="JetBrains Mono" charset="0"/>
                        <a:cs typeface="JetBrains Mono" charset="0"/>
                      </a:endParaRPr>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전체 묶음 수 → 마지막 쪽 번호</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11" name="b1-0"/>
          <p:cNvSpPr/>
          <p:nvPr/>
        </p:nvSpPr>
        <p:spPr>
          <a:xfrm>
            <a:off x="649224" y="5224907"/>
            <a:ext cx="10890504" cy="594868"/>
          </a:xfrm>
          <a:prstGeom prst="roundRect">
            <a:avLst>
              <a:gd name="adj" fmla="val 18446"/>
            </a:avLst>
          </a:prstGeom>
          <a:solidFill>
            <a:schemeClr val="bg2"/>
          </a:solidFill>
          <a:ln/>
        </p:spPr>
      </p:sp>
      <p:sp>
        <p:nvSpPr>
          <p:cNvPr id="12" name="b1-1"/>
          <p:cNvSpPr txBox="1"/>
          <p:nvPr/>
        </p:nvSpPr>
        <p:spPr>
          <a:xfrm>
            <a:off x="877824" y="5224907"/>
            <a:ext cx="10433304" cy="594868"/>
          </a:xfrm>
          <a:prstGeom prst="rect">
            <a:avLst/>
          </a:prstGeom>
          <a:noFill/>
          <a:ln/>
        </p:spPr>
        <p:txBody>
          <a:bodyPr wrap="square" lIns="0" tIns="0" rIns="0" bIns="0" rtlCol="0" anchor="ctr"/>
          <a:lstStyle/>
          <a:p>
            <a:pPr algn="l" indent="0" marL="0">
              <a:lnSpc>
                <a:spcPct val="100000"/>
              </a:lnSpc>
              <a:buNone/>
            </a:pPr>
            <a:r>
              <a:rPr lang="en-US" sz="1700" dirty="0">
                <a:solidFill>
                  <a:schemeClr val="tx1"/>
                </a:solidFill>
              </a:rPr>
              <a:t>서버가 제한할 것: size 최대 100 · 정렬은 정해 둔 필드만 · 정렬 조건이 없으면 최신순</a:t>
            </a:r>
            <a:endParaRPr lang="en-US" sz="1700" dirty="0"/>
          </a:p>
        </p:txBody>
      </p:sp>
      <p:sp>
        <p:nvSpPr>
          <p:cNvPr id="13"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fill="hold"/>
                                        <p:tgtEl>
                                          <p:spTgt spid="7"/>
                                        </p:tgtEl>
                                        <p:attrNameLst>
                                          <p:attrName>ppt_x</p:attrName>
                                        </p:attrNameLst>
                                      </p:cBhvr>
                                      <p:tavLst>
                                        <p:tav tm="0">
                                          <p:val>
                                            <p:strVal val="#ppt_x"/>
                                          </p:val>
                                        </p:tav>
                                        <p:tav tm="100000">
                                          <p:val>
                                            <p:strVal val="#ppt_x"/>
                                          </p:val>
                                        </p:tav>
                                      </p:tavLst>
                                    </p:anim>
                                    <p:anim calcmode="lin" valueType="num">
                                      <p:cBhvr>
                                        <p:cTn id="24" dur="450" fill="hold"/>
                                        <p:tgtEl>
                                          <p:spTgt spid="7"/>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anim calcmode="lin" valueType="num">
                                      <p:cBhvr>
                                        <p:cTn id="28" dur="450" fill="hold"/>
                                        <p:tgtEl>
                                          <p:spTgt spid="8"/>
                                        </p:tgtEl>
                                        <p:attrNameLst>
                                          <p:attrName>ppt_x</p:attrName>
                                        </p:attrNameLst>
                                      </p:cBhvr>
                                      <p:tavLst>
                                        <p:tav tm="0">
                                          <p:val>
                                            <p:strVal val="#ppt_x"/>
                                          </p:val>
                                        </p:tav>
                                        <p:tav tm="100000">
                                          <p:val>
                                            <p:strVal val="#ppt_x"/>
                                          </p:val>
                                        </p:tav>
                                      </p:tavLst>
                                    </p:anim>
                                    <p:anim calcmode="lin" valueType="num">
                                      <p:cBhvr>
                                        <p:cTn id="29" dur="450" fill="hold"/>
                                        <p:tgtEl>
                                          <p:spTgt spid="8"/>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anim calcmode="lin" valueType="num">
                                      <p:cBhvr>
                                        <p:cTn id="33" dur="450" fill="hold"/>
                                        <p:tgtEl>
                                          <p:spTgt spid="9"/>
                                        </p:tgtEl>
                                        <p:attrNameLst>
                                          <p:attrName>ppt_x</p:attrName>
                                        </p:attrNameLst>
                                      </p:cBhvr>
                                      <p:tavLst>
                                        <p:tav tm="0">
                                          <p:val>
                                            <p:strVal val="#ppt_x"/>
                                          </p:val>
                                        </p:tav>
                                        <p:tav tm="100000">
                                          <p:val>
                                            <p:strVal val="#ppt_x"/>
                                          </p:val>
                                        </p:tav>
                                      </p:tavLst>
                                    </p:anim>
                                    <p:anim calcmode="lin" valueType="num">
                                      <p:cBhvr>
                                        <p:cTn id="34" dur="450" fill="hold"/>
                                        <p:tgtEl>
                                          <p:spTgt spid="9"/>
                                        </p:tgtEl>
                                        <p:attrNameLst>
                                          <p:attrName>ppt_y</p:attrName>
                                        </p:attrNameLst>
                                      </p:cBhvr>
                                      <p:tavLst>
                                        <p:tav tm="0">
                                          <p:val>
                                            <p:strVal val="#ppt_y+0.03"/>
                                          </p:val>
                                        </p:tav>
                                        <p:tav tm="100000">
                                          <p:val>
                                            <p:strVal val="#ppt_y"/>
                                          </p:val>
                                        </p:tav>
                                      </p:tavLst>
                                    </p:anim>
                                  </p:childTnLst>
                                </p:cTn>
                              </p:par>
                              <p:par>
                                <p:cTn id="35" presetID="42" presetClass="entr" presetSubtype="0" fill="hold" grpId="0" nodeType="withEffect">
                                  <p:stCondLst>
                                    <p:cond delay="11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50"/>
                                        <p:tgtEl>
                                          <p:spTgt spid="10"/>
                                        </p:tgtEl>
                                      </p:cBhvr>
                                    </p:animEffect>
                                    <p:anim calcmode="lin" valueType="num">
                                      <p:cBhvr>
                                        <p:cTn id="38" dur="450" fill="hold"/>
                                        <p:tgtEl>
                                          <p:spTgt spid="10"/>
                                        </p:tgtEl>
                                        <p:attrNameLst>
                                          <p:attrName>ppt_x</p:attrName>
                                        </p:attrNameLst>
                                      </p:cBhvr>
                                      <p:tavLst>
                                        <p:tav tm="0">
                                          <p:val>
                                            <p:strVal val="#ppt_x"/>
                                          </p:val>
                                        </p:tav>
                                        <p:tav tm="100000">
                                          <p:val>
                                            <p:strVal val="#ppt_x"/>
                                          </p:val>
                                        </p:tav>
                                      </p:tavLst>
                                    </p:anim>
                                    <p:anim calcmode="lin" valueType="num">
                                      <p:cBhvr>
                                        <p:cTn id="39" dur="450" fill="hold"/>
                                        <p:tgtEl>
                                          <p:spTgt spid="10"/>
                                        </p:tgtEl>
                                        <p:attrNameLst>
                                          <p:attrName>ppt_y</p:attrName>
                                        </p:attrNameLst>
                                      </p:cBhvr>
                                      <p:tavLst>
                                        <p:tav tm="0">
                                          <p:val>
                                            <p:strVal val="#ppt_y+0.03"/>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50"/>
                                        <p:tgtEl>
                                          <p:spTgt spid="11"/>
                                        </p:tgtEl>
                                      </p:cBhvr>
                                    </p:animEffect>
                                    <p:anim calcmode="lin" valueType="num">
                                      <p:cBhvr>
                                        <p:cTn id="45" dur="450" fill="hold"/>
                                        <p:tgtEl>
                                          <p:spTgt spid="11"/>
                                        </p:tgtEl>
                                        <p:attrNameLst>
                                          <p:attrName>ppt_x</p:attrName>
                                        </p:attrNameLst>
                                      </p:cBhvr>
                                      <p:tavLst>
                                        <p:tav tm="0">
                                          <p:val>
                                            <p:strVal val="#ppt_x"/>
                                          </p:val>
                                        </p:tav>
                                        <p:tav tm="100000">
                                          <p:val>
                                            <p:strVal val="#ppt_x"/>
                                          </p:val>
                                        </p:tav>
                                      </p:tavLst>
                                    </p:anim>
                                    <p:anim calcmode="lin" valueType="num">
                                      <p:cBhvr>
                                        <p:cTn id="46" dur="450" fill="hold"/>
                                        <p:tgtEl>
                                          <p:spTgt spid="11"/>
                                        </p:tgtEl>
                                        <p:attrNameLst>
                                          <p:attrName>ppt_y</p:attrName>
                                        </p:attrNameLst>
                                      </p:cBhvr>
                                      <p:tavLst>
                                        <p:tav tm="0">
                                          <p:val>
                                            <p:strVal val="#ppt_y+0.03"/>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450"/>
                                        <p:tgtEl>
                                          <p:spTgt spid="12"/>
                                        </p:tgtEl>
                                      </p:cBhvr>
                                    </p:animEffect>
                                    <p:anim calcmode="lin" valueType="num">
                                      <p:cBhvr>
                                        <p:cTn id="50" dur="450" fill="hold"/>
                                        <p:tgtEl>
                                          <p:spTgt spid="12"/>
                                        </p:tgtEl>
                                        <p:attrNameLst>
                                          <p:attrName>ppt_x</p:attrName>
                                        </p:attrNameLst>
                                      </p:cBhvr>
                                      <p:tavLst>
                                        <p:tav tm="0">
                                          <p:val>
                                            <p:strVal val="#ppt_x"/>
                                          </p:val>
                                        </p:tav>
                                        <p:tav tm="100000">
                                          <p:val>
                                            <p:strVal val="#ppt_x"/>
                                          </p:val>
                                        </p:tav>
                                      </p:tavLst>
                                    </p:anim>
                                    <p:anim calcmode="lin" valueType="num">
                                      <p:cBhvr>
                                        <p:cTn id="51" dur="450" fill="hold"/>
                                        <p:tgtEl>
                                          <p:spTgt spid="12"/>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Graphic spid="10" grpId="0">
        <p:bldAsOne/>
      </p:bldGraphic>
      <p:bldP spid="11" grpId="0" animBg="1"/>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649224" y="1920240"/>
            <a:ext cx="2743200" cy="1005840"/>
          </a:xfrm>
          <a:prstGeom prst="rect">
            <a:avLst/>
          </a:prstGeom>
          <a:noFill/>
          <a:ln/>
        </p:spPr>
        <p:txBody>
          <a:bodyPr wrap="square" lIns="0" tIns="0" rIns="0" bIns="0" rtlCol="0" anchor="b"/>
          <a:lstStyle/>
          <a:p>
            <a:pPr algn="l" indent="0" marL="0">
              <a:buNone/>
            </a:pPr>
            <a:r>
              <a:rPr lang="en-US" sz="6000" b="1" dirty="0">
                <a:solidFill>
                  <a:schemeClr val="accent1"/>
                </a:solidFill>
                <a:latin typeface="+mj-lt" pitchFamily="34" charset="0"/>
                <a:ea typeface="+mj-lt" pitchFamily="34" charset="-122"/>
                <a:cs typeface="+mj-lt" pitchFamily="34" charset="-120"/>
              </a:rPr>
              <a:t>06</a:t>
            </a:r>
            <a:endParaRPr lang="en-US" sz="6000" dirty="0"/>
          </a:p>
        </p:txBody>
      </p:sp>
      <p:sp>
        <p:nvSpPr>
          <p:cNvPr id="3" name="Text 0"/>
          <p:cNvSpPr/>
          <p:nvPr>
            <p:ph idx="101" type="title" hasCustomPrompt="1"/>
          </p:nvPr>
        </p:nvSpPr>
        <p:spPr>
          <a:xfrm>
            <a:off x="649224" y="306324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API 문서 작성</a:t>
            </a:r>
            <a:endParaRPr lang="en-US" sz="4000" dirty="0"/>
          </a:p>
        </p:txBody>
      </p:sp>
      <p:sp>
        <p:nvSpPr>
          <p:cNvPr id="4" name="Text 0"/>
          <p:cNvSpPr/>
          <p:nvPr>
            <p:ph idx="102" type="body" hasCustomPrompt="1"/>
          </p:nvPr>
        </p:nvSpPr>
        <p:spPr>
          <a:xfrm>
            <a:off x="649224" y="4114800"/>
            <a:ext cx="10058400" cy="548640"/>
          </a:xfrm>
          <a:prstGeom prst="rect">
            <a:avLst/>
          </a:prstGeom>
          <a:noFill/>
          <a:ln/>
        </p:spPr>
        <p:txBody>
          <a:bodyPr wrap="square" lIns="0" tIns="0" rIns="0" bIns="0" rtlCol="0" anchor="t"/>
          <a:lstStyle/>
          <a:p>
            <a:pPr algn="l" indent="0" marL="0">
              <a:buNone/>
            </a:pPr>
            <a:r>
              <a:rPr lang="en-US" sz="2000" dirty="0">
                <a:solidFill>
                  <a:srgbClr val="A09D96"/>
                </a:solidFill>
              </a:rPr>
              <a:t>손으로 쓰지 않고 코드에서 만든다</a:t>
            </a:r>
            <a:endParaRPr lang="en-US" sz="20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06 · DOCS · 글결</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API 문서: Swagger</a:t>
            </a:r>
            <a:endParaRPr lang="en-US" sz="3200" dirty="0"/>
          </a:p>
        </p:txBody>
      </p:sp>
      <p:sp>
        <p:nvSpPr>
          <p:cNvPr id="4" name="badge"/>
          <p:cNvSpPr/>
          <p:nvPr/>
        </p:nvSpPr>
        <p:spPr>
          <a:xfrm>
            <a:off x="9848088" y="384048"/>
            <a:ext cx="1691640" cy="310896"/>
          </a:xfrm>
          <a:prstGeom prst="roundRect">
            <a:avLst>
              <a:gd name="adj" fmla="val 50000"/>
            </a:avLst>
          </a:prstGeom>
          <a:solidFill>
            <a:srgbClr val="E8E0D2"/>
          </a:solidFill>
          <a:ln/>
        </p:spPr>
      </p:sp>
      <p:sp>
        <p:nvSpPr>
          <p:cNvPr id="5" name="badge-text"/>
          <p:cNvSpPr txBox="1"/>
          <p:nvPr/>
        </p:nvSpPr>
        <p:spPr>
          <a:xfrm>
            <a:off x="9848088" y="384048"/>
            <a:ext cx="1691640" cy="310896"/>
          </a:xfrm>
          <a:prstGeom prst="rect">
            <a:avLst/>
          </a:prstGeom>
          <a:noFill/>
          <a:ln/>
        </p:spPr>
        <p:txBody>
          <a:bodyPr wrap="square" lIns="0" tIns="0" rIns="0" bIns="0" rtlCol="0" anchor="ctr"/>
          <a:lstStyle/>
          <a:p>
            <a:pPr algn="ctr" indent="0" marL="0">
              <a:buNone/>
            </a:pPr>
            <a:r>
              <a:rPr lang="en-US" sz="1200" dirty="0">
                <a:solidFill>
                  <a:schemeClr val="accent3"/>
                </a:solidFill>
              </a:rPr>
              <a:t>글결 · 재구성 화면</a:t>
            </a:r>
            <a:endParaRPr lang="en-US" sz="1200" dirty="0"/>
          </a:p>
        </p:txBody>
      </p:sp>
      <p:pic>
        <p:nvPicPr>
          <p:cNvPr id="6" name="b0-0" descr="/tmp/ccp-1581-asldnbwl5xu.png">    </p:cNvPr>
          <p:cNvPicPr>
            <a:picLocks noChangeAspect="1"/>
          </p:cNvPicPr>
          <p:nvPr/>
        </p:nvPicPr>
        <p:blipFill>
          <a:blip r:embed="rId1"/>
          <a:stretch>
            <a:fillRect/>
          </a:stretch>
        </p:blipFill>
        <p:spPr>
          <a:xfrm>
            <a:off x="2624877" y="1581912"/>
            <a:ext cx="6939199" cy="4818888"/>
          </a:xfrm>
          <a:prstGeom prst="rect">
            <a:avLst/>
          </a:prstGeom>
        </p:spPr>
      </p:pic>
      <p:sp>
        <p:nvSpPr>
          <p:cNvPr id="7" name="b0-1"/>
          <p:cNvSpPr/>
          <p:nvPr/>
        </p:nvSpPr>
        <p:spPr>
          <a:xfrm>
            <a:off x="2624877" y="1581912"/>
            <a:ext cx="6939199" cy="4818888"/>
          </a:xfrm>
          <a:prstGeom prst="rect">
            <a:avLst/>
          </a:prstGeom>
          <a:ln w="9525">
            <a:solidFill>
              <a:srgbClr val="E6DFD8"/>
            </a:solidFill>
            <a:prstDash val="solid"/>
          </a:ln>
        </p:spPr>
      </p:sp>
      <p:sp>
        <p:nvSpPr>
          <p:cNvPr id="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anim calcmode="lin" valueType="num">
                                      <p:cBhvr>
                                        <p:cTn id="8" dur="450" fill="hold"/>
                                        <p:tgtEl>
                                          <p:spTgt spid="6"/>
                                        </p:tgtEl>
                                        <p:attrNameLst>
                                          <p:attrName>ppt_x</p:attrName>
                                        </p:attrNameLst>
                                      </p:cBhvr>
                                      <p:tavLst>
                                        <p:tav tm="0">
                                          <p:val>
                                            <p:strVal val="#ppt_x"/>
                                          </p:val>
                                        </p:tav>
                                        <p:tav tm="100000">
                                          <p:val>
                                            <p:strVal val="#ppt_x"/>
                                          </p:val>
                                        </p:tav>
                                      </p:tavLst>
                                    </p:anim>
                                    <p:anim calcmode="lin" valueType="num">
                                      <p:cBhvr>
                                        <p:cTn id="9" dur="450" fill="hold"/>
                                        <p:tgtEl>
                                          <p:spTgt spid="6"/>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p:cTn id="13" dur="450" fill="hold"/>
                                        <p:tgtEl>
                                          <p:spTgt spid="7"/>
                                        </p:tgtEl>
                                        <p:attrNameLst>
                                          <p:attrName>ppt_x</p:attrName>
                                        </p:attrNameLst>
                                      </p:cBhvr>
                                      <p:tavLst>
                                        <p:tav tm="0">
                                          <p:val>
                                            <p:strVal val="#ppt_x"/>
                                          </p:val>
                                        </p:tav>
                                        <p:tav tm="100000">
                                          <p:val>
                                            <p:strVal val="#ppt_x"/>
                                          </p:val>
                                        </p:tav>
                                      </p:tavLst>
                                    </p:anim>
                                    <p:anim calcmode="lin" valueType="num">
                                      <p:cBhvr>
                                        <p:cTn id="14" dur="450" fill="hold"/>
                                        <p:tgtEl>
                                          <p:spTgt spid="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06 · DOCS · 글결</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Swagger에서 API 하나 펼치기</a:t>
            </a:r>
            <a:endParaRPr lang="en-US" sz="3200" dirty="0"/>
          </a:p>
        </p:txBody>
      </p:sp>
      <p:sp>
        <p:nvSpPr>
          <p:cNvPr id="4" name="badge"/>
          <p:cNvSpPr/>
          <p:nvPr/>
        </p:nvSpPr>
        <p:spPr>
          <a:xfrm>
            <a:off x="9848088" y="384048"/>
            <a:ext cx="1691640" cy="310896"/>
          </a:xfrm>
          <a:prstGeom prst="roundRect">
            <a:avLst>
              <a:gd name="adj" fmla="val 50000"/>
            </a:avLst>
          </a:prstGeom>
          <a:solidFill>
            <a:srgbClr val="E8E0D2"/>
          </a:solidFill>
          <a:ln/>
        </p:spPr>
      </p:sp>
      <p:sp>
        <p:nvSpPr>
          <p:cNvPr id="5" name="badge-text"/>
          <p:cNvSpPr txBox="1"/>
          <p:nvPr/>
        </p:nvSpPr>
        <p:spPr>
          <a:xfrm>
            <a:off x="9848088" y="384048"/>
            <a:ext cx="1691640" cy="310896"/>
          </a:xfrm>
          <a:prstGeom prst="rect">
            <a:avLst/>
          </a:prstGeom>
          <a:noFill/>
          <a:ln/>
        </p:spPr>
        <p:txBody>
          <a:bodyPr wrap="square" lIns="0" tIns="0" rIns="0" bIns="0" rtlCol="0" anchor="ctr"/>
          <a:lstStyle/>
          <a:p>
            <a:pPr algn="ctr" indent="0" marL="0">
              <a:buNone/>
            </a:pPr>
            <a:r>
              <a:rPr lang="en-US" sz="1200" dirty="0">
                <a:solidFill>
                  <a:schemeClr val="accent3"/>
                </a:solidFill>
              </a:rPr>
              <a:t>글결 · 재구성 화면</a:t>
            </a:r>
            <a:endParaRPr lang="en-US" sz="1200" dirty="0"/>
          </a:p>
        </p:txBody>
      </p:sp>
      <p:pic>
        <p:nvPicPr>
          <p:cNvPr id="6" name="b0-0" descr="/tmp/ccp-1581-4cebct1irta.png">    </p:cNvPr>
          <p:cNvPicPr>
            <a:picLocks noChangeAspect="1"/>
          </p:cNvPicPr>
          <p:nvPr/>
        </p:nvPicPr>
        <p:blipFill>
          <a:blip r:embed="rId1"/>
          <a:stretch>
            <a:fillRect/>
          </a:stretch>
        </p:blipFill>
        <p:spPr>
          <a:xfrm>
            <a:off x="649224" y="1581912"/>
            <a:ext cx="5330952" cy="4580068"/>
          </a:xfrm>
          <a:prstGeom prst="rect">
            <a:avLst/>
          </a:prstGeom>
        </p:spPr>
      </p:pic>
      <p:sp>
        <p:nvSpPr>
          <p:cNvPr id="7" name="b0-1"/>
          <p:cNvSpPr/>
          <p:nvPr/>
        </p:nvSpPr>
        <p:spPr>
          <a:xfrm>
            <a:off x="649224" y="1581912"/>
            <a:ext cx="5330952" cy="4580068"/>
          </a:xfrm>
          <a:prstGeom prst="rect">
            <a:avLst/>
          </a:prstGeom>
          <a:ln w="9525">
            <a:solidFill>
              <a:srgbClr val="E6DFD8"/>
            </a:solidFill>
            <a:prstDash val="solid"/>
          </a:ln>
        </p:spPr>
      </p:sp>
      <p:pic>
        <p:nvPicPr>
          <p:cNvPr id="8" name="b0-2" descr="/tmp/ccp-1581-qehpxzq4or.png">    </p:cNvPr>
          <p:cNvPicPr>
            <a:picLocks noChangeAspect="1"/>
          </p:cNvPicPr>
          <p:nvPr/>
        </p:nvPicPr>
        <p:blipFill>
          <a:blip r:embed="rId2"/>
          <a:stretch>
            <a:fillRect/>
          </a:stretch>
        </p:blipFill>
        <p:spPr>
          <a:xfrm>
            <a:off x="6208776" y="1581912"/>
            <a:ext cx="5330952" cy="4580068"/>
          </a:xfrm>
          <a:prstGeom prst="rect">
            <a:avLst/>
          </a:prstGeom>
        </p:spPr>
      </p:pic>
      <p:sp>
        <p:nvSpPr>
          <p:cNvPr id="9" name="b0-3"/>
          <p:cNvSpPr/>
          <p:nvPr/>
        </p:nvSpPr>
        <p:spPr>
          <a:xfrm>
            <a:off x="6208776" y="1581912"/>
            <a:ext cx="5330952" cy="4580068"/>
          </a:xfrm>
          <a:prstGeom prst="rect">
            <a:avLst/>
          </a:prstGeom>
          <a:ln w="9525">
            <a:solidFill>
              <a:srgbClr val="E6DFD8"/>
            </a:solidFill>
            <a:prstDash val="solid"/>
          </a:ln>
        </p:spPr>
      </p:sp>
      <p:sp>
        <p:nvSpPr>
          <p:cNvPr id="10"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anim calcmode="lin" valueType="num">
                                      <p:cBhvr>
                                        <p:cTn id="8" dur="450" fill="hold"/>
                                        <p:tgtEl>
                                          <p:spTgt spid="6"/>
                                        </p:tgtEl>
                                        <p:attrNameLst>
                                          <p:attrName>ppt_x</p:attrName>
                                        </p:attrNameLst>
                                      </p:cBhvr>
                                      <p:tavLst>
                                        <p:tav tm="0">
                                          <p:val>
                                            <p:strVal val="#ppt_x"/>
                                          </p:val>
                                        </p:tav>
                                        <p:tav tm="100000">
                                          <p:val>
                                            <p:strVal val="#ppt_x"/>
                                          </p:val>
                                        </p:tav>
                                      </p:tavLst>
                                    </p:anim>
                                    <p:anim calcmode="lin" valueType="num">
                                      <p:cBhvr>
                                        <p:cTn id="9" dur="450" fill="hold"/>
                                        <p:tgtEl>
                                          <p:spTgt spid="6"/>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p:cTn id="13" dur="450" fill="hold"/>
                                        <p:tgtEl>
                                          <p:spTgt spid="7"/>
                                        </p:tgtEl>
                                        <p:attrNameLst>
                                          <p:attrName>ppt_x</p:attrName>
                                        </p:attrNameLst>
                                      </p:cBhvr>
                                      <p:tavLst>
                                        <p:tav tm="0">
                                          <p:val>
                                            <p:strVal val="#ppt_x"/>
                                          </p:val>
                                        </p:tav>
                                        <p:tav tm="100000">
                                          <p:val>
                                            <p:strVal val="#ppt_x"/>
                                          </p:val>
                                        </p:tav>
                                      </p:tavLst>
                                    </p:anim>
                                    <p:anim calcmode="lin" valueType="num">
                                      <p:cBhvr>
                                        <p:cTn id="14" dur="450" fill="hold"/>
                                        <p:tgtEl>
                                          <p:spTgt spid="7"/>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anim calcmode="lin" valueType="num">
                                      <p:cBhvr>
                                        <p:cTn id="18" dur="450" fill="hold"/>
                                        <p:tgtEl>
                                          <p:spTgt spid="8"/>
                                        </p:tgtEl>
                                        <p:attrNameLst>
                                          <p:attrName>ppt_x</p:attrName>
                                        </p:attrNameLst>
                                      </p:cBhvr>
                                      <p:tavLst>
                                        <p:tav tm="0">
                                          <p:val>
                                            <p:strVal val="#ppt_x"/>
                                          </p:val>
                                        </p:tav>
                                        <p:tav tm="100000">
                                          <p:val>
                                            <p:strVal val="#ppt_x"/>
                                          </p:val>
                                        </p:tav>
                                      </p:tavLst>
                                    </p:anim>
                                    <p:anim calcmode="lin" valueType="num">
                                      <p:cBhvr>
                                        <p:cTn id="19" dur="45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anim calcmode="lin" valueType="num">
                                      <p:cBhvr>
                                        <p:cTn id="23" dur="450" fill="hold"/>
                                        <p:tgtEl>
                                          <p:spTgt spid="9"/>
                                        </p:tgtEl>
                                        <p:attrNameLst>
                                          <p:attrName>ppt_x</p:attrName>
                                        </p:attrNameLst>
                                      </p:cBhvr>
                                      <p:tavLst>
                                        <p:tav tm="0">
                                          <p:val>
                                            <p:strVal val="#ppt_x"/>
                                          </p:val>
                                        </p:tav>
                                        <p:tav tm="100000">
                                          <p:val>
                                            <p:strVal val="#ppt_x"/>
                                          </p:val>
                                        </p:tav>
                                      </p:tavLst>
                                    </p:anim>
                                    <p:anim calcmode="lin" valueType="num">
                                      <p:cBhvr>
                                        <p:cTn id="24" dur="450" fill="hold"/>
                                        <p:tgtEl>
                                          <p:spTgt spid="9"/>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06 · DOCS · 글결</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API 문서: Spring REST Docs</a:t>
            </a:r>
            <a:endParaRPr lang="en-US" sz="3200" dirty="0"/>
          </a:p>
        </p:txBody>
      </p:sp>
      <p:sp>
        <p:nvSpPr>
          <p:cNvPr id="4" name="badge"/>
          <p:cNvSpPr/>
          <p:nvPr/>
        </p:nvSpPr>
        <p:spPr>
          <a:xfrm>
            <a:off x="9848088" y="384048"/>
            <a:ext cx="1691640" cy="310896"/>
          </a:xfrm>
          <a:prstGeom prst="roundRect">
            <a:avLst>
              <a:gd name="adj" fmla="val 50000"/>
            </a:avLst>
          </a:prstGeom>
          <a:solidFill>
            <a:srgbClr val="E8E0D2"/>
          </a:solidFill>
          <a:ln/>
        </p:spPr>
      </p:sp>
      <p:sp>
        <p:nvSpPr>
          <p:cNvPr id="5" name="badge-text"/>
          <p:cNvSpPr txBox="1"/>
          <p:nvPr/>
        </p:nvSpPr>
        <p:spPr>
          <a:xfrm>
            <a:off x="9848088" y="384048"/>
            <a:ext cx="1691640" cy="310896"/>
          </a:xfrm>
          <a:prstGeom prst="rect">
            <a:avLst/>
          </a:prstGeom>
          <a:noFill/>
          <a:ln/>
        </p:spPr>
        <p:txBody>
          <a:bodyPr wrap="square" lIns="0" tIns="0" rIns="0" bIns="0" rtlCol="0" anchor="ctr"/>
          <a:lstStyle/>
          <a:p>
            <a:pPr algn="ctr" indent="0" marL="0">
              <a:buNone/>
            </a:pPr>
            <a:r>
              <a:rPr lang="en-US" sz="1200" dirty="0">
                <a:solidFill>
                  <a:schemeClr val="accent3"/>
                </a:solidFill>
              </a:rPr>
              <a:t>글결 · 재구성 화면</a:t>
            </a:r>
            <a:endParaRPr lang="en-US" sz="1200" dirty="0"/>
          </a:p>
        </p:txBody>
      </p:sp>
      <p:pic>
        <p:nvPicPr>
          <p:cNvPr id="6" name="b0-0" descr="/tmp/ccp-1581-q1v9j4djw7p.png">    </p:cNvPr>
          <p:cNvPicPr>
            <a:picLocks noChangeAspect="1"/>
          </p:cNvPicPr>
          <p:nvPr/>
        </p:nvPicPr>
        <p:blipFill>
          <a:blip r:embed="rId1"/>
          <a:stretch>
            <a:fillRect/>
          </a:stretch>
        </p:blipFill>
        <p:spPr>
          <a:xfrm>
            <a:off x="2239366" y="1581912"/>
            <a:ext cx="7710221" cy="4818888"/>
          </a:xfrm>
          <a:prstGeom prst="rect">
            <a:avLst/>
          </a:prstGeom>
        </p:spPr>
      </p:pic>
      <p:sp>
        <p:nvSpPr>
          <p:cNvPr id="7" name="b0-1"/>
          <p:cNvSpPr/>
          <p:nvPr/>
        </p:nvSpPr>
        <p:spPr>
          <a:xfrm>
            <a:off x="2239366" y="1581912"/>
            <a:ext cx="7710221" cy="4818888"/>
          </a:xfrm>
          <a:prstGeom prst="rect">
            <a:avLst/>
          </a:prstGeom>
          <a:ln w="9525">
            <a:solidFill>
              <a:srgbClr val="E6DFD8"/>
            </a:solidFill>
            <a:prstDash val="solid"/>
          </a:ln>
        </p:spPr>
      </p:sp>
      <p:sp>
        <p:nvSpPr>
          <p:cNvPr id="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anim calcmode="lin" valueType="num">
                                      <p:cBhvr>
                                        <p:cTn id="8" dur="450" fill="hold"/>
                                        <p:tgtEl>
                                          <p:spTgt spid="6"/>
                                        </p:tgtEl>
                                        <p:attrNameLst>
                                          <p:attrName>ppt_x</p:attrName>
                                        </p:attrNameLst>
                                      </p:cBhvr>
                                      <p:tavLst>
                                        <p:tav tm="0">
                                          <p:val>
                                            <p:strVal val="#ppt_x"/>
                                          </p:val>
                                        </p:tav>
                                        <p:tav tm="100000">
                                          <p:val>
                                            <p:strVal val="#ppt_x"/>
                                          </p:val>
                                        </p:tav>
                                      </p:tavLst>
                                    </p:anim>
                                    <p:anim calcmode="lin" valueType="num">
                                      <p:cBhvr>
                                        <p:cTn id="9" dur="450" fill="hold"/>
                                        <p:tgtEl>
                                          <p:spTgt spid="6"/>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p:cTn id="13" dur="450" fill="hold"/>
                                        <p:tgtEl>
                                          <p:spTgt spid="7"/>
                                        </p:tgtEl>
                                        <p:attrNameLst>
                                          <p:attrName>ppt_x</p:attrName>
                                        </p:attrNameLst>
                                      </p:cBhvr>
                                      <p:tavLst>
                                        <p:tav tm="0">
                                          <p:val>
                                            <p:strVal val="#ppt_x"/>
                                          </p:val>
                                        </p:tav>
                                        <p:tav tm="100000">
                                          <p:val>
                                            <p:strVal val="#ppt_x"/>
                                          </p:val>
                                        </p:tav>
                                      </p:tavLst>
                                    </p:anim>
                                    <p:anim calcmode="lin" valueType="num">
                                      <p:cBhvr>
                                        <p:cTn id="14" dur="450" fill="hold"/>
                                        <p:tgtEl>
                                          <p:spTgt spid="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bg1"/>
                </a:solidFill>
              </a:rPr>
              <a:t>한 장 요약</a:t>
            </a:r>
            <a:endParaRPr lang="en-US" sz="3200" dirty="0"/>
          </a:p>
        </p:txBody>
      </p:sp>
      <p:sp>
        <p:nvSpPr>
          <p:cNvPr id="3" name="r0-0"/>
          <p:cNvSpPr txBox="1"/>
          <p:nvPr/>
        </p:nvSpPr>
        <p:spPr>
          <a:xfrm>
            <a:off x="649224" y="1581912"/>
            <a:ext cx="2194560"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chemeClr val="accent1"/>
                </a:solidFill>
              </a:rPr>
              <a:t>무엇</a:t>
            </a:r>
            <a:endParaRPr lang="en-US" sz="2000" dirty="0"/>
          </a:p>
        </p:txBody>
      </p:sp>
      <p:sp>
        <p:nvSpPr>
          <p:cNvPr id="4" name="r0-1"/>
          <p:cNvSpPr txBox="1"/>
          <p:nvPr/>
        </p:nvSpPr>
        <p:spPr>
          <a:xfrm>
            <a:off x="2935224" y="1581912"/>
            <a:ext cx="8604504"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rgbClr val="FAF9F5"/>
                </a:solidFill>
              </a:rPr>
              <a:t>URL = 명사 · 복수형  /posts/42</a:t>
            </a:r>
            <a:endParaRPr lang="en-US" sz="2000" dirty="0"/>
          </a:p>
        </p:txBody>
      </p:sp>
      <p:sp>
        <p:nvSpPr>
          <p:cNvPr id="5" name="r1-0"/>
          <p:cNvSpPr txBox="1"/>
          <p:nvPr/>
        </p:nvSpPr>
        <p:spPr>
          <a:xfrm>
            <a:off x="649224" y="2203704"/>
            <a:ext cx="2194560"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chemeClr val="accent1"/>
                </a:solidFill>
              </a:rPr>
              <a:t>어떻게</a:t>
            </a:r>
            <a:endParaRPr lang="en-US" sz="2000" dirty="0"/>
          </a:p>
        </p:txBody>
      </p:sp>
      <p:sp>
        <p:nvSpPr>
          <p:cNvPr id="6" name="r1-1"/>
          <p:cNvSpPr txBox="1"/>
          <p:nvPr/>
        </p:nvSpPr>
        <p:spPr>
          <a:xfrm>
            <a:off x="2935224" y="2203704"/>
            <a:ext cx="8604504"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rgbClr val="FAF9F5"/>
                </a:solidFill>
              </a:rPr>
              <a:t>메서드 = 조회 · 생성 · 수정 · 삭제</a:t>
            </a:r>
            <a:endParaRPr lang="en-US" sz="2000" dirty="0"/>
          </a:p>
        </p:txBody>
      </p:sp>
      <p:sp>
        <p:nvSpPr>
          <p:cNvPr id="7" name="r2-0"/>
          <p:cNvSpPr txBox="1"/>
          <p:nvPr/>
        </p:nvSpPr>
        <p:spPr>
          <a:xfrm>
            <a:off x="649224" y="2825496"/>
            <a:ext cx="2194560"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chemeClr val="accent1"/>
                </a:solidFill>
              </a:rPr>
              <a:t>입력 검증</a:t>
            </a:r>
            <a:endParaRPr lang="en-US" sz="2000" dirty="0"/>
          </a:p>
        </p:txBody>
      </p:sp>
      <p:sp>
        <p:nvSpPr>
          <p:cNvPr id="8" name="r2-1"/>
          <p:cNvSpPr txBox="1"/>
          <p:nvPr/>
        </p:nvSpPr>
        <p:spPr>
          <a:xfrm>
            <a:off x="2935224" y="2825496"/>
            <a:ext cx="8604504"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rgbClr val="FAF9F5"/>
                </a:solidFill>
              </a:rPr>
              <a:t>@Valid · 서버가 반드시 다시</a:t>
            </a:r>
            <a:endParaRPr lang="en-US" sz="2000" dirty="0"/>
          </a:p>
        </p:txBody>
      </p:sp>
      <p:sp>
        <p:nvSpPr>
          <p:cNvPr id="9" name="r3-0"/>
          <p:cNvSpPr txBox="1"/>
          <p:nvPr/>
        </p:nvSpPr>
        <p:spPr>
          <a:xfrm>
            <a:off x="649224" y="3447288"/>
            <a:ext cx="2194560"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chemeClr val="accent1"/>
                </a:solidFill>
              </a:rPr>
              <a:t>예외</a:t>
            </a:r>
            <a:endParaRPr lang="en-US" sz="2000" dirty="0"/>
          </a:p>
        </p:txBody>
      </p:sp>
      <p:sp>
        <p:nvSpPr>
          <p:cNvPr id="10" name="r3-1"/>
          <p:cNvSpPr txBox="1"/>
          <p:nvPr/>
        </p:nvSpPr>
        <p:spPr>
          <a:xfrm>
            <a:off x="2935224" y="3447288"/>
            <a:ext cx="8604504"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rgbClr val="FAF9F5"/>
                </a:solidFill>
              </a:rPr>
              <a:t>@RestControllerAdvice 한곳에서 같은 에러 형식</a:t>
            </a:r>
            <a:endParaRPr lang="en-US" sz="2000" dirty="0"/>
          </a:p>
        </p:txBody>
      </p:sp>
      <p:sp>
        <p:nvSpPr>
          <p:cNvPr id="11" name="r4-0"/>
          <p:cNvSpPr txBox="1"/>
          <p:nvPr/>
        </p:nvSpPr>
        <p:spPr>
          <a:xfrm>
            <a:off x="649224" y="4069080"/>
            <a:ext cx="2194560"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chemeClr val="accent1"/>
                </a:solidFill>
              </a:rPr>
              <a:t>결과</a:t>
            </a:r>
            <a:endParaRPr lang="en-US" sz="2000" dirty="0"/>
          </a:p>
        </p:txBody>
      </p:sp>
      <p:sp>
        <p:nvSpPr>
          <p:cNvPr id="12" name="r4-1"/>
          <p:cNvSpPr txBox="1"/>
          <p:nvPr/>
        </p:nvSpPr>
        <p:spPr>
          <a:xfrm>
            <a:off x="2935224" y="4069080"/>
            <a:ext cx="8604504"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rgbClr val="FAF9F5"/>
                </a:solidFill>
              </a:rPr>
              <a:t>상태 코드 + 하나의 응답 모양</a:t>
            </a:r>
            <a:endParaRPr lang="en-US" sz="2000" dirty="0"/>
          </a:p>
        </p:txBody>
      </p:sp>
      <p:sp>
        <p:nvSpPr>
          <p:cNvPr id="13" name="r5-0"/>
          <p:cNvSpPr txBox="1"/>
          <p:nvPr/>
        </p:nvSpPr>
        <p:spPr>
          <a:xfrm>
            <a:off x="649224" y="4690872"/>
            <a:ext cx="2194560"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chemeClr val="accent1"/>
                </a:solidFill>
              </a:rPr>
              <a:t>목록</a:t>
            </a:r>
            <a:endParaRPr lang="en-US" sz="2000" dirty="0"/>
          </a:p>
        </p:txBody>
      </p:sp>
      <p:sp>
        <p:nvSpPr>
          <p:cNvPr id="14" name="r5-1"/>
          <p:cNvSpPr txBox="1"/>
          <p:nvPr/>
        </p:nvSpPr>
        <p:spPr>
          <a:xfrm>
            <a:off x="2935224" y="4690872"/>
            <a:ext cx="8604504"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rgbClr val="FAF9F5"/>
                </a:solidFill>
              </a:rPr>
              <a:t>?page=0&amp;size=20&amp;sort=createdAt,desc 처럼 쿼리로</a:t>
            </a:r>
            <a:endParaRPr lang="en-US" sz="2000" dirty="0"/>
          </a:p>
        </p:txBody>
      </p:sp>
      <p:sp>
        <p:nvSpPr>
          <p:cNvPr id="15" name="r6-0"/>
          <p:cNvSpPr txBox="1"/>
          <p:nvPr/>
        </p:nvSpPr>
        <p:spPr>
          <a:xfrm>
            <a:off x="649224" y="5312664"/>
            <a:ext cx="2194560"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chemeClr val="accent1"/>
                </a:solidFill>
              </a:rPr>
              <a:t>문서</a:t>
            </a:r>
            <a:endParaRPr lang="en-US" sz="2000" dirty="0"/>
          </a:p>
        </p:txBody>
      </p:sp>
      <p:sp>
        <p:nvSpPr>
          <p:cNvPr id="16" name="r6-1"/>
          <p:cNvSpPr txBox="1"/>
          <p:nvPr/>
        </p:nvSpPr>
        <p:spPr>
          <a:xfrm>
            <a:off x="2935224" y="5312664"/>
            <a:ext cx="8604504" cy="457200"/>
          </a:xfrm>
          <a:prstGeom prst="rect">
            <a:avLst/>
          </a:prstGeom>
          <a:noFill/>
          <a:ln/>
        </p:spPr>
        <p:txBody>
          <a:bodyPr wrap="square" lIns="0" tIns="0" rIns="0" bIns="0" rtlCol="0" anchor="t"/>
          <a:lstStyle/>
          <a:p>
            <a:pPr algn="l" indent="0" marL="0">
              <a:lnSpc>
                <a:spcPct val="115000"/>
              </a:lnSpc>
              <a:spcAft>
                <a:spcPts val="600"/>
              </a:spcAft>
              <a:buNone/>
            </a:pPr>
            <a:r>
              <a:rPr lang="en-US" sz="2000" dirty="0">
                <a:solidFill>
                  <a:srgbClr val="FAF9F5"/>
                </a:solidFill>
              </a:rPr>
              <a:t>이 규칙을 모두 미리 적어 둔다</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anim calcmode="lin" valueType="num">
                                      <p:cBhvr>
                                        <p:cTn id="8" dur="450" fill="hold"/>
                                        <p:tgtEl>
                                          <p:spTgt spid="3"/>
                                        </p:tgtEl>
                                        <p:attrNameLst>
                                          <p:attrName>ppt_x</p:attrName>
                                        </p:attrNameLst>
                                      </p:cBhvr>
                                      <p:tavLst>
                                        <p:tav tm="0">
                                          <p:val>
                                            <p:strVal val="#ppt_x"/>
                                          </p:val>
                                        </p:tav>
                                        <p:tav tm="100000">
                                          <p:val>
                                            <p:strVal val="#ppt_x"/>
                                          </p:val>
                                        </p:tav>
                                      </p:tavLst>
                                    </p:anim>
                                    <p:anim calcmode="lin" valueType="num">
                                      <p:cBhvr>
                                        <p:cTn id="9" dur="450" fill="hold"/>
                                        <p:tgtEl>
                                          <p:spTgt spid="3"/>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50"/>
                                        <p:tgtEl>
                                          <p:spTgt spid="4"/>
                                        </p:tgtEl>
                                      </p:cBhvr>
                                    </p:animEffect>
                                    <p:anim calcmode="lin" valueType="num">
                                      <p:cBhvr>
                                        <p:cTn id="13" dur="450" fill="hold"/>
                                        <p:tgtEl>
                                          <p:spTgt spid="4"/>
                                        </p:tgtEl>
                                        <p:attrNameLst>
                                          <p:attrName>ppt_x</p:attrName>
                                        </p:attrNameLst>
                                      </p:cBhvr>
                                      <p:tavLst>
                                        <p:tav tm="0">
                                          <p:val>
                                            <p:strVal val="#ppt_x"/>
                                          </p:val>
                                        </p:tav>
                                        <p:tav tm="100000">
                                          <p:val>
                                            <p:strVal val="#ppt_x"/>
                                          </p:val>
                                        </p:tav>
                                      </p:tavLst>
                                    </p:anim>
                                    <p:anim calcmode="lin" valueType="num">
                                      <p:cBhvr>
                                        <p:cTn id="14" dur="450" fill="hold"/>
                                        <p:tgtEl>
                                          <p:spTgt spid="4"/>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50"/>
                                        <p:tgtEl>
                                          <p:spTgt spid="5"/>
                                        </p:tgtEl>
                                      </p:cBhvr>
                                    </p:animEffect>
                                    <p:anim calcmode="lin" valueType="num">
                                      <p:cBhvr>
                                        <p:cTn id="18" dur="450" fill="hold"/>
                                        <p:tgtEl>
                                          <p:spTgt spid="5"/>
                                        </p:tgtEl>
                                        <p:attrNameLst>
                                          <p:attrName>ppt_x</p:attrName>
                                        </p:attrNameLst>
                                      </p:cBhvr>
                                      <p:tavLst>
                                        <p:tav tm="0">
                                          <p:val>
                                            <p:strVal val="#ppt_x"/>
                                          </p:val>
                                        </p:tav>
                                        <p:tav tm="100000">
                                          <p:val>
                                            <p:strVal val="#ppt_x"/>
                                          </p:val>
                                        </p:tav>
                                      </p:tavLst>
                                    </p:anim>
                                    <p:anim calcmode="lin" valueType="num">
                                      <p:cBhvr>
                                        <p:cTn id="19" dur="450" fill="hold"/>
                                        <p:tgtEl>
                                          <p:spTgt spid="5"/>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11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50"/>
                                        <p:tgtEl>
                                          <p:spTgt spid="6"/>
                                        </p:tgtEl>
                                      </p:cBhvr>
                                    </p:animEffect>
                                    <p:anim calcmode="lin" valueType="num">
                                      <p:cBhvr>
                                        <p:cTn id="23" dur="450" fill="hold"/>
                                        <p:tgtEl>
                                          <p:spTgt spid="6"/>
                                        </p:tgtEl>
                                        <p:attrNameLst>
                                          <p:attrName>ppt_x</p:attrName>
                                        </p:attrNameLst>
                                      </p:cBhvr>
                                      <p:tavLst>
                                        <p:tav tm="0">
                                          <p:val>
                                            <p:strVal val="#ppt_x"/>
                                          </p:val>
                                        </p:tav>
                                        <p:tav tm="100000">
                                          <p:val>
                                            <p:strVal val="#ppt_x"/>
                                          </p:val>
                                        </p:tav>
                                      </p:tavLst>
                                    </p:anim>
                                    <p:anim calcmode="lin" valueType="num">
                                      <p:cBhvr>
                                        <p:cTn id="24" dur="450" fill="hold"/>
                                        <p:tgtEl>
                                          <p:spTgt spid="6"/>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50"/>
                                        <p:tgtEl>
                                          <p:spTgt spid="7"/>
                                        </p:tgtEl>
                                      </p:cBhvr>
                                    </p:animEffect>
                                    <p:anim calcmode="lin" valueType="num">
                                      <p:cBhvr>
                                        <p:cTn id="28" dur="450" fill="hold"/>
                                        <p:tgtEl>
                                          <p:spTgt spid="7"/>
                                        </p:tgtEl>
                                        <p:attrNameLst>
                                          <p:attrName>ppt_x</p:attrName>
                                        </p:attrNameLst>
                                      </p:cBhvr>
                                      <p:tavLst>
                                        <p:tav tm="0">
                                          <p:val>
                                            <p:strVal val="#ppt_x"/>
                                          </p:val>
                                        </p:tav>
                                        <p:tav tm="100000">
                                          <p:val>
                                            <p:strVal val="#ppt_x"/>
                                          </p:val>
                                        </p:tav>
                                      </p:tavLst>
                                    </p:anim>
                                    <p:anim calcmode="lin" valueType="num">
                                      <p:cBhvr>
                                        <p:cTn id="29" dur="450" fill="hold"/>
                                        <p:tgtEl>
                                          <p:spTgt spid="7"/>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22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50"/>
                                        <p:tgtEl>
                                          <p:spTgt spid="8"/>
                                        </p:tgtEl>
                                      </p:cBhvr>
                                    </p:animEffect>
                                    <p:anim calcmode="lin" valueType="num">
                                      <p:cBhvr>
                                        <p:cTn id="33" dur="450" fill="hold"/>
                                        <p:tgtEl>
                                          <p:spTgt spid="8"/>
                                        </p:tgtEl>
                                        <p:attrNameLst>
                                          <p:attrName>ppt_x</p:attrName>
                                        </p:attrNameLst>
                                      </p:cBhvr>
                                      <p:tavLst>
                                        <p:tav tm="0">
                                          <p:val>
                                            <p:strVal val="#ppt_x"/>
                                          </p:val>
                                        </p:tav>
                                        <p:tav tm="100000">
                                          <p:val>
                                            <p:strVal val="#ppt_x"/>
                                          </p:val>
                                        </p:tav>
                                      </p:tavLst>
                                    </p:anim>
                                    <p:anim calcmode="lin" valueType="num">
                                      <p:cBhvr>
                                        <p:cTn id="34" dur="450" fill="hold"/>
                                        <p:tgtEl>
                                          <p:spTgt spid="8"/>
                                        </p:tgtEl>
                                        <p:attrNameLst>
                                          <p:attrName>ppt_y</p:attrName>
                                        </p:attrNameLst>
                                      </p:cBhvr>
                                      <p:tavLst>
                                        <p:tav tm="0">
                                          <p:val>
                                            <p:strVal val="#ppt_y+0.03"/>
                                          </p:val>
                                        </p:tav>
                                        <p:tav tm="100000">
                                          <p:val>
                                            <p:strVal val="#ppt_y"/>
                                          </p:val>
                                        </p:tav>
                                      </p:tavLst>
                                    </p:anim>
                                  </p:childTnLst>
                                </p:cTn>
                              </p:par>
                              <p:par>
                                <p:cTn id="35" presetID="42" presetClass="entr" presetSubtype="0" fill="hold" grpId="0" nodeType="withEffect">
                                  <p:stCondLst>
                                    <p:cond delay="33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50"/>
                                        <p:tgtEl>
                                          <p:spTgt spid="9"/>
                                        </p:tgtEl>
                                      </p:cBhvr>
                                    </p:animEffect>
                                    <p:anim calcmode="lin" valueType="num">
                                      <p:cBhvr>
                                        <p:cTn id="38" dur="450" fill="hold"/>
                                        <p:tgtEl>
                                          <p:spTgt spid="9"/>
                                        </p:tgtEl>
                                        <p:attrNameLst>
                                          <p:attrName>ppt_x</p:attrName>
                                        </p:attrNameLst>
                                      </p:cBhvr>
                                      <p:tavLst>
                                        <p:tav tm="0">
                                          <p:val>
                                            <p:strVal val="#ppt_x"/>
                                          </p:val>
                                        </p:tav>
                                        <p:tav tm="100000">
                                          <p:val>
                                            <p:strVal val="#ppt_x"/>
                                          </p:val>
                                        </p:tav>
                                      </p:tavLst>
                                    </p:anim>
                                    <p:anim calcmode="lin" valueType="num">
                                      <p:cBhvr>
                                        <p:cTn id="39" dur="450" fill="hold"/>
                                        <p:tgtEl>
                                          <p:spTgt spid="9"/>
                                        </p:tgtEl>
                                        <p:attrNameLst>
                                          <p:attrName>ppt_y</p:attrName>
                                        </p:attrNameLst>
                                      </p:cBhvr>
                                      <p:tavLst>
                                        <p:tav tm="0">
                                          <p:val>
                                            <p:strVal val="#ppt_y+0.03"/>
                                          </p:val>
                                        </p:tav>
                                        <p:tav tm="100000">
                                          <p:val>
                                            <p:strVal val="#ppt_y"/>
                                          </p:val>
                                        </p:tav>
                                      </p:tavLst>
                                    </p:anim>
                                  </p:childTnLst>
                                </p:cTn>
                              </p:par>
                              <p:par>
                                <p:cTn id="40" presetID="42" presetClass="entr" presetSubtype="0" fill="hold" grpId="0" nodeType="withEffect">
                                  <p:stCondLst>
                                    <p:cond delay="33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50"/>
                                        <p:tgtEl>
                                          <p:spTgt spid="10"/>
                                        </p:tgtEl>
                                      </p:cBhvr>
                                    </p:animEffect>
                                    <p:anim calcmode="lin" valueType="num">
                                      <p:cBhvr>
                                        <p:cTn id="43" dur="450" fill="hold"/>
                                        <p:tgtEl>
                                          <p:spTgt spid="10"/>
                                        </p:tgtEl>
                                        <p:attrNameLst>
                                          <p:attrName>ppt_x</p:attrName>
                                        </p:attrNameLst>
                                      </p:cBhvr>
                                      <p:tavLst>
                                        <p:tav tm="0">
                                          <p:val>
                                            <p:strVal val="#ppt_x"/>
                                          </p:val>
                                        </p:tav>
                                        <p:tav tm="100000">
                                          <p:val>
                                            <p:strVal val="#ppt_x"/>
                                          </p:val>
                                        </p:tav>
                                      </p:tavLst>
                                    </p:anim>
                                    <p:anim calcmode="lin" valueType="num">
                                      <p:cBhvr>
                                        <p:cTn id="44" dur="45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withEffect">
                                  <p:stCondLst>
                                    <p:cond delay="44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50"/>
                                        <p:tgtEl>
                                          <p:spTgt spid="11"/>
                                        </p:tgtEl>
                                      </p:cBhvr>
                                    </p:animEffect>
                                    <p:anim calcmode="lin" valueType="num">
                                      <p:cBhvr>
                                        <p:cTn id="48" dur="450" fill="hold"/>
                                        <p:tgtEl>
                                          <p:spTgt spid="11"/>
                                        </p:tgtEl>
                                        <p:attrNameLst>
                                          <p:attrName>ppt_x</p:attrName>
                                        </p:attrNameLst>
                                      </p:cBhvr>
                                      <p:tavLst>
                                        <p:tav tm="0">
                                          <p:val>
                                            <p:strVal val="#ppt_x"/>
                                          </p:val>
                                        </p:tav>
                                        <p:tav tm="100000">
                                          <p:val>
                                            <p:strVal val="#ppt_x"/>
                                          </p:val>
                                        </p:tav>
                                      </p:tavLst>
                                    </p:anim>
                                    <p:anim calcmode="lin" valueType="num">
                                      <p:cBhvr>
                                        <p:cTn id="49" dur="450" fill="hold"/>
                                        <p:tgtEl>
                                          <p:spTgt spid="11"/>
                                        </p:tgtEl>
                                        <p:attrNameLst>
                                          <p:attrName>ppt_y</p:attrName>
                                        </p:attrNameLst>
                                      </p:cBhvr>
                                      <p:tavLst>
                                        <p:tav tm="0">
                                          <p:val>
                                            <p:strVal val="#ppt_y+0.03"/>
                                          </p:val>
                                        </p:tav>
                                        <p:tav tm="100000">
                                          <p:val>
                                            <p:strVal val="#ppt_y"/>
                                          </p:val>
                                        </p:tav>
                                      </p:tavLst>
                                    </p:anim>
                                  </p:childTnLst>
                                </p:cTn>
                              </p:par>
                              <p:par>
                                <p:cTn id="50" presetID="42" presetClass="entr" presetSubtype="0" fill="hold" grpId="0" nodeType="withEffect">
                                  <p:stCondLst>
                                    <p:cond delay="44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450"/>
                                        <p:tgtEl>
                                          <p:spTgt spid="12"/>
                                        </p:tgtEl>
                                      </p:cBhvr>
                                    </p:animEffect>
                                    <p:anim calcmode="lin" valueType="num">
                                      <p:cBhvr>
                                        <p:cTn id="53" dur="450" fill="hold"/>
                                        <p:tgtEl>
                                          <p:spTgt spid="12"/>
                                        </p:tgtEl>
                                        <p:attrNameLst>
                                          <p:attrName>ppt_x</p:attrName>
                                        </p:attrNameLst>
                                      </p:cBhvr>
                                      <p:tavLst>
                                        <p:tav tm="0">
                                          <p:val>
                                            <p:strVal val="#ppt_x"/>
                                          </p:val>
                                        </p:tav>
                                        <p:tav tm="100000">
                                          <p:val>
                                            <p:strVal val="#ppt_x"/>
                                          </p:val>
                                        </p:tav>
                                      </p:tavLst>
                                    </p:anim>
                                    <p:anim calcmode="lin" valueType="num">
                                      <p:cBhvr>
                                        <p:cTn id="54" dur="450" fill="hold"/>
                                        <p:tgtEl>
                                          <p:spTgt spid="12"/>
                                        </p:tgtEl>
                                        <p:attrNameLst>
                                          <p:attrName>ppt_y</p:attrName>
                                        </p:attrNameLst>
                                      </p:cBhvr>
                                      <p:tavLst>
                                        <p:tav tm="0">
                                          <p:val>
                                            <p:strVal val="#ppt_y+0.03"/>
                                          </p:val>
                                        </p:tav>
                                        <p:tav tm="100000">
                                          <p:val>
                                            <p:strVal val="#ppt_y"/>
                                          </p:val>
                                        </p:tav>
                                      </p:tavLst>
                                    </p:anim>
                                  </p:childTnLst>
                                </p:cTn>
                              </p:par>
                              <p:par>
                                <p:cTn id="55" presetID="42" presetClass="entr" presetSubtype="0" fill="hold" grpId="0" nodeType="withEffect">
                                  <p:stCondLst>
                                    <p:cond delay="55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450"/>
                                        <p:tgtEl>
                                          <p:spTgt spid="13"/>
                                        </p:tgtEl>
                                      </p:cBhvr>
                                    </p:animEffect>
                                    <p:anim calcmode="lin" valueType="num">
                                      <p:cBhvr>
                                        <p:cTn id="58" dur="450" fill="hold"/>
                                        <p:tgtEl>
                                          <p:spTgt spid="13"/>
                                        </p:tgtEl>
                                        <p:attrNameLst>
                                          <p:attrName>ppt_x</p:attrName>
                                        </p:attrNameLst>
                                      </p:cBhvr>
                                      <p:tavLst>
                                        <p:tav tm="0">
                                          <p:val>
                                            <p:strVal val="#ppt_x"/>
                                          </p:val>
                                        </p:tav>
                                        <p:tav tm="100000">
                                          <p:val>
                                            <p:strVal val="#ppt_x"/>
                                          </p:val>
                                        </p:tav>
                                      </p:tavLst>
                                    </p:anim>
                                    <p:anim calcmode="lin" valueType="num">
                                      <p:cBhvr>
                                        <p:cTn id="59" dur="450" fill="hold"/>
                                        <p:tgtEl>
                                          <p:spTgt spid="13"/>
                                        </p:tgtEl>
                                        <p:attrNameLst>
                                          <p:attrName>ppt_y</p:attrName>
                                        </p:attrNameLst>
                                      </p:cBhvr>
                                      <p:tavLst>
                                        <p:tav tm="0">
                                          <p:val>
                                            <p:strVal val="#ppt_y+0.03"/>
                                          </p:val>
                                        </p:tav>
                                        <p:tav tm="100000">
                                          <p:val>
                                            <p:strVal val="#ppt_y"/>
                                          </p:val>
                                        </p:tav>
                                      </p:tavLst>
                                    </p:anim>
                                  </p:childTnLst>
                                </p:cTn>
                              </p:par>
                              <p:par>
                                <p:cTn id="60" presetID="42" presetClass="entr" presetSubtype="0" fill="hold" grpId="0" nodeType="withEffect">
                                  <p:stCondLst>
                                    <p:cond delay="55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450"/>
                                        <p:tgtEl>
                                          <p:spTgt spid="14"/>
                                        </p:tgtEl>
                                      </p:cBhvr>
                                    </p:animEffect>
                                    <p:anim calcmode="lin" valueType="num">
                                      <p:cBhvr>
                                        <p:cTn id="63" dur="450" fill="hold"/>
                                        <p:tgtEl>
                                          <p:spTgt spid="14"/>
                                        </p:tgtEl>
                                        <p:attrNameLst>
                                          <p:attrName>ppt_x</p:attrName>
                                        </p:attrNameLst>
                                      </p:cBhvr>
                                      <p:tavLst>
                                        <p:tav tm="0">
                                          <p:val>
                                            <p:strVal val="#ppt_x"/>
                                          </p:val>
                                        </p:tav>
                                        <p:tav tm="100000">
                                          <p:val>
                                            <p:strVal val="#ppt_x"/>
                                          </p:val>
                                        </p:tav>
                                      </p:tavLst>
                                    </p:anim>
                                    <p:anim calcmode="lin" valueType="num">
                                      <p:cBhvr>
                                        <p:cTn id="64" dur="450" fill="hold"/>
                                        <p:tgtEl>
                                          <p:spTgt spid="14"/>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withEffect">
                                  <p:stCondLst>
                                    <p:cond delay="66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450"/>
                                        <p:tgtEl>
                                          <p:spTgt spid="15"/>
                                        </p:tgtEl>
                                      </p:cBhvr>
                                    </p:animEffect>
                                    <p:anim calcmode="lin" valueType="num">
                                      <p:cBhvr>
                                        <p:cTn id="68" dur="450" fill="hold"/>
                                        <p:tgtEl>
                                          <p:spTgt spid="15"/>
                                        </p:tgtEl>
                                        <p:attrNameLst>
                                          <p:attrName>ppt_x</p:attrName>
                                        </p:attrNameLst>
                                      </p:cBhvr>
                                      <p:tavLst>
                                        <p:tav tm="0">
                                          <p:val>
                                            <p:strVal val="#ppt_x"/>
                                          </p:val>
                                        </p:tav>
                                        <p:tav tm="100000">
                                          <p:val>
                                            <p:strVal val="#ppt_x"/>
                                          </p:val>
                                        </p:tav>
                                      </p:tavLst>
                                    </p:anim>
                                    <p:anim calcmode="lin" valueType="num">
                                      <p:cBhvr>
                                        <p:cTn id="69" dur="450" fill="hold"/>
                                        <p:tgtEl>
                                          <p:spTgt spid="15"/>
                                        </p:tgtEl>
                                        <p:attrNameLst>
                                          <p:attrName>ppt_y</p:attrName>
                                        </p:attrNameLst>
                                      </p:cBhvr>
                                      <p:tavLst>
                                        <p:tav tm="0">
                                          <p:val>
                                            <p:strVal val="#ppt_y+0.03"/>
                                          </p:val>
                                        </p:tav>
                                        <p:tav tm="100000">
                                          <p:val>
                                            <p:strVal val="#ppt_y"/>
                                          </p:val>
                                        </p:tav>
                                      </p:tavLst>
                                    </p:anim>
                                  </p:childTnLst>
                                </p:cTn>
                              </p:par>
                              <p:par>
                                <p:cTn id="70" presetID="42" presetClass="entr" presetSubtype="0" fill="hold" grpId="0" nodeType="withEffect">
                                  <p:stCondLst>
                                    <p:cond delay="66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450"/>
                                        <p:tgtEl>
                                          <p:spTgt spid="16"/>
                                        </p:tgtEl>
                                      </p:cBhvr>
                                    </p:animEffect>
                                    <p:anim calcmode="lin" valueType="num">
                                      <p:cBhvr>
                                        <p:cTn id="73" dur="450" fill="hold"/>
                                        <p:tgtEl>
                                          <p:spTgt spid="16"/>
                                        </p:tgtEl>
                                        <p:attrNameLst>
                                          <p:attrName>ppt_x</p:attrName>
                                        </p:attrNameLst>
                                      </p:cBhvr>
                                      <p:tavLst>
                                        <p:tav tm="0">
                                          <p:val>
                                            <p:strVal val="#ppt_x"/>
                                          </p:val>
                                        </p:tav>
                                        <p:tav tm="100000">
                                          <p:val>
                                            <p:strVal val="#ppt_x"/>
                                          </p:val>
                                        </p:tav>
                                      </p:tavLst>
                                    </p:anim>
                                    <p:anim calcmode="lin" valueType="num">
                                      <p:cBhvr>
                                        <p:cTn id="74" dur="450" fill="hold"/>
                                        <p:tgtEl>
                                          <p:spTgt spid="1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APPENDIX</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위 id를 빼도 되는 경우</a:t>
            </a:r>
            <a:endParaRPr lang="en-US" sz="3200" dirty="0"/>
          </a:p>
        </p:txBody>
      </p:sp>
      <p:sp>
        <p:nvSpPr>
          <p:cNvPr id="4" name="b0c0-0"/>
          <p:cNvSpPr/>
          <p:nvPr/>
        </p:nvSpPr>
        <p:spPr>
          <a:xfrm>
            <a:off x="649224" y="2289937"/>
            <a:ext cx="5330952" cy="2287270"/>
          </a:xfrm>
          <a:prstGeom prst="roundRect">
            <a:avLst>
              <a:gd name="adj" fmla="val 4797"/>
            </a:avLst>
          </a:prstGeom>
          <a:solidFill>
            <a:schemeClr val="tx2"/>
          </a:solidFill>
          <a:ln/>
        </p:spPr>
      </p:sp>
      <p:sp>
        <p:nvSpPr>
          <p:cNvPr id="5" name="b0c0-1"/>
          <p:cNvSpPr/>
          <p:nvPr/>
        </p:nvSpPr>
        <p:spPr>
          <a:xfrm>
            <a:off x="850392" y="2436241"/>
            <a:ext cx="100584" cy="100584"/>
          </a:xfrm>
          <a:prstGeom prst="ellipse">
            <a:avLst/>
          </a:prstGeom>
          <a:solidFill>
            <a:srgbClr val="4A4844"/>
          </a:solidFill>
          <a:ln/>
        </p:spPr>
      </p:sp>
      <p:sp>
        <p:nvSpPr>
          <p:cNvPr id="6" name="b0c0-2"/>
          <p:cNvSpPr/>
          <p:nvPr/>
        </p:nvSpPr>
        <p:spPr>
          <a:xfrm>
            <a:off x="1024128" y="2436241"/>
            <a:ext cx="100584" cy="100584"/>
          </a:xfrm>
          <a:prstGeom prst="ellipse">
            <a:avLst/>
          </a:prstGeom>
          <a:solidFill>
            <a:srgbClr val="4A4844"/>
          </a:solidFill>
          <a:ln/>
        </p:spPr>
      </p:sp>
      <p:sp>
        <p:nvSpPr>
          <p:cNvPr id="7" name="b0c0-3"/>
          <p:cNvSpPr/>
          <p:nvPr/>
        </p:nvSpPr>
        <p:spPr>
          <a:xfrm>
            <a:off x="1197864" y="2436241"/>
            <a:ext cx="100584" cy="100584"/>
          </a:xfrm>
          <a:prstGeom prst="ellipse">
            <a:avLst/>
          </a:prstGeom>
          <a:solidFill>
            <a:srgbClr val="4A4844"/>
          </a:solidFill>
          <a:ln/>
        </p:spPr>
      </p:sp>
      <p:sp>
        <p:nvSpPr>
          <p:cNvPr id="8" name="b0c0-4"/>
          <p:cNvSpPr txBox="1"/>
          <p:nvPr/>
        </p:nvSpPr>
        <p:spPr>
          <a:xfrm>
            <a:off x="1472184" y="2381377"/>
            <a:ext cx="4325112"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블로그 댓글: GET /comments/7</a:t>
            </a:r>
            <a:endParaRPr lang="en-US" sz="1100" dirty="0"/>
          </a:p>
        </p:txBody>
      </p:sp>
      <p:sp>
        <p:nvSpPr>
          <p:cNvPr id="9" name="b0c0-5"/>
          <p:cNvSpPr txBox="1"/>
          <p:nvPr/>
        </p:nvSpPr>
        <p:spPr>
          <a:xfrm>
            <a:off x="905256" y="2728849"/>
            <a:ext cx="4873752" cy="1738630"/>
          </a:xfrm>
          <a:prstGeom prst="rect">
            <a:avLst/>
          </a:prstGeom>
          <a:noFill/>
          <a:ln/>
        </p:spPr>
        <p:txBody>
          <a:bodyPr wrap="square" lIns="0" tIns="0" rIns="0" bIns="0" rtlCol="0" anchor="t"/>
          <a:lstStyle/>
          <a:p>
            <a:pPr algn="l" indent="0" marL="0">
              <a:lnSpc>
                <a:spcPct val="105000"/>
              </a:lnSpc>
              <a:buNone/>
            </a:pPr>
            <a:r>
              <a:rPr lang="en-US" sz="1400" dirty="0">
                <a:solidFill>
                  <a:srgbClr val="A09D96"/>
                </a:solidFill>
                <a:latin typeface="JetBrains Mono" pitchFamily="34" charset="0"/>
                <a:ea typeface="JetBrains Mono" pitchFamily="34" charset="-122"/>
                <a:cs typeface="JetBrains Mono" pitchFamily="34" charset="-120"/>
              </a:rPr>
              <a:t>id   post_id   content</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6    99        잘 봤습니다</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7    42        감사합니다</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8    99        궁금한 점이…</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SELECT * FROM comments WHERE id = 7</a:t>
            </a:r>
            <a:endParaRPr lang="en-US" sz="1400" dirty="0"/>
          </a:p>
          <a:p>
            <a:pPr algn="l" indent="0" marL="0">
              <a:lnSpc>
                <a:spcPct val="105000"/>
              </a:lnSpc>
              <a:buNone/>
            </a:pPr>
            <a:r>
              <a:rPr lang="en-US" sz="1400" dirty="0">
                <a:solidFill>
                  <a:srgbClr val="5DB872"/>
                </a:solidFill>
                <a:latin typeface="JetBrains Mono" pitchFamily="34" charset="0"/>
                <a:ea typeface="JetBrains Mono" pitchFamily="34" charset="-122"/>
                <a:cs typeface="JetBrains Mono" pitchFamily="34" charset="-120"/>
              </a:rPr>
              <a:t>→ 한 줄. 그 줄에 post_id = 42도 있음</a:t>
            </a:r>
            <a:endParaRPr lang="en-US" sz="1400" dirty="0"/>
          </a:p>
        </p:txBody>
      </p:sp>
      <p:sp>
        <p:nvSpPr>
          <p:cNvPr id="10" name="b0c1-6"/>
          <p:cNvSpPr/>
          <p:nvPr/>
        </p:nvSpPr>
        <p:spPr>
          <a:xfrm>
            <a:off x="6208776" y="2289937"/>
            <a:ext cx="5330952" cy="2287270"/>
          </a:xfrm>
          <a:prstGeom prst="roundRect">
            <a:avLst>
              <a:gd name="adj" fmla="val 4797"/>
            </a:avLst>
          </a:prstGeom>
          <a:solidFill>
            <a:schemeClr val="tx2"/>
          </a:solidFill>
          <a:ln/>
        </p:spPr>
      </p:sp>
      <p:sp>
        <p:nvSpPr>
          <p:cNvPr id="11" name="b0c1-7"/>
          <p:cNvSpPr/>
          <p:nvPr/>
        </p:nvSpPr>
        <p:spPr>
          <a:xfrm>
            <a:off x="6409944" y="2436241"/>
            <a:ext cx="100584" cy="100584"/>
          </a:xfrm>
          <a:prstGeom prst="ellipse">
            <a:avLst/>
          </a:prstGeom>
          <a:solidFill>
            <a:srgbClr val="4A4844"/>
          </a:solidFill>
          <a:ln/>
        </p:spPr>
      </p:sp>
      <p:sp>
        <p:nvSpPr>
          <p:cNvPr id="12" name="b0c1-8"/>
          <p:cNvSpPr/>
          <p:nvPr/>
        </p:nvSpPr>
        <p:spPr>
          <a:xfrm>
            <a:off x="6583680" y="2436241"/>
            <a:ext cx="100584" cy="100584"/>
          </a:xfrm>
          <a:prstGeom prst="ellipse">
            <a:avLst/>
          </a:prstGeom>
          <a:solidFill>
            <a:srgbClr val="4A4844"/>
          </a:solidFill>
          <a:ln/>
        </p:spPr>
      </p:sp>
      <p:sp>
        <p:nvSpPr>
          <p:cNvPr id="13" name="b0c1-9"/>
          <p:cNvSpPr/>
          <p:nvPr/>
        </p:nvSpPr>
        <p:spPr>
          <a:xfrm>
            <a:off x="6757416" y="2436241"/>
            <a:ext cx="100584" cy="100584"/>
          </a:xfrm>
          <a:prstGeom prst="ellipse">
            <a:avLst/>
          </a:prstGeom>
          <a:solidFill>
            <a:srgbClr val="4A4844"/>
          </a:solidFill>
          <a:ln/>
        </p:spPr>
      </p:sp>
      <p:sp>
        <p:nvSpPr>
          <p:cNvPr id="14" name="b0c1-10"/>
          <p:cNvSpPr txBox="1"/>
          <p:nvPr/>
        </p:nvSpPr>
        <p:spPr>
          <a:xfrm>
            <a:off x="7031736" y="2381377"/>
            <a:ext cx="4325112"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GitHub 이슈: GET /repos/react/issues/12</a:t>
            </a:r>
            <a:endParaRPr lang="en-US" sz="1100" dirty="0"/>
          </a:p>
        </p:txBody>
      </p:sp>
      <p:sp>
        <p:nvSpPr>
          <p:cNvPr id="15" name="b0c1-11"/>
          <p:cNvSpPr txBox="1"/>
          <p:nvPr/>
        </p:nvSpPr>
        <p:spPr>
          <a:xfrm>
            <a:off x="6464808" y="2728849"/>
            <a:ext cx="4873752" cy="1738630"/>
          </a:xfrm>
          <a:prstGeom prst="rect">
            <a:avLst/>
          </a:prstGeom>
          <a:noFill/>
          <a:ln/>
        </p:spPr>
        <p:txBody>
          <a:bodyPr wrap="square" lIns="0" tIns="0" rIns="0" bIns="0" rtlCol="0" anchor="t"/>
          <a:lstStyle/>
          <a:p>
            <a:pPr algn="l" indent="0" marL="0">
              <a:lnSpc>
                <a:spcPct val="105000"/>
              </a:lnSpc>
              <a:buNone/>
            </a:pPr>
            <a:r>
              <a:rPr lang="en-US" sz="1400" dirty="0">
                <a:solidFill>
                  <a:srgbClr val="A09D96"/>
                </a:solidFill>
                <a:latin typeface="JetBrains Mono" pitchFamily="34" charset="0"/>
                <a:ea typeface="JetBrains Mono" pitchFamily="34" charset="-122"/>
                <a:cs typeface="JetBrains Mono" pitchFamily="34" charset="-120"/>
              </a:rPr>
              <a:t>repo          number   title</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spring-boot   1        첫 이슈</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spring-boot   12       로그인 오류</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react         12       화면 깨짐</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 </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SELECT * FROM issues WHERE number = 12</a:t>
            </a:r>
            <a:endParaRPr lang="en-US" sz="1400" dirty="0"/>
          </a:p>
          <a:p>
            <a:pPr algn="l" indent="0" marL="0">
              <a:lnSpc>
                <a:spcPct val="105000"/>
              </a:lnSpc>
              <a:buNone/>
            </a:pPr>
            <a:r>
              <a:rPr lang="en-US" sz="1400" dirty="0">
                <a:solidFill>
                  <a:srgbClr val="E5806F"/>
                </a:solidFill>
                <a:latin typeface="JetBrains Mono" pitchFamily="34" charset="0"/>
                <a:ea typeface="JetBrains Mono" pitchFamily="34" charset="-122"/>
                <a:cs typeface="JetBrains Mono" pitchFamily="34" charset="-120"/>
              </a:rPr>
              <a:t>→ 두 줄. 어느 것인지 모름</a:t>
            </a:r>
            <a:endParaRPr lang="en-US" sz="1400" dirty="0"/>
          </a:p>
        </p:txBody>
      </p:sp>
      <p:sp>
        <p:nvSpPr>
          <p:cNvPr id="16" name="b1-0"/>
          <p:cNvSpPr/>
          <p:nvPr/>
        </p:nvSpPr>
        <p:spPr>
          <a:xfrm>
            <a:off x="649224" y="4805807"/>
            <a:ext cx="10890504" cy="612648"/>
          </a:xfrm>
          <a:prstGeom prst="roundRect">
            <a:avLst>
              <a:gd name="adj" fmla="val 17910"/>
            </a:avLst>
          </a:prstGeom>
          <a:solidFill>
            <a:schemeClr val="bg2"/>
          </a:solidFill>
          <a:ln/>
        </p:spPr>
      </p:sp>
      <p:sp>
        <p:nvSpPr>
          <p:cNvPr id="17" name="b1-1"/>
          <p:cNvSpPr txBox="1"/>
          <p:nvPr/>
        </p:nvSpPr>
        <p:spPr>
          <a:xfrm>
            <a:off x="877824" y="4805807"/>
            <a:ext cx="10433304" cy="612648"/>
          </a:xfrm>
          <a:prstGeom prst="rect">
            <a:avLst/>
          </a:prstGeom>
          <a:noFill/>
          <a:ln/>
        </p:spPr>
        <p:txBody>
          <a:bodyPr wrap="square" lIns="0" tIns="0" rIns="0" bIns="0" rtlCol="0" anchor="ctr"/>
          <a:lstStyle/>
          <a:p>
            <a:pPr algn="l" indent="0" marL="0">
              <a:lnSpc>
                <a:spcPct val="100000"/>
              </a:lnSpc>
              <a:buNone/>
            </a:pPr>
            <a:r>
              <a:rPr lang="en-US" sz="1800" dirty="0">
                <a:solidFill>
                  <a:schemeClr val="tx1"/>
                </a:solidFill>
              </a:rPr>
              <a:t>위 id를 서버가 스스로 알아낼 수 있으면 빼도 되고, 알아낼 수 없으면 주소에 넣는다</a:t>
            </a:r>
            <a:endParaRPr lang="en-US" sz="1800" dirty="0"/>
          </a:p>
        </p:txBody>
      </p:sp>
      <p:sp>
        <p:nvSpPr>
          <p:cNvPr id="1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fill="hold"/>
                                        <p:tgtEl>
                                          <p:spTgt spid="7"/>
                                        </p:tgtEl>
                                        <p:attrNameLst>
                                          <p:attrName>ppt_x</p:attrName>
                                        </p:attrNameLst>
                                      </p:cBhvr>
                                      <p:tavLst>
                                        <p:tav tm="0">
                                          <p:val>
                                            <p:strVal val="#ppt_x"/>
                                          </p:val>
                                        </p:tav>
                                        <p:tav tm="100000">
                                          <p:val>
                                            <p:strVal val="#ppt_x"/>
                                          </p:val>
                                        </p:tav>
                                      </p:tavLst>
                                    </p:anim>
                                    <p:anim calcmode="lin" valueType="num">
                                      <p:cBhvr>
                                        <p:cTn id="24" dur="450" fill="hold"/>
                                        <p:tgtEl>
                                          <p:spTgt spid="7"/>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anim calcmode="lin" valueType="num">
                                      <p:cBhvr>
                                        <p:cTn id="28" dur="450" fill="hold"/>
                                        <p:tgtEl>
                                          <p:spTgt spid="8"/>
                                        </p:tgtEl>
                                        <p:attrNameLst>
                                          <p:attrName>ppt_x</p:attrName>
                                        </p:attrNameLst>
                                      </p:cBhvr>
                                      <p:tavLst>
                                        <p:tav tm="0">
                                          <p:val>
                                            <p:strVal val="#ppt_x"/>
                                          </p:val>
                                        </p:tav>
                                        <p:tav tm="100000">
                                          <p:val>
                                            <p:strVal val="#ppt_x"/>
                                          </p:val>
                                        </p:tav>
                                      </p:tavLst>
                                    </p:anim>
                                    <p:anim calcmode="lin" valueType="num">
                                      <p:cBhvr>
                                        <p:cTn id="29" dur="450" fill="hold"/>
                                        <p:tgtEl>
                                          <p:spTgt spid="8"/>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anim calcmode="lin" valueType="num">
                                      <p:cBhvr>
                                        <p:cTn id="33" dur="450" fill="hold"/>
                                        <p:tgtEl>
                                          <p:spTgt spid="9"/>
                                        </p:tgtEl>
                                        <p:attrNameLst>
                                          <p:attrName>ppt_x</p:attrName>
                                        </p:attrNameLst>
                                      </p:cBhvr>
                                      <p:tavLst>
                                        <p:tav tm="0">
                                          <p:val>
                                            <p:strVal val="#ppt_x"/>
                                          </p:val>
                                        </p:tav>
                                        <p:tav tm="100000">
                                          <p:val>
                                            <p:strVal val="#ppt_x"/>
                                          </p:val>
                                        </p:tav>
                                      </p:tavLst>
                                    </p:anim>
                                    <p:anim calcmode="lin" valueType="num">
                                      <p:cBhvr>
                                        <p:cTn id="34" dur="450" fill="hold"/>
                                        <p:tgtEl>
                                          <p:spTgt spid="9"/>
                                        </p:tgtEl>
                                        <p:attrNameLst>
                                          <p:attrName>ppt_y</p:attrName>
                                        </p:attrNameLst>
                                      </p:cBhvr>
                                      <p:tavLst>
                                        <p:tav tm="0">
                                          <p:val>
                                            <p:strVal val="#ppt_y+0.03"/>
                                          </p:val>
                                        </p:tav>
                                        <p:tav tm="100000">
                                          <p:val>
                                            <p:strVal val="#ppt_y"/>
                                          </p:val>
                                        </p:tav>
                                      </p:tavLst>
                                    </p:anim>
                                  </p:childTnLst>
                                </p:cTn>
                              </p:par>
                              <p:par>
                                <p:cTn id="35" presetID="42" presetClass="entr" presetSubtype="0" fill="hold" grpId="0" nodeType="withEffect">
                                  <p:stCondLst>
                                    <p:cond delay="11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50"/>
                                        <p:tgtEl>
                                          <p:spTgt spid="10"/>
                                        </p:tgtEl>
                                      </p:cBhvr>
                                    </p:animEffect>
                                    <p:anim calcmode="lin" valueType="num">
                                      <p:cBhvr>
                                        <p:cTn id="38" dur="450" fill="hold"/>
                                        <p:tgtEl>
                                          <p:spTgt spid="10"/>
                                        </p:tgtEl>
                                        <p:attrNameLst>
                                          <p:attrName>ppt_x</p:attrName>
                                        </p:attrNameLst>
                                      </p:cBhvr>
                                      <p:tavLst>
                                        <p:tav tm="0">
                                          <p:val>
                                            <p:strVal val="#ppt_x"/>
                                          </p:val>
                                        </p:tav>
                                        <p:tav tm="100000">
                                          <p:val>
                                            <p:strVal val="#ppt_x"/>
                                          </p:val>
                                        </p:tav>
                                      </p:tavLst>
                                    </p:anim>
                                    <p:anim calcmode="lin" valueType="num">
                                      <p:cBhvr>
                                        <p:cTn id="39" dur="450" fill="hold"/>
                                        <p:tgtEl>
                                          <p:spTgt spid="10"/>
                                        </p:tgtEl>
                                        <p:attrNameLst>
                                          <p:attrName>ppt_y</p:attrName>
                                        </p:attrNameLst>
                                      </p:cBhvr>
                                      <p:tavLst>
                                        <p:tav tm="0">
                                          <p:val>
                                            <p:strVal val="#ppt_y+0.03"/>
                                          </p:val>
                                        </p:tav>
                                        <p:tav tm="100000">
                                          <p:val>
                                            <p:strVal val="#ppt_y"/>
                                          </p:val>
                                        </p:tav>
                                      </p:tavLst>
                                    </p:anim>
                                  </p:childTnLst>
                                </p:cTn>
                              </p:par>
                              <p:par>
                                <p:cTn id="40" presetID="42" presetClass="entr" presetSubtype="0" fill="hold" grpId="0" nodeType="withEffect">
                                  <p:stCondLst>
                                    <p:cond delay="11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450"/>
                                        <p:tgtEl>
                                          <p:spTgt spid="11"/>
                                        </p:tgtEl>
                                      </p:cBhvr>
                                    </p:animEffect>
                                    <p:anim calcmode="lin" valueType="num">
                                      <p:cBhvr>
                                        <p:cTn id="43" dur="450" fill="hold"/>
                                        <p:tgtEl>
                                          <p:spTgt spid="11"/>
                                        </p:tgtEl>
                                        <p:attrNameLst>
                                          <p:attrName>ppt_x</p:attrName>
                                        </p:attrNameLst>
                                      </p:cBhvr>
                                      <p:tavLst>
                                        <p:tav tm="0">
                                          <p:val>
                                            <p:strVal val="#ppt_x"/>
                                          </p:val>
                                        </p:tav>
                                        <p:tav tm="100000">
                                          <p:val>
                                            <p:strVal val="#ppt_x"/>
                                          </p:val>
                                        </p:tav>
                                      </p:tavLst>
                                    </p:anim>
                                    <p:anim calcmode="lin" valueType="num">
                                      <p:cBhvr>
                                        <p:cTn id="44" dur="450" fill="hold"/>
                                        <p:tgtEl>
                                          <p:spTgt spid="11"/>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withEffect">
                                  <p:stCondLst>
                                    <p:cond delay="11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50"/>
                                        <p:tgtEl>
                                          <p:spTgt spid="12"/>
                                        </p:tgtEl>
                                      </p:cBhvr>
                                    </p:animEffect>
                                    <p:anim calcmode="lin" valueType="num">
                                      <p:cBhvr>
                                        <p:cTn id="48" dur="450" fill="hold"/>
                                        <p:tgtEl>
                                          <p:spTgt spid="12"/>
                                        </p:tgtEl>
                                        <p:attrNameLst>
                                          <p:attrName>ppt_x</p:attrName>
                                        </p:attrNameLst>
                                      </p:cBhvr>
                                      <p:tavLst>
                                        <p:tav tm="0">
                                          <p:val>
                                            <p:strVal val="#ppt_x"/>
                                          </p:val>
                                        </p:tav>
                                        <p:tav tm="100000">
                                          <p:val>
                                            <p:strVal val="#ppt_x"/>
                                          </p:val>
                                        </p:tav>
                                      </p:tavLst>
                                    </p:anim>
                                    <p:anim calcmode="lin" valueType="num">
                                      <p:cBhvr>
                                        <p:cTn id="49" dur="450" fill="hold"/>
                                        <p:tgtEl>
                                          <p:spTgt spid="12"/>
                                        </p:tgtEl>
                                        <p:attrNameLst>
                                          <p:attrName>ppt_y</p:attrName>
                                        </p:attrNameLst>
                                      </p:cBhvr>
                                      <p:tavLst>
                                        <p:tav tm="0">
                                          <p:val>
                                            <p:strVal val="#ppt_y+0.03"/>
                                          </p:val>
                                        </p:tav>
                                        <p:tav tm="100000">
                                          <p:val>
                                            <p:strVal val="#ppt_y"/>
                                          </p:val>
                                        </p:tav>
                                      </p:tavLst>
                                    </p:anim>
                                  </p:childTnLst>
                                </p:cTn>
                              </p:par>
                              <p:par>
                                <p:cTn id="50" presetID="42" presetClass="entr" presetSubtype="0" fill="hold" grpId="0" nodeType="withEffect">
                                  <p:stCondLst>
                                    <p:cond delay="11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450"/>
                                        <p:tgtEl>
                                          <p:spTgt spid="13"/>
                                        </p:tgtEl>
                                      </p:cBhvr>
                                    </p:animEffect>
                                    <p:anim calcmode="lin" valueType="num">
                                      <p:cBhvr>
                                        <p:cTn id="53" dur="450" fill="hold"/>
                                        <p:tgtEl>
                                          <p:spTgt spid="13"/>
                                        </p:tgtEl>
                                        <p:attrNameLst>
                                          <p:attrName>ppt_x</p:attrName>
                                        </p:attrNameLst>
                                      </p:cBhvr>
                                      <p:tavLst>
                                        <p:tav tm="0">
                                          <p:val>
                                            <p:strVal val="#ppt_x"/>
                                          </p:val>
                                        </p:tav>
                                        <p:tav tm="100000">
                                          <p:val>
                                            <p:strVal val="#ppt_x"/>
                                          </p:val>
                                        </p:tav>
                                      </p:tavLst>
                                    </p:anim>
                                    <p:anim calcmode="lin" valueType="num">
                                      <p:cBhvr>
                                        <p:cTn id="54" dur="450" fill="hold"/>
                                        <p:tgtEl>
                                          <p:spTgt spid="13"/>
                                        </p:tgtEl>
                                        <p:attrNameLst>
                                          <p:attrName>ppt_y</p:attrName>
                                        </p:attrNameLst>
                                      </p:cBhvr>
                                      <p:tavLst>
                                        <p:tav tm="0">
                                          <p:val>
                                            <p:strVal val="#ppt_y+0.03"/>
                                          </p:val>
                                        </p:tav>
                                        <p:tav tm="100000">
                                          <p:val>
                                            <p:strVal val="#ppt_y"/>
                                          </p:val>
                                        </p:tav>
                                      </p:tavLst>
                                    </p:anim>
                                  </p:childTnLst>
                                </p:cTn>
                              </p:par>
                              <p:par>
                                <p:cTn id="55" presetID="42" presetClass="entr" presetSubtype="0" fill="hold" grpId="0" nodeType="withEffect">
                                  <p:stCondLst>
                                    <p:cond delay="11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50"/>
                                        <p:tgtEl>
                                          <p:spTgt spid="14"/>
                                        </p:tgtEl>
                                      </p:cBhvr>
                                    </p:animEffect>
                                    <p:anim calcmode="lin" valueType="num">
                                      <p:cBhvr>
                                        <p:cTn id="58" dur="450" fill="hold"/>
                                        <p:tgtEl>
                                          <p:spTgt spid="14"/>
                                        </p:tgtEl>
                                        <p:attrNameLst>
                                          <p:attrName>ppt_x</p:attrName>
                                        </p:attrNameLst>
                                      </p:cBhvr>
                                      <p:tavLst>
                                        <p:tav tm="0">
                                          <p:val>
                                            <p:strVal val="#ppt_x"/>
                                          </p:val>
                                        </p:tav>
                                        <p:tav tm="100000">
                                          <p:val>
                                            <p:strVal val="#ppt_x"/>
                                          </p:val>
                                        </p:tav>
                                      </p:tavLst>
                                    </p:anim>
                                    <p:anim calcmode="lin" valueType="num">
                                      <p:cBhvr>
                                        <p:cTn id="59" dur="450" fill="hold"/>
                                        <p:tgtEl>
                                          <p:spTgt spid="14"/>
                                        </p:tgtEl>
                                        <p:attrNameLst>
                                          <p:attrName>ppt_y</p:attrName>
                                        </p:attrNameLst>
                                      </p:cBhvr>
                                      <p:tavLst>
                                        <p:tav tm="0">
                                          <p:val>
                                            <p:strVal val="#ppt_y+0.03"/>
                                          </p:val>
                                        </p:tav>
                                        <p:tav tm="100000">
                                          <p:val>
                                            <p:strVal val="#ppt_y"/>
                                          </p:val>
                                        </p:tav>
                                      </p:tavLst>
                                    </p:anim>
                                  </p:childTnLst>
                                </p:cTn>
                              </p:par>
                              <p:par>
                                <p:cTn id="60" presetID="42" presetClass="entr" presetSubtype="0" fill="hold" grpId="0" nodeType="withEffect">
                                  <p:stCondLst>
                                    <p:cond delay="11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450"/>
                                        <p:tgtEl>
                                          <p:spTgt spid="15"/>
                                        </p:tgtEl>
                                      </p:cBhvr>
                                    </p:animEffect>
                                    <p:anim calcmode="lin" valueType="num">
                                      <p:cBhvr>
                                        <p:cTn id="63" dur="450" fill="hold"/>
                                        <p:tgtEl>
                                          <p:spTgt spid="15"/>
                                        </p:tgtEl>
                                        <p:attrNameLst>
                                          <p:attrName>ppt_x</p:attrName>
                                        </p:attrNameLst>
                                      </p:cBhvr>
                                      <p:tavLst>
                                        <p:tav tm="0">
                                          <p:val>
                                            <p:strVal val="#ppt_x"/>
                                          </p:val>
                                        </p:tav>
                                        <p:tav tm="100000">
                                          <p:val>
                                            <p:strVal val="#ppt_x"/>
                                          </p:val>
                                        </p:tav>
                                      </p:tavLst>
                                    </p:anim>
                                    <p:anim calcmode="lin" valueType="num">
                                      <p:cBhvr>
                                        <p:cTn id="64" dur="45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withEffect">
                                  <p:stCondLst>
                                    <p:cond delay="22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50"/>
                                        <p:tgtEl>
                                          <p:spTgt spid="16"/>
                                        </p:tgtEl>
                                      </p:cBhvr>
                                    </p:animEffect>
                                    <p:anim calcmode="lin" valueType="num">
                                      <p:cBhvr>
                                        <p:cTn id="68" dur="450" fill="hold"/>
                                        <p:tgtEl>
                                          <p:spTgt spid="16"/>
                                        </p:tgtEl>
                                        <p:attrNameLst>
                                          <p:attrName>ppt_x</p:attrName>
                                        </p:attrNameLst>
                                      </p:cBhvr>
                                      <p:tavLst>
                                        <p:tav tm="0">
                                          <p:val>
                                            <p:strVal val="#ppt_x"/>
                                          </p:val>
                                        </p:tav>
                                        <p:tav tm="100000">
                                          <p:val>
                                            <p:strVal val="#ppt_x"/>
                                          </p:val>
                                        </p:tav>
                                      </p:tavLst>
                                    </p:anim>
                                    <p:anim calcmode="lin" valueType="num">
                                      <p:cBhvr>
                                        <p:cTn id="69" dur="450" fill="hold"/>
                                        <p:tgtEl>
                                          <p:spTgt spid="16"/>
                                        </p:tgtEl>
                                        <p:attrNameLst>
                                          <p:attrName>ppt_y</p:attrName>
                                        </p:attrNameLst>
                                      </p:cBhvr>
                                      <p:tavLst>
                                        <p:tav tm="0">
                                          <p:val>
                                            <p:strVal val="#ppt_y+0.03"/>
                                          </p:val>
                                        </p:tav>
                                        <p:tav tm="100000">
                                          <p:val>
                                            <p:strVal val="#ppt_y"/>
                                          </p:val>
                                        </p:tav>
                                      </p:tavLst>
                                    </p:anim>
                                  </p:childTnLst>
                                </p:cTn>
                              </p:par>
                              <p:par>
                                <p:cTn id="70" presetID="42" presetClass="entr" presetSubtype="0" fill="hold" grpId="0" nodeType="withEffect">
                                  <p:stCondLst>
                                    <p:cond delay="22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50"/>
                                        <p:tgtEl>
                                          <p:spTgt spid="17"/>
                                        </p:tgtEl>
                                      </p:cBhvr>
                                    </p:animEffect>
                                    <p:anim calcmode="lin" valueType="num">
                                      <p:cBhvr>
                                        <p:cTn id="73" dur="450" fill="hold"/>
                                        <p:tgtEl>
                                          <p:spTgt spid="17"/>
                                        </p:tgtEl>
                                        <p:attrNameLst>
                                          <p:attrName>ppt_x</p:attrName>
                                        </p:attrNameLst>
                                      </p:cBhvr>
                                      <p:tavLst>
                                        <p:tav tm="0">
                                          <p:val>
                                            <p:strVal val="#ppt_x"/>
                                          </p:val>
                                        </p:tav>
                                        <p:tav tm="100000">
                                          <p:val>
                                            <p:strVal val="#ppt_x"/>
                                          </p:val>
                                        </p:tav>
                                      </p:tavLst>
                                    </p:anim>
                                    <p:anim calcmode="lin" valueType="num">
                                      <p:cBhvr>
                                        <p:cTn id="74" dur="450" fill="hold"/>
                                        <p:tgtEl>
                                          <p:spTgt spid="1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APPENDIX</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멱등성</a:t>
            </a:r>
            <a:endParaRPr lang="en-US" sz="3200" dirty="0"/>
          </a:p>
        </p:txBody>
      </p:sp>
      <p:sp>
        <p:nvSpPr>
          <p:cNvPr id="4" name="b0c0-0"/>
          <p:cNvSpPr/>
          <p:nvPr/>
        </p:nvSpPr>
        <p:spPr>
          <a:xfrm>
            <a:off x="649224" y="2488311"/>
            <a:ext cx="5330952" cy="2160270"/>
          </a:xfrm>
          <a:prstGeom prst="roundRect">
            <a:avLst>
              <a:gd name="adj" fmla="val 5079"/>
            </a:avLst>
          </a:prstGeom>
          <a:solidFill>
            <a:schemeClr val="tx2"/>
          </a:solidFill>
          <a:ln/>
        </p:spPr>
      </p:sp>
      <p:sp>
        <p:nvSpPr>
          <p:cNvPr id="5" name="b0c0-1"/>
          <p:cNvSpPr/>
          <p:nvPr/>
        </p:nvSpPr>
        <p:spPr>
          <a:xfrm>
            <a:off x="850392" y="2634615"/>
            <a:ext cx="100584" cy="100584"/>
          </a:xfrm>
          <a:prstGeom prst="ellipse">
            <a:avLst/>
          </a:prstGeom>
          <a:solidFill>
            <a:srgbClr val="4A4844"/>
          </a:solidFill>
          <a:ln/>
        </p:spPr>
      </p:sp>
      <p:sp>
        <p:nvSpPr>
          <p:cNvPr id="6" name="b0c0-2"/>
          <p:cNvSpPr/>
          <p:nvPr/>
        </p:nvSpPr>
        <p:spPr>
          <a:xfrm>
            <a:off x="1024128" y="2634615"/>
            <a:ext cx="100584" cy="100584"/>
          </a:xfrm>
          <a:prstGeom prst="ellipse">
            <a:avLst/>
          </a:prstGeom>
          <a:solidFill>
            <a:srgbClr val="4A4844"/>
          </a:solidFill>
          <a:ln/>
        </p:spPr>
      </p:sp>
      <p:sp>
        <p:nvSpPr>
          <p:cNvPr id="7" name="b0c0-3"/>
          <p:cNvSpPr/>
          <p:nvPr/>
        </p:nvSpPr>
        <p:spPr>
          <a:xfrm>
            <a:off x="1197864" y="2634615"/>
            <a:ext cx="100584" cy="100584"/>
          </a:xfrm>
          <a:prstGeom prst="ellipse">
            <a:avLst/>
          </a:prstGeom>
          <a:solidFill>
            <a:srgbClr val="4A4844"/>
          </a:solidFill>
          <a:ln/>
        </p:spPr>
      </p:sp>
      <p:sp>
        <p:nvSpPr>
          <p:cNvPr id="8" name="b0c0-4"/>
          <p:cNvSpPr txBox="1"/>
          <p:nvPr/>
        </p:nvSpPr>
        <p:spPr>
          <a:xfrm>
            <a:off x="1472184" y="2579751"/>
            <a:ext cx="4325112"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POST /posts 를 3번 보내면</a:t>
            </a:r>
            <a:endParaRPr lang="en-US" sz="1100" dirty="0"/>
          </a:p>
        </p:txBody>
      </p:sp>
      <p:sp>
        <p:nvSpPr>
          <p:cNvPr id="9" name="b0c0-5"/>
          <p:cNvSpPr txBox="1"/>
          <p:nvPr/>
        </p:nvSpPr>
        <p:spPr>
          <a:xfrm>
            <a:off x="905256" y="2927223"/>
            <a:ext cx="4873752" cy="1611630"/>
          </a:xfrm>
          <a:prstGeom prst="rect">
            <a:avLst/>
          </a:prstGeom>
          <a:noFill/>
          <a:ln/>
        </p:spPr>
        <p:txBody>
          <a:bodyPr wrap="square" lIns="0" tIns="0" rIns="0" bIns="0" rtlCol="0" anchor="t"/>
          <a:lstStyle/>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1번째 → 201 · 43번 글 생성</a:t>
            </a:r>
            <a:endParaRPr lang="en-US" sz="1500" dirty="0"/>
          </a:p>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2번째 → 201 · 44번 글 생성</a:t>
            </a:r>
            <a:endParaRPr lang="en-US" sz="1500" dirty="0"/>
          </a:p>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3번째 → 201 · 45번 글 생성</a:t>
            </a:r>
            <a:endParaRPr lang="en-US" sz="1500" dirty="0"/>
          </a:p>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 </a:t>
            </a:r>
            <a:endParaRPr lang="en-US" sz="1500" dirty="0"/>
          </a:p>
          <a:p>
            <a:pPr algn="l" indent="0" marL="0">
              <a:lnSpc>
                <a:spcPct val="105000"/>
              </a:lnSpc>
              <a:buNone/>
            </a:pPr>
            <a:r>
              <a:rPr lang="en-US" sz="1500" dirty="0">
                <a:solidFill>
                  <a:srgbClr val="E5806F"/>
                </a:solidFill>
                <a:latin typeface="JetBrains Mono" pitchFamily="34" charset="0"/>
                <a:ea typeface="JetBrains Mono" pitchFamily="34" charset="-122"/>
                <a:cs typeface="JetBrains Mono" pitchFamily="34" charset="-120"/>
              </a:rPr>
              <a:t>결과: 같은 글이 3개 생김</a:t>
            </a:r>
            <a:endParaRPr lang="en-US" sz="1500" dirty="0"/>
          </a:p>
          <a:p>
            <a:pPr algn="l" indent="0" marL="0">
              <a:lnSpc>
                <a:spcPct val="105000"/>
              </a:lnSpc>
              <a:buNone/>
            </a:pPr>
            <a:r>
              <a:rPr lang="en-US" sz="1500" dirty="0">
                <a:solidFill>
                  <a:srgbClr val="A09D96"/>
                </a:solidFill>
                <a:latin typeface="JetBrains Mono" pitchFamily="34" charset="0"/>
                <a:ea typeface="JetBrains Mono" pitchFamily="34" charset="-122"/>
                <a:cs typeface="JetBrains Mono" pitchFamily="34" charset="-120"/>
              </a:rPr>
              <a:t>멱등 아님 → 중복을 막아야 한다</a:t>
            </a:r>
            <a:endParaRPr lang="en-US" sz="1500" dirty="0"/>
          </a:p>
        </p:txBody>
      </p:sp>
      <p:sp>
        <p:nvSpPr>
          <p:cNvPr id="10" name="b0c1-6"/>
          <p:cNvSpPr/>
          <p:nvPr/>
        </p:nvSpPr>
        <p:spPr>
          <a:xfrm>
            <a:off x="6208776" y="2488311"/>
            <a:ext cx="5330952" cy="2160270"/>
          </a:xfrm>
          <a:prstGeom prst="roundRect">
            <a:avLst>
              <a:gd name="adj" fmla="val 5079"/>
            </a:avLst>
          </a:prstGeom>
          <a:solidFill>
            <a:schemeClr val="tx2"/>
          </a:solidFill>
          <a:ln/>
        </p:spPr>
      </p:sp>
      <p:sp>
        <p:nvSpPr>
          <p:cNvPr id="11" name="b0c1-7"/>
          <p:cNvSpPr/>
          <p:nvPr/>
        </p:nvSpPr>
        <p:spPr>
          <a:xfrm>
            <a:off x="6409944" y="2634615"/>
            <a:ext cx="100584" cy="100584"/>
          </a:xfrm>
          <a:prstGeom prst="ellipse">
            <a:avLst/>
          </a:prstGeom>
          <a:solidFill>
            <a:srgbClr val="4A4844"/>
          </a:solidFill>
          <a:ln/>
        </p:spPr>
      </p:sp>
      <p:sp>
        <p:nvSpPr>
          <p:cNvPr id="12" name="b0c1-8"/>
          <p:cNvSpPr/>
          <p:nvPr/>
        </p:nvSpPr>
        <p:spPr>
          <a:xfrm>
            <a:off x="6583680" y="2634615"/>
            <a:ext cx="100584" cy="100584"/>
          </a:xfrm>
          <a:prstGeom prst="ellipse">
            <a:avLst/>
          </a:prstGeom>
          <a:solidFill>
            <a:srgbClr val="4A4844"/>
          </a:solidFill>
          <a:ln/>
        </p:spPr>
      </p:sp>
      <p:sp>
        <p:nvSpPr>
          <p:cNvPr id="13" name="b0c1-9"/>
          <p:cNvSpPr/>
          <p:nvPr/>
        </p:nvSpPr>
        <p:spPr>
          <a:xfrm>
            <a:off x="6757416" y="2634615"/>
            <a:ext cx="100584" cy="100584"/>
          </a:xfrm>
          <a:prstGeom prst="ellipse">
            <a:avLst/>
          </a:prstGeom>
          <a:solidFill>
            <a:srgbClr val="4A4844"/>
          </a:solidFill>
          <a:ln/>
        </p:spPr>
      </p:sp>
      <p:sp>
        <p:nvSpPr>
          <p:cNvPr id="14" name="b0c1-10"/>
          <p:cNvSpPr txBox="1"/>
          <p:nvPr/>
        </p:nvSpPr>
        <p:spPr>
          <a:xfrm>
            <a:off x="7031736" y="2579751"/>
            <a:ext cx="4325112"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DELETE /posts/42 를 3번 보내면</a:t>
            </a:r>
            <a:endParaRPr lang="en-US" sz="1100" dirty="0"/>
          </a:p>
        </p:txBody>
      </p:sp>
      <p:sp>
        <p:nvSpPr>
          <p:cNvPr id="15" name="b0c1-11"/>
          <p:cNvSpPr txBox="1"/>
          <p:nvPr/>
        </p:nvSpPr>
        <p:spPr>
          <a:xfrm>
            <a:off x="6464808" y="2927223"/>
            <a:ext cx="4873752" cy="1611630"/>
          </a:xfrm>
          <a:prstGeom prst="rect">
            <a:avLst/>
          </a:prstGeom>
          <a:noFill/>
          <a:ln/>
        </p:spPr>
        <p:txBody>
          <a:bodyPr wrap="square" lIns="0" tIns="0" rIns="0" bIns="0" rtlCol="0" anchor="t"/>
          <a:lstStyle/>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1번째 → 204 · 42번 글 삭제</a:t>
            </a:r>
            <a:endParaRPr lang="en-US" sz="1500" dirty="0"/>
          </a:p>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2번째 → 404 · 이미 없음</a:t>
            </a:r>
            <a:endParaRPr lang="en-US" sz="1500" dirty="0"/>
          </a:p>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3번째 → 404 · 이미 없음</a:t>
            </a:r>
            <a:endParaRPr lang="en-US" sz="1500" dirty="0"/>
          </a:p>
          <a:p>
            <a:pPr algn="l" indent="0" marL="0">
              <a:lnSpc>
                <a:spcPct val="105000"/>
              </a:lnSpc>
              <a:buNone/>
            </a:pPr>
            <a:r>
              <a:rPr lang="en-US" sz="1500" dirty="0">
                <a:solidFill>
                  <a:srgbClr val="FAF9F5"/>
                </a:solidFill>
                <a:latin typeface="JetBrains Mono" pitchFamily="34" charset="0"/>
                <a:ea typeface="JetBrains Mono" pitchFamily="34" charset="-122"/>
                <a:cs typeface="JetBrains Mono" pitchFamily="34" charset="-120"/>
              </a:rPr>
              <a:t> </a:t>
            </a:r>
            <a:endParaRPr lang="en-US" sz="1500" dirty="0"/>
          </a:p>
          <a:p>
            <a:pPr algn="l" indent="0" marL="0">
              <a:lnSpc>
                <a:spcPct val="105000"/>
              </a:lnSpc>
              <a:buNone/>
            </a:pPr>
            <a:r>
              <a:rPr lang="en-US" sz="1500" dirty="0">
                <a:solidFill>
                  <a:srgbClr val="5DB872"/>
                </a:solidFill>
                <a:latin typeface="JetBrains Mono" pitchFamily="34" charset="0"/>
                <a:ea typeface="JetBrains Mono" pitchFamily="34" charset="-122"/>
                <a:cs typeface="JetBrains Mono" pitchFamily="34" charset="-120"/>
              </a:rPr>
              <a:t>결과: 42번 글 없음</a:t>
            </a:r>
            <a:endParaRPr lang="en-US" sz="1500" dirty="0"/>
          </a:p>
          <a:p>
            <a:pPr algn="l" indent="0" marL="0">
              <a:lnSpc>
                <a:spcPct val="105000"/>
              </a:lnSpc>
              <a:buNone/>
            </a:pPr>
            <a:r>
              <a:rPr lang="en-US" sz="1500" dirty="0">
                <a:solidFill>
                  <a:srgbClr val="A09D96"/>
                </a:solidFill>
                <a:latin typeface="JetBrains Mono" pitchFamily="34" charset="0"/>
                <a:ea typeface="JetBrains Mono" pitchFamily="34" charset="-122"/>
                <a:cs typeface="JetBrains Mono" pitchFamily="34" charset="-120"/>
              </a:rPr>
              <a:t>1번 보낸 것과 상태가 같다 → 멱등</a:t>
            </a:r>
            <a:endParaRPr lang="en-US" sz="1500" dirty="0"/>
          </a:p>
        </p:txBody>
      </p:sp>
      <p:sp>
        <p:nvSpPr>
          <p:cNvPr id="16" name="b1-0"/>
          <p:cNvSpPr txBox="1"/>
          <p:nvPr/>
        </p:nvSpPr>
        <p:spPr>
          <a:xfrm>
            <a:off x="649224" y="4877181"/>
            <a:ext cx="10890504" cy="342900"/>
          </a:xfrm>
          <a:prstGeom prst="rect">
            <a:avLst/>
          </a:prstGeom>
          <a:noFill/>
          <a:ln/>
        </p:spPr>
        <p:txBody>
          <a:bodyPr wrap="square" lIns="0" tIns="0" rIns="0" bIns="0" rtlCol="0" anchor="t"/>
          <a:lstStyle/>
          <a:p>
            <a:pPr algn="l" indent="0" marL="0">
              <a:lnSpc>
                <a:spcPct val="115000"/>
              </a:lnSpc>
              <a:spcAft>
                <a:spcPts val="600"/>
              </a:spcAft>
              <a:buNone/>
            </a:pPr>
            <a:r>
              <a:rPr lang="en-US" sz="1800" b="1" dirty="0">
                <a:solidFill>
                  <a:srgbClr val="3D3D3A"/>
                </a:solidFill>
                <a:latin typeface="Pretendard" pitchFamily="34" charset="0"/>
                <a:ea typeface="Pretendard" pitchFamily="34" charset="-122"/>
                <a:cs typeface="Pretendard" pitchFamily="34" charset="-120"/>
              </a:rPr>
              <a:t>멱등 O  </a:t>
            </a:r>
            <a:pPr algn="l" indent="0" marL="0">
              <a:lnSpc>
                <a:spcPct val="115000"/>
              </a:lnSpc>
              <a:spcAft>
                <a:spcPts val="600"/>
              </a:spcAft>
              <a:buNone/>
            </a:pPr>
            <a:r>
              <a:rPr lang="en-US" sz="1800" dirty="0">
                <a:solidFill>
                  <a:srgbClr val="3D3D3A"/>
                </a:solidFill>
              </a:rPr>
              <a:t>GET · PUT · DELETE      </a:t>
            </a:r>
            <a:pPr algn="l" indent="0" marL="0">
              <a:lnSpc>
                <a:spcPct val="115000"/>
              </a:lnSpc>
              <a:spcAft>
                <a:spcPts val="600"/>
              </a:spcAft>
              <a:buNone/>
            </a:pPr>
            <a:r>
              <a:rPr lang="en-US" sz="1800" b="1" dirty="0">
                <a:solidFill>
                  <a:srgbClr val="3D3D3A"/>
                </a:solidFill>
                <a:latin typeface="Pretendard" pitchFamily="34" charset="0"/>
                <a:ea typeface="Pretendard" pitchFamily="34" charset="-122"/>
                <a:cs typeface="Pretendard" pitchFamily="34" charset="-120"/>
              </a:rPr>
              <a:t>멱등 X  </a:t>
            </a:r>
            <a:pPr algn="l" indent="0" marL="0">
              <a:lnSpc>
                <a:spcPct val="115000"/>
              </a:lnSpc>
              <a:spcAft>
                <a:spcPts val="600"/>
              </a:spcAft>
              <a:buNone/>
            </a:pPr>
            <a:r>
              <a:rPr lang="en-US" sz="1800" dirty="0">
                <a:solidFill>
                  <a:srgbClr val="3D3D3A"/>
                </a:solidFill>
              </a:rPr>
              <a:t>POST → 글쓰기 버튼은 한 번 누르면 막아 둔다</a:t>
            </a:r>
            <a:endParaRPr lang="en-US" sz="1800" dirty="0"/>
          </a:p>
        </p:txBody>
      </p:sp>
      <p:sp>
        <p:nvSpPr>
          <p:cNvPr id="17"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fill="hold"/>
                                        <p:tgtEl>
                                          <p:spTgt spid="7"/>
                                        </p:tgtEl>
                                        <p:attrNameLst>
                                          <p:attrName>ppt_x</p:attrName>
                                        </p:attrNameLst>
                                      </p:cBhvr>
                                      <p:tavLst>
                                        <p:tav tm="0">
                                          <p:val>
                                            <p:strVal val="#ppt_x"/>
                                          </p:val>
                                        </p:tav>
                                        <p:tav tm="100000">
                                          <p:val>
                                            <p:strVal val="#ppt_x"/>
                                          </p:val>
                                        </p:tav>
                                      </p:tavLst>
                                    </p:anim>
                                    <p:anim calcmode="lin" valueType="num">
                                      <p:cBhvr>
                                        <p:cTn id="24" dur="450" fill="hold"/>
                                        <p:tgtEl>
                                          <p:spTgt spid="7"/>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anim calcmode="lin" valueType="num">
                                      <p:cBhvr>
                                        <p:cTn id="28" dur="450" fill="hold"/>
                                        <p:tgtEl>
                                          <p:spTgt spid="8"/>
                                        </p:tgtEl>
                                        <p:attrNameLst>
                                          <p:attrName>ppt_x</p:attrName>
                                        </p:attrNameLst>
                                      </p:cBhvr>
                                      <p:tavLst>
                                        <p:tav tm="0">
                                          <p:val>
                                            <p:strVal val="#ppt_x"/>
                                          </p:val>
                                        </p:tav>
                                        <p:tav tm="100000">
                                          <p:val>
                                            <p:strVal val="#ppt_x"/>
                                          </p:val>
                                        </p:tav>
                                      </p:tavLst>
                                    </p:anim>
                                    <p:anim calcmode="lin" valueType="num">
                                      <p:cBhvr>
                                        <p:cTn id="29" dur="450" fill="hold"/>
                                        <p:tgtEl>
                                          <p:spTgt spid="8"/>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anim calcmode="lin" valueType="num">
                                      <p:cBhvr>
                                        <p:cTn id="33" dur="450" fill="hold"/>
                                        <p:tgtEl>
                                          <p:spTgt spid="9"/>
                                        </p:tgtEl>
                                        <p:attrNameLst>
                                          <p:attrName>ppt_x</p:attrName>
                                        </p:attrNameLst>
                                      </p:cBhvr>
                                      <p:tavLst>
                                        <p:tav tm="0">
                                          <p:val>
                                            <p:strVal val="#ppt_x"/>
                                          </p:val>
                                        </p:tav>
                                        <p:tav tm="100000">
                                          <p:val>
                                            <p:strVal val="#ppt_x"/>
                                          </p:val>
                                        </p:tav>
                                      </p:tavLst>
                                    </p:anim>
                                    <p:anim calcmode="lin" valueType="num">
                                      <p:cBhvr>
                                        <p:cTn id="34" dur="450" fill="hold"/>
                                        <p:tgtEl>
                                          <p:spTgt spid="9"/>
                                        </p:tgtEl>
                                        <p:attrNameLst>
                                          <p:attrName>ppt_y</p:attrName>
                                        </p:attrNameLst>
                                      </p:cBhvr>
                                      <p:tavLst>
                                        <p:tav tm="0">
                                          <p:val>
                                            <p:strVal val="#ppt_y+0.03"/>
                                          </p:val>
                                        </p:tav>
                                        <p:tav tm="100000">
                                          <p:val>
                                            <p:strVal val="#ppt_y"/>
                                          </p:val>
                                        </p:tav>
                                      </p:tavLst>
                                    </p:anim>
                                  </p:childTnLst>
                                </p:cTn>
                              </p:par>
                              <p:par>
                                <p:cTn id="35" presetID="42" presetClass="entr" presetSubtype="0" fill="hold" grpId="0" nodeType="withEffect">
                                  <p:stCondLst>
                                    <p:cond delay="11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50"/>
                                        <p:tgtEl>
                                          <p:spTgt spid="10"/>
                                        </p:tgtEl>
                                      </p:cBhvr>
                                    </p:animEffect>
                                    <p:anim calcmode="lin" valueType="num">
                                      <p:cBhvr>
                                        <p:cTn id="38" dur="450" fill="hold"/>
                                        <p:tgtEl>
                                          <p:spTgt spid="10"/>
                                        </p:tgtEl>
                                        <p:attrNameLst>
                                          <p:attrName>ppt_x</p:attrName>
                                        </p:attrNameLst>
                                      </p:cBhvr>
                                      <p:tavLst>
                                        <p:tav tm="0">
                                          <p:val>
                                            <p:strVal val="#ppt_x"/>
                                          </p:val>
                                        </p:tav>
                                        <p:tav tm="100000">
                                          <p:val>
                                            <p:strVal val="#ppt_x"/>
                                          </p:val>
                                        </p:tav>
                                      </p:tavLst>
                                    </p:anim>
                                    <p:anim calcmode="lin" valueType="num">
                                      <p:cBhvr>
                                        <p:cTn id="39" dur="450" fill="hold"/>
                                        <p:tgtEl>
                                          <p:spTgt spid="10"/>
                                        </p:tgtEl>
                                        <p:attrNameLst>
                                          <p:attrName>ppt_y</p:attrName>
                                        </p:attrNameLst>
                                      </p:cBhvr>
                                      <p:tavLst>
                                        <p:tav tm="0">
                                          <p:val>
                                            <p:strVal val="#ppt_y+0.03"/>
                                          </p:val>
                                        </p:tav>
                                        <p:tav tm="100000">
                                          <p:val>
                                            <p:strVal val="#ppt_y"/>
                                          </p:val>
                                        </p:tav>
                                      </p:tavLst>
                                    </p:anim>
                                  </p:childTnLst>
                                </p:cTn>
                              </p:par>
                              <p:par>
                                <p:cTn id="40" presetID="42" presetClass="entr" presetSubtype="0" fill="hold" grpId="0" nodeType="withEffect">
                                  <p:stCondLst>
                                    <p:cond delay="11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450"/>
                                        <p:tgtEl>
                                          <p:spTgt spid="11"/>
                                        </p:tgtEl>
                                      </p:cBhvr>
                                    </p:animEffect>
                                    <p:anim calcmode="lin" valueType="num">
                                      <p:cBhvr>
                                        <p:cTn id="43" dur="450" fill="hold"/>
                                        <p:tgtEl>
                                          <p:spTgt spid="11"/>
                                        </p:tgtEl>
                                        <p:attrNameLst>
                                          <p:attrName>ppt_x</p:attrName>
                                        </p:attrNameLst>
                                      </p:cBhvr>
                                      <p:tavLst>
                                        <p:tav tm="0">
                                          <p:val>
                                            <p:strVal val="#ppt_x"/>
                                          </p:val>
                                        </p:tav>
                                        <p:tav tm="100000">
                                          <p:val>
                                            <p:strVal val="#ppt_x"/>
                                          </p:val>
                                        </p:tav>
                                      </p:tavLst>
                                    </p:anim>
                                    <p:anim calcmode="lin" valueType="num">
                                      <p:cBhvr>
                                        <p:cTn id="44" dur="450" fill="hold"/>
                                        <p:tgtEl>
                                          <p:spTgt spid="11"/>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withEffect">
                                  <p:stCondLst>
                                    <p:cond delay="11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50"/>
                                        <p:tgtEl>
                                          <p:spTgt spid="12"/>
                                        </p:tgtEl>
                                      </p:cBhvr>
                                    </p:animEffect>
                                    <p:anim calcmode="lin" valueType="num">
                                      <p:cBhvr>
                                        <p:cTn id="48" dur="450" fill="hold"/>
                                        <p:tgtEl>
                                          <p:spTgt spid="12"/>
                                        </p:tgtEl>
                                        <p:attrNameLst>
                                          <p:attrName>ppt_x</p:attrName>
                                        </p:attrNameLst>
                                      </p:cBhvr>
                                      <p:tavLst>
                                        <p:tav tm="0">
                                          <p:val>
                                            <p:strVal val="#ppt_x"/>
                                          </p:val>
                                        </p:tav>
                                        <p:tav tm="100000">
                                          <p:val>
                                            <p:strVal val="#ppt_x"/>
                                          </p:val>
                                        </p:tav>
                                      </p:tavLst>
                                    </p:anim>
                                    <p:anim calcmode="lin" valueType="num">
                                      <p:cBhvr>
                                        <p:cTn id="49" dur="450" fill="hold"/>
                                        <p:tgtEl>
                                          <p:spTgt spid="12"/>
                                        </p:tgtEl>
                                        <p:attrNameLst>
                                          <p:attrName>ppt_y</p:attrName>
                                        </p:attrNameLst>
                                      </p:cBhvr>
                                      <p:tavLst>
                                        <p:tav tm="0">
                                          <p:val>
                                            <p:strVal val="#ppt_y+0.03"/>
                                          </p:val>
                                        </p:tav>
                                        <p:tav tm="100000">
                                          <p:val>
                                            <p:strVal val="#ppt_y"/>
                                          </p:val>
                                        </p:tav>
                                      </p:tavLst>
                                    </p:anim>
                                  </p:childTnLst>
                                </p:cTn>
                              </p:par>
                              <p:par>
                                <p:cTn id="50" presetID="42" presetClass="entr" presetSubtype="0" fill="hold" grpId="0" nodeType="withEffect">
                                  <p:stCondLst>
                                    <p:cond delay="11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450"/>
                                        <p:tgtEl>
                                          <p:spTgt spid="13"/>
                                        </p:tgtEl>
                                      </p:cBhvr>
                                    </p:animEffect>
                                    <p:anim calcmode="lin" valueType="num">
                                      <p:cBhvr>
                                        <p:cTn id="53" dur="450" fill="hold"/>
                                        <p:tgtEl>
                                          <p:spTgt spid="13"/>
                                        </p:tgtEl>
                                        <p:attrNameLst>
                                          <p:attrName>ppt_x</p:attrName>
                                        </p:attrNameLst>
                                      </p:cBhvr>
                                      <p:tavLst>
                                        <p:tav tm="0">
                                          <p:val>
                                            <p:strVal val="#ppt_x"/>
                                          </p:val>
                                        </p:tav>
                                        <p:tav tm="100000">
                                          <p:val>
                                            <p:strVal val="#ppt_x"/>
                                          </p:val>
                                        </p:tav>
                                      </p:tavLst>
                                    </p:anim>
                                    <p:anim calcmode="lin" valueType="num">
                                      <p:cBhvr>
                                        <p:cTn id="54" dur="450" fill="hold"/>
                                        <p:tgtEl>
                                          <p:spTgt spid="13"/>
                                        </p:tgtEl>
                                        <p:attrNameLst>
                                          <p:attrName>ppt_y</p:attrName>
                                        </p:attrNameLst>
                                      </p:cBhvr>
                                      <p:tavLst>
                                        <p:tav tm="0">
                                          <p:val>
                                            <p:strVal val="#ppt_y+0.03"/>
                                          </p:val>
                                        </p:tav>
                                        <p:tav tm="100000">
                                          <p:val>
                                            <p:strVal val="#ppt_y"/>
                                          </p:val>
                                        </p:tav>
                                      </p:tavLst>
                                    </p:anim>
                                  </p:childTnLst>
                                </p:cTn>
                              </p:par>
                              <p:par>
                                <p:cTn id="55" presetID="42" presetClass="entr" presetSubtype="0" fill="hold" grpId="0" nodeType="withEffect">
                                  <p:stCondLst>
                                    <p:cond delay="11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50"/>
                                        <p:tgtEl>
                                          <p:spTgt spid="14"/>
                                        </p:tgtEl>
                                      </p:cBhvr>
                                    </p:animEffect>
                                    <p:anim calcmode="lin" valueType="num">
                                      <p:cBhvr>
                                        <p:cTn id="58" dur="450" fill="hold"/>
                                        <p:tgtEl>
                                          <p:spTgt spid="14"/>
                                        </p:tgtEl>
                                        <p:attrNameLst>
                                          <p:attrName>ppt_x</p:attrName>
                                        </p:attrNameLst>
                                      </p:cBhvr>
                                      <p:tavLst>
                                        <p:tav tm="0">
                                          <p:val>
                                            <p:strVal val="#ppt_x"/>
                                          </p:val>
                                        </p:tav>
                                        <p:tav tm="100000">
                                          <p:val>
                                            <p:strVal val="#ppt_x"/>
                                          </p:val>
                                        </p:tav>
                                      </p:tavLst>
                                    </p:anim>
                                    <p:anim calcmode="lin" valueType="num">
                                      <p:cBhvr>
                                        <p:cTn id="59" dur="450" fill="hold"/>
                                        <p:tgtEl>
                                          <p:spTgt spid="14"/>
                                        </p:tgtEl>
                                        <p:attrNameLst>
                                          <p:attrName>ppt_y</p:attrName>
                                        </p:attrNameLst>
                                      </p:cBhvr>
                                      <p:tavLst>
                                        <p:tav tm="0">
                                          <p:val>
                                            <p:strVal val="#ppt_y+0.03"/>
                                          </p:val>
                                        </p:tav>
                                        <p:tav tm="100000">
                                          <p:val>
                                            <p:strVal val="#ppt_y"/>
                                          </p:val>
                                        </p:tav>
                                      </p:tavLst>
                                    </p:anim>
                                  </p:childTnLst>
                                </p:cTn>
                              </p:par>
                              <p:par>
                                <p:cTn id="60" presetID="42" presetClass="entr" presetSubtype="0" fill="hold" grpId="0" nodeType="withEffect">
                                  <p:stCondLst>
                                    <p:cond delay="11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450"/>
                                        <p:tgtEl>
                                          <p:spTgt spid="15"/>
                                        </p:tgtEl>
                                      </p:cBhvr>
                                    </p:animEffect>
                                    <p:anim calcmode="lin" valueType="num">
                                      <p:cBhvr>
                                        <p:cTn id="63" dur="450" fill="hold"/>
                                        <p:tgtEl>
                                          <p:spTgt spid="15"/>
                                        </p:tgtEl>
                                        <p:attrNameLst>
                                          <p:attrName>ppt_x</p:attrName>
                                        </p:attrNameLst>
                                      </p:cBhvr>
                                      <p:tavLst>
                                        <p:tav tm="0">
                                          <p:val>
                                            <p:strVal val="#ppt_x"/>
                                          </p:val>
                                        </p:tav>
                                        <p:tav tm="100000">
                                          <p:val>
                                            <p:strVal val="#ppt_x"/>
                                          </p:val>
                                        </p:tav>
                                      </p:tavLst>
                                    </p:anim>
                                    <p:anim calcmode="lin" valueType="num">
                                      <p:cBhvr>
                                        <p:cTn id="64" dur="45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withEffect">
                                  <p:stCondLst>
                                    <p:cond delay="22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50"/>
                                        <p:tgtEl>
                                          <p:spTgt spid="16"/>
                                        </p:tgtEl>
                                      </p:cBhvr>
                                    </p:animEffect>
                                    <p:anim calcmode="lin" valueType="num">
                                      <p:cBhvr>
                                        <p:cTn id="68" dur="450" fill="hold"/>
                                        <p:tgtEl>
                                          <p:spTgt spid="16"/>
                                        </p:tgtEl>
                                        <p:attrNameLst>
                                          <p:attrName>ppt_x</p:attrName>
                                        </p:attrNameLst>
                                      </p:cBhvr>
                                      <p:tavLst>
                                        <p:tav tm="0">
                                          <p:val>
                                            <p:strVal val="#ppt_x"/>
                                          </p:val>
                                        </p:tav>
                                        <p:tav tm="100000">
                                          <p:val>
                                            <p:strVal val="#ppt_x"/>
                                          </p:val>
                                        </p:tav>
                                      </p:tavLst>
                                    </p:anim>
                                    <p:anim calcmode="lin" valueType="num">
                                      <p:cBhvr>
                                        <p:cTn id="69" dur="450" fill="hold"/>
                                        <p:tgtEl>
                                          <p:spTgt spid="1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APPENDIX</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401과 403</a:t>
            </a:r>
            <a:endParaRPr lang="en-US" sz="3200" dirty="0"/>
          </a:p>
        </p:txBody>
      </p:sp>
      <p:sp>
        <p:nvSpPr>
          <p:cNvPr id="4" name="b0-0"/>
          <p:cNvSpPr/>
          <p:nvPr/>
        </p:nvSpPr>
        <p:spPr>
          <a:xfrm>
            <a:off x="649224" y="2285746"/>
            <a:ext cx="10890504" cy="594868"/>
          </a:xfrm>
          <a:prstGeom prst="roundRect">
            <a:avLst>
              <a:gd name="adj" fmla="val 18446"/>
            </a:avLst>
          </a:prstGeom>
          <a:solidFill>
            <a:schemeClr val="bg2"/>
          </a:solidFill>
          <a:ln/>
        </p:spPr>
      </p:sp>
      <p:sp>
        <p:nvSpPr>
          <p:cNvPr id="5" name="b0-1"/>
          <p:cNvSpPr txBox="1"/>
          <p:nvPr/>
        </p:nvSpPr>
        <p:spPr>
          <a:xfrm>
            <a:off x="877824" y="2285746"/>
            <a:ext cx="10433304" cy="594868"/>
          </a:xfrm>
          <a:prstGeom prst="rect">
            <a:avLst/>
          </a:prstGeom>
          <a:noFill/>
          <a:ln/>
        </p:spPr>
        <p:txBody>
          <a:bodyPr wrap="square" lIns="0" tIns="0" rIns="0" bIns="0" rtlCol="0" anchor="ctr"/>
          <a:lstStyle/>
          <a:p>
            <a:pPr algn="l" indent="0" marL="0">
              <a:lnSpc>
                <a:spcPct val="100000"/>
              </a:lnSpc>
              <a:buNone/>
            </a:pPr>
            <a:r>
              <a:rPr lang="en-US" sz="1700" dirty="0">
                <a:solidFill>
                  <a:schemeClr val="tx1"/>
                </a:solidFill>
                <a:latin typeface="JetBrains Mono" pitchFamily="34" charset="0"/>
                <a:ea typeface="JetBrains Mono" pitchFamily="34" charset="-122"/>
                <a:cs typeface="JetBrains Mono" pitchFamily="34" charset="-120"/>
              </a:rPr>
              <a:t>DELETE /api/v1/posts/42   (글 삭제 요청)</a:t>
            </a:r>
            <a:endParaRPr lang="en-US" sz="1700" dirty="0"/>
          </a:p>
        </p:txBody>
      </p:sp>
      <p:graphicFrame>
        <p:nvGraphicFramePr>
          <p:cNvPr id="6" name="b1-0"/>
          <p:cNvGraphicFramePr>
            <a:graphicFrameLocks noGrp="1"/>
          </p:cNvGraphicFramePr>
          <p:nvPr>
            <p:extLst>
              <p:ext uri="{D42A27DB-BD31-4B8C-83A1-F6EECF244321}">
                <p14:modId xmlns:p14="http://schemas.microsoft.com/office/powerpoint/2010/main" val="1579011935"/>
              </p:ext>
            </p:extLst>
          </p:nvPr>
        </p:nvGraphicFramePr>
        <p:xfrm>
          <a:off x="649224" y="3109214"/>
          <a:ext cx="10890504" cy="914400"/>
        </p:xfrm>
        <a:graphic>
          <a:graphicData uri="http://schemas.openxmlformats.org/drawingml/2006/table">
            <a:tbl>
              <a:tblPr/>
              <a:tblGrid>
                <a:gridCol w="2745505"/>
                <a:gridCol w="3843707"/>
                <a:gridCol w="4301291"/>
              </a:tblGrid>
              <a:tr h="566928">
                <a:tc>
                  <a:txBody>
                    <a:bodyPr/>
                    <a:lstStyle/>
                    <a:p>
                      <a:pPr indent="0" marL="0">
                        <a:buNone/>
                      </a:pPr>
                      <a:r>
                        <a:rPr lang="en-US" sz="1400" dirty="0">
                          <a:solidFill>
                            <a:schemeClr val="accent3"/>
                          </a:solidFill>
                        </a:rPr>
                        <a:t>단계</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확인하는 것</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400" dirty="0">
                          <a:solidFill>
                            <a:schemeClr val="accent3"/>
                          </a:solidFill>
                        </a:rPr>
                        <a:t>실패하면</a:t>
                      </a:r>
                      <a:endParaRPr lang="en-US" sz="14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566928">
                <a:tc>
                  <a:txBody>
                    <a:bodyPr/>
                    <a:lstStyle/>
                    <a:p>
                      <a:pPr indent="0" marL="0">
                        <a:buNone/>
                      </a:pPr>
                      <a:r>
                        <a:rPr lang="en-US" sz="1700" dirty="0">
                          <a:solidFill>
                            <a:schemeClr val="tx1"/>
                          </a:solidFill>
                        </a:rPr>
                        <a:t>① 인증 (Authentication)</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로그인했나? (JWT · 세션)</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accent6"/>
                          </a:solidFill>
                        </a:rPr>
                        <a:t>401 Unauthorized: 누구인지 모름</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66928">
                <a:tc>
                  <a:txBody>
                    <a:bodyPr/>
                    <a:lstStyle/>
                    <a:p>
                      <a:pPr indent="0" marL="0">
                        <a:buNone/>
                      </a:pPr>
                      <a:r>
                        <a:rPr lang="en-US" sz="1700" dirty="0">
                          <a:solidFill>
                            <a:schemeClr val="tx1"/>
                          </a:solidFill>
                        </a:rPr>
                        <a:t>② 인가 (Authorization)</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tx1"/>
                          </a:solidFill>
                        </a:rPr>
                        <a:t>지울 권한이 있나? (글쓴이 · 관리자)</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accent6"/>
                          </a:solidFill>
                        </a:rPr>
                        <a:t>403 Forbidden: 알지만 권한 없음</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566928">
                <a:tc>
                  <a:txBody>
                    <a:bodyPr/>
                    <a:lstStyle/>
                    <a:p>
                      <a:pPr indent="0" marL="0">
                        <a:buNone/>
                      </a:pPr>
                      <a:r>
                        <a:rPr lang="en-US" sz="1700" dirty="0">
                          <a:solidFill>
                            <a:schemeClr val="tx1"/>
                          </a:solidFill>
                        </a:rPr>
                        <a:t>둘 다 통과</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700" dirty="0">
                          <a:solidFill>
                            <a:schemeClr val="accent6"/>
                          </a:solidFill>
                        </a:rPr>
                        <a:t>204 No Content: 42번 글 삭제 완료</a:t>
                      </a:r>
                      <a:endParaRPr lang="en-US" sz="17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7"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6" grpId="0">
        <p:bldAsOne/>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APPENDIX</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오프셋과 커서</a:t>
            </a:r>
            <a:endParaRPr lang="en-US" sz="3200" dirty="0"/>
          </a:p>
        </p:txBody>
      </p:sp>
      <p:sp>
        <p:nvSpPr>
          <p:cNvPr id="4" name="b0c0-0"/>
          <p:cNvSpPr/>
          <p:nvPr/>
        </p:nvSpPr>
        <p:spPr>
          <a:xfrm>
            <a:off x="649224" y="2242566"/>
            <a:ext cx="5330952" cy="2651760"/>
          </a:xfrm>
          <a:prstGeom prst="roundRect">
            <a:avLst>
              <a:gd name="adj" fmla="val 4138"/>
            </a:avLst>
          </a:prstGeom>
          <a:solidFill>
            <a:schemeClr val="bg2"/>
          </a:solidFill>
          <a:ln/>
        </p:spPr>
      </p:sp>
      <p:sp>
        <p:nvSpPr>
          <p:cNvPr id="5" name="b0c0-1"/>
          <p:cNvSpPr txBox="1"/>
          <p:nvPr/>
        </p:nvSpPr>
        <p:spPr>
          <a:xfrm>
            <a:off x="923544" y="2471166"/>
            <a:ext cx="4782312" cy="2286000"/>
          </a:xfrm>
          <a:prstGeom prst="rect">
            <a:avLst/>
          </a:prstGeom>
          <a:noFill/>
          <a:ln/>
        </p:spPr>
        <p:txBody>
          <a:bodyPr wrap="square" lIns="0" tIns="0" rIns="0" bIns="0" rtlCol="0" anchor="t"/>
          <a:lstStyle/>
          <a:p>
            <a:pPr algn="l" indent="0" marL="0">
              <a:lnSpc>
                <a:spcPct val="115000"/>
              </a:lnSpc>
              <a:spcAft>
                <a:spcPts val="500"/>
              </a:spcAft>
              <a:buNone/>
            </a:pPr>
            <a:r>
              <a:rPr lang="en-US" sz="1500" dirty="0">
                <a:solidFill>
                  <a:schemeClr val="accent3"/>
                </a:solidFill>
              </a:rPr>
              <a:t>오프셋 (쪽 번호)</a:t>
            </a:r>
            <a:endParaRPr lang="en-US" sz="1500" dirty="0"/>
          </a:p>
          <a:p>
            <a:pPr algn="l" indent="0" marL="0">
              <a:lnSpc>
                <a:spcPct val="115000"/>
              </a:lnSpc>
              <a:spcAft>
                <a:spcPts val="500"/>
              </a:spcAft>
              <a:buNone/>
            </a:pPr>
            <a:r>
              <a:rPr lang="en-US" sz="1500" dirty="0">
                <a:solidFill>
                  <a:schemeClr val="tx1"/>
                </a:solidFill>
                <a:latin typeface="JetBrains Mono" pitchFamily="34" charset="0"/>
                <a:ea typeface="JetBrains Mono" pitchFamily="34" charset="-122"/>
                <a:cs typeface="JetBrains Mono" pitchFamily="34" charset="-120"/>
              </a:rPr>
              <a:t>GET /posts?page=2&amp;size=20</a:t>
            </a:r>
            <a:endParaRPr lang="en-US" sz="1500" dirty="0"/>
          </a:p>
          <a:p>
            <a:pPr algn="l" indent="0" marL="0">
              <a:lnSpc>
                <a:spcPct val="115000"/>
              </a:lnSpc>
              <a:spcAft>
                <a:spcPts val="500"/>
              </a:spcAft>
              <a:buNone/>
            </a:pPr>
            <a:r>
              <a:rPr lang="en-US" sz="1500" dirty="0">
                <a:solidFill>
                  <a:srgbClr val="3D3D3A"/>
                </a:solidFill>
              </a:rPr>
              <a:t>앞의 40개를 세면서 건너뛰고 41~60번째를 가져온다</a:t>
            </a:r>
            <a:endParaRPr lang="en-US" sz="1500" dirty="0"/>
          </a:p>
          <a:p>
            <a:pPr algn="l" indent="0" marL="0">
              <a:lnSpc>
                <a:spcPct val="115000"/>
              </a:lnSpc>
              <a:spcAft>
                <a:spcPts val="500"/>
              </a:spcAft>
              <a:buNone/>
            </a:pPr>
            <a:r>
              <a:rPr lang="en-US" sz="1500" dirty="0">
                <a:solidFill>
                  <a:srgbClr val="3D3D3A"/>
                </a:solidFill>
              </a:rPr>
              <a:t>장점: 원하는 쪽으로 바로 이동 (게시판)</a:t>
            </a:r>
            <a:endParaRPr lang="en-US" sz="1500" dirty="0"/>
          </a:p>
          <a:p>
            <a:pPr algn="l" indent="0" marL="0">
              <a:lnSpc>
                <a:spcPct val="115000"/>
              </a:lnSpc>
              <a:spcAft>
                <a:spcPts val="500"/>
              </a:spcAft>
              <a:buNone/>
            </a:pPr>
            <a:r>
              <a:rPr lang="en-US" sz="1500" dirty="0">
                <a:solidFill>
                  <a:srgbClr val="3D3D3A"/>
                </a:solidFill>
              </a:rPr>
              <a:t>단점: 뒤쪽일수록 느리고, 새 글이 오면 겹칠 수 있다</a:t>
            </a:r>
            <a:endParaRPr lang="en-US" sz="1500" dirty="0"/>
          </a:p>
        </p:txBody>
      </p:sp>
      <p:sp>
        <p:nvSpPr>
          <p:cNvPr id="6" name="b0c1-2"/>
          <p:cNvSpPr/>
          <p:nvPr/>
        </p:nvSpPr>
        <p:spPr>
          <a:xfrm>
            <a:off x="6208776" y="2242566"/>
            <a:ext cx="5330952" cy="2651760"/>
          </a:xfrm>
          <a:prstGeom prst="roundRect">
            <a:avLst>
              <a:gd name="adj" fmla="val 4138"/>
            </a:avLst>
          </a:prstGeom>
          <a:solidFill>
            <a:schemeClr val="bg2"/>
          </a:solidFill>
          <a:ln/>
        </p:spPr>
      </p:sp>
      <p:sp>
        <p:nvSpPr>
          <p:cNvPr id="7" name="b0c1-3"/>
          <p:cNvSpPr txBox="1"/>
          <p:nvPr/>
        </p:nvSpPr>
        <p:spPr>
          <a:xfrm>
            <a:off x="6483096" y="2471166"/>
            <a:ext cx="4782312" cy="2286000"/>
          </a:xfrm>
          <a:prstGeom prst="rect">
            <a:avLst/>
          </a:prstGeom>
          <a:noFill/>
          <a:ln/>
        </p:spPr>
        <p:txBody>
          <a:bodyPr wrap="square" lIns="0" tIns="0" rIns="0" bIns="0" rtlCol="0" anchor="t"/>
          <a:lstStyle/>
          <a:p>
            <a:pPr algn="l" indent="0" marL="0">
              <a:lnSpc>
                <a:spcPct val="115000"/>
              </a:lnSpc>
              <a:spcAft>
                <a:spcPts val="500"/>
              </a:spcAft>
              <a:buNone/>
            </a:pPr>
            <a:r>
              <a:rPr lang="en-US" sz="1500" dirty="0">
                <a:solidFill>
                  <a:schemeClr val="accent3"/>
                </a:solidFill>
              </a:rPr>
              <a:t>커서 (마지막으로 본 위치)</a:t>
            </a:r>
            <a:endParaRPr lang="en-US" sz="1500" dirty="0"/>
          </a:p>
          <a:p>
            <a:pPr algn="l" indent="0" marL="0">
              <a:lnSpc>
                <a:spcPct val="115000"/>
              </a:lnSpc>
              <a:spcAft>
                <a:spcPts val="500"/>
              </a:spcAft>
              <a:buNone/>
            </a:pPr>
            <a:r>
              <a:rPr lang="en-US" sz="1500" dirty="0">
                <a:solidFill>
                  <a:schemeClr val="tx1"/>
                </a:solidFill>
                <a:latin typeface="JetBrains Mono" pitchFamily="34" charset="0"/>
                <a:ea typeface="JetBrains Mono" pitchFamily="34" charset="-122"/>
                <a:cs typeface="JetBrains Mono" pitchFamily="34" charset="-120"/>
              </a:rPr>
              <a:t>GET /posts?cursor=981&amp;size=20</a:t>
            </a:r>
            <a:endParaRPr lang="en-US" sz="1500" dirty="0"/>
          </a:p>
          <a:p>
            <a:pPr algn="l" indent="0" marL="0">
              <a:lnSpc>
                <a:spcPct val="115000"/>
              </a:lnSpc>
              <a:spcAft>
                <a:spcPts val="500"/>
              </a:spcAft>
              <a:buNone/>
            </a:pPr>
            <a:r>
              <a:rPr lang="en-US" sz="1500" dirty="0">
                <a:solidFill>
                  <a:srgbClr val="3D3D3A"/>
                </a:solidFill>
              </a:rPr>
              <a:t>세지 않고 981번 바로 다음부터 20개 (980번 ~ 961번)</a:t>
            </a:r>
            <a:endParaRPr lang="en-US" sz="1500" dirty="0"/>
          </a:p>
          <a:p>
            <a:pPr algn="l" indent="0" marL="0">
              <a:lnSpc>
                <a:spcPct val="115000"/>
              </a:lnSpc>
              <a:spcAft>
                <a:spcPts val="500"/>
              </a:spcAft>
              <a:buNone/>
            </a:pPr>
            <a:r>
              <a:rPr lang="en-US" sz="1500" dirty="0">
                <a:solidFill>
                  <a:srgbClr val="3D3D3A"/>
                </a:solidFill>
              </a:rPr>
              <a:t>장점: 데이터가 많아도 빠르다 (무한 스크롤)</a:t>
            </a:r>
            <a:endParaRPr lang="en-US" sz="1500" dirty="0"/>
          </a:p>
          <a:p>
            <a:pPr algn="l" indent="0" marL="0">
              <a:lnSpc>
                <a:spcPct val="115000"/>
              </a:lnSpc>
              <a:spcAft>
                <a:spcPts val="500"/>
              </a:spcAft>
              <a:buNone/>
            </a:pPr>
            <a:r>
              <a:rPr lang="en-US" sz="1500" dirty="0">
                <a:solidFill>
                  <a:srgbClr val="3D3D3A"/>
                </a:solidFill>
              </a:rPr>
              <a:t>단점: 5쪽으로 바로 가기는 어렵다</a:t>
            </a:r>
            <a:endParaRPr lang="en-US" sz="1500" dirty="0"/>
          </a:p>
        </p:txBody>
      </p:sp>
      <p:sp>
        <p:nvSpPr>
          <p:cNvPr id="8" name="b1-0"/>
          <p:cNvSpPr txBox="1"/>
          <p:nvPr/>
        </p:nvSpPr>
        <p:spPr>
          <a:xfrm>
            <a:off x="649224" y="5122926"/>
            <a:ext cx="10890504" cy="342900"/>
          </a:xfrm>
          <a:prstGeom prst="rect">
            <a:avLst/>
          </a:prstGeom>
          <a:noFill/>
          <a:ln/>
        </p:spPr>
        <p:txBody>
          <a:bodyPr wrap="square" lIns="0" tIns="0" rIns="0" bIns="0" rtlCol="0" anchor="t"/>
          <a:lstStyle/>
          <a:p>
            <a:pPr algn="l" indent="0" marL="0">
              <a:lnSpc>
                <a:spcPct val="115000"/>
              </a:lnSpc>
              <a:spcAft>
                <a:spcPts val="600"/>
              </a:spcAft>
              <a:buNone/>
            </a:pPr>
            <a:r>
              <a:rPr lang="en-US" sz="1800" b="1" dirty="0">
                <a:solidFill>
                  <a:srgbClr val="3D3D3A"/>
                </a:solidFill>
                <a:latin typeface="Pretendard" pitchFamily="34" charset="0"/>
                <a:ea typeface="Pretendard" pitchFamily="34" charset="-122"/>
                <a:cs typeface="Pretendard" pitchFamily="34" charset="-120"/>
              </a:rPr>
              <a:t>안전장치  </a:t>
            </a:r>
            <a:pPr algn="l" indent="0" marL="0">
              <a:lnSpc>
                <a:spcPct val="115000"/>
              </a:lnSpc>
              <a:spcAft>
                <a:spcPts val="600"/>
              </a:spcAft>
              <a:buNone/>
            </a:pPr>
            <a:r>
              <a:rPr lang="en-US" sz="1800" dirty="0">
                <a:solidFill>
                  <a:srgbClr val="3D3D3A"/>
                </a:solidFill>
              </a:rPr>
              <a:t>size 최댓값 (예: 100) · 기본 정렬 · 정렬할 수 있는 칸 제한</a:t>
            </a:r>
            <a:endParaRPr lang="en-US" sz="1800" dirty="0"/>
          </a:p>
        </p:txBody>
      </p:sp>
      <p:sp>
        <p:nvSpPr>
          <p:cNvPr id="9"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fill="hold"/>
                                        <p:tgtEl>
                                          <p:spTgt spid="7"/>
                                        </p:tgtEl>
                                        <p:attrNameLst>
                                          <p:attrName>ppt_x</p:attrName>
                                        </p:attrNameLst>
                                      </p:cBhvr>
                                      <p:tavLst>
                                        <p:tav tm="0">
                                          <p:val>
                                            <p:strVal val="#ppt_x"/>
                                          </p:val>
                                        </p:tav>
                                        <p:tav tm="100000">
                                          <p:val>
                                            <p:strVal val="#ppt_x"/>
                                          </p:val>
                                        </p:tav>
                                      </p:tavLst>
                                    </p:anim>
                                    <p:anim calcmode="lin" valueType="num">
                                      <p:cBhvr>
                                        <p:cTn id="24" dur="450" fill="hold"/>
                                        <p:tgtEl>
                                          <p:spTgt spid="7"/>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11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anim calcmode="lin" valueType="num">
                                      <p:cBhvr>
                                        <p:cTn id="28" dur="450" fill="hold"/>
                                        <p:tgtEl>
                                          <p:spTgt spid="8"/>
                                        </p:tgtEl>
                                        <p:attrNameLst>
                                          <p:attrName>ppt_x</p:attrName>
                                        </p:attrNameLst>
                                      </p:cBhvr>
                                      <p:tavLst>
                                        <p:tav tm="0">
                                          <p:val>
                                            <p:strVal val="#ppt_x"/>
                                          </p:val>
                                        </p:tav>
                                        <p:tav tm="100000">
                                          <p:val>
                                            <p:strVal val="#ppt_x"/>
                                          </p:val>
                                        </p:tav>
                                      </p:tavLst>
                                    </p:anim>
                                    <p:anim calcmode="lin" valueType="num">
                                      <p:cBhvr>
                                        <p:cTn id="29" dur="450" fill="hold"/>
                                        <p:tgtEl>
                                          <p:spTgt spid="8"/>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APPENDIX</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글결이 쓰는 상태 코드</a:t>
            </a:r>
            <a:endParaRPr lang="en-US" sz="3200" dirty="0"/>
          </a:p>
        </p:txBody>
      </p:sp>
      <p:sp>
        <p:nvSpPr>
          <p:cNvPr id="4" name="badge"/>
          <p:cNvSpPr/>
          <p:nvPr/>
        </p:nvSpPr>
        <p:spPr>
          <a:xfrm>
            <a:off x="9848088" y="384048"/>
            <a:ext cx="1691640" cy="310896"/>
          </a:xfrm>
          <a:prstGeom prst="roundRect">
            <a:avLst>
              <a:gd name="adj" fmla="val 50000"/>
            </a:avLst>
          </a:prstGeom>
          <a:solidFill>
            <a:srgbClr val="E8E0D2"/>
          </a:solidFill>
          <a:ln/>
        </p:spPr>
      </p:sp>
      <p:sp>
        <p:nvSpPr>
          <p:cNvPr id="5" name="badge-text"/>
          <p:cNvSpPr txBox="1"/>
          <p:nvPr/>
        </p:nvSpPr>
        <p:spPr>
          <a:xfrm>
            <a:off x="9848088" y="384048"/>
            <a:ext cx="1691640" cy="310896"/>
          </a:xfrm>
          <a:prstGeom prst="rect">
            <a:avLst/>
          </a:prstGeom>
          <a:noFill/>
          <a:ln/>
        </p:spPr>
        <p:txBody>
          <a:bodyPr wrap="square" lIns="0" tIns="0" rIns="0" bIns="0" rtlCol="0" anchor="ctr"/>
          <a:lstStyle/>
          <a:p>
            <a:pPr algn="ctr" indent="0" marL="0">
              <a:buNone/>
            </a:pPr>
            <a:r>
              <a:rPr lang="en-US" sz="1200" dirty="0">
                <a:solidFill>
                  <a:schemeClr val="accent3"/>
                </a:solidFill>
              </a:rPr>
              <a:t>글결 · 재구성 화면</a:t>
            </a:r>
            <a:endParaRPr lang="en-US" sz="1200" dirty="0"/>
          </a:p>
        </p:txBody>
      </p:sp>
      <p:pic>
        <p:nvPicPr>
          <p:cNvPr id="6" name="b0-0" descr="/tmp/ccp-1581-ia6jl02g0q.png">    </p:cNvPr>
          <p:cNvPicPr>
            <a:picLocks noChangeAspect="1"/>
          </p:cNvPicPr>
          <p:nvPr/>
        </p:nvPicPr>
        <p:blipFill>
          <a:blip r:embed="rId1"/>
          <a:stretch>
            <a:fillRect/>
          </a:stretch>
        </p:blipFill>
        <p:spPr>
          <a:xfrm>
            <a:off x="649224" y="1581912"/>
            <a:ext cx="10890504" cy="4534006"/>
          </a:xfrm>
          <a:prstGeom prst="rect">
            <a:avLst/>
          </a:prstGeom>
        </p:spPr>
      </p:pic>
      <p:sp>
        <p:nvSpPr>
          <p:cNvPr id="7" name="b0-1"/>
          <p:cNvSpPr/>
          <p:nvPr/>
        </p:nvSpPr>
        <p:spPr>
          <a:xfrm>
            <a:off x="649224" y="1581912"/>
            <a:ext cx="10890504" cy="4534006"/>
          </a:xfrm>
          <a:prstGeom prst="rect">
            <a:avLst/>
          </a:prstGeom>
          <a:ln w="9525">
            <a:solidFill>
              <a:srgbClr val="E6DFD8"/>
            </a:solidFill>
            <a:prstDash val="solid"/>
          </a:ln>
        </p:spPr>
      </p:sp>
      <p:sp>
        <p:nvSpPr>
          <p:cNvPr id="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anim calcmode="lin" valueType="num">
                                      <p:cBhvr>
                                        <p:cTn id="8" dur="450" fill="hold"/>
                                        <p:tgtEl>
                                          <p:spTgt spid="6"/>
                                        </p:tgtEl>
                                        <p:attrNameLst>
                                          <p:attrName>ppt_x</p:attrName>
                                        </p:attrNameLst>
                                      </p:cBhvr>
                                      <p:tavLst>
                                        <p:tav tm="0">
                                          <p:val>
                                            <p:strVal val="#ppt_x"/>
                                          </p:val>
                                        </p:tav>
                                        <p:tav tm="100000">
                                          <p:val>
                                            <p:strVal val="#ppt_x"/>
                                          </p:val>
                                        </p:tav>
                                      </p:tavLst>
                                    </p:anim>
                                    <p:anim calcmode="lin" valueType="num">
                                      <p:cBhvr>
                                        <p:cTn id="9" dur="450" fill="hold"/>
                                        <p:tgtEl>
                                          <p:spTgt spid="6"/>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p:cTn id="13" dur="450" fill="hold"/>
                                        <p:tgtEl>
                                          <p:spTgt spid="7"/>
                                        </p:tgtEl>
                                        <p:attrNameLst>
                                          <p:attrName>ppt_x</p:attrName>
                                        </p:attrNameLst>
                                      </p:cBhvr>
                                      <p:tavLst>
                                        <p:tav tm="0">
                                          <p:val>
                                            <p:strVal val="#ppt_x"/>
                                          </p:val>
                                        </p:tav>
                                        <p:tav tm="100000">
                                          <p:val>
                                            <p:strVal val="#ppt_x"/>
                                          </p:val>
                                        </p:tav>
                                      </p:tavLst>
                                    </p:anim>
                                    <p:anim calcmode="lin" valueType="num">
                                      <p:cBhvr>
                                        <p:cTn id="14" dur="450" fill="hold"/>
                                        <p:tgtEl>
                                          <p:spTgt spid="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APPENDIX</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REST Docs에 API 하나가 적힌 모양</a:t>
            </a:r>
            <a:endParaRPr lang="en-US" sz="3200" dirty="0"/>
          </a:p>
        </p:txBody>
      </p:sp>
      <p:sp>
        <p:nvSpPr>
          <p:cNvPr id="4" name="badge"/>
          <p:cNvSpPr/>
          <p:nvPr/>
        </p:nvSpPr>
        <p:spPr>
          <a:xfrm>
            <a:off x="9848088" y="384048"/>
            <a:ext cx="1691640" cy="310896"/>
          </a:xfrm>
          <a:prstGeom prst="roundRect">
            <a:avLst>
              <a:gd name="adj" fmla="val 50000"/>
            </a:avLst>
          </a:prstGeom>
          <a:solidFill>
            <a:srgbClr val="E8E0D2"/>
          </a:solidFill>
          <a:ln/>
        </p:spPr>
      </p:sp>
      <p:sp>
        <p:nvSpPr>
          <p:cNvPr id="5" name="badge-text"/>
          <p:cNvSpPr txBox="1"/>
          <p:nvPr/>
        </p:nvSpPr>
        <p:spPr>
          <a:xfrm>
            <a:off x="9848088" y="384048"/>
            <a:ext cx="1691640" cy="310896"/>
          </a:xfrm>
          <a:prstGeom prst="rect">
            <a:avLst/>
          </a:prstGeom>
          <a:noFill/>
          <a:ln/>
        </p:spPr>
        <p:txBody>
          <a:bodyPr wrap="square" lIns="0" tIns="0" rIns="0" bIns="0" rtlCol="0" anchor="ctr"/>
          <a:lstStyle/>
          <a:p>
            <a:pPr algn="ctr" indent="0" marL="0">
              <a:buNone/>
            </a:pPr>
            <a:r>
              <a:rPr lang="en-US" sz="1200" dirty="0">
                <a:solidFill>
                  <a:schemeClr val="accent3"/>
                </a:solidFill>
              </a:rPr>
              <a:t>글결 · 재구성 화면</a:t>
            </a:r>
            <a:endParaRPr lang="en-US" sz="1200" dirty="0"/>
          </a:p>
        </p:txBody>
      </p:sp>
      <p:pic>
        <p:nvPicPr>
          <p:cNvPr id="6" name="b0-0" descr="/tmp/ccp-1581-dwd19hfyxfl.png">    </p:cNvPr>
          <p:cNvPicPr>
            <a:picLocks noChangeAspect="1"/>
          </p:cNvPicPr>
          <p:nvPr/>
        </p:nvPicPr>
        <p:blipFill>
          <a:blip r:embed="rId1"/>
          <a:stretch>
            <a:fillRect/>
          </a:stretch>
        </p:blipFill>
        <p:spPr>
          <a:xfrm>
            <a:off x="649224" y="1581912"/>
            <a:ext cx="3477768" cy="3019780"/>
          </a:xfrm>
          <a:prstGeom prst="rect">
            <a:avLst/>
          </a:prstGeom>
        </p:spPr>
      </p:pic>
      <p:sp>
        <p:nvSpPr>
          <p:cNvPr id="7" name="b0-1"/>
          <p:cNvSpPr/>
          <p:nvPr/>
        </p:nvSpPr>
        <p:spPr>
          <a:xfrm>
            <a:off x="649224" y="1581912"/>
            <a:ext cx="3477768" cy="3019780"/>
          </a:xfrm>
          <a:prstGeom prst="rect">
            <a:avLst/>
          </a:prstGeom>
          <a:ln w="9525">
            <a:solidFill>
              <a:srgbClr val="E6DFD8"/>
            </a:solidFill>
            <a:prstDash val="solid"/>
          </a:ln>
        </p:spPr>
      </p:sp>
      <p:pic>
        <p:nvPicPr>
          <p:cNvPr id="8" name="b0-2" descr="/tmp/ccp-1581-xzvll8xtq6r.png">    </p:cNvPr>
          <p:cNvPicPr>
            <a:picLocks noChangeAspect="1"/>
          </p:cNvPicPr>
          <p:nvPr/>
        </p:nvPicPr>
        <p:blipFill>
          <a:blip r:embed="rId2"/>
          <a:stretch>
            <a:fillRect/>
          </a:stretch>
        </p:blipFill>
        <p:spPr>
          <a:xfrm>
            <a:off x="4355592" y="1581912"/>
            <a:ext cx="3477768" cy="2850790"/>
          </a:xfrm>
          <a:prstGeom prst="rect">
            <a:avLst/>
          </a:prstGeom>
        </p:spPr>
      </p:pic>
      <p:sp>
        <p:nvSpPr>
          <p:cNvPr id="9" name="b0-3"/>
          <p:cNvSpPr/>
          <p:nvPr/>
        </p:nvSpPr>
        <p:spPr>
          <a:xfrm>
            <a:off x="4355592" y="1581912"/>
            <a:ext cx="3477768" cy="2850790"/>
          </a:xfrm>
          <a:prstGeom prst="rect">
            <a:avLst/>
          </a:prstGeom>
          <a:ln w="9525">
            <a:solidFill>
              <a:srgbClr val="E6DFD8"/>
            </a:solidFill>
            <a:prstDash val="solid"/>
          </a:ln>
        </p:spPr>
      </p:sp>
      <p:pic>
        <p:nvPicPr>
          <p:cNvPr id="10" name="b0-4" descr="/tmp/ccp-1581-u6kmq920pi.png">    </p:cNvPr>
          <p:cNvPicPr>
            <a:picLocks noChangeAspect="1"/>
          </p:cNvPicPr>
          <p:nvPr/>
        </p:nvPicPr>
        <p:blipFill>
          <a:blip r:embed="rId3"/>
          <a:stretch>
            <a:fillRect/>
          </a:stretch>
        </p:blipFill>
        <p:spPr>
          <a:xfrm>
            <a:off x="8061960" y="1581912"/>
            <a:ext cx="3477768" cy="2515259"/>
          </a:xfrm>
          <a:prstGeom prst="rect">
            <a:avLst/>
          </a:prstGeom>
        </p:spPr>
      </p:pic>
      <p:sp>
        <p:nvSpPr>
          <p:cNvPr id="11" name="b0-5"/>
          <p:cNvSpPr/>
          <p:nvPr/>
        </p:nvSpPr>
        <p:spPr>
          <a:xfrm>
            <a:off x="8061960" y="1581912"/>
            <a:ext cx="3477768" cy="2515259"/>
          </a:xfrm>
          <a:prstGeom prst="rect">
            <a:avLst/>
          </a:prstGeom>
          <a:ln w="9525">
            <a:solidFill>
              <a:srgbClr val="E6DFD8"/>
            </a:solidFill>
            <a:prstDash val="solid"/>
          </a:ln>
        </p:spPr>
      </p:sp>
      <p:sp>
        <p:nvSpPr>
          <p:cNvPr id="12"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anim calcmode="lin" valueType="num">
                                      <p:cBhvr>
                                        <p:cTn id="8" dur="450" fill="hold"/>
                                        <p:tgtEl>
                                          <p:spTgt spid="6"/>
                                        </p:tgtEl>
                                        <p:attrNameLst>
                                          <p:attrName>ppt_x</p:attrName>
                                        </p:attrNameLst>
                                      </p:cBhvr>
                                      <p:tavLst>
                                        <p:tav tm="0">
                                          <p:val>
                                            <p:strVal val="#ppt_x"/>
                                          </p:val>
                                        </p:tav>
                                        <p:tav tm="100000">
                                          <p:val>
                                            <p:strVal val="#ppt_x"/>
                                          </p:val>
                                        </p:tav>
                                      </p:tavLst>
                                    </p:anim>
                                    <p:anim calcmode="lin" valueType="num">
                                      <p:cBhvr>
                                        <p:cTn id="9" dur="450" fill="hold"/>
                                        <p:tgtEl>
                                          <p:spTgt spid="6"/>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p:cTn id="13" dur="450" fill="hold"/>
                                        <p:tgtEl>
                                          <p:spTgt spid="7"/>
                                        </p:tgtEl>
                                        <p:attrNameLst>
                                          <p:attrName>ppt_x</p:attrName>
                                        </p:attrNameLst>
                                      </p:cBhvr>
                                      <p:tavLst>
                                        <p:tav tm="0">
                                          <p:val>
                                            <p:strVal val="#ppt_x"/>
                                          </p:val>
                                        </p:tav>
                                        <p:tav tm="100000">
                                          <p:val>
                                            <p:strVal val="#ppt_x"/>
                                          </p:val>
                                        </p:tav>
                                      </p:tavLst>
                                    </p:anim>
                                    <p:anim calcmode="lin" valueType="num">
                                      <p:cBhvr>
                                        <p:cTn id="14" dur="450" fill="hold"/>
                                        <p:tgtEl>
                                          <p:spTgt spid="7"/>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anim calcmode="lin" valueType="num">
                                      <p:cBhvr>
                                        <p:cTn id="18" dur="450" fill="hold"/>
                                        <p:tgtEl>
                                          <p:spTgt spid="8"/>
                                        </p:tgtEl>
                                        <p:attrNameLst>
                                          <p:attrName>ppt_x</p:attrName>
                                        </p:attrNameLst>
                                      </p:cBhvr>
                                      <p:tavLst>
                                        <p:tav tm="0">
                                          <p:val>
                                            <p:strVal val="#ppt_x"/>
                                          </p:val>
                                        </p:tav>
                                        <p:tav tm="100000">
                                          <p:val>
                                            <p:strVal val="#ppt_x"/>
                                          </p:val>
                                        </p:tav>
                                      </p:tavLst>
                                    </p:anim>
                                    <p:anim calcmode="lin" valueType="num">
                                      <p:cBhvr>
                                        <p:cTn id="19" dur="45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anim calcmode="lin" valueType="num">
                                      <p:cBhvr>
                                        <p:cTn id="23" dur="450" fill="hold"/>
                                        <p:tgtEl>
                                          <p:spTgt spid="9"/>
                                        </p:tgtEl>
                                        <p:attrNameLst>
                                          <p:attrName>ppt_x</p:attrName>
                                        </p:attrNameLst>
                                      </p:cBhvr>
                                      <p:tavLst>
                                        <p:tav tm="0">
                                          <p:val>
                                            <p:strVal val="#ppt_x"/>
                                          </p:val>
                                        </p:tav>
                                        <p:tav tm="100000">
                                          <p:val>
                                            <p:strVal val="#ppt_x"/>
                                          </p:val>
                                        </p:tav>
                                      </p:tavLst>
                                    </p:anim>
                                    <p:anim calcmode="lin" valueType="num">
                                      <p:cBhvr>
                                        <p:cTn id="24" dur="450" fill="hold"/>
                                        <p:tgtEl>
                                          <p:spTgt spid="9"/>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anim calcmode="lin" valueType="num">
                                      <p:cBhvr>
                                        <p:cTn id="28" dur="450" fill="hold"/>
                                        <p:tgtEl>
                                          <p:spTgt spid="10"/>
                                        </p:tgtEl>
                                        <p:attrNameLst>
                                          <p:attrName>ppt_x</p:attrName>
                                        </p:attrNameLst>
                                      </p:cBhvr>
                                      <p:tavLst>
                                        <p:tav tm="0">
                                          <p:val>
                                            <p:strVal val="#ppt_x"/>
                                          </p:val>
                                        </p:tav>
                                        <p:tav tm="100000">
                                          <p:val>
                                            <p:strVal val="#ppt_x"/>
                                          </p:val>
                                        </p:tav>
                                      </p:tavLst>
                                    </p:anim>
                                    <p:anim calcmode="lin" valueType="num">
                                      <p:cBhvr>
                                        <p:cTn id="29" dur="450" fill="hold"/>
                                        <p:tgtEl>
                                          <p:spTgt spid="10"/>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anim calcmode="lin" valueType="num">
                                      <p:cBhvr>
                                        <p:cTn id="33" dur="450" fill="hold"/>
                                        <p:tgtEl>
                                          <p:spTgt spid="11"/>
                                        </p:tgtEl>
                                        <p:attrNameLst>
                                          <p:attrName>ppt_x</p:attrName>
                                        </p:attrNameLst>
                                      </p:cBhvr>
                                      <p:tavLst>
                                        <p:tav tm="0">
                                          <p:val>
                                            <p:strVal val="#ppt_x"/>
                                          </p:val>
                                        </p:tav>
                                        <p:tav tm="100000">
                                          <p:val>
                                            <p:strVal val="#ppt_x"/>
                                          </p:val>
                                        </p:tav>
                                      </p:tavLst>
                                    </p:anim>
                                    <p:anim calcmode="lin" valueType="num">
                                      <p:cBhvr>
                                        <p:cTn id="34" dur="450" fill="hold"/>
                                        <p:tgtEl>
                                          <p:spTgt spid="11"/>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APPENDIX</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단일 서버의 요청 흐름</a:t>
            </a:r>
            <a:endParaRPr lang="en-US" sz="3200" dirty="0"/>
          </a:p>
        </p:txBody>
      </p:sp>
      <p:sp>
        <p:nvSpPr>
          <p:cNvPr id="4" name="b0-0"/>
          <p:cNvSpPr/>
          <p:nvPr/>
        </p:nvSpPr>
        <p:spPr>
          <a:xfrm>
            <a:off x="649224" y="1581912"/>
            <a:ext cx="10890504" cy="594868"/>
          </a:xfrm>
          <a:prstGeom prst="roundRect">
            <a:avLst>
              <a:gd name="adj" fmla="val 18446"/>
            </a:avLst>
          </a:prstGeom>
          <a:solidFill>
            <a:schemeClr val="bg2"/>
          </a:solidFill>
          <a:ln/>
        </p:spPr>
      </p:sp>
      <p:sp>
        <p:nvSpPr>
          <p:cNvPr id="5" name="b0-1"/>
          <p:cNvSpPr txBox="1"/>
          <p:nvPr/>
        </p:nvSpPr>
        <p:spPr>
          <a:xfrm>
            <a:off x="877824" y="1581912"/>
            <a:ext cx="10433304" cy="594868"/>
          </a:xfrm>
          <a:prstGeom prst="rect">
            <a:avLst/>
          </a:prstGeom>
          <a:noFill/>
          <a:ln/>
        </p:spPr>
        <p:txBody>
          <a:bodyPr wrap="square" lIns="0" tIns="0" rIns="0" bIns="0" rtlCol="0" anchor="ctr"/>
          <a:lstStyle/>
          <a:p>
            <a:pPr algn="l" indent="0" marL="0">
              <a:lnSpc>
                <a:spcPct val="100000"/>
              </a:lnSpc>
              <a:buNone/>
            </a:pPr>
            <a:r>
              <a:rPr lang="en-US" sz="1700" dirty="0">
                <a:solidFill>
                  <a:schemeClr val="tx1"/>
                </a:solidFill>
                <a:latin typeface="JetBrains Mono" pitchFamily="34" charset="0"/>
                <a:ea typeface="JetBrains Mono" pitchFamily="34" charset="-122"/>
                <a:cs typeface="JetBrains Mono" pitchFamily="34" charset="-120"/>
              </a:rPr>
              <a:t>POST /api/v1/posts/42/comments   (42번 글에 댓글 작성)</a:t>
            </a:r>
            <a:endParaRPr lang="en-US" sz="1700" dirty="0"/>
          </a:p>
        </p:txBody>
      </p:sp>
      <p:graphicFrame>
        <p:nvGraphicFramePr>
          <p:cNvPr id="6" name="b1-0"/>
          <p:cNvGraphicFramePr>
            <a:graphicFrameLocks noGrp="1"/>
          </p:cNvGraphicFramePr>
          <p:nvPr>
            <p:extLst>
              <p:ext uri="{D42A27DB-BD31-4B8C-83A1-F6EECF244321}">
                <p14:modId xmlns:p14="http://schemas.microsoft.com/office/powerpoint/2010/main" val="1579011935"/>
              </p:ext>
            </p:extLst>
          </p:nvPr>
        </p:nvGraphicFramePr>
        <p:xfrm>
          <a:off x="649224" y="2405380"/>
          <a:ext cx="10890504" cy="914400"/>
        </p:xfrm>
        <a:graphic>
          <a:graphicData uri="http://schemas.openxmlformats.org/drawingml/2006/table">
            <a:tbl>
              <a:tblPr/>
              <a:tblGrid>
                <a:gridCol w="823652"/>
                <a:gridCol w="2745505"/>
                <a:gridCol w="7321347"/>
              </a:tblGrid>
              <a:tr h="475488">
                <a:tc>
                  <a:txBody>
                    <a:bodyPr/>
                    <a:lstStyle/>
                    <a:p>
                      <a:pPr indent="0" marL="0">
                        <a:buNone/>
                      </a:pPr>
                      <a:r>
                        <a:rPr lang="en-US" sz="1300" dirty="0">
                          <a:solidFill>
                            <a:schemeClr val="accent3"/>
                          </a:solidFill>
                        </a:rPr>
                        <a:t>순서</a:t>
                      </a:r>
                      <a:endParaRPr lang="en-US" sz="13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300" dirty="0">
                          <a:solidFill>
                            <a:schemeClr val="accent3"/>
                          </a:solidFill>
                        </a:rPr>
                        <a:t>어디서</a:t>
                      </a:r>
                      <a:endParaRPr lang="en-US" sz="13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300" dirty="0">
                          <a:solidFill>
                            <a:schemeClr val="accent3"/>
                          </a:solidFill>
                        </a:rPr>
                        <a:t>하는 일</a:t>
                      </a:r>
                      <a:endParaRPr lang="en-US" sz="13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475488">
                <a:tc>
                  <a:txBody>
                    <a:bodyPr/>
                    <a:lstStyle/>
                    <a:p>
                      <a:pPr indent="0" marL="0">
                        <a:buNone/>
                      </a:pPr>
                      <a:r>
                        <a:rPr lang="en-US" sz="1600" dirty="0">
                          <a:solidFill>
                            <a:schemeClr val="tx1"/>
                          </a:solidFill>
                        </a:rPr>
                        <a:t>①</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인증 필터</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JWT · 세션 확인, 실패하면 401</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600" dirty="0">
                          <a:solidFill>
                            <a:schemeClr val="tx1"/>
                          </a:solidFill>
                        </a:rPr>
                        <a:t>②</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URL 매핑</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경로와 메서드로 CommentController 선택</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600" dirty="0">
                          <a:solidFill>
                            <a:schemeClr val="tx1"/>
                          </a:solidFill>
                        </a:rPr>
                        <a:t>③</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CommentService</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postService.exists(42): 같은 프로세스 안의 메서드 호출 (네트워크 없음)</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600" dirty="0">
                          <a:solidFill>
                            <a:schemeClr val="tx1"/>
                          </a:solidFill>
                        </a:rPr>
                        <a:t>④</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DB 1개</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comments 테이블에 INSERT</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75488">
                <a:tc>
                  <a:txBody>
                    <a:bodyPr/>
                    <a:lstStyle/>
                    <a:p>
                      <a:pPr indent="0" marL="0">
                        <a:buNone/>
                      </a:pPr>
                      <a:r>
                        <a:rPr lang="en-US" sz="1600" dirty="0">
                          <a:solidFill>
                            <a:schemeClr val="tx1"/>
                          </a:solidFill>
                        </a:rPr>
                        <a:t>⑤</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응답</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600" dirty="0">
                          <a:solidFill>
                            <a:schemeClr val="tx1"/>
                          </a:solidFill>
                        </a:rPr>
                        <a:t>201 Created 또는 4xx · 5xx</a:t>
                      </a:r>
                      <a:endParaRPr lang="en-US" sz="16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7" name="b2-0"/>
          <p:cNvSpPr txBox="1"/>
          <p:nvPr/>
        </p:nvSpPr>
        <p:spPr>
          <a:xfrm>
            <a:off x="649224" y="5532628"/>
            <a:ext cx="10890504" cy="326390"/>
          </a:xfrm>
          <a:prstGeom prst="rect">
            <a:avLst/>
          </a:prstGeom>
          <a:noFill/>
          <a:ln/>
        </p:spPr>
        <p:txBody>
          <a:bodyPr wrap="square" lIns="0" tIns="0" rIns="0" bIns="0" rtlCol="0" anchor="t"/>
          <a:lstStyle/>
          <a:p>
            <a:pPr algn="l" indent="0" marL="0">
              <a:lnSpc>
                <a:spcPct val="115000"/>
              </a:lnSpc>
              <a:spcAft>
                <a:spcPts val="600"/>
              </a:spcAft>
              <a:buNone/>
            </a:pPr>
            <a:r>
              <a:rPr lang="en-US" sz="1700" b="1" dirty="0">
                <a:solidFill>
                  <a:srgbClr val="3D3D3A"/>
                </a:solidFill>
                <a:latin typeface="Pretendard" pitchFamily="34" charset="0"/>
                <a:ea typeface="Pretendard" pitchFamily="34" charset="-122"/>
                <a:cs typeface="Pretendard" pitchFamily="34" charset="-120"/>
              </a:rPr>
              <a:t>장점  </a:t>
            </a:r>
            <a:pPr algn="l" indent="0" marL="0">
              <a:lnSpc>
                <a:spcPct val="115000"/>
              </a:lnSpc>
              <a:spcAft>
                <a:spcPts val="600"/>
              </a:spcAft>
              <a:buNone/>
            </a:pPr>
            <a:r>
              <a:rPr lang="en-US" sz="1700" dirty="0">
                <a:solidFill>
                  <a:srgbClr val="3D3D3A"/>
                </a:solidFill>
              </a:rPr>
              <a:t>구조가 단순하고 내부 호출이 빠르다      </a:t>
            </a:r>
            <a:pPr algn="l" indent="0" marL="0">
              <a:lnSpc>
                <a:spcPct val="115000"/>
              </a:lnSpc>
              <a:spcAft>
                <a:spcPts val="600"/>
              </a:spcAft>
              <a:buNone/>
            </a:pPr>
            <a:r>
              <a:rPr lang="en-US" sz="1700" b="1" dirty="0">
                <a:solidFill>
                  <a:srgbClr val="3D3D3A"/>
                </a:solidFill>
                <a:latin typeface="Pretendard" pitchFamily="34" charset="0"/>
                <a:ea typeface="Pretendard" pitchFamily="34" charset="-122"/>
                <a:cs typeface="Pretendard" pitchFamily="34" charset="-120"/>
              </a:rPr>
              <a:t>단점  </a:t>
            </a:r>
            <a:pPr algn="l" indent="0" marL="0">
              <a:lnSpc>
                <a:spcPct val="115000"/>
              </a:lnSpc>
              <a:spcAft>
                <a:spcPts val="600"/>
              </a:spcAft>
              <a:buNone/>
            </a:pPr>
            <a:r>
              <a:rPr lang="en-US" sz="1700" dirty="0">
                <a:solidFill>
                  <a:srgbClr val="3D3D3A"/>
                </a:solidFill>
              </a:rPr>
              <a:t>일부 기능만 따로 배포하거나 확장하기 어렵다</a:t>
            </a:r>
            <a:endParaRPr lang="en-US" sz="1700" dirty="0"/>
          </a:p>
        </p:txBody>
      </p:sp>
      <p:sp>
        <p:nvSpPr>
          <p:cNvPr id="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2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fill="hold"/>
                                        <p:tgtEl>
                                          <p:spTgt spid="7"/>
                                        </p:tgtEl>
                                        <p:attrNameLst>
                                          <p:attrName>ppt_x</p:attrName>
                                        </p:attrNameLst>
                                      </p:cBhvr>
                                      <p:tavLst>
                                        <p:tav tm="0">
                                          <p:val>
                                            <p:strVal val="#ppt_x"/>
                                          </p:val>
                                        </p:tav>
                                        <p:tav tm="100000">
                                          <p:val>
                                            <p:strVal val="#ppt_x"/>
                                          </p:val>
                                        </p:tav>
                                      </p:tavLst>
                                    </p:anim>
                                    <p:anim calcmode="lin" valueType="num">
                                      <p:cBhvr>
                                        <p:cTn id="24" dur="450" fill="hold"/>
                                        <p:tgtEl>
                                          <p:spTgt spid="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6" grpId="0">
        <p:bldAsOne/>
      </p:bldGraphic>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APPENDIX</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MSA의 요청 흐름</a:t>
            </a:r>
            <a:endParaRPr lang="en-US" sz="3200" dirty="0"/>
          </a:p>
        </p:txBody>
      </p:sp>
      <p:sp>
        <p:nvSpPr>
          <p:cNvPr id="4" name="b0-0"/>
          <p:cNvSpPr/>
          <p:nvPr/>
        </p:nvSpPr>
        <p:spPr>
          <a:xfrm>
            <a:off x="649224" y="1581912"/>
            <a:ext cx="10890504" cy="594868"/>
          </a:xfrm>
          <a:prstGeom prst="roundRect">
            <a:avLst>
              <a:gd name="adj" fmla="val 18446"/>
            </a:avLst>
          </a:prstGeom>
          <a:solidFill>
            <a:schemeClr val="bg2"/>
          </a:solidFill>
          <a:ln/>
        </p:spPr>
      </p:sp>
      <p:sp>
        <p:nvSpPr>
          <p:cNvPr id="5" name="b0-1"/>
          <p:cNvSpPr txBox="1"/>
          <p:nvPr/>
        </p:nvSpPr>
        <p:spPr>
          <a:xfrm>
            <a:off x="877824" y="1581912"/>
            <a:ext cx="10433304" cy="594868"/>
          </a:xfrm>
          <a:prstGeom prst="rect">
            <a:avLst/>
          </a:prstGeom>
          <a:noFill/>
          <a:ln/>
        </p:spPr>
        <p:txBody>
          <a:bodyPr wrap="square" lIns="0" tIns="0" rIns="0" bIns="0" rtlCol="0" anchor="ctr"/>
          <a:lstStyle/>
          <a:p>
            <a:pPr algn="l" indent="0" marL="0">
              <a:lnSpc>
                <a:spcPct val="100000"/>
              </a:lnSpc>
              <a:buNone/>
            </a:pPr>
            <a:r>
              <a:rPr lang="en-US" sz="1700" dirty="0">
                <a:solidFill>
                  <a:schemeClr val="tx1"/>
                </a:solidFill>
                <a:latin typeface="JetBrains Mono" pitchFamily="34" charset="0"/>
                <a:ea typeface="JetBrains Mono" pitchFamily="34" charset="-122"/>
                <a:cs typeface="JetBrains Mono" pitchFamily="34" charset="-120"/>
              </a:rPr>
              <a:t>POST /api/v1/posts/42/comments   (42번 글에 댓글 작성)</a:t>
            </a:r>
            <a:endParaRPr lang="en-US" sz="1700" dirty="0"/>
          </a:p>
        </p:txBody>
      </p:sp>
      <p:graphicFrame>
        <p:nvGraphicFramePr>
          <p:cNvPr id="6" name="b1-0"/>
          <p:cNvGraphicFramePr>
            <a:graphicFrameLocks noGrp="1"/>
          </p:cNvGraphicFramePr>
          <p:nvPr>
            <p:extLst>
              <p:ext uri="{D42A27DB-BD31-4B8C-83A1-F6EECF244321}">
                <p14:modId xmlns:p14="http://schemas.microsoft.com/office/powerpoint/2010/main" val="1579011935"/>
              </p:ext>
            </p:extLst>
          </p:nvPr>
        </p:nvGraphicFramePr>
        <p:xfrm>
          <a:off x="649224" y="2405380"/>
          <a:ext cx="10890504" cy="914400"/>
        </p:xfrm>
        <a:graphic>
          <a:graphicData uri="http://schemas.openxmlformats.org/drawingml/2006/table">
            <a:tbl>
              <a:tblPr/>
              <a:tblGrid>
                <a:gridCol w="823652"/>
                <a:gridCol w="2745505"/>
                <a:gridCol w="7321347"/>
              </a:tblGrid>
              <a:tr h="420624">
                <a:tc>
                  <a:txBody>
                    <a:bodyPr/>
                    <a:lstStyle/>
                    <a:p>
                      <a:pPr indent="0" marL="0">
                        <a:buNone/>
                      </a:pPr>
                      <a:r>
                        <a:rPr lang="en-US" sz="1200" dirty="0">
                          <a:solidFill>
                            <a:schemeClr val="accent3"/>
                          </a:solidFill>
                        </a:rPr>
                        <a:t>순서</a:t>
                      </a:r>
                      <a:endParaRPr lang="en-US" sz="12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200" dirty="0">
                          <a:solidFill>
                            <a:schemeClr val="accent3"/>
                          </a:solidFill>
                        </a:rPr>
                        <a:t>어디서</a:t>
                      </a:r>
                      <a:endParaRPr lang="en-US" sz="12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c>
                  <a:txBody>
                    <a:bodyPr/>
                    <a:lstStyle/>
                    <a:p>
                      <a:pPr indent="0" marL="0">
                        <a:buNone/>
                      </a:pPr>
                      <a:r>
                        <a:rPr lang="en-US" sz="1200" dirty="0">
                          <a:solidFill>
                            <a:schemeClr val="accent3"/>
                          </a:solidFill>
                        </a:rPr>
                        <a:t>하는 일</a:t>
                      </a:r>
                      <a:endParaRPr lang="en-US" sz="1200" dirty="0"/>
                    </a:p>
                  </a:txBody>
                  <a:tcPr marL="0" marR="101600" marT="38100" marB="38100" anchor="ctr">
                    <a:lnL w="0" cap="flat" cmpd="sng" algn="ctr">
                      <a:noFill/>
                    </a:lnL>
                    <a:lnR w="0" cap="flat" cmpd="sng" algn="ctr">
                      <a:noFill/>
                    </a:lnR>
                    <a:lnT w="0" cap="flat" cmpd="sng" algn="ctr">
                      <a:noFill/>
                    </a:lnT>
                    <a:lnB w="12700" cap="flat" cmpd="sng" algn="ctr">
                      <a:solidFill>
                        <a:srgbClr val="6C6A64"/>
                      </a:solidFill>
                      <a:prstDash val="solid"/>
                      <a:round/>
                      <a:headEnd type="none" w="med" len="med"/>
                      <a:tailEnd type="none" w="med" len="med"/>
                    </a:lnB>
                  </a:tcPr>
                </a:tc>
              </a:tr>
              <a:tr h="420624">
                <a:tc>
                  <a:txBody>
                    <a:bodyPr/>
                    <a:lstStyle/>
                    <a:p>
                      <a:pPr indent="0" marL="0">
                        <a:buNone/>
                      </a:pPr>
                      <a:r>
                        <a:rPr lang="en-US" sz="1500" dirty="0">
                          <a:solidFill>
                            <a:schemeClr val="tx1"/>
                          </a:solidFill>
                        </a:rPr>
                        <a:t>①</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API Gateway</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인증: JWT 확인, 실패하면 401</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20624">
                <a:tc>
                  <a:txBody>
                    <a:bodyPr/>
                    <a:lstStyle/>
                    <a:p>
                      <a:pPr indent="0" marL="0">
                        <a:buNone/>
                      </a:pPr>
                      <a:r>
                        <a:rPr lang="en-US" sz="1500" dirty="0">
                          <a:solidFill>
                            <a:schemeClr val="tx1"/>
                          </a:solidFill>
                        </a:rPr>
                        <a:t>②</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API Gateway</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라우팅: /posts/*/comments → comment-service</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20624">
                <a:tc>
                  <a:txBody>
                    <a:bodyPr/>
                    <a:lstStyle/>
                    <a:p>
                      <a:pPr indent="0" marL="0">
                        <a:buNone/>
                      </a:pPr>
                      <a:r>
                        <a:rPr lang="en-US" sz="1500" dirty="0">
                          <a:solidFill>
                            <a:schemeClr val="tx1"/>
                          </a:solidFill>
                        </a:rPr>
                        <a:t>③</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comment-service</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요청을 받는다</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20624">
                <a:tc>
                  <a:txBody>
                    <a:bodyPr/>
                    <a:lstStyle/>
                    <a:p>
                      <a:pPr indent="0" marL="0">
                        <a:buNone/>
                      </a:pPr>
                      <a:r>
                        <a:rPr lang="en-US" sz="1500" dirty="0">
                          <a:solidFill>
                            <a:schemeClr val="tx1"/>
                          </a:solidFill>
                        </a:rPr>
                        <a:t>④</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 post-service</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GET /api/v1/posts/42: 네트워크 HTTP 호출 → 200 또는 404</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20624">
                <a:tc>
                  <a:txBody>
                    <a:bodyPr/>
                    <a:lstStyle/>
                    <a:p>
                      <a:pPr indent="0" marL="0">
                        <a:buNone/>
                      </a:pPr>
                      <a:r>
                        <a:rPr lang="en-US" sz="1500" dirty="0">
                          <a:solidFill>
                            <a:schemeClr val="tx1"/>
                          </a:solidFill>
                        </a:rPr>
                        <a:t>⑤</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comment DB</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INSERT (서비스마다 DB가 따로)</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r h="420624">
                <a:tc>
                  <a:txBody>
                    <a:bodyPr/>
                    <a:lstStyle/>
                    <a:p>
                      <a:pPr indent="0" marL="0">
                        <a:buNone/>
                      </a:pPr>
                      <a:r>
                        <a:rPr lang="en-US" sz="1500" dirty="0">
                          <a:solidFill>
                            <a:schemeClr val="tx1"/>
                          </a:solidFill>
                        </a:rPr>
                        <a:t>⑥</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응답</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c>
                  <a:txBody>
                    <a:bodyPr/>
                    <a:lstStyle/>
                    <a:p>
                      <a:pPr indent="0" marL="0">
                        <a:buNone/>
                      </a:pPr>
                      <a:r>
                        <a:rPr lang="en-US" sz="1500" dirty="0">
                          <a:solidFill>
                            <a:schemeClr val="tx1"/>
                          </a:solidFill>
                        </a:rPr>
                        <a:t>201 Created 또는 4xx · 5xx</a:t>
                      </a:r>
                      <a:endParaRPr lang="en-US" sz="1500" dirty="0"/>
                    </a:p>
                  </a:txBody>
                  <a:tcPr marL="0" marR="101600" marT="38100" marB="38100" anchor="ctr">
                    <a:lnL w="0" cap="flat" cmpd="sng" algn="ctr">
                      <a:noFill/>
                    </a:lnL>
                    <a:lnR w="0" cap="flat" cmpd="sng" algn="ctr">
                      <a:noFill/>
                    </a:lnR>
                    <a:lnT w="0" cap="flat" cmpd="sng" algn="ctr">
                      <a:noFill/>
                    </a:lnT>
                    <a:lnB w="9525" cap="flat" cmpd="sng" algn="ctr">
                      <a:solidFill>
                        <a:srgbClr val="E6DFD8"/>
                      </a:solidFill>
                      <a:prstDash val="solid"/>
                      <a:round/>
                      <a:headEnd type="none" w="med" len="med"/>
                      <a:tailEnd type="none" w="med" len="med"/>
                    </a:lnB>
                  </a:tcPr>
                </a:tc>
              </a:tr>
            </a:tbl>
          </a:graphicData>
        </a:graphic>
      </p:graphicFrame>
      <p:sp>
        <p:nvSpPr>
          <p:cNvPr id="7" name="b2-0"/>
          <p:cNvSpPr txBox="1"/>
          <p:nvPr/>
        </p:nvSpPr>
        <p:spPr>
          <a:xfrm>
            <a:off x="649224" y="5624068"/>
            <a:ext cx="10890504" cy="650240"/>
          </a:xfrm>
          <a:prstGeom prst="rect">
            <a:avLst/>
          </a:prstGeom>
          <a:noFill/>
          <a:ln/>
        </p:spPr>
        <p:txBody>
          <a:bodyPr wrap="square" lIns="0" tIns="0" rIns="0" bIns="0" rtlCol="0" anchor="t"/>
          <a:lstStyle/>
          <a:p>
            <a:pPr algn="l" indent="0" marL="0">
              <a:lnSpc>
                <a:spcPct val="115000"/>
              </a:lnSpc>
              <a:spcAft>
                <a:spcPts val="600"/>
              </a:spcAft>
              <a:buNone/>
            </a:pPr>
            <a:r>
              <a:rPr lang="en-US" sz="1600" b="1" dirty="0">
                <a:solidFill>
                  <a:srgbClr val="3D3D3A"/>
                </a:solidFill>
                <a:latin typeface="Pretendard" pitchFamily="34" charset="0"/>
                <a:ea typeface="Pretendard" pitchFamily="34" charset="-122"/>
                <a:cs typeface="Pretendard" pitchFamily="34" charset="-120"/>
              </a:rPr>
              <a:t>장점  </a:t>
            </a:r>
            <a:pPr algn="l" indent="0" marL="0">
              <a:lnSpc>
                <a:spcPct val="115000"/>
              </a:lnSpc>
              <a:spcAft>
                <a:spcPts val="600"/>
              </a:spcAft>
              <a:buNone/>
            </a:pPr>
            <a:r>
              <a:rPr lang="en-US" sz="1600" dirty="0">
                <a:solidFill>
                  <a:srgbClr val="3D3D3A"/>
                </a:solidFill>
              </a:rPr>
              <a:t>서비스마다 따로 배포 · 확장      </a:t>
            </a:r>
            <a:pPr algn="l" indent="0" marL="0">
              <a:lnSpc>
                <a:spcPct val="115000"/>
              </a:lnSpc>
              <a:spcAft>
                <a:spcPts val="600"/>
              </a:spcAft>
              <a:buNone/>
            </a:pPr>
            <a:r>
              <a:rPr lang="en-US" sz="1600" b="1" dirty="0">
                <a:solidFill>
                  <a:srgbClr val="3D3D3A"/>
                </a:solidFill>
                <a:latin typeface="Pretendard" pitchFamily="34" charset="0"/>
                <a:ea typeface="Pretendard" pitchFamily="34" charset="-122"/>
                <a:cs typeface="Pretendard" pitchFamily="34" charset="-120"/>
              </a:rPr>
              <a:t>단점  </a:t>
            </a:r>
            <a:pPr algn="l" indent="0" marL="0">
              <a:lnSpc>
                <a:spcPct val="115000"/>
              </a:lnSpc>
              <a:spcAft>
                <a:spcPts val="600"/>
              </a:spcAft>
              <a:buNone/>
            </a:pPr>
            <a:r>
              <a:rPr lang="en-US" sz="1600" dirty="0">
                <a:solidFill>
                  <a:srgbClr val="3D3D3A"/>
                </a:solidFill>
              </a:rPr>
              <a:t>서비스 사이가 네트워크 호출이라 지연 · 장애를 처리해야 한다</a:t>
            </a:r>
            <a:endParaRPr lang="en-US" sz="1600" dirty="0"/>
          </a:p>
          <a:p>
            <a:pPr algn="l" indent="0" marL="0">
              <a:lnSpc>
                <a:spcPct val="115000"/>
              </a:lnSpc>
              <a:spcAft>
                <a:spcPts val="600"/>
              </a:spcAft>
              <a:buNone/>
            </a:pPr>
            <a:r>
              <a:rPr lang="en-US" sz="1600" dirty="0">
                <a:solidFill>
                  <a:srgbClr val="3D3D3A"/>
                </a:solidFill>
              </a:rPr>
              <a:t>클라이언트가 보내는 요청(URL · 메서드)은 단일 서버와 똑같다</a:t>
            </a:r>
            <a:endParaRPr lang="en-US" sz="1600" dirty="0"/>
          </a:p>
        </p:txBody>
      </p:sp>
      <p:sp>
        <p:nvSpPr>
          <p:cNvPr id="8"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2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fill="hold"/>
                                        <p:tgtEl>
                                          <p:spTgt spid="7"/>
                                        </p:tgtEl>
                                        <p:attrNameLst>
                                          <p:attrName>ppt_x</p:attrName>
                                        </p:attrNameLst>
                                      </p:cBhvr>
                                      <p:tavLst>
                                        <p:tav tm="0">
                                          <p:val>
                                            <p:strVal val="#ppt_x"/>
                                          </p:val>
                                        </p:tav>
                                        <p:tav tm="100000">
                                          <p:val>
                                            <p:strVal val="#ppt_x"/>
                                          </p:val>
                                        </p:tav>
                                      </p:tavLst>
                                    </p:anim>
                                    <p:anim calcmode="lin" valueType="num">
                                      <p:cBhvr>
                                        <p:cTn id="24" dur="450" fill="hold"/>
                                        <p:tgtEl>
                                          <p:spTgt spid="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6" grpId="0">
        <p:bldAsOne/>
      </p:bldGraphic>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649224" y="384048"/>
            <a:ext cx="8229600" cy="274320"/>
          </a:xfrm>
          <a:prstGeom prst="rect">
            <a:avLst/>
          </a:prstGeom>
          <a:noFill/>
          <a:ln/>
        </p:spPr>
        <p:txBody>
          <a:bodyPr wrap="square" lIns="0" tIns="0" rIns="0" bIns="0" rtlCol="0" anchor="t"/>
          <a:lstStyle/>
          <a:p>
            <a:pPr algn="l" indent="0" marL="0">
              <a:buNone/>
            </a:pPr>
            <a:r>
              <a:rPr lang="en-US" sz="1200" spc="150" kern="0" dirty="0">
                <a:solidFill>
                  <a:schemeClr val="accent3"/>
                </a:solidFill>
              </a:rPr>
              <a:t>APPENDIX</a:t>
            </a:r>
            <a:endParaRPr lang="en-US" sz="1200" dirty="0"/>
          </a:p>
        </p:txBody>
      </p:sp>
      <p:sp>
        <p:nvSpPr>
          <p:cNvPr id="3" name="Text 0"/>
          <p:cNvSpPr/>
          <p:nvPr>
            <p:ph idx="101" type="title" hasCustomPrompt="1"/>
          </p:nvPr>
        </p:nvSpPr>
        <p:spPr>
          <a:xfrm>
            <a:off x="649224" y="676656"/>
            <a:ext cx="10890504" cy="731520"/>
          </a:xfrm>
          <a:prstGeom prst="rect">
            <a:avLst/>
          </a:prstGeom>
          <a:noFill/>
          <a:ln/>
        </p:spPr>
        <p:txBody>
          <a:bodyPr wrap="square" lIns="0" tIns="0" rIns="0" bIns="0" rtlCol="0" anchor="t"/>
          <a:lstStyle/>
          <a:p>
            <a:pPr algn="l" indent="0" marL="0">
              <a:buNone/>
            </a:pPr>
            <a:r>
              <a:rPr lang="en-US" sz="3200" b="1" dirty="0">
                <a:solidFill>
                  <a:schemeClr val="tx1"/>
                </a:solidFill>
              </a:rPr>
              <a:t>MSA에서 에러가 전달되는 흐름</a:t>
            </a:r>
            <a:endParaRPr lang="en-US" sz="3200" dirty="0"/>
          </a:p>
        </p:txBody>
      </p:sp>
      <p:sp>
        <p:nvSpPr>
          <p:cNvPr id="4" name="b0-0"/>
          <p:cNvSpPr/>
          <p:nvPr/>
        </p:nvSpPr>
        <p:spPr>
          <a:xfrm>
            <a:off x="649224" y="1887601"/>
            <a:ext cx="10890504" cy="2287270"/>
          </a:xfrm>
          <a:prstGeom prst="roundRect">
            <a:avLst>
              <a:gd name="adj" fmla="val 4797"/>
            </a:avLst>
          </a:prstGeom>
          <a:solidFill>
            <a:schemeClr val="tx2"/>
          </a:solidFill>
          <a:ln/>
        </p:spPr>
      </p:sp>
      <p:sp>
        <p:nvSpPr>
          <p:cNvPr id="5" name="b0-1"/>
          <p:cNvSpPr/>
          <p:nvPr/>
        </p:nvSpPr>
        <p:spPr>
          <a:xfrm>
            <a:off x="850392" y="2033905"/>
            <a:ext cx="100584" cy="100584"/>
          </a:xfrm>
          <a:prstGeom prst="ellipse">
            <a:avLst/>
          </a:prstGeom>
          <a:solidFill>
            <a:srgbClr val="4A4844"/>
          </a:solidFill>
          <a:ln/>
        </p:spPr>
      </p:sp>
      <p:sp>
        <p:nvSpPr>
          <p:cNvPr id="6" name="b0-2"/>
          <p:cNvSpPr/>
          <p:nvPr/>
        </p:nvSpPr>
        <p:spPr>
          <a:xfrm>
            <a:off x="1024128" y="2033905"/>
            <a:ext cx="100584" cy="100584"/>
          </a:xfrm>
          <a:prstGeom prst="ellipse">
            <a:avLst/>
          </a:prstGeom>
          <a:solidFill>
            <a:srgbClr val="4A4844"/>
          </a:solidFill>
          <a:ln/>
        </p:spPr>
      </p:sp>
      <p:sp>
        <p:nvSpPr>
          <p:cNvPr id="7" name="b0-3"/>
          <p:cNvSpPr/>
          <p:nvPr/>
        </p:nvSpPr>
        <p:spPr>
          <a:xfrm>
            <a:off x="1197864" y="2033905"/>
            <a:ext cx="100584" cy="100584"/>
          </a:xfrm>
          <a:prstGeom prst="ellipse">
            <a:avLst/>
          </a:prstGeom>
          <a:solidFill>
            <a:srgbClr val="4A4844"/>
          </a:solidFill>
          <a:ln/>
        </p:spPr>
      </p:sp>
      <p:sp>
        <p:nvSpPr>
          <p:cNvPr id="8" name="b0-4"/>
          <p:cNvSpPr txBox="1"/>
          <p:nvPr/>
        </p:nvSpPr>
        <p:spPr>
          <a:xfrm>
            <a:off x="1472184" y="1979041"/>
            <a:ext cx="9884664" cy="228600"/>
          </a:xfrm>
          <a:prstGeom prst="rect">
            <a:avLst/>
          </a:prstGeom>
          <a:noFill/>
          <a:ln/>
        </p:spPr>
        <p:txBody>
          <a:bodyPr wrap="square" lIns="0" tIns="0" rIns="0" bIns="0" rtlCol="0" anchor="t"/>
          <a:lstStyle/>
          <a:p>
            <a:pPr algn="l" indent="0" marL="0">
              <a:lnSpc>
                <a:spcPct val="115000"/>
              </a:lnSpc>
              <a:spcAft>
                <a:spcPts val="600"/>
              </a:spcAft>
              <a:buNone/>
            </a:pPr>
            <a:r>
              <a:rPr lang="en-US" sz="1100" dirty="0">
                <a:solidFill>
                  <a:srgbClr val="A09D96"/>
                </a:solidFill>
              </a:rPr>
              <a:t>42번 글이 없을 때</a:t>
            </a:r>
            <a:endParaRPr lang="en-US" sz="1100" dirty="0"/>
          </a:p>
        </p:txBody>
      </p:sp>
      <p:sp>
        <p:nvSpPr>
          <p:cNvPr id="9" name="b0-5"/>
          <p:cNvSpPr txBox="1"/>
          <p:nvPr/>
        </p:nvSpPr>
        <p:spPr>
          <a:xfrm>
            <a:off x="905256" y="2326513"/>
            <a:ext cx="10433304" cy="1738630"/>
          </a:xfrm>
          <a:prstGeom prst="rect">
            <a:avLst/>
          </a:prstGeom>
          <a:noFill/>
          <a:ln/>
        </p:spPr>
        <p:txBody>
          <a:bodyPr wrap="square" lIns="0" tIns="0" rIns="0" bIns="0" rtlCol="0" anchor="t"/>
          <a:lstStyle/>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client          → Gateway          POST /api/v1/posts/42/comments</a:t>
            </a:r>
            <a:endParaRPr lang="en-US" sz="1400" dirty="0"/>
          </a:p>
          <a:p>
            <a:pPr algn="l" indent="0" marL="0">
              <a:lnSpc>
                <a:spcPct val="105000"/>
              </a:lnSpc>
              <a:buNone/>
            </a:pPr>
            <a:r>
              <a:rPr lang="en-US" sz="1400" dirty="0">
                <a:solidFill>
                  <a:srgbClr val="5DB872"/>
                </a:solidFill>
                <a:latin typeface="JetBrains Mono" pitchFamily="34" charset="0"/>
                <a:ea typeface="JetBrains Mono" pitchFamily="34" charset="-122"/>
                <a:cs typeface="JetBrains Mono" pitchFamily="34" charset="-120"/>
              </a:rPr>
              <a:t>Gateway                            JWT 확인 OK</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Gateway         → comment-service  POST /api/v1/posts/42/comments</a:t>
            </a:r>
            <a:endParaRPr lang="en-US" sz="1400" dirty="0"/>
          </a:p>
          <a:p>
            <a:pPr algn="l" indent="0" marL="0">
              <a:lnSpc>
                <a:spcPct val="105000"/>
              </a:lnSpc>
              <a:buNone/>
            </a:pPr>
            <a:r>
              <a:rPr lang="en-US" sz="1400" dirty="0">
                <a:solidFill>
                  <a:srgbClr val="FAF9F5"/>
                </a:solidFill>
                <a:latin typeface="JetBrains Mono" pitchFamily="34" charset="0"/>
                <a:ea typeface="JetBrains Mono" pitchFamily="34" charset="-122"/>
                <a:cs typeface="JetBrains Mono" pitchFamily="34" charset="-120"/>
              </a:rPr>
              <a:t>comment-service → post-service     GET /api/v1/posts/42</a:t>
            </a:r>
            <a:endParaRPr lang="en-US" sz="1400" dirty="0"/>
          </a:p>
          <a:p>
            <a:pPr algn="l" indent="0" marL="0">
              <a:lnSpc>
                <a:spcPct val="105000"/>
              </a:lnSpc>
              <a:buNone/>
            </a:pPr>
            <a:r>
              <a:rPr lang="en-US" sz="1400" dirty="0">
                <a:solidFill>
                  <a:srgbClr val="E5806F"/>
                </a:solidFill>
                <a:latin typeface="JetBrains Mono" pitchFamily="34" charset="0"/>
                <a:ea typeface="JetBrains Mono" pitchFamily="34" charset="-122"/>
                <a:cs typeface="JetBrains Mono" pitchFamily="34" charset="-120"/>
              </a:rPr>
              <a:t>post-service    → comment-service  404 POST_NOT_FOUND</a:t>
            </a:r>
            <a:endParaRPr lang="en-US" sz="1400" dirty="0"/>
          </a:p>
          <a:p>
            <a:pPr algn="l" indent="0" marL="0">
              <a:lnSpc>
                <a:spcPct val="105000"/>
              </a:lnSpc>
              <a:buNone/>
            </a:pPr>
            <a:r>
              <a:rPr lang="en-US" sz="1400" dirty="0">
                <a:solidFill>
                  <a:srgbClr val="E5806F"/>
                </a:solidFill>
                <a:latin typeface="JetBrains Mono" pitchFamily="34" charset="0"/>
                <a:ea typeface="JetBrains Mono" pitchFamily="34" charset="-122"/>
                <a:cs typeface="JetBrains Mono" pitchFamily="34" charset="-120"/>
              </a:rPr>
              <a:t>comment-service → Gateway          404 POST_NOT_FOUND</a:t>
            </a:r>
            <a:endParaRPr lang="en-US" sz="1400" dirty="0"/>
          </a:p>
          <a:p>
            <a:pPr algn="l" indent="0" marL="0">
              <a:lnSpc>
                <a:spcPct val="105000"/>
              </a:lnSpc>
              <a:buNone/>
            </a:pPr>
            <a:r>
              <a:rPr lang="en-US" sz="1400" dirty="0">
                <a:solidFill>
                  <a:srgbClr val="E5806F"/>
                </a:solidFill>
                <a:latin typeface="JetBrains Mono" pitchFamily="34" charset="0"/>
                <a:ea typeface="JetBrains Mono" pitchFamily="34" charset="-122"/>
                <a:cs typeface="JetBrains Mono" pitchFamily="34" charset="-120"/>
              </a:rPr>
              <a:t>Gateway         → client           404 POST_NOT_FOUND</a:t>
            </a:r>
            <a:endParaRPr lang="en-US" sz="1400" dirty="0"/>
          </a:p>
        </p:txBody>
      </p:sp>
      <p:sp>
        <p:nvSpPr>
          <p:cNvPr id="10" name="b1c0-0"/>
          <p:cNvSpPr/>
          <p:nvPr/>
        </p:nvSpPr>
        <p:spPr>
          <a:xfrm>
            <a:off x="649224" y="4403471"/>
            <a:ext cx="5330952" cy="1417320"/>
          </a:xfrm>
          <a:prstGeom prst="roundRect">
            <a:avLst>
              <a:gd name="adj" fmla="val 7742"/>
            </a:avLst>
          </a:prstGeom>
          <a:solidFill>
            <a:schemeClr val="bg2"/>
          </a:solidFill>
          <a:ln/>
        </p:spPr>
      </p:sp>
      <p:sp>
        <p:nvSpPr>
          <p:cNvPr id="11" name="b1c0-1"/>
          <p:cNvSpPr txBox="1"/>
          <p:nvPr/>
        </p:nvSpPr>
        <p:spPr>
          <a:xfrm>
            <a:off x="923544" y="4632071"/>
            <a:ext cx="4782312" cy="1051560"/>
          </a:xfrm>
          <a:prstGeom prst="rect">
            <a:avLst/>
          </a:prstGeom>
          <a:noFill/>
          <a:ln/>
        </p:spPr>
        <p:txBody>
          <a:bodyPr wrap="square" lIns="0" tIns="0" rIns="0" bIns="0" rtlCol="0" anchor="t"/>
          <a:lstStyle/>
          <a:p>
            <a:pPr algn="l" indent="0" marL="0">
              <a:lnSpc>
                <a:spcPct val="115000"/>
              </a:lnSpc>
              <a:spcAft>
                <a:spcPts val="500"/>
              </a:spcAft>
              <a:buNone/>
            </a:pPr>
            <a:r>
              <a:rPr lang="en-US" sz="1500" dirty="0">
                <a:solidFill>
                  <a:schemeClr val="accent3"/>
                </a:solidFill>
              </a:rPr>
              <a:t>에러 형식이 모든 서비스에서 같으면</a:t>
            </a:r>
            <a:endParaRPr lang="en-US" sz="1500" dirty="0"/>
          </a:p>
          <a:p>
            <a:pPr algn="l" indent="0" marL="0">
              <a:lnSpc>
                <a:spcPct val="115000"/>
              </a:lnSpc>
              <a:spcAft>
                <a:spcPts val="500"/>
              </a:spcAft>
              <a:buNone/>
            </a:pPr>
            <a:r>
              <a:rPr lang="en-US" sz="1800" b="1" dirty="0">
                <a:solidFill>
                  <a:schemeClr val="tx1"/>
                </a:solidFill>
                <a:latin typeface="Pretendard" pitchFamily="34" charset="0"/>
                <a:ea typeface="Pretendard" pitchFamily="34" charset="-122"/>
                <a:cs typeface="Pretendard" pitchFamily="34" charset="-120"/>
              </a:rPr>
              <a:t>상태 코드와 code가 그대로 전달된다</a:t>
            </a:r>
            <a:endParaRPr lang="en-US" sz="1500" dirty="0"/>
          </a:p>
          <a:p>
            <a:pPr algn="l" indent="0" marL="0">
              <a:lnSpc>
                <a:spcPct val="115000"/>
              </a:lnSpc>
              <a:spcAft>
                <a:spcPts val="500"/>
              </a:spcAft>
              <a:buNone/>
            </a:pPr>
            <a:r>
              <a:rPr lang="en-US" sz="1500" dirty="0">
                <a:solidFill>
                  <a:srgbClr val="3D3D3A"/>
                </a:solidFill>
              </a:rPr>
              <a:t>클라이언트는 어느 서비스에서 났는지 몰라도 처리 가능</a:t>
            </a:r>
            <a:endParaRPr lang="en-US" sz="1500" dirty="0"/>
          </a:p>
        </p:txBody>
      </p:sp>
      <p:sp>
        <p:nvSpPr>
          <p:cNvPr id="12" name="b1c1-2"/>
          <p:cNvSpPr/>
          <p:nvPr/>
        </p:nvSpPr>
        <p:spPr>
          <a:xfrm>
            <a:off x="6208776" y="4403471"/>
            <a:ext cx="5330952" cy="1417320"/>
          </a:xfrm>
          <a:prstGeom prst="roundRect">
            <a:avLst>
              <a:gd name="adj" fmla="val 7742"/>
            </a:avLst>
          </a:prstGeom>
          <a:solidFill>
            <a:schemeClr val="bg2"/>
          </a:solidFill>
          <a:ln/>
        </p:spPr>
      </p:sp>
      <p:sp>
        <p:nvSpPr>
          <p:cNvPr id="13" name="b1c1-3"/>
          <p:cNvSpPr txBox="1"/>
          <p:nvPr/>
        </p:nvSpPr>
        <p:spPr>
          <a:xfrm>
            <a:off x="6483096" y="4632071"/>
            <a:ext cx="4782312" cy="1051560"/>
          </a:xfrm>
          <a:prstGeom prst="rect">
            <a:avLst/>
          </a:prstGeom>
          <a:noFill/>
          <a:ln/>
        </p:spPr>
        <p:txBody>
          <a:bodyPr wrap="square" lIns="0" tIns="0" rIns="0" bIns="0" rtlCol="0" anchor="t"/>
          <a:lstStyle/>
          <a:p>
            <a:pPr algn="l" indent="0" marL="0">
              <a:lnSpc>
                <a:spcPct val="115000"/>
              </a:lnSpc>
              <a:spcAft>
                <a:spcPts val="500"/>
              </a:spcAft>
              <a:buNone/>
            </a:pPr>
            <a:r>
              <a:rPr lang="en-US" sz="1500" dirty="0">
                <a:solidFill>
                  <a:schemeClr val="accent3"/>
                </a:solidFill>
              </a:rPr>
              <a:t>post-service가 응답하지 않으면</a:t>
            </a:r>
            <a:endParaRPr lang="en-US" sz="1500" dirty="0"/>
          </a:p>
          <a:p>
            <a:pPr algn="l" indent="0" marL="0">
              <a:lnSpc>
                <a:spcPct val="115000"/>
              </a:lnSpc>
              <a:spcAft>
                <a:spcPts val="500"/>
              </a:spcAft>
              <a:buNone/>
            </a:pPr>
            <a:r>
              <a:rPr lang="en-US" sz="1800" b="1" dirty="0">
                <a:solidFill>
                  <a:schemeClr val="tx1"/>
                </a:solidFill>
                <a:latin typeface="Pretendard" pitchFamily="34" charset="0"/>
                <a:ea typeface="Pretendard" pitchFamily="34" charset="-122"/>
                <a:cs typeface="Pretendard" pitchFamily="34" charset="-120"/>
              </a:rPr>
              <a:t>꺼져 있음 → 503 · 시간 초과 → 504</a:t>
            </a:r>
            <a:endParaRPr lang="en-US" sz="1500" dirty="0"/>
          </a:p>
          <a:p>
            <a:pPr algn="l" indent="0" marL="0">
              <a:lnSpc>
                <a:spcPct val="115000"/>
              </a:lnSpc>
              <a:spcAft>
                <a:spcPts val="500"/>
              </a:spcAft>
              <a:buNone/>
            </a:pPr>
            <a:r>
              <a:rPr lang="en-US" sz="1500" dirty="0">
                <a:solidFill>
                  <a:srgbClr val="3D3D3A"/>
                </a:solidFill>
              </a:rPr>
              <a:t>그대로 500을 주지 말고 원인에 맞는 코드로</a:t>
            </a:r>
            <a:endParaRPr lang="en-US" sz="1500" dirty="0"/>
          </a:p>
        </p:txBody>
      </p:sp>
      <p:sp>
        <p:nvSpPr>
          <p:cNvPr id="14" name="Slide Number Placeholder 0"/>
          <p:cNvSpPr>
            <a:spLocks noGrp="1"/>
          </p:cNvSpPr>
          <p:nvPr>
            <p:ph type="sldNum" sz="quarter" idx="4294967295"/>
          </p:nvPr>
        </p:nvSpPr>
        <p:spPr>
          <a:xfrm>
            <a:off x="10972800" y="6400800"/>
            <a:ext cx="566928"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fill="hold"/>
                                        <p:tgtEl>
                                          <p:spTgt spid="5"/>
                                        </p:tgtEl>
                                        <p:attrNameLst>
                                          <p:attrName>ppt_x</p:attrName>
                                        </p:attrNameLst>
                                      </p:cBhvr>
                                      <p:tavLst>
                                        <p:tav tm="0">
                                          <p:val>
                                            <p:strVal val="#ppt_x"/>
                                          </p:val>
                                        </p:tav>
                                        <p:tav tm="100000">
                                          <p:val>
                                            <p:strVal val="#ppt_x"/>
                                          </p:val>
                                        </p:tav>
                                      </p:tavLst>
                                    </p:anim>
                                    <p:anim calcmode="lin" valueType="num">
                                      <p:cBhvr>
                                        <p:cTn id="14" dur="450" fill="hold"/>
                                        <p:tgtEl>
                                          <p:spTgt spid="5"/>
                                        </p:tgtEl>
                                        <p:attrNameLst>
                                          <p:attrName>ppt_y</p:attrName>
                                        </p:attrNameLst>
                                      </p:cBhvr>
                                      <p:tavLst>
                                        <p:tav tm="0">
                                          <p:val>
                                            <p:strVal val="#ppt_y+0.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fill="hold"/>
                                        <p:tgtEl>
                                          <p:spTgt spid="6"/>
                                        </p:tgtEl>
                                        <p:attrNameLst>
                                          <p:attrName>ppt_x</p:attrName>
                                        </p:attrNameLst>
                                      </p:cBhvr>
                                      <p:tavLst>
                                        <p:tav tm="0">
                                          <p:val>
                                            <p:strVal val="#ppt_x"/>
                                          </p:val>
                                        </p:tav>
                                        <p:tav tm="100000">
                                          <p:val>
                                            <p:strVal val="#ppt_x"/>
                                          </p:val>
                                        </p:tav>
                                      </p:tavLst>
                                    </p:anim>
                                    <p:anim calcmode="lin" valueType="num">
                                      <p:cBhvr>
                                        <p:cTn id="19" dur="450" fill="hold"/>
                                        <p:tgtEl>
                                          <p:spTgt spid="6"/>
                                        </p:tgtEl>
                                        <p:attrNameLst>
                                          <p:attrName>ppt_y</p:attrName>
                                        </p:attrNameLst>
                                      </p:cBhvr>
                                      <p:tavLst>
                                        <p:tav tm="0">
                                          <p:val>
                                            <p:strVal val="#ppt_y+0.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fill="hold"/>
                                        <p:tgtEl>
                                          <p:spTgt spid="7"/>
                                        </p:tgtEl>
                                        <p:attrNameLst>
                                          <p:attrName>ppt_x</p:attrName>
                                        </p:attrNameLst>
                                      </p:cBhvr>
                                      <p:tavLst>
                                        <p:tav tm="0">
                                          <p:val>
                                            <p:strVal val="#ppt_x"/>
                                          </p:val>
                                        </p:tav>
                                        <p:tav tm="100000">
                                          <p:val>
                                            <p:strVal val="#ppt_x"/>
                                          </p:val>
                                        </p:tav>
                                      </p:tavLst>
                                    </p:anim>
                                    <p:anim calcmode="lin" valueType="num">
                                      <p:cBhvr>
                                        <p:cTn id="24" dur="450" fill="hold"/>
                                        <p:tgtEl>
                                          <p:spTgt spid="7"/>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anim calcmode="lin" valueType="num">
                                      <p:cBhvr>
                                        <p:cTn id="28" dur="450" fill="hold"/>
                                        <p:tgtEl>
                                          <p:spTgt spid="8"/>
                                        </p:tgtEl>
                                        <p:attrNameLst>
                                          <p:attrName>ppt_x</p:attrName>
                                        </p:attrNameLst>
                                      </p:cBhvr>
                                      <p:tavLst>
                                        <p:tav tm="0">
                                          <p:val>
                                            <p:strVal val="#ppt_x"/>
                                          </p:val>
                                        </p:tav>
                                        <p:tav tm="100000">
                                          <p:val>
                                            <p:strVal val="#ppt_x"/>
                                          </p:val>
                                        </p:tav>
                                      </p:tavLst>
                                    </p:anim>
                                    <p:anim calcmode="lin" valueType="num">
                                      <p:cBhvr>
                                        <p:cTn id="29" dur="450" fill="hold"/>
                                        <p:tgtEl>
                                          <p:spTgt spid="8"/>
                                        </p:tgtEl>
                                        <p:attrNameLst>
                                          <p:attrName>ppt_y</p:attrName>
                                        </p:attrNameLst>
                                      </p:cBhvr>
                                      <p:tavLst>
                                        <p:tav tm="0">
                                          <p:val>
                                            <p:strVal val="#ppt_y+0.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anim calcmode="lin" valueType="num">
                                      <p:cBhvr>
                                        <p:cTn id="33" dur="450" fill="hold"/>
                                        <p:tgtEl>
                                          <p:spTgt spid="9"/>
                                        </p:tgtEl>
                                        <p:attrNameLst>
                                          <p:attrName>ppt_x</p:attrName>
                                        </p:attrNameLst>
                                      </p:cBhvr>
                                      <p:tavLst>
                                        <p:tav tm="0">
                                          <p:val>
                                            <p:strVal val="#ppt_x"/>
                                          </p:val>
                                        </p:tav>
                                        <p:tav tm="100000">
                                          <p:val>
                                            <p:strVal val="#ppt_x"/>
                                          </p:val>
                                        </p:tav>
                                      </p:tavLst>
                                    </p:anim>
                                    <p:anim calcmode="lin" valueType="num">
                                      <p:cBhvr>
                                        <p:cTn id="34" dur="450" fill="hold"/>
                                        <p:tgtEl>
                                          <p:spTgt spid="9"/>
                                        </p:tgtEl>
                                        <p:attrNameLst>
                                          <p:attrName>ppt_y</p:attrName>
                                        </p:attrNameLst>
                                      </p:cBhvr>
                                      <p:tavLst>
                                        <p:tav tm="0">
                                          <p:val>
                                            <p:strVal val="#ppt_y+0.03"/>
                                          </p:val>
                                        </p:tav>
                                        <p:tav tm="100000">
                                          <p:val>
                                            <p:strVal val="#ppt_y"/>
                                          </p:val>
                                        </p:tav>
                                      </p:tavLst>
                                    </p:anim>
                                  </p:childTnLst>
                                </p:cTn>
                              </p:par>
                              <p:par>
                                <p:cTn id="35" presetID="42" presetClass="entr" presetSubtype="0" fill="hold" grpId="0" nodeType="withEffect">
                                  <p:stCondLst>
                                    <p:cond delay="11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50"/>
                                        <p:tgtEl>
                                          <p:spTgt spid="10"/>
                                        </p:tgtEl>
                                      </p:cBhvr>
                                    </p:animEffect>
                                    <p:anim calcmode="lin" valueType="num">
                                      <p:cBhvr>
                                        <p:cTn id="38" dur="450" fill="hold"/>
                                        <p:tgtEl>
                                          <p:spTgt spid="10"/>
                                        </p:tgtEl>
                                        <p:attrNameLst>
                                          <p:attrName>ppt_x</p:attrName>
                                        </p:attrNameLst>
                                      </p:cBhvr>
                                      <p:tavLst>
                                        <p:tav tm="0">
                                          <p:val>
                                            <p:strVal val="#ppt_x"/>
                                          </p:val>
                                        </p:tav>
                                        <p:tav tm="100000">
                                          <p:val>
                                            <p:strVal val="#ppt_x"/>
                                          </p:val>
                                        </p:tav>
                                      </p:tavLst>
                                    </p:anim>
                                    <p:anim calcmode="lin" valueType="num">
                                      <p:cBhvr>
                                        <p:cTn id="39" dur="450" fill="hold"/>
                                        <p:tgtEl>
                                          <p:spTgt spid="10"/>
                                        </p:tgtEl>
                                        <p:attrNameLst>
                                          <p:attrName>ppt_y</p:attrName>
                                        </p:attrNameLst>
                                      </p:cBhvr>
                                      <p:tavLst>
                                        <p:tav tm="0">
                                          <p:val>
                                            <p:strVal val="#ppt_y+0.03"/>
                                          </p:val>
                                        </p:tav>
                                        <p:tav tm="100000">
                                          <p:val>
                                            <p:strVal val="#ppt_y"/>
                                          </p:val>
                                        </p:tav>
                                      </p:tavLst>
                                    </p:anim>
                                  </p:childTnLst>
                                </p:cTn>
                              </p:par>
                              <p:par>
                                <p:cTn id="40" presetID="42" presetClass="entr" presetSubtype="0" fill="hold" grpId="0" nodeType="withEffect">
                                  <p:stCondLst>
                                    <p:cond delay="11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450"/>
                                        <p:tgtEl>
                                          <p:spTgt spid="11"/>
                                        </p:tgtEl>
                                      </p:cBhvr>
                                    </p:animEffect>
                                    <p:anim calcmode="lin" valueType="num">
                                      <p:cBhvr>
                                        <p:cTn id="43" dur="450" fill="hold"/>
                                        <p:tgtEl>
                                          <p:spTgt spid="11"/>
                                        </p:tgtEl>
                                        <p:attrNameLst>
                                          <p:attrName>ppt_x</p:attrName>
                                        </p:attrNameLst>
                                      </p:cBhvr>
                                      <p:tavLst>
                                        <p:tav tm="0">
                                          <p:val>
                                            <p:strVal val="#ppt_x"/>
                                          </p:val>
                                        </p:tav>
                                        <p:tav tm="100000">
                                          <p:val>
                                            <p:strVal val="#ppt_x"/>
                                          </p:val>
                                        </p:tav>
                                      </p:tavLst>
                                    </p:anim>
                                    <p:anim calcmode="lin" valueType="num">
                                      <p:cBhvr>
                                        <p:cTn id="44" dur="450" fill="hold"/>
                                        <p:tgtEl>
                                          <p:spTgt spid="11"/>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withEffect">
                                  <p:stCondLst>
                                    <p:cond delay="11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50"/>
                                        <p:tgtEl>
                                          <p:spTgt spid="12"/>
                                        </p:tgtEl>
                                      </p:cBhvr>
                                    </p:animEffect>
                                    <p:anim calcmode="lin" valueType="num">
                                      <p:cBhvr>
                                        <p:cTn id="48" dur="450" fill="hold"/>
                                        <p:tgtEl>
                                          <p:spTgt spid="12"/>
                                        </p:tgtEl>
                                        <p:attrNameLst>
                                          <p:attrName>ppt_x</p:attrName>
                                        </p:attrNameLst>
                                      </p:cBhvr>
                                      <p:tavLst>
                                        <p:tav tm="0">
                                          <p:val>
                                            <p:strVal val="#ppt_x"/>
                                          </p:val>
                                        </p:tav>
                                        <p:tav tm="100000">
                                          <p:val>
                                            <p:strVal val="#ppt_x"/>
                                          </p:val>
                                        </p:tav>
                                      </p:tavLst>
                                    </p:anim>
                                    <p:anim calcmode="lin" valueType="num">
                                      <p:cBhvr>
                                        <p:cTn id="49" dur="450" fill="hold"/>
                                        <p:tgtEl>
                                          <p:spTgt spid="12"/>
                                        </p:tgtEl>
                                        <p:attrNameLst>
                                          <p:attrName>ppt_y</p:attrName>
                                        </p:attrNameLst>
                                      </p:cBhvr>
                                      <p:tavLst>
                                        <p:tav tm="0">
                                          <p:val>
                                            <p:strVal val="#ppt_y+0.03"/>
                                          </p:val>
                                        </p:tav>
                                        <p:tav tm="100000">
                                          <p:val>
                                            <p:strVal val="#ppt_y"/>
                                          </p:val>
                                        </p:tav>
                                      </p:tavLst>
                                    </p:anim>
                                  </p:childTnLst>
                                </p:cTn>
                              </p:par>
                              <p:par>
                                <p:cTn id="50" presetID="42" presetClass="entr" presetSubtype="0" fill="hold" grpId="0" nodeType="withEffect">
                                  <p:stCondLst>
                                    <p:cond delay="11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450"/>
                                        <p:tgtEl>
                                          <p:spTgt spid="13"/>
                                        </p:tgtEl>
                                      </p:cBhvr>
                                    </p:animEffect>
                                    <p:anim calcmode="lin" valueType="num">
                                      <p:cBhvr>
                                        <p:cTn id="53" dur="450" fill="hold"/>
                                        <p:tgtEl>
                                          <p:spTgt spid="13"/>
                                        </p:tgtEl>
                                        <p:attrNameLst>
                                          <p:attrName>ppt_x</p:attrName>
                                        </p:attrNameLst>
                                      </p:cBhvr>
                                      <p:tavLst>
                                        <p:tav tm="0">
                                          <p:val>
                                            <p:strVal val="#ppt_x"/>
                                          </p:val>
                                        </p:tav>
                                        <p:tav tm="100000">
                                          <p:val>
                                            <p:strVal val="#ppt_x"/>
                                          </p:val>
                                        </p:tav>
                                      </p:tavLst>
                                    </p:anim>
                                    <p:anim calcmode="lin" valueType="num">
                                      <p:cBhvr>
                                        <p:cTn id="54" dur="450" fill="hold"/>
                                        <p:tgtEl>
                                          <p:spTgt spid="13"/>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theme/theme1.xml><?xml version="1.0" encoding="utf-8"?>
<a:theme xmlns:a="http://schemas.openxmlformats.org/drawingml/2006/main" name="Cream Coral">
  <a:themeElements>
    <a:clrScheme name="Cream Coral">
      <a:dk1>
        <a:srgbClr val="141413"/>
      </a:dk1>
      <a:lt1>
        <a:srgbClr val="FAF9F5"/>
      </a:lt1>
      <a:dk2>
        <a:srgbClr val="181715"/>
      </a:dk2>
      <a:lt2>
        <a:srgbClr val="EFE9DE"/>
      </a:lt2>
      <a:accent1>
        <a:srgbClr val="CC785C"/>
      </a:accent1>
      <a:accent2>
        <a:srgbClr val="A9583E"/>
      </a:accent2>
      <a:accent3>
        <a:srgbClr val="6C6A64"/>
      </a:accent3>
      <a:accent4>
        <a:srgbClr val="E8A55A"/>
      </a:accent4>
      <a:accent5>
        <a:srgbClr val="5DB8A6"/>
      </a:accent5>
      <a:accent6>
        <a:srgbClr val="C64545"/>
      </a:accent6>
      <a:hlink>
        <a:srgbClr val="A9583E"/>
      </a:hlink>
      <a:folHlink>
        <a:srgbClr val="6C6A64"/>
      </a:folHlink>
    </a:clrScheme>
    <a:fontScheme name="Cream Coral">
      <a:majorFont>
        <a:latin typeface="Pretendard"/>
        <a:ea typeface="Pretendard"/>
        <a:cs typeface=""/>
        <a:font script="Jpan" typeface="游ゴシック Light"/>
        <a:font script="Hang" typeface="Pretendard"/>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SemiBold"/>
        <a:ea typeface="Pretendard SemiBold"/>
        <a:cs typeface=""/>
        <a:font script="Jpan" typeface="游ゴシック"/>
        <a:font script="Hang" typeface="Pretendard SemiBold"/>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RESTful API 설계</dc:title>
  <dc:subject>PptxGenJS Presentation</dc:subject>
  <dc:creator>이재웅</dc:creator>
  <cp:lastModifiedBy>이재웅</cp:lastModifiedBy>
  <cp:revision>1</cp:revision>
  <dcterms:created xsi:type="dcterms:W3CDTF">2026-10-15T14:23:20Z</dcterms:created>
  <dcterms:modified xsi:type="dcterms:W3CDTF">2026-10-15T14:23:20Z</dcterms:modified>
</cp:coreProperties>
</file>